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W6T+pfPxT7h1zXoeC+HCaPKN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29a39b9d6_0_2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b29a39b9d6_0_2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b29a39b9d6_0_2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29a39b9d6_0_16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29a39b9d6_0_16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b29a39b9d6_0_16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29a39b9d6_0_2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29a39b9d6_0_25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b29a39b9d6_0_25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29a39b9d6_0_3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29a39b9d6_0_33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b29a39b9d6_0_33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29a39b9d6_0_42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29a39b9d6_0_42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b29a39b9d6_0_42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29a39b9d6_0_5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29a39b9d6_0_5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b29a39b9d6_0_5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29a39b9d6_0_60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b29a39b9d6_0_60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b29a39b9d6_0_60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51" name="Google Shape;5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2" name="Google Shape;52;p2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7" name="Google Shape;6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68" name="Google Shape;6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9" name="Google Shape;6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6" name="Google Shape;76;p25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30" name="Google Shape;130;p30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136" name="Google Shape;136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37" name="Google Shape;137;p31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48" name="Google Shape;148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49" name="Google Shape;149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50" name="Google Shape;150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51" name="Google Shape;151;p3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7" name="Google Shape;157;p34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8" name="Google Shape;158;p34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164" name="Google Shape;164;p3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3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8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88" name="Google Shape;188;p3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9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94" name="Google Shape;194;p39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201" name="Google Shape;201;p40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207" name="Google Shape;20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208" name="Google Shape;208;p41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223" name="Google Shape;223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224" name="Google Shape;224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225" name="Google Shape;225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226" name="Google Shape;226;p44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5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232" name="Google Shape;232;p45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233" name="Google Shape;233;p4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239" name="Google Shape;239;p4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245" name="Google Shape;245;p4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1" name="Google Shape;251;p4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/>
        </p:nvSpPr>
        <p:spPr>
          <a:xfrm>
            <a:off x="381000" y="990600"/>
            <a:ext cx="76200" cy="510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12" name="Google Shape;12;p13"/>
            <p:cNvSpPr txBox="1"/>
            <p:nvPr/>
          </p:nvSpPr>
          <p:spPr>
            <a:xfrm flipH="1" rot="10800000">
              <a:off x="5236" y="192"/>
              <a:ext cx="288" cy="2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3"/>
            <p:cNvSpPr txBox="1"/>
            <p:nvPr/>
          </p:nvSpPr>
          <p:spPr>
            <a:xfrm flipH="1" rot="10800000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3"/>
            <p:cNvSpPr txBox="1"/>
            <p:nvPr/>
          </p:nvSpPr>
          <p:spPr>
            <a:xfrm flipH="1" rot="10800000">
              <a:off x="240" y="480"/>
              <a:ext cx="500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3"/>
            <p:cNvSpPr txBox="1"/>
            <p:nvPr/>
          </p:nvSpPr>
          <p:spPr>
            <a:xfrm flipH="1" rot="10800000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" name="Google Shape;16;p13"/>
            <p:cNvCxnSpPr/>
            <p:nvPr/>
          </p:nvCxnSpPr>
          <p:spPr>
            <a:xfrm rot="10800000">
              <a:off x="480" y="2256"/>
              <a:ext cx="484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" name="Google Shape;17;p13"/>
            <p:cNvSpPr txBox="1"/>
            <p:nvPr/>
          </p:nvSpPr>
          <p:spPr>
            <a:xfrm>
              <a:off x="240" y="192"/>
              <a:ext cx="5286" cy="36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98" name="Google Shape;98;p15"/>
          <p:cNvGrpSpPr/>
          <p:nvPr/>
        </p:nvGrpSpPr>
        <p:grpSpPr>
          <a:xfrm>
            <a:off x="279400" y="152400"/>
            <a:ext cx="8686800" cy="1600200"/>
            <a:chOff x="176" y="96"/>
            <a:chExt cx="5472" cy="1008"/>
          </a:xfrm>
        </p:grpSpPr>
        <p:cxnSp>
          <p:nvCxnSpPr>
            <p:cNvPr id="99" name="Google Shape;99;p15"/>
            <p:cNvCxnSpPr/>
            <p:nvPr/>
          </p:nvCxnSpPr>
          <p:spPr>
            <a:xfrm rot="10800000">
              <a:off x="288" y="1104"/>
              <a:ext cx="5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0" name="Google Shape;100;p15"/>
            <p:cNvSpPr txBox="1"/>
            <p:nvPr/>
          </p:nvSpPr>
          <p:spPr>
            <a:xfrm>
              <a:off x="5504" y="96"/>
              <a:ext cx="14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176" y="240"/>
              <a:ext cx="5326" cy="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5" name="Google Shape;175;p3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6" name="Google Shape;176;p3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7" name="Google Shape;177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8" name="Google Shape;178;p3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179" name="Google Shape;179;p37"/>
          <p:cNvGrpSpPr/>
          <p:nvPr/>
        </p:nvGrpSpPr>
        <p:grpSpPr>
          <a:xfrm>
            <a:off x="279400" y="152400"/>
            <a:ext cx="8686800" cy="1600200"/>
            <a:chOff x="176" y="96"/>
            <a:chExt cx="5472" cy="1008"/>
          </a:xfrm>
        </p:grpSpPr>
        <p:cxnSp>
          <p:nvCxnSpPr>
            <p:cNvPr id="180" name="Google Shape;180;p37"/>
            <p:cNvCxnSpPr/>
            <p:nvPr/>
          </p:nvCxnSpPr>
          <p:spPr>
            <a:xfrm rot="10800000">
              <a:off x="288" y="1104"/>
              <a:ext cx="5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1" name="Google Shape;181;p37"/>
            <p:cNvSpPr txBox="1"/>
            <p:nvPr/>
          </p:nvSpPr>
          <p:spPr>
            <a:xfrm>
              <a:off x="5504" y="96"/>
              <a:ext cx="14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37"/>
            <p:cNvSpPr txBox="1"/>
            <p:nvPr/>
          </p:nvSpPr>
          <p:spPr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37"/>
            <p:cNvSpPr txBox="1"/>
            <p:nvPr/>
          </p:nvSpPr>
          <p:spPr>
            <a:xfrm>
              <a:off x="176" y="240"/>
              <a:ext cx="5326" cy="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4" name="Google Shape;184;p37"/>
            <p:cNvSpPr txBox="1"/>
            <p:nvPr/>
          </p:nvSpPr>
          <p:spPr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685800" y="2133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01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-466725" y="3854450"/>
            <a:ext cx="10077450" cy="220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Software Construction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Course Instructor: Engr. Ruqqiya Asad</a:t>
            </a:r>
            <a:endParaRPr/>
          </a:p>
        </p:txBody>
      </p:sp>
      <p:sp>
        <p:nvSpPr>
          <p:cNvPr id="261" name="Google Shape;261;p1"/>
          <p:cNvSpPr txBox="1"/>
          <p:nvPr/>
        </p:nvSpPr>
        <p:spPr>
          <a:xfrm>
            <a:off x="685800" y="1052512"/>
            <a:ext cx="755808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 and Development SE-312</a:t>
            </a:r>
            <a:endParaRPr/>
          </a:p>
        </p:txBody>
      </p:sp>
      <p:sp>
        <p:nvSpPr>
          <p:cNvPr id="262" name="Google Shape;262;p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269" name="Google Shape;269;p2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/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Software Construction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/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Software Construction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/>
              <a:t> Software Development Process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 </a:t>
            </a:r>
            <a:r>
              <a:rPr lang="en-US"/>
              <a:t>6 Stages of Software Development Process</a:t>
            </a:r>
            <a:endParaRPr/>
          </a:p>
          <a:p>
            <a:pPr indent="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6" name="Google Shape;276;p3"/>
          <p:cNvSpPr txBox="1"/>
          <p:nvPr/>
        </p:nvSpPr>
        <p:spPr>
          <a:xfrm>
            <a:off x="395287" y="2413000"/>
            <a:ext cx="8497887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 used an app that crashes?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 that works today but fails after update?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failure is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only coding issue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&amp; development problem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course teaches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build quality software</a:t>
            </a:r>
            <a:endParaRPr/>
          </a:p>
        </p:txBody>
      </p:sp>
      <p:sp>
        <p:nvSpPr>
          <p:cNvPr id="277" name="Google Shape;277;p3"/>
          <p:cNvSpPr txBox="1"/>
          <p:nvPr/>
        </p:nvSpPr>
        <p:spPr>
          <a:xfrm>
            <a:off x="395287" y="981075"/>
            <a:ext cx="4281487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Course?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 txBox="1"/>
          <p:nvPr>
            <p:ph type="title"/>
          </p:nvPr>
        </p:nvSpPr>
        <p:spPr>
          <a:xfrm>
            <a:off x="457200" y="533400"/>
            <a:ext cx="8229600" cy="18875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b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Software Construction &amp; Development?</a:t>
            </a:r>
            <a:br>
              <a:rPr b="1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83" name="Google Shape;283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4" name="Google Shape;284;p4"/>
          <p:cNvSpPr txBox="1"/>
          <p:nvPr>
            <p:ph idx="1" type="body"/>
          </p:nvPr>
        </p:nvSpPr>
        <p:spPr>
          <a:xfrm>
            <a:off x="457200" y="1779587"/>
            <a:ext cx="7138987" cy="440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44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 is more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 coding</a:t>
            </a:r>
            <a:endParaRPr/>
          </a:p>
          <a:p>
            <a:pPr indent="-12446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on:</a:t>
            </a:r>
            <a:endParaRPr/>
          </a:p>
          <a:p>
            <a:pPr indent="-1333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/>
          </a:p>
          <a:p>
            <a:pPr indent="-1333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clean code</a:t>
            </a:r>
            <a:endParaRPr/>
          </a:p>
          <a:p>
            <a:pPr indent="-1333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handling</a:t>
            </a:r>
            <a:endParaRPr/>
          </a:p>
          <a:p>
            <a:pPr indent="-1333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/>
          </a:p>
          <a:p>
            <a:pPr indent="-13335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Idea: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code works today</a:t>
            </a:r>
            <a:b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construction works forever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"/>
          <p:cNvSpPr txBox="1"/>
          <p:nvPr>
            <p:ph type="title"/>
          </p:nvPr>
        </p:nvSpPr>
        <p:spPr>
          <a:xfrm>
            <a:off x="428625" y="571500"/>
            <a:ext cx="82296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</a:t>
            </a:r>
            <a:endParaRPr/>
          </a:p>
        </p:txBody>
      </p:sp>
      <p:sp>
        <p:nvSpPr>
          <p:cNvPr id="290" name="Google Shape;290;p5"/>
          <p:cNvSpPr txBox="1"/>
          <p:nvPr>
            <p:ph idx="1" type="body"/>
          </p:nvPr>
        </p:nvSpPr>
        <p:spPr>
          <a:xfrm>
            <a:off x="-107950" y="1828800"/>
            <a:ext cx="879475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Construction is the work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“construction workers”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when they build a house, a school, or a skyscraper.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 common usage, construction refers to the process of building.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construction process might include some aspects of planning, designing, and checking the work, but mostly construction refers to the hands-on part of creating something.</a:t>
            </a:r>
            <a:endParaRPr/>
          </a:p>
        </p:txBody>
      </p:sp>
      <p:sp>
        <p:nvSpPr>
          <p:cNvPr id="291" name="Google Shape;291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"/>
          <p:cNvSpPr txBox="1"/>
          <p:nvPr>
            <p:ph type="title"/>
          </p:nvPr>
        </p:nvSpPr>
        <p:spPr>
          <a:xfrm>
            <a:off x="477837" y="11398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98" name="Google Shape;298;p6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 is a software engineering discipline.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detailed creation of working, meaningful software through a combination of coding, verification, unit testing, integration testing, and debugging.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62" y="714375"/>
            <a:ext cx="8718550" cy="55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"/>
          <p:cNvSpPr txBox="1"/>
          <p:nvPr>
            <p:ph type="title"/>
          </p:nvPr>
        </p:nvSpPr>
        <p:spPr>
          <a:xfrm>
            <a:off x="457200" y="11398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11" name="Google Shape;311;p8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Some of the specific tasks involved in construction are: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Verifying that the groundwork has been laid so that construction can proceed successfully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Determining how your code will be tested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and writing classes and routines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and naming variables and named constants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control structures and organizing blocks of statements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testing, integration testing, and debugging your own code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Reviewing other team members’ low-level designs and code and</a:t>
            </a:r>
            <a:r>
              <a:rPr lang="en-US"/>
              <a:t>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having them review yours</a:t>
            </a:r>
            <a:r>
              <a:rPr lang="en-US"/>
              <a:t> 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Polishing code by carefully formatting and commenting it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software components that were created separately</a:t>
            </a:r>
            <a:endParaRPr/>
          </a:p>
          <a:p>
            <a:pPr indent="-8001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□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Tuning code to make it faster and use fewer resources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</a:t>
            </a:r>
            <a:endParaRPr/>
          </a:p>
        </p:txBody>
      </p:sp>
      <p:sp>
        <p:nvSpPr>
          <p:cNvPr id="318" name="Google Shape;318;p9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Important non-construction activities include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development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architecture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user-interface design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testing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maintenance.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>
            <p:ph type="title"/>
          </p:nvPr>
        </p:nvSpPr>
        <p:spPr>
          <a:xfrm>
            <a:off x="439737" y="11398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Construction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25" name="Google Shape;325;p10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88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0" marL="469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Construction is also sometimes known as “coding” or “programming.” 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you think both these words correctly portray the term construction?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/>
          <p:nvPr>
            <p:ph type="title"/>
          </p:nvPr>
        </p:nvSpPr>
        <p:spPr>
          <a:xfrm>
            <a:off x="228600" y="1139825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Software Construction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32" name="Google Shape;332;p11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Software Construction is an important part of software development because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is a large part of software development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is the central activity in software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focus on construction, the individual programmer’s productivity can improve enormously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Construction’s product, the source code, is often the only accurate description of the software</a:t>
            </a:r>
            <a:endParaRPr/>
          </a:p>
          <a:p>
            <a:pPr indent="-106679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Construction is the only activity that’s guaranteed to be done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Development Process</a:t>
            </a:r>
            <a:endParaRPr sz="4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12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Software Development Process is dividing the software development into tiny, sequential steps to enhance the product, project, and design altogether.</a:t>
            </a:r>
            <a:endParaRPr/>
          </a:p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iterative logical process for software program development or application development to cater to the</a:t>
            </a:r>
            <a:endParaRPr/>
          </a:p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needs of any business or personal objectives is known as ‘Software Development’.</a:t>
            </a:r>
            <a:endParaRPr/>
          </a:p>
          <a:p>
            <a:pPr indent="-363220" lvl="0" marL="469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29a39b9d6_0_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6 Stages of Software Development Process</a:t>
            </a:r>
            <a:endParaRPr b="1" sz="5000"/>
          </a:p>
        </p:txBody>
      </p:sp>
      <p:sp>
        <p:nvSpPr>
          <p:cNvPr id="347" name="Google Shape;347;g3b29a39b9d6_0_2"/>
          <p:cNvSpPr txBox="1"/>
          <p:nvPr>
            <p:ph idx="1" type="body"/>
          </p:nvPr>
        </p:nvSpPr>
        <p:spPr>
          <a:xfrm>
            <a:off x="457200" y="18114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a. Requirements Analysis and Resource Planning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b.Design and Prototyping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c. .Software Development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d. Testing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 .Deployment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f. Maintenance and Updates</a:t>
            </a:r>
            <a:endParaRPr/>
          </a:p>
        </p:txBody>
      </p:sp>
      <p:sp>
        <p:nvSpPr>
          <p:cNvPr id="348" name="Google Shape;348;g3b29a39b9d6_0_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29a39b9d6_0_1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Analysis</a:t>
            </a:r>
            <a:endParaRPr/>
          </a:p>
        </p:txBody>
      </p:sp>
      <p:sp>
        <p:nvSpPr>
          <p:cNvPr id="355" name="Google Shape;355;g3b29a39b9d6_0_16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Purpose:</a:t>
            </a:r>
            <a:r>
              <a:rPr lang="en-US" sz="1500"/>
              <a:t> Understand what the system should do and gather all user needs.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In this stage, developers, analysts, and stakeholders meet to identify functional and non-functional requirements.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Functional requirements describe what the system should perform, e.g., "The system should calculate student results."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Non-functional requirements describe how the system should perform, e.g., "The system should respond within 2 seconds."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Deliverables: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Requirement specification document (SRS)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Use cases and user stories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Example:</a:t>
            </a:r>
            <a:br>
              <a:rPr b="1" lang="en-US" sz="1500"/>
            </a:br>
            <a:r>
              <a:rPr lang="en-US" sz="1500"/>
              <a:t> A university wants a system to manage students’ enrollment, results, and fee payments. The analyst documents exactly what each department needs.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b29a39b9d6_0_1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29a39b9d6_0_2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Design</a:t>
            </a:r>
            <a:endParaRPr/>
          </a:p>
        </p:txBody>
      </p:sp>
      <p:sp>
        <p:nvSpPr>
          <p:cNvPr id="363" name="Google Shape;363;g3b29a39b9d6_0_25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Purpose:</a:t>
            </a:r>
            <a:r>
              <a:rPr lang="en-US" sz="1400"/>
              <a:t> Decide how the system will achieve the requirements.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/>
              <a:t>This stage converts requirements into a </a:t>
            </a:r>
            <a:r>
              <a:rPr b="1" lang="en-US" sz="1400"/>
              <a:t>blueprint</a:t>
            </a:r>
            <a:r>
              <a:rPr lang="en-US" sz="1400"/>
              <a:t> for developers.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/>
              <a:t>Includes </a:t>
            </a:r>
            <a:r>
              <a:rPr b="1" lang="en-US" sz="1400"/>
              <a:t>architecture design</a:t>
            </a:r>
            <a:r>
              <a:rPr lang="en-US" sz="1400"/>
              <a:t>, </a:t>
            </a:r>
            <a:r>
              <a:rPr b="1" lang="en-US" sz="1400"/>
              <a:t>database design</a:t>
            </a:r>
            <a:r>
              <a:rPr lang="en-US" sz="1400"/>
              <a:t>, </a:t>
            </a:r>
            <a:r>
              <a:rPr b="1" lang="en-US" sz="1400"/>
              <a:t>user interface design</a:t>
            </a:r>
            <a:r>
              <a:rPr lang="en-US" sz="1400"/>
              <a:t>, and </a:t>
            </a:r>
            <a:r>
              <a:rPr b="1" lang="en-US" sz="1400"/>
              <a:t>data flow diagrams</a:t>
            </a:r>
            <a:r>
              <a:rPr lang="en-US" sz="1400"/>
              <a:t>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Helps developers understand how different modules interact.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Deliverables: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Data models (ER diagrams)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System architecture diagrams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UI/UX mockups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Example: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Databas</a:t>
            </a:r>
            <a:r>
              <a:rPr lang="en-US" sz="1400"/>
              <a:t>e</a:t>
            </a:r>
            <a:r>
              <a:rPr lang="en-US" sz="1400"/>
              <a:t> tables: Students, Courses, Results</a:t>
            </a:r>
            <a:br>
              <a:rPr lang="en-US" sz="1400"/>
            </a:br>
            <a:r>
              <a:rPr lang="en-US" sz="1400"/>
              <a:t>Relationships: Student enrolls in multiple courses, results linked to students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Login page and dashboard layout designed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b29a39b9d6_0_2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29a39b9d6_0_3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/ Coding</a:t>
            </a:r>
            <a:endParaRPr/>
          </a:p>
        </p:txBody>
      </p:sp>
      <p:sp>
        <p:nvSpPr>
          <p:cNvPr id="371" name="Google Shape;371;g3b29a39b9d6_0_33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Purpose:</a:t>
            </a:r>
            <a:r>
              <a:rPr lang="en-US" sz="1500"/>
              <a:t> Convert the design into </a:t>
            </a:r>
            <a:r>
              <a:rPr b="1" lang="en-US" sz="1500"/>
              <a:t>actual software</a:t>
            </a:r>
            <a:r>
              <a:rPr lang="en-US" sz="1500"/>
              <a:t> using programming languages.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Developers write the code according to the system design.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Use </a:t>
            </a:r>
            <a:r>
              <a:rPr b="1" lang="en-US" sz="1500"/>
              <a:t>programming languages</a:t>
            </a:r>
            <a:r>
              <a:rPr lang="en-US" sz="1500"/>
              <a:t>, frameworks, and tools suitable for the project.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Individual modules are created and then integrated.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Deliverables: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Source code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Configured databases and servers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Example: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Java code to calculate CGP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SQL scripts to create Student and Result tables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Python or PHP scripts for the web interface</a:t>
            </a:r>
            <a:br>
              <a:rPr lang="en-US" sz="1500"/>
            </a:b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29a39b9d6_0_3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29a39b9d6_0_4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379" name="Google Shape;379;g3b29a39b9d6_0_42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Ensure the system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works correctly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and meets requirements.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Detect and fix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bugs or errors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before deployment.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Testing types: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Unit testing: Each module tested individually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Integration testing: Modules tested together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System testing: Complete system testing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User Acceptance Testing (UAT): Users verify it meets their needs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Deliverables: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Test plans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Test reports and bug fixes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Example: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Check if result calculation is correct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Verify student registration works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Ensure login authentication is secure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b29a39b9d6_0_4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29a39b9d6_0_5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Deployment</a:t>
            </a:r>
            <a:endParaRPr/>
          </a:p>
        </p:txBody>
      </p:sp>
      <p:sp>
        <p:nvSpPr>
          <p:cNvPr id="387" name="Google Shape;387;g3b29a39b9d6_0_51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Purpose:</a:t>
            </a:r>
            <a:r>
              <a:rPr lang="en-US" sz="1500"/>
              <a:t> Make the software </a:t>
            </a:r>
            <a:r>
              <a:rPr b="1" lang="en-US" sz="1500"/>
              <a:t>available to users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After successful testing, the system is installed or launched in the </a:t>
            </a:r>
            <a:r>
              <a:rPr b="1" lang="en-US" sz="1500"/>
              <a:t>live environment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Users start interacting with the software.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Deployment can be done in stages (staggered release) or all at once (big bang deployment).</a:t>
            </a:r>
            <a:br>
              <a:rPr lang="en-US" sz="1500"/>
            </a:b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Deliverables: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Installed system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User manuals and training</a:t>
            </a:r>
            <a:br>
              <a:rPr lang="en-US" sz="1500"/>
            </a:b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Example: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US" sz="1500"/>
              <a:t>University ERP system goes live for student registration and fee submission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29a39b9d6_0_5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29a39b9d6_0_60"/>
          <p:cNvSpPr txBox="1"/>
          <p:nvPr>
            <p:ph type="title"/>
          </p:nvPr>
        </p:nvSpPr>
        <p:spPr>
          <a:xfrm>
            <a:off x="457200" y="478775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Maintenance</a:t>
            </a:r>
            <a:endParaRPr/>
          </a:p>
        </p:txBody>
      </p:sp>
      <p:sp>
        <p:nvSpPr>
          <p:cNvPr id="395" name="Google Shape;395;g3b29a39b9d6_0_60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Purpose:</a:t>
            </a:r>
            <a:r>
              <a:rPr lang="en-US" sz="1400"/>
              <a:t> Keep the system </a:t>
            </a:r>
            <a:r>
              <a:rPr b="1" lang="en-US" sz="1400"/>
              <a:t>running smoothly</a:t>
            </a:r>
            <a:r>
              <a:rPr lang="en-US" sz="1400"/>
              <a:t> and </a:t>
            </a:r>
            <a:r>
              <a:rPr b="1" lang="en-US" sz="1400"/>
              <a:t>updated</a:t>
            </a:r>
            <a:r>
              <a:rPr lang="en-US" sz="1400"/>
              <a:t>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Real-world use may uncover new bugs or require new features.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Maintenance ensures:</a:t>
            </a:r>
            <a:br>
              <a:rPr lang="en-US" sz="1400"/>
            </a:b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/>
              <a:t>Bug fixing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/>
              <a:t>Performance improvements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-US" sz="1400"/>
              <a:t>Adding new features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/>
              <a:t>It is </a:t>
            </a:r>
            <a:r>
              <a:rPr b="1" lang="en-US" sz="1400"/>
              <a:t>ongoing</a:t>
            </a:r>
            <a:r>
              <a:rPr lang="en-US" sz="1400"/>
              <a:t> and can last for the entire life of the software.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Deliverables: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Updated </a:t>
            </a:r>
            <a:r>
              <a:rPr lang="en-US" sz="1400"/>
              <a:t>c</a:t>
            </a:r>
            <a:r>
              <a:rPr lang="en-US" sz="1400"/>
              <a:t>ode and patches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Documentation of changes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 sz="1400"/>
              <a:t>System backups and monitoring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/>
              <a:t>Example:</a:t>
            </a:r>
            <a:endParaRPr b="1" sz="14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/>
              <a:t>Adding a new semester registration module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/>
              <a:t>Updating grading system</a:t>
            </a:r>
            <a:endParaRPr sz="14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400"/>
              <a:t>Fixing login issues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29a39b9d6_0_6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Quadrant">
  <a:themeElements>
    <a:clrScheme name="2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Quadrant">
  <a:themeElements>
    <a:clrScheme name="1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2009-02-05T11:22:17Z</dcterms:created>
  <dc:creator>User</dc:creator>
</cp:coreProperties>
</file>