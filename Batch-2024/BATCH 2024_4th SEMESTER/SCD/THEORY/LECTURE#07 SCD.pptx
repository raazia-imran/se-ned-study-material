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h/cp2rkQi7M5G0AHqMr5S5HjZp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1f4f9f2ca_0_6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1f4f9f2ca_0_6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1f4f9f2ca_0_6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1f4f9f2ca_0_1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1f4f9f2ca_0_13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d1f4f9f2ca_0_13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1f4f9f2ca_0_2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1f4f9f2ca_0_20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1f4f9f2ca_0_20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1f4f9f2ca_0_27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1f4f9f2ca_0_27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d1f4f9f2ca_0_27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1f4f9f2ca_0_34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1f4f9f2ca_0_34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1f4f9f2ca_0_34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1f4f9f2ca_0_47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1f4f9f2ca_0_47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d1f4f9f2ca_0_47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1f4f9f2ca_0_54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1f4f9f2ca_0_54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1f4f9f2ca_0_54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1f4f9f2ca_0_6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d1f4f9f2ca_0_61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d1f4f9f2ca_0_61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1f4f9f2ca_0_68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1f4f9f2ca_0_68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d1f4f9f2ca_0_68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1f4f9f2ca_0_7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1f4f9f2ca_0_75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d1f4f9f2ca_0_75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1f4f9f2ca_0_8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1f4f9f2ca_0_81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d1f4f9f2ca_0_81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1f4f9f2ca_0_14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d1f4f9f2ca_0_143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d1f4f9f2ca_0_143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1f4f9f2ca_0_9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d1f4f9f2ca_0_95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d1f4f9f2ca_0_95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1f4f9f2ca_0_10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1f4f9f2ca_0_101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d1f4f9f2ca_0_101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1f4f9f2ca_0_11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1f4f9f2ca_0_113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1f4f9f2ca_0_113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1f4f9f2ca_0_119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1f4f9f2ca_0_119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d1f4f9f2ca_0_119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1f4f9f2ca_0_12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d1f4f9f2ca_0_125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d1f4f9f2ca_0_125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1f4f9f2ca_0_13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d1f4f9f2ca_0_131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d1f4f9f2ca_0_131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24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 rot="5400000">
            <a:off x="4859338" y="2303463"/>
            <a:ext cx="5597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 rot="5400000">
            <a:off x="668338" y="322262"/>
            <a:ext cx="5597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" type="body"/>
          </p:nvPr>
        </p:nvSpPr>
        <p:spPr>
          <a:xfrm rot="5400000">
            <a:off x="2420938" y="-134937"/>
            <a:ext cx="43021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5" name="Google Shape;45;p2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/>
        </p:txBody>
      </p:sp>
      <p:sp>
        <p:nvSpPr>
          <p:cNvPr id="51" name="Google Shape;5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7" name="Google Shape;67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68" name="Google Shape;68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9" name="Google Shape;69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70" name="Google Shape;70;p2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" type="body"/>
          </p:nvPr>
        </p:nvSpPr>
        <p:spPr>
          <a:xfrm>
            <a:off x="457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76" name="Google Shape;76;p27"/>
          <p:cNvSpPr txBox="1"/>
          <p:nvPr>
            <p:ph idx="2" type="body"/>
          </p:nvPr>
        </p:nvSpPr>
        <p:spPr>
          <a:xfrm>
            <a:off x="4648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83" name="Google Shape;83;p28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/>
          <p:nvPr>
            <p:ph type="title"/>
          </p:nvPr>
        </p:nvSpPr>
        <p:spPr>
          <a:xfrm rot="5400000">
            <a:off x="4859338" y="2303463"/>
            <a:ext cx="5597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0"/>
          <p:cNvSpPr txBox="1"/>
          <p:nvPr>
            <p:ph idx="1" type="body"/>
          </p:nvPr>
        </p:nvSpPr>
        <p:spPr>
          <a:xfrm rot="5400000">
            <a:off x="668338" y="322262"/>
            <a:ext cx="5597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" type="body"/>
          </p:nvPr>
        </p:nvSpPr>
        <p:spPr>
          <a:xfrm rot="5400000">
            <a:off x="2420938" y="-134937"/>
            <a:ext cx="43021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129" name="Google Shape;129;p32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2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/>
        </p:txBody>
      </p:sp>
      <p:sp>
        <p:nvSpPr>
          <p:cNvPr id="135" name="Google Shape;135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136" name="Google Shape;136;p33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142" name="Google Shape;142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143" name="Google Shape;143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144" name="Google Shape;144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145" name="Google Shape;145;p34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4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5"/>
          <p:cNvSpPr txBox="1"/>
          <p:nvPr>
            <p:ph idx="1" type="body"/>
          </p:nvPr>
        </p:nvSpPr>
        <p:spPr>
          <a:xfrm>
            <a:off x="457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151" name="Google Shape;151;p35"/>
          <p:cNvSpPr txBox="1"/>
          <p:nvPr>
            <p:ph idx="2" type="body"/>
          </p:nvPr>
        </p:nvSpPr>
        <p:spPr>
          <a:xfrm>
            <a:off x="4648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152" name="Google Shape;152;p35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158" name="Google Shape;158;p36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64" name="Google Shape;164;p37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24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381000" y="990600"/>
            <a:ext cx="76200" cy="510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oogle Shape;11;p15"/>
          <p:cNvGrpSpPr/>
          <p:nvPr/>
        </p:nvGrpSpPr>
        <p:grpSpPr>
          <a:xfrm>
            <a:off x="381000" y="304800"/>
            <a:ext cx="8391525" cy="5791200"/>
            <a:chOff x="240" y="192"/>
            <a:chExt cx="5286" cy="3648"/>
          </a:xfrm>
        </p:grpSpPr>
        <p:sp>
          <p:nvSpPr>
            <p:cNvPr id="12" name="Google Shape;12;p15"/>
            <p:cNvSpPr txBox="1"/>
            <p:nvPr/>
          </p:nvSpPr>
          <p:spPr>
            <a:xfrm flipH="1" rot="10800000">
              <a:off x="5236" y="192"/>
              <a:ext cx="288" cy="288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13;p15"/>
            <p:cNvSpPr txBox="1"/>
            <p:nvPr/>
          </p:nvSpPr>
          <p:spPr>
            <a:xfrm flipH="1" rot="10800000">
              <a:off x="240" y="192"/>
              <a:ext cx="5004" cy="288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15"/>
            <p:cNvSpPr txBox="1"/>
            <p:nvPr/>
          </p:nvSpPr>
          <p:spPr>
            <a:xfrm flipH="1" rot="10800000">
              <a:off x="240" y="480"/>
              <a:ext cx="5004" cy="144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15;p15"/>
            <p:cNvSpPr txBox="1"/>
            <p:nvPr/>
          </p:nvSpPr>
          <p:spPr>
            <a:xfrm flipH="1" rot="10800000">
              <a:off x="5242" y="480"/>
              <a:ext cx="282" cy="1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" name="Google Shape;16;p15"/>
            <p:cNvCxnSpPr/>
            <p:nvPr/>
          </p:nvCxnSpPr>
          <p:spPr>
            <a:xfrm rot="10800000">
              <a:off x="480" y="2256"/>
              <a:ext cx="484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7" name="Google Shape;17;p15"/>
            <p:cNvSpPr txBox="1"/>
            <p:nvPr/>
          </p:nvSpPr>
          <p:spPr>
            <a:xfrm>
              <a:off x="240" y="192"/>
              <a:ext cx="5286" cy="36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98" name="Google Shape;98;p17"/>
          <p:cNvGrpSpPr/>
          <p:nvPr/>
        </p:nvGrpSpPr>
        <p:grpSpPr>
          <a:xfrm>
            <a:off x="279400" y="152400"/>
            <a:ext cx="8686800" cy="1600200"/>
            <a:chOff x="176" y="96"/>
            <a:chExt cx="5472" cy="1008"/>
          </a:xfrm>
        </p:grpSpPr>
        <p:cxnSp>
          <p:nvCxnSpPr>
            <p:cNvPr id="99" name="Google Shape;99;p17"/>
            <p:cNvCxnSpPr/>
            <p:nvPr/>
          </p:nvCxnSpPr>
          <p:spPr>
            <a:xfrm rot="10800000">
              <a:off x="288" y="1104"/>
              <a:ext cx="523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00" name="Google Shape;100;p17"/>
            <p:cNvSpPr txBox="1"/>
            <p:nvPr/>
          </p:nvSpPr>
          <p:spPr>
            <a:xfrm>
              <a:off x="5504" y="96"/>
              <a:ext cx="144" cy="144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176" y="96"/>
              <a:ext cx="5326" cy="1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176" y="240"/>
              <a:ext cx="5326" cy="88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5504" y="241"/>
              <a:ext cx="144" cy="86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"/>
          <p:cNvSpPr txBox="1"/>
          <p:nvPr>
            <p:ph type="ctrTitle"/>
          </p:nvPr>
        </p:nvSpPr>
        <p:spPr>
          <a:xfrm>
            <a:off x="673100" y="2133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# 07</a:t>
            </a:r>
            <a:endParaRPr/>
          </a:p>
        </p:txBody>
      </p:sp>
      <p:sp>
        <p:nvSpPr>
          <p:cNvPr id="179" name="Google Shape;179;p1"/>
          <p:cNvSpPr txBox="1"/>
          <p:nvPr>
            <p:ph idx="1" type="subTitle"/>
          </p:nvPr>
        </p:nvSpPr>
        <p:spPr>
          <a:xfrm>
            <a:off x="673100" y="3865562"/>
            <a:ext cx="8013700" cy="220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4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Salvaging and Configuration Management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Course Instructor: Engr. Ruqqiya Asad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</a:t>
            </a:r>
            <a:endParaRPr/>
          </a:p>
        </p:txBody>
      </p:sp>
      <p:sp>
        <p:nvSpPr>
          <p:cNvPr id="180" name="Google Shape;180;p1"/>
          <p:cNvSpPr txBox="1"/>
          <p:nvPr/>
        </p:nvSpPr>
        <p:spPr>
          <a:xfrm>
            <a:off x="685800" y="1052512"/>
            <a:ext cx="75580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Construction and Development SE-312</a:t>
            </a:r>
            <a:endParaRPr/>
          </a:p>
        </p:txBody>
      </p:sp>
      <p:sp>
        <p:nvSpPr>
          <p:cNvPr id="181" name="Google Shape;181;p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2" name="Google Shape;182;p1"/>
          <p:cNvSpPr txBox="1"/>
          <p:nvPr/>
        </p:nvSpPr>
        <p:spPr>
          <a:xfrm>
            <a:off x="2524125" y="386556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Salvaging</a:t>
            </a:r>
            <a:endParaRPr/>
          </a:p>
        </p:txBody>
      </p:sp>
      <p:sp>
        <p:nvSpPr>
          <p:cNvPr id="188" name="Google Shape;188;p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9" name="Google Shape;189;p2"/>
          <p:cNvSpPr txBox="1"/>
          <p:nvPr/>
        </p:nvSpPr>
        <p:spPr>
          <a:xfrm>
            <a:off x="457200" y="1998662"/>
            <a:ext cx="8208962" cy="3046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Salvaging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process of: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Reusing useful parts of existing code from old or legacy software in new software projects instead of writing everything from scratch.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maintenance technique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save time, cost, and effort.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395287" y="1125537"/>
            <a:ext cx="378618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/ Purpose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366712" y="1916112"/>
            <a:ext cx="8291512" cy="403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Time: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Avoid rewriting modules that already work.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Cost: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Less development and testing required.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Reuse Tested Code: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Modules that were already tested can reduce errors.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Accelerate Development: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Faster delivery of new system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395287" y="1052512"/>
            <a:ext cx="4475162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Code Salvaging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395287" y="1989137"/>
            <a:ext cx="8291512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Module Salvage: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 module reused without change.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Tax calculation module from old billing system.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Partial Salvage: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functions or classes reused.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Authentication logic reused but with new UI.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Refactoring: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Old code is modified for new system but logic remains.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Legacy payroll logic adapted to new HR system.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217487" y="1052512"/>
            <a:ext cx="728345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is Code Salvaging Useful?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207962" y="2133600"/>
            <a:ext cx="8936037" cy="206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Legacy system modernization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migration (e.g., desktop → web)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Upgrading software without losing working features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projects where rewriting is expensive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395287" y="1125537"/>
            <a:ext cx="47244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in Code Salvaging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277812" y="1916112"/>
            <a:ext cx="8435975" cy="403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Documentation: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Old code may lack comments.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Compatibility Issues: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Old code may not work in new language or framework.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Tightly Coupled Code: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Hard to extract specific modules.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Bugs: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Old code may have undetected issues.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539750" y="1125537"/>
            <a:ext cx="33655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Scenario</a:t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538162" y="1989137"/>
            <a:ext cx="8148637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Situation: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bank has a 15-year-old desktop software.</a:t>
            </a:r>
            <a:b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 a mobile app.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Salvaged code: Transaction validation &amp; security module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Rewritten: User interface, reports, and mobile-specific features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avoids rewriting complex logic like transaction security from scratch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539750" y="1052512"/>
            <a:ext cx="4389437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in Code Salvaging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323850" y="1857375"/>
            <a:ext cx="81026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modules to salvage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analyze old system to find reusable parts.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compatibility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ensure module fits in new system architecture.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 if necessary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modify code to meet new requirements.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into new system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test salvaged modules with new code.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changes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record what is reused and what is modified.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Management (CM)</a:t>
            </a:r>
            <a:endParaRPr/>
          </a:p>
        </p:txBody>
      </p:sp>
      <p:sp>
        <p:nvSpPr>
          <p:cNvPr id="238" name="Google Shape;238;p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457200" y="1724025"/>
            <a:ext cx="7570787" cy="452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Management</a:t>
            </a: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of systematically managing software versions, changes, and documentation to ensure controlled development and maintenance.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ensures </a:t>
            </a: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organized evolution of software</a:t>
            </a: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especially in multi-developer environments.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1f4f9f2ca_0_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6" name="Google Shape;246;g3d1f4f9f2ca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00" y="811075"/>
            <a:ext cx="8164875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252" name="Google Shape;252;p1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457200" y="1989137"/>
            <a:ext cx="8229600" cy="3538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changes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every modification is recorded.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versions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rollback if a change causes errors.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 team development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multiple developers can work without conflict.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stability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prevent accidental overwriting of working code.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documentation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all changes are traceable.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 txBox="1"/>
          <p:nvPr>
            <p:ph type="title"/>
          </p:nvPr>
        </p:nvSpPr>
        <p:spPr>
          <a:xfrm>
            <a:off x="457200" y="533400"/>
            <a:ext cx="9010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Activities of Configuration Management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679450" y="1978025"/>
            <a:ext cx="6102350" cy="396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2.3.1 Version Control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history of changes in code, documents, and configuration files.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Rollback to previous versions if needed.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Git, SVN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b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1.0 → Initial system</a:t>
            </a:r>
            <a:b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1.1 → Bug fixes</a:t>
            </a:r>
            <a:b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2.0 → Major feature update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1f4f9f2ca_0_1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7" name="Google Shape;267;g3d1f4f9f2ca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00" y="670125"/>
            <a:ext cx="8268225" cy="5181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1f4f9f2ca_0_20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4" name="Google Shape;274;g3d1f4f9f2ca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25" y="701450"/>
            <a:ext cx="8518575" cy="523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1f4f9f2ca_0_2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1" name="Google Shape;281;g3d1f4f9f2ca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825" y="748425"/>
            <a:ext cx="8445974" cy="49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1f4f9f2ca_0_34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8" name="Google Shape;288;g3d1f4f9f2ca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75" y="858025"/>
            <a:ext cx="8125353" cy="539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1f4f9f2ca_0_4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5" name="Google Shape;295;g3d1f4f9f2ca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717100"/>
            <a:ext cx="7922726" cy="559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1f4f9f2ca_0_54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2" name="Google Shape;302;g3d1f4f9f2ca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00" y="811075"/>
            <a:ext cx="8112060" cy="5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1f4f9f2ca_0_6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9" name="Google Shape;309;g3d1f4f9f2ca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50" y="748425"/>
            <a:ext cx="7863000" cy="574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1f4f9f2ca_0_68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d1f4f9f2ca_0_6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7" name="Google Shape;317;g3d1f4f9f2ca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638825"/>
            <a:ext cx="8229601" cy="6019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1f4f9f2ca_0_7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4" name="Google Shape;324;g3d1f4f9f2ca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75" y="323850"/>
            <a:ext cx="8158624" cy="62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1f4f9f2ca_0_8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1" name="Google Shape;331;g3d1f4f9f2ca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25" y="559475"/>
            <a:ext cx="8742951" cy="54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Control</a:t>
            </a:r>
            <a:endParaRPr/>
          </a:p>
        </p:txBody>
      </p:sp>
      <p:sp>
        <p:nvSpPr>
          <p:cNvPr id="337" name="Google Shape;337;p1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8" name="Google Shape;338;p12"/>
          <p:cNvSpPr txBox="1"/>
          <p:nvPr/>
        </p:nvSpPr>
        <p:spPr>
          <a:xfrm>
            <a:off x="622300" y="1971675"/>
            <a:ext cx="8064500" cy="3538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changes must be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planned, approved, and documented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b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developer cannot directly change production code.</a:t>
            </a:r>
            <a:b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Steps: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 change request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 approves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 into main branch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Management</a:t>
            </a:r>
            <a:endParaRPr/>
          </a:p>
        </p:txBody>
      </p:sp>
      <p:sp>
        <p:nvSpPr>
          <p:cNvPr id="344" name="Google Shape;344;p1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5" name="Google Shape;345;p13"/>
          <p:cNvSpPr txBox="1"/>
          <p:nvPr/>
        </p:nvSpPr>
        <p:spPr>
          <a:xfrm>
            <a:off x="554037" y="2205037"/>
            <a:ext cx="8339137" cy="26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Compiling and packaging software for testing or deployment.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build of web application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APK generation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Executable for Windows desktop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1f4f9f2ca_0_14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2" name="Google Shape;352;g3d1f4f9f2ca_0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300" y="888325"/>
            <a:ext cx="7146101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 Management</a:t>
            </a:r>
            <a:endParaRPr/>
          </a:p>
        </p:txBody>
      </p:sp>
      <p:sp>
        <p:nvSpPr>
          <p:cNvPr id="358" name="Google Shape;358;p1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9" name="Google Shape;359;p14"/>
          <p:cNvSpPr txBox="1"/>
          <p:nvPr/>
        </p:nvSpPr>
        <p:spPr>
          <a:xfrm>
            <a:off x="452437" y="2133600"/>
            <a:ext cx="7864475" cy="22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Deploying software versions to end-users.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 1.0 → basic functionality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 1.1 → bug fixes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 2.0 → new features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1f4f9f2ca_0_9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6" name="Google Shape;366;g3d1f4f9f2ca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00" y="589775"/>
            <a:ext cx="8356000" cy="567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1f4f9f2ca_0_10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3" name="Google Shape;373;g3d1f4f9f2ca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00" y="731725"/>
            <a:ext cx="8182900" cy="517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1f4f9f2ca_0_11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0" name="Google Shape;380;g3d1f4f9f2ca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00" y="637775"/>
            <a:ext cx="8010525" cy="5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1f4f9f2ca_0_11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7" name="Google Shape;387;g3d1f4f9f2ca_0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275" y="614375"/>
            <a:ext cx="8131251" cy="562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1f4f9f2ca_0_12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4" name="Google Shape;394;g3d1f4f9f2ca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113" y="810025"/>
            <a:ext cx="8219774" cy="49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1f4f9f2ca_0_13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1" name="Google Shape;401;g3d1f4f9f2ca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25" y="852488"/>
            <a:ext cx="8067675" cy="51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Quadrant">
  <a:themeElements>
    <a:clrScheme name="2_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2009-02-05T11:22:17Z</dcterms:created>
  <dc:creator>User</dc:creator>
</cp:coreProperties>
</file>