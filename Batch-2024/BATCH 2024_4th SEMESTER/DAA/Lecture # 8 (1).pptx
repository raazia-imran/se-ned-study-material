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1" r:id="rId35"/>
    <p:sldId id="292" r:id="rId36"/>
    <p:sldId id="293" r:id="rId37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894" y="-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100" y="266192"/>
            <a:ext cx="1039495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9646" y="4711700"/>
            <a:ext cx="12020550" cy="420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62230" y="9340291"/>
            <a:ext cx="281940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3" Type="http://schemas.openxmlformats.org/officeDocument/2006/relationships/image" Target="../media/image3.jpg"/><Relationship Id="rId21" Type="http://schemas.openxmlformats.org/officeDocument/2006/relationships/image" Target="../media/image21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image" Target="../media/image2.jpg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19" Type="http://schemas.openxmlformats.org/officeDocument/2006/relationships/image" Target="../media/image19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Relationship Id="rId22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3738" y="7245169"/>
            <a:ext cx="4830445" cy="209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marR="461009" indent="608330">
              <a:lnSpc>
                <a:spcPct val="131500"/>
              </a:lnSpc>
              <a:spcBef>
                <a:spcPts val="100"/>
              </a:spcBef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78456" y="2349501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24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5864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677795" algn="l"/>
                <a:tab pos="5735320" algn="l"/>
              </a:tabLst>
            </a:pP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10" dirty="0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10" dirty="0">
                <a:solidFill>
                  <a:srgbClr val="FFFFFF"/>
                </a:solidFill>
                <a:latin typeface="Tahoma"/>
                <a:cs typeface="Tahoma"/>
              </a:rPr>
              <a:t>Programming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127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6600" y="2527300"/>
            <a:ext cx="4891405" cy="1936428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5" dirty="0">
                <a:solidFill>
                  <a:srgbClr val="FFFFFF"/>
                </a:solidFill>
                <a:latin typeface="Verdana"/>
                <a:cs typeface="Verdana"/>
              </a:rPr>
              <a:t>weighted</a:t>
            </a:r>
            <a:r>
              <a:rPr sz="3000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FFFFFF"/>
                </a:solidFill>
                <a:latin typeface="Verdana"/>
                <a:cs typeface="Verdana"/>
              </a:rPr>
              <a:t>interval</a:t>
            </a:r>
            <a:r>
              <a:rPr sz="3000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-285" dirty="0">
                <a:solidFill>
                  <a:srgbClr val="FFFFFF"/>
                </a:solidFill>
                <a:latin typeface="Verdana"/>
                <a:cs typeface="Verdana"/>
              </a:rPr>
              <a:t>scheduling</a:t>
            </a:r>
            <a:endParaRPr sz="3000" dirty="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75" dirty="0">
                <a:solidFill>
                  <a:srgbClr val="FFFFFF"/>
                </a:solidFill>
                <a:latin typeface="Verdana"/>
                <a:cs typeface="Verdana"/>
              </a:rPr>
              <a:t>segmented</a:t>
            </a:r>
            <a:r>
              <a:rPr sz="30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-305" dirty="0">
                <a:solidFill>
                  <a:srgbClr val="FFFFFF"/>
                </a:solidFill>
                <a:latin typeface="Verdana"/>
                <a:cs typeface="Verdana"/>
              </a:rPr>
              <a:t>least</a:t>
            </a:r>
            <a:r>
              <a:rPr sz="3000" i="1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FFFFFF"/>
                </a:solidFill>
                <a:latin typeface="Verdana"/>
                <a:cs typeface="Verdana"/>
              </a:rPr>
              <a:t>squares</a:t>
            </a:r>
            <a:endParaRPr sz="3000" dirty="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85" dirty="0">
                <a:solidFill>
                  <a:srgbClr val="FFFFFF"/>
                </a:solidFill>
                <a:latin typeface="Verdana"/>
                <a:cs typeface="Verdana"/>
              </a:rPr>
              <a:t>knapsack</a:t>
            </a:r>
            <a:r>
              <a:rPr sz="3000" i="1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-295" dirty="0" smtClean="0">
                <a:solidFill>
                  <a:srgbClr val="FFFFFF"/>
                </a:solidFill>
                <a:latin typeface="Verdana"/>
                <a:cs typeface="Verdana"/>
              </a:rPr>
              <a:t>problem</a:t>
            </a:r>
            <a:endParaRPr sz="3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Algorithmic</a:t>
            </a:r>
            <a:r>
              <a:rPr spc="95" dirty="0"/>
              <a:t> </a:t>
            </a:r>
            <a:r>
              <a:rPr spc="-10" dirty="0"/>
              <a:t>paradigms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1343005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marR="709930" indent="-59055">
              <a:lnSpc>
                <a:spcPct val="131900"/>
              </a:lnSpc>
              <a:spcBef>
                <a:spcPts val="100"/>
              </a:spcBef>
              <a:tabLst>
                <a:tab pos="117792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Greed.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myopically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irrevocable decisions.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1120" marR="5080" indent="-59055">
              <a:lnSpc>
                <a:spcPct val="131900"/>
              </a:lnSpc>
              <a:spcBef>
                <a:spcPts val="5"/>
              </a:spcBef>
              <a:tabLst>
                <a:tab pos="3198495" algn="l"/>
              </a:tabLst>
            </a:pP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Divide-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and-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conquer.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Break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independent</a:t>
            </a:r>
            <a:r>
              <a:rPr sz="24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subproblems;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subproblem;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combine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original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1120" marR="326390">
              <a:lnSpc>
                <a:spcPct val="131900"/>
              </a:lnSpc>
              <a:tabLst>
                <a:tab pos="37687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2400" spc="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Break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series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overlapping </a:t>
            </a:r>
            <a:r>
              <a:rPr sz="2400" dirty="0">
                <a:latin typeface="Lucida Sans Unicode"/>
                <a:cs typeface="Lucida Sans Unicode"/>
              </a:rPr>
              <a:t>subproblems;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combine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smaller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subproblems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large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subproblem.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0502" y="6755323"/>
            <a:ext cx="2826385" cy="8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7225">
              <a:lnSpc>
                <a:spcPct val="1139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fancy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name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for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caching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intermediate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results</a:t>
            </a:r>
            <a:endParaRPr sz="1600">
              <a:latin typeface="Lucida Sans Unicode"/>
              <a:cs typeface="Lucida Sans Unicode"/>
            </a:endParaRPr>
          </a:p>
          <a:p>
            <a:pPr marL="227329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table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later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reuse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55900" y="5118100"/>
            <a:ext cx="843915" cy="1654810"/>
            <a:chOff x="2755900" y="5118100"/>
            <a:chExt cx="843915" cy="1654810"/>
          </a:xfrm>
        </p:grpSpPr>
        <p:sp>
          <p:nvSpPr>
            <p:cNvPr id="7" name="object 7"/>
            <p:cNvSpPr/>
            <p:nvPr/>
          </p:nvSpPr>
          <p:spPr>
            <a:xfrm>
              <a:off x="2791459" y="5188353"/>
              <a:ext cx="795655" cy="1572260"/>
            </a:xfrm>
            <a:custGeom>
              <a:avLst/>
              <a:gdLst/>
              <a:ahLst/>
              <a:cxnLst/>
              <a:rect l="l" t="t" r="r" b="b"/>
              <a:pathLst>
                <a:path w="795654" h="1572259">
                  <a:moveTo>
                    <a:pt x="0" y="0"/>
                  </a:moveTo>
                  <a:lnTo>
                    <a:pt x="5735" y="11331"/>
                  </a:lnTo>
                  <a:lnTo>
                    <a:pt x="795645" y="1571817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55900" y="5118100"/>
              <a:ext cx="109855" cy="136525"/>
            </a:xfrm>
            <a:custGeom>
              <a:avLst/>
              <a:gdLst/>
              <a:ahLst/>
              <a:cxnLst/>
              <a:rect l="l" t="t" r="r" b="b"/>
              <a:pathLst>
                <a:path w="109855" h="136525">
                  <a:moveTo>
                    <a:pt x="0" y="0"/>
                  </a:moveTo>
                  <a:lnTo>
                    <a:pt x="670" y="136309"/>
                  </a:lnTo>
                  <a:lnTo>
                    <a:pt x="41295" y="81584"/>
                  </a:lnTo>
                  <a:lnTo>
                    <a:pt x="109449" y="812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50" dirty="0"/>
              <a:t> </a:t>
            </a:r>
            <a:r>
              <a:rPr dirty="0"/>
              <a:t>programming</a:t>
            </a:r>
            <a:r>
              <a:rPr spc="350" dirty="0"/>
              <a:t> </a:t>
            </a:r>
            <a:r>
              <a:rPr spc="-10" dirty="0"/>
              <a:t>history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338580"/>
            <a:ext cx="1141412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Bellman.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Pioneered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systematic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programming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1950s.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Etymology.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programming</a:t>
            </a:r>
            <a:r>
              <a:rPr sz="2400" spc="-145" dirty="0">
                <a:latin typeface="Lucida Sans Unicode"/>
                <a:cs typeface="Lucida Sans Unicode"/>
              </a:rPr>
              <a:t> = </a:t>
            </a:r>
            <a:r>
              <a:rPr sz="2400" dirty="0">
                <a:latin typeface="Lucida Sans Unicode"/>
                <a:cs typeface="Lucida Sans Unicode"/>
              </a:rPr>
              <a:t>planning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over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Secretary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Defense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pathological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fear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mathematical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research.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Bellman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sought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“dynamic”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adjective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avoid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conflict.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8098" y="4876800"/>
            <a:ext cx="7848602" cy="4256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50" dirty="0"/>
              <a:t> </a:t>
            </a:r>
            <a:r>
              <a:rPr dirty="0"/>
              <a:t>programming</a:t>
            </a:r>
            <a:r>
              <a:rPr spc="3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338580"/>
            <a:ext cx="10202545" cy="766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Application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areas.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  <a:tabLst>
                <a:tab pos="361061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Computer</a:t>
            </a:r>
            <a:r>
              <a:rPr sz="2400" spc="-114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science:</a:t>
            </a:r>
            <a:r>
              <a:rPr sz="2400" dirty="0">
                <a:latin typeface="Lucida Sans Unicode"/>
                <a:cs typeface="Lucida Sans Unicode"/>
              </a:rPr>
              <a:t>	AI,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compilers,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graphics,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theory,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….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Operations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research.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Information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theory.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Control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theory.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Bioinformatics.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Some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famous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Avidan–Shamir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carving.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Unix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diff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comparing two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files.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Viterbi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hidden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Markov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models.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evaluating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spline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curves.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Bellman–Ford–Moore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shortest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path.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Knuth–Plass for word wrapping text </a:t>
            </a:r>
            <a:r>
              <a:rPr sz="2400" spc="-20" dirty="0">
                <a:latin typeface="Lucida Sans Unicode"/>
                <a:cs typeface="Lucida Sans Unicode"/>
              </a:rPr>
              <a:t>in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3600" i="1" spc="352" baseline="5787" dirty="0">
                <a:latin typeface="Calibri"/>
                <a:cs typeface="Calibri"/>
              </a:rPr>
              <a:t>T</a:t>
            </a:r>
            <a:r>
              <a:rPr sz="3600" spc="352" baseline="-6944" dirty="0">
                <a:latin typeface="Trebuchet MS"/>
                <a:cs typeface="Trebuchet MS"/>
              </a:rPr>
              <a:t>1</a:t>
            </a:r>
            <a:r>
              <a:rPr sz="3600" i="1" spc="352" baseline="5787" dirty="0">
                <a:latin typeface="Calibri"/>
                <a:cs typeface="Calibri"/>
              </a:rPr>
              <a:t>X</a:t>
            </a:r>
            <a:r>
              <a:rPr sz="2400" spc="23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Cocke–Kasami–Younger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parsing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context-</a:t>
            </a:r>
            <a:r>
              <a:rPr sz="2400" spc="-20" dirty="0">
                <a:latin typeface="Lucida Sans Unicode"/>
                <a:cs typeface="Lucida Sans Unicode"/>
              </a:rPr>
              <a:t>free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grammars.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Needleman–Wunsch/Smith–Waterman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alignment.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350" dirty="0"/>
              <a:t> </a:t>
            </a:r>
            <a:r>
              <a:rPr dirty="0"/>
              <a:t>programming</a:t>
            </a:r>
            <a:r>
              <a:rPr spc="350" dirty="0"/>
              <a:t> </a:t>
            </a:r>
            <a:r>
              <a:rPr spc="-10" dirty="0"/>
              <a:t>books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3302" y="7169175"/>
            <a:ext cx="1526959" cy="2286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3195" y="7169175"/>
            <a:ext cx="1519694" cy="228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4630" y="4332071"/>
            <a:ext cx="1525526" cy="2286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3533" y="7169175"/>
            <a:ext cx="1485900" cy="2286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35735" y="4332071"/>
            <a:ext cx="1602099" cy="2286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72845" y="1505325"/>
            <a:ext cx="1525526" cy="2285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2800" y="7169175"/>
            <a:ext cx="1525526" cy="22860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31886" y="7169175"/>
            <a:ext cx="1572228" cy="2286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03718" y="4332071"/>
            <a:ext cx="1525526" cy="2286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66104" y="1505325"/>
            <a:ext cx="1444752" cy="22859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21067" y="7169175"/>
            <a:ext cx="1446389" cy="22860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92233" y="4332071"/>
            <a:ext cx="1434727" cy="2286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67420" y="4332071"/>
            <a:ext cx="1507577" cy="22860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174810" y="1505325"/>
            <a:ext cx="1529411" cy="22859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78587" y="1505325"/>
            <a:ext cx="1525526" cy="22859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76483" y="4332071"/>
            <a:ext cx="1627631" cy="22860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2800" y="4332071"/>
            <a:ext cx="1566757" cy="22860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49091" y="1505325"/>
            <a:ext cx="1525904" cy="22859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98829" y="1505325"/>
            <a:ext cx="1520686" cy="22859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525716" y="7169175"/>
            <a:ext cx="1525526" cy="22860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25500" y="1505325"/>
            <a:ext cx="1514475" cy="2285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5864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677795" algn="l"/>
                <a:tab pos="5735320" algn="l"/>
              </a:tabLst>
            </a:pPr>
            <a:r>
              <a:rPr sz="3600" b="1" cap="small" spc="-25" dirty="0">
                <a:latin typeface="Tahoma"/>
                <a:cs typeface="Tahoma"/>
              </a:rPr>
              <a:t>6.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Dynamic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Programming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275" dirty="0"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891405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5" dirty="0">
                <a:latin typeface="Verdana"/>
                <a:cs typeface="Verdana"/>
              </a:rPr>
              <a:t>weighted</a:t>
            </a:r>
            <a:r>
              <a:rPr sz="3000" i="1" spc="-155" dirty="0">
                <a:latin typeface="Verdana"/>
                <a:cs typeface="Verdana"/>
              </a:rPr>
              <a:t> </a:t>
            </a:r>
            <a:r>
              <a:rPr sz="3000" i="1" spc="-275" dirty="0">
                <a:latin typeface="Verdana"/>
                <a:cs typeface="Verdana"/>
              </a:rPr>
              <a:t>interval</a:t>
            </a:r>
            <a:r>
              <a:rPr sz="3000" i="1" spc="-155" dirty="0">
                <a:latin typeface="Verdana"/>
                <a:cs typeface="Verdana"/>
              </a:rPr>
              <a:t> </a:t>
            </a:r>
            <a:r>
              <a:rPr sz="3000" i="1" spc="-285" dirty="0">
                <a:latin typeface="Verdana"/>
                <a:cs typeface="Verdana"/>
              </a:rPr>
              <a:t>scheduling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75" dirty="0">
                <a:solidFill>
                  <a:srgbClr val="D5D5D5"/>
                </a:solidFill>
                <a:latin typeface="Verdana"/>
                <a:cs typeface="Verdana"/>
              </a:rPr>
              <a:t>segmented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05" dirty="0">
                <a:solidFill>
                  <a:srgbClr val="D5D5D5"/>
                </a:solidFill>
                <a:latin typeface="Verdana"/>
                <a:cs typeface="Verdana"/>
              </a:rPr>
              <a:t>least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D5D5D5"/>
                </a:solidFill>
                <a:latin typeface="Verdana"/>
                <a:cs typeface="Verdana"/>
              </a:rPr>
              <a:t>squares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knapsack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114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60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6475" y="6918652"/>
            <a:ext cx="188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spc="-10" dirty="0">
                <a:solidFill>
                  <a:srgbClr val="606060"/>
                </a:solidFill>
                <a:latin typeface="Tahoma"/>
                <a:cs typeface="Tahoma"/>
              </a:rPr>
              <a:t>Sections</a:t>
            </a:r>
            <a:r>
              <a:rPr sz="1800" b="1" cap="small" spc="-5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105" dirty="0">
                <a:solidFill>
                  <a:srgbClr val="606060"/>
                </a:solidFill>
                <a:latin typeface="Tahoma"/>
                <a:cs typeface="Tahoma"/>
              </a:rPr>
              <a:t>6.1–6.2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1700" y="1155700"/>
            <a:ext cx="9356090" cy="157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starts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spc="-1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finishes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spc="-10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27" baseline="-6944" dirty="0">
                <a:latin typeface="Times New Roman"/>
                <a:cs typeface="Times New Roman"/>
              </a:rPr>
              <a:t>  </a:t>
            </a:r>
            <a:r>
              <a:rPr sz="2400" spc="-5" dirty="0">
                <a:latin typeface="Times New Roman"/>
                <a:cs typeface="Times New Roman"/>
              </a:rPr>
              <a:t>&gt;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Two jobs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 </a:t>
            </a:r>
            <a:r>
              <a:rPr sz="2400" dirty="0">
                <a:solidFill>
                  <a:srgbClr val="A34431"/>
                </a:solidFill>
                <a:latin typeface="Lucida Sans Unicode"/>
                <a:cs typeface="Lucida Sans Unicode"/>
              </a:rPr>
              <a:t>compatible</a:t>
            </a:r>
            <a:r>
              <a:rPr sz="2400" spc="5" dirty="0">
                <a:solidFill>
                  <a:srgbClr val="A34431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 they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don’t</a:t>
            </a:r>
            <a:r>
              <a:rPr sz="240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overlap.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  <a:tabLst>
                <a:tab pos="147828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Goal:</a:t>
            </a:r>
            <a:r>
              <a:rPr sz="2400" dirty="0">
                <a:latin typeface="Lucida Sans Unicode"/>
                <a:cs typeface="Lucida Sans Unicode"/>
              </a:rPr>
              <a:t>	find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max-</a:t>
            </a:r>
            <a:r>
              <a:rPr sz="2400" spc="-30" dirty="0">
                <a:latin typeface="Lucida Sans Unicode"/>
                <a:cs typeface="Lucida Sans Unicode"/>
              </a:rPr>
              <a:t>weight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mutually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compatible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jobs.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5778" y="8834437"/>
            <a:ext cx="490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28729" y="6033911"/>
            <a:ext cx="0" cy="201930"/>
          </a:xfrm>
          <a:custGeom>
            <a:avLst/>
            <a:gdLst/>
            <a:ahLst/>
            <a:cxnLst/>
            <a:rect l="l" t="t" r="r" b="b"/>
            <a:pathLst>
              <a:path h="201929">
                <a:moveTo>
                  <a:pt x="0" y="0"/>
                </a:moveTo>
                <a:lnTo>
                  <a:pt x="0" y="201788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86128" y="6628552"/>
            <a:ext cx="0" cy="191770"/>
          </a:xfrm>
          <a:custGeom>
            <a:avLst/>
            <a:gdLst/>
            <a:ahLst/>
            <a:cxnLst/>
            <a:rect l="l" t="t" r="r" b="b"/>
            <a:pathLst>
              <a:path h="191770">
                <a:moveTo>
                  <a:pt x="0" y="0"/>
                </a:moveTo>
                <a:lnTo>
                  <a:pt x="0" y="191346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86128" y="4452937"/>
            <a:ext cx="0" cy="1783080"/>
          </a:xfrm>
          <a:custGeom>
            <a:avLst/>
            <a:gdLst/>
            <a:ahLst/>
            <a:cxnLst/>
            <a:rect l="l" t="t" r="r" b="b"/>
            <a:pathLst>
              <a:path h="1783079">
                <a:moveTo>
                  <a:pt x="0" y="0"/>
                </a:moveTo>
                <a:lnTo>
                  <a:pt x="0" y="1782762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00329" y="6628552"/>
            <a:ext cx="0" cy="191770"/>
          </a:xfrm>
          <a:custGeom>
            <a:avLst/>
            <a:gdLst/>
            <a:ahLst/>
            <a:cxnLst/>
            <a:rect l="l" t="t" r="r" b="b"/>
            <a:pathLst>
              <a:path h="191770">
                <a:moveTo>
                  <a:pt x="0" y="0"/>
                </a:moveTo>
                <a:lnTo>
                  <a:pt x="0" y="191346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0428" y="8393852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0"/>
                </a:moveTo>
                <a:lnTo>
                  <a:pt x="0" y="204047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056228" y="4452937"/>
            <a:ext cx="0" cy="4145279"/>
          </a:xfrm>
          <a:custGeom>
            <a:avLst/>
            <a:gdLst/>
            <a:ahLst/>
            <a:cxnLst/>
            <a:rect l="l" t="t" r="r" b="b"/>
            <a:pathLst>
              <a:path h="4145279">
                <a:moveTo>
                  <a:pt x="0" y="0"/>
                </a:moveTo>
                <a:lnTo>
                  <a:pt x="0" y="4144962"/>
                </a:lnTo>
              </a:path>
            </a:pathLst>
          </a:custGeom>
          <a:ln w="1178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151697" y="4446904"/>
            <a:ext cx="7596505" cy="4551045"/>
            <a:chOff x="2151697" y="4446904"/>
            <a:chExt cx="7596505" cy="4551045"/>
          </a:xfrm>
        </p:grpSpPr>
        <p:sp>
          <p:nvSpPr>
            <p:cNvPr id="13" name="object 13"/>
            <p:cNvSpPr/>
            <p:nvPr/>
          </p:nvSpPr>
          <p:spPr>
            <a:xfrm>
              <a:off x="28527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58628" y="4850552"/>
              <a:ext cx="0" cy="4141470"/>
            </a:xfrm>
            <a:custGeom>
              <a:avLst/>
              <a:gdLst/>
              <a:ahLst/>
              <a:cxnLst/>
              <a:rect l="l" t="t" r="r" b="b"/>
              <a:pathLst>
                <a:path h="4141470">
                  <a:moveTo>
                    <a:pt x="0" y="0"/>
                  </a:moveTo>
                  <a:lnTo>
                    <a:pt x="0" y="41410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60128" y="4850552"/>
              <a:ext cx="0" cy="4141470"/>
            </a:xfrm>
            <a:custGeom>
              <a:avLst/>
              <a:gdLst/>
              <a:ahLst/>
              <a:cxnLst/>
              <a:rect l="l" t="t" r="r" b="b"/>
              <a:pathLst>
                <a:path h="4141470">
                  <a:moveTo>
                    <a:pt x="0" y="0"/>
                  </a:moveTo>
                  <a:lnTo>
                    <a:pt x="0" y="41410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542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30228" y="5447452"/>
              <a:ext cx="0" cy="3544570"/>
            </a:xfrm>
            <a:custGeom>
              <a:avLst/>
              <a:gdLst/>
              <a:ahLst/>
              <a:cxnLst/>
              <a:rect l="l" t="t" r="r" b="b"/>
              <a:pathLst>
                <a:path h="3544570">
                  <a:moveTo>
                    <a:pt x="0" y="0"/>
                  </a:moveTo>
                  <a:lnTo>
                    <a:pt x="0" y="35441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243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30228" y="4850552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h="204470">
                  <a:moveTo>
                    <a:pt x="0" y="0"/>
                  </a:moveTo>
                  <a:lnTo>
                    <a:pt x="0" y="20404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44428" y="5447452"/>
              <a:ext cx="0" cy="3544570"/>
            </a:xfrm>
            <a:custGeom>
              <a:avLst/>
              <a:gdLst/>
              <a:ahLst/>
              <a:cxnLst/>
              <a:rect l="l" t="t" r="r" b="b"/>
              <a:pathLst>
                <a:path h="3544570">
                  <a:moveTo>
                    <a:pt x="0" y="0"/>
                  </a:moveTo>
                  <a:lnTo>
                    <a:pt x="0" y="35441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85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44428" y="4850552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h="204470">
                  <a:moveTo>
                    <a:pt x="0" y="0"/>
                  </a:moveTo>
                  <a:lnTo>
                    <a:pt x="0" y="20404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28729" y="4850552"/>
              <a:ext cx="0" cy="4141470"/>
            </a:xfrm>
            <a:custGeom>
              <a:avLst/>
              <a:gdLst/>
              <a:ahLst/>
              <a:cxnLst/>
              <a:rect l="l" t="t" r="r" b="b"/>
              <a:pathLst>
                <a:path h="4141470">
                  <a:moveTo>
                    <a:pt x="0" y="1778000"/>
                  </a:moveTo>
                  <a:lnTo>
                    <a:pt x="0" y="4141011"/>
                  </a:lnTo>
                </a:path>
                <a:path h="4141470">
                  <a:moveTo>
                    <a:pt x="0" y="0"/>
                  </a:moveTo>
                  <a:lnTo>
                    <a:pt x="0" y="78824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228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86128" y="7215010"/>
              <a:ext cx="0" cy="1776730"/>
            </a:xfrm>
            <a:custGeom>
              <a:avLst/>
              <a:gdLst/>
              <a:ahLst/>
              <a:cxnLst/>
              <a:rect l="l" t="t" r="r" b="b"/>
              <a:pathLst>
                <a:path h="1776729">
                  <a:moveTo>
                    <a:pt x="0" y="1178841"/>
                  </a:moveTo>
                  <a:lnTo>
                    <a:pt x="0" y="1776553"/>
                  </a:lnTo>
                </a:path>
                <a:path h="1776729">
                  <a:moveTo>
                    <a:pt x="0" y="0"/>
                  </a:moveTo>
                  <a:lnTo>
                    <a:pt x="0" y="201788"/>
                  </a:lnTo>
                </a:path>
                <a:path h="1776729">
                  <a:moveTo>
                    <a:pt x="0" y="594641"/>
                  </a:moveTo>
                  <a:lnTo>
                    <a:pt x="0" y="785988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0328" y="7809652"/>
              <a:ext cx="0" cy="1182370"/>
            </a:xfrm>
            <a:custGeom>
              <a:avLst/>
              <a:gdLst/>
              <a:ahLst/>
              <a:cxnLst/>
              <a:rect l="l" t="t" r="r" b="b"/>
              <a:pathLst>
                <a:path h="1182370">
                  <a:moveTo>
                    <a:pt x="0" y="0"/>
                  </a:moveTo>
                  <a:lnTo>
                    <a:pt x="0" y="11819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0328" y="4452937"/>
              <a:ext cx="0" cy="2964180"/>
            </a:xfrm>
            <a:custGeom>
              <a:avLst/>
              <a:gdLst/>
              <a:ahLst/>
              <a:cxnLst/>
              <a:rect l="l" t="t" r="r" b="b"/>
              <a:pathLst>
                <a:path h="2964179">
                  <a:moveTo>
                    <a:pt x="0" y="2762073"/>
                  </a:moveTo>
                  <a:lnTo>
                    <a:pt x="0" y="2963862"/>
                  </a:lnTo>
                </a:path>
                <a:path h="2964179">
                  <a:moveTo>
                    <a:pt x="0" y="0"/>
                  </a:moveTo>
                  <a:lnTo>
                    <a:pt x="0" y="17827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70428" y="4452937"/>
              <a:ext cx="0" cy="3548379"/>
            </a:xfrm>
            <a:custGeom>
              <a:avLst/>
              <a:gdLst/>
              <a:ahLst/>
              <a:cxnLst/>
              <a:rect l="l" t="t" r="r" b="b"/>
              <a:pathLst>
                <a:path h="3548379">
                  <a:moveTo>
                    <a:pt x="0" y="0"/>
                  </a:moveTo>
                  <a:lnTo>
                    <a:pt x="0" y="35480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71928" y="7809652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0"/>
                  </a:moveTo>
                  <a:lnTo>
                    <a:pt x="0" y="19134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71928" y="4452937"/>
              <a:ext cx="0" cy="2964180"/>
            </a:xfrm>
            <a:custGeom>
              <a:avLst/>
              <a:gdLst/>
              <a:ahLst/>
              <a:cxnLst/>
              <a:rect l="l" t="t" r="r" b="b"/>
              <a:pathLst>
                <a:path h="2964179">
                  <a:moveTo>
                    <a:pt x="0" y="0"/>
                  </a:moveTo>
                  <a:lnTo>
                    <a:pt x="0" y="29638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71928" y="8393852"/>
              <a:ext cx="0" cy="598170"/>
            </a:xfrm>
            <a:custGeom>
              <a:avLst/>
              <a:gdLst/>
              <a:ahLst/>
              <a:cxnLst/>
              <a:rect l="l" t="t" r="r" b="b"/>
              <a:pathLst>
                <a:path h="598170">
                  <a:moveTo>
                    <a:pt x="0" y="0"/>
                  </a:moveTo>
                  <a:lnTo>
                    <a:pt x="0" y="59771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40900" y="4457699"/>
              <a:ext cx="2540" cy="4529455"/>
            </a:xfrm>
            <a:custGeom>
              <a:avLst/>
              <a:gdLst/>
              <a:ahLst/>
              <a:cxnLst/>
              <a:rect l="l" t="t" r="r" b="b"/>
              <a:pathLst>
                <a:path w="2540" h="4529455">
                  <a:moveTo>
                    <a:pt x="0" y="4529101"/>
                  </a:moveTo>
                  <a:lnTo>
                    <a:pt x="2257" y="0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13400" y="7416799"/>
              <a:ext cx="2754630" cy="393065"/>
            </a:xfrm>
            <a:custGeom>
              <a:avLst/>
              <a:gdLst/>
              <a:ahLst/>
              <a:cxnLst/>
              <a:rect l="l" t="t" r="r" b="b"/>
              <a:pathLst>
                <a:path w="2754629" h="393065">
                  <a:moveTo>
                    <a:pt x="2754489" y="0"/>
                  </a:moveTo>
                  <a:lnTo>
                    <a:pt x="0" y="0"/>
                  </a:lnTo>
                  <a:lnTo>
                    <a:pt x="0" y="392853"/>
                  </a:lnTo>
                  <a:lnTo>
                    <a:pt x="2754489" y="392853"/>
                  </a:lnTo>
                  <a:lnTo>
                    <a:pt x="2754489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55359" y="7429500"/>
            <a:ext cx="838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99200" y="8001000"/>
            <a:ext cx="2757170" cy="3930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000" i="1" spc="-50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06097" y="4452778"/>
            <a:ext cx="17145" cy="4545330"/>
            <a:chOff x="5606097" y="4452778"/>
            <a:chExt cx="17145" cy="4545330"/>
          </a:xfrm>
        </p:grpSpPr>
        <p:sp>
          <p:nvSpPr>
            <p:cNvPr id="37" name="object 37"/>
            <p:cNvSpPr/>
            <p:nvPr/>
          </p:nvSpPr>
          <p:spPr>
            <a:xfrm>
              <a:off x="5614528" y="7215010"/>
              <a:ext cx="0" cy="1776730"/>
            </a:xfrm>
            <a:custGeom>
              <a:avLst/>
              <a:gdLst/>
              <a:ahLst/>
              <a:cxnLst/>
              <a:rect l="l" t="t" r="r" b="b"/>
              <a:pathLst>
                <a:path h="1776729">
                  <a:moveTo>
                    <a:pt x="0" y="0"/>
                  </a:moveTo>
                  <a:lnTo>
                    <a:pt x="0" y="1776553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14528" y="4850552"/>
              <a:ext cx="0" cy="1969770"/>
            </a:xfrm>
            <a:custGeom>
              <a:avLst/>
              <a:gdLst/>
              <a:ahLst/>
              <a:cxnLst/>
              <a:rect l="l" t="t" r="r" b="b"/>
              <a:pathLst>
                <a:path h="1969770">
                  <a:moveTo>
                    <a:pt x="0" y="1778000"/>
                  </a:moveTo>
                  <a:lnTo>
                    <a:pt x="0" y="1969346"/>
                  </a:lnTo>
                </a:path>
                <a:path h="1969770">
                  <a:moveTo>
                    <a:pt x="0" y="0"/>
                  </a:moveTo>
                  <a:lnTo>
                    <a:pt x="0" y="138514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08637" y="445531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476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670800" y="8597900"/>
            <a:ext cx="2068195" cy="39560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27600" y="6819900"/>
            <a:ext cx="2066289" cy="39560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146300" y="4457699"/>
            <a:ext cx="4156075" cy="393065"/>
          </a:xfrm>
          <a:custGeom>
            <a:avLst/>
            <a:gdLst/>
            <a:ahLst/>
            <a:cxnLst/>
            <a:rect l="l" t="t" r="r" b="b"/>
            <a:pathLst>
              <a:path w="4156075" h="393064">
                <a:moveTo>
                  <a:pt x="4156075" y="0"/>
                </a:moveTo>
                <a:lnTo>
                  <a:pt x="0" y="0"/>
                </a:lnTo>
                <a:lnTo>
                  <a:pt x="0" y="392853"/>
                </a:lnTo>
                <a:lnTo>
                  <a:pt x="4156075" y="392853"/>
                </a:lnTo>
                <a:lnTo>
                  <a:pt x="4156075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160837" y="4470400"/>
            <a:ext cx="139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57500" y="5054599"/>
            <a:ext cx="2068195" cy="3930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29100" y="5638800"/>
            <a:ext cx="1377315" cy="39560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i="1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29100" y="6235699"/>
            <a:ext cx="3443604" cy="3930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200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058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043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901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759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617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602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46086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31886" y="9037116"/>
            <a:ext cx="22504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  <a:tab pos="1230630" algn="l"/>
                <a:tab pos="1979930" algn="l"/>
              </a:tabLst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146300" y="4477975"/>
            <a:ext cx="8378190" cy="4589780"/>
            <a:chOff x="2146300" y="4477975"/>
            <a:chExt cx="8378190" cy="4589780"/>
          </a:xfrm>
        </p:grpSpPr>
        <p:sp>
          <p:nvSpPr>
            <p:cNvPr id="57" name="object 57"/>
            <p:cNvSpPr/>
            <p:nvPr/>
          </p:nvSpPr>
          <p:spPr>
            <a:xfrm>
              <a:off x="2159000" y="9004300"/>
              <a:ext cx="8286750" cy="2540"/>
            </a:xfrm>
            <a:custGeom>
              <a:avLst/>
              <a:gdLst/>
              <a:ahLst/>
              <a:cxnLst/>
              <a:rect l="l" t="t" r="r" b="b"/>
              <a:pathLst>
                <a:path w="8286750" h="2540">
                  <a:moveTo>
                    <a:pt x="0" y="0"/>
                  </a:moveTo>
                  <a:lnTo>
                    <a:pt x="8273627" y="2233"/>
                  </a:lnTo>
                  <a:lnTo>
                    <a:pt x="8286327" y="22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402130" y="8945564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33" y="0"/>
                  </a:moveTo>
                  <a:lnTo>
                    <a:pt x="30496" y="60968"/>
                  </a:lnTo>
                  <a:lnTo>
                    <a:pt x="0" y="121920"/>
                  </a:lnTo>
                  <a:lnTo>
                    <a:pt x="121936" y="6099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09536" y="4477975"/>
              <a:ext cx="530225" cy="347980"/>
            </a:xfrm>
            <a:custGeom>
              <a:avLst/>
              <a:gdLst/>
              <a:ahLst/>
              <a:cxnLst/>
              <a:rect l="l" t="t" r="r" b="b"/>
              <a:pathLst>
                <a:path w="530225" h="347979">
                  <a:moveTo>
                    <a:pt x="16815" y="163019"/>
                  </a:moveTo>
                  <a:lnTo>
                    <a:pt x="0" y="165972"/>
                  </a:lnTo>
                  <a:lnTo>
                    <a:pt x="130" y="165972"/>
                  </a:lnTo>
                  <a:lnTo>
                    <a:pt x="75425" y="347966"/>
                  </a:lnTo>
                  <a:lnTo>
                    <a:pt x="244701" y="318527"/>
                  </a:lnTo>
                  <a:lnTo>
                    <a:pt x="81148" y="318527"/>
                  </a:lnTo>
                  <a:lnTo>
                    <a:pt x="16918" y="163269"/>
                  </a:lnTo>
                  <a:lnTo>
                    <a:pt x="16815" y="163019"/>
                  </a:lnTo>
                  <a:close/>
                </a:path>
                <a:path w="530225" h="347979">
                  <a:moveTo>
                    <a:pt x="501414" y="245454"/>
                  </a:moveTo>
                  <a:lnTo>
                    <a:pt x="81139" y="318527"/>
                  </a:lnTo>
                  <a:lnTo>
                    <a:pt x="244701" y="318527"/>
                  </a:lnTo>
                  <a:lnTo>
                    <a:pt x="512408" y="271970"/>
                  </a:lnTo>
                  <a:lnTo>
                    <a:pt x="501414" y="245454"/>
                  </a:lnTo>
                  <a:close/>
                </a:path>
                <a:path w="530225" h="347979">
                  <a:moveTo>
                    <a:pt x="25403" y="118841"/>
                  </a:moveTo>
                  <a:lnTo>
                    <a:pt x="8709" y="121771"/>
                  </a:lnTo>
                  <a:lnTo>
                    <a:pt x="84013" y="303787"/>
                  </a:lnTo>
                  <a:lnTo>
                    <a:pt x="253397" y="274345"/>
                  </a:lnTo>
                  <a:lnTo>
                    <a:pt x="89736" y="274345"/>
                  </a:lnTo>
                  <a:lnTo>
                    <a:pt x="25403" y="118841"/>
                  </a:lnTo>
                  <a:close/>
                </a:path>
                <a:path w="530225" h="347979">
                  <a:moveTo>
                    <a:pt x="510002" y="201275"/>
                  </a:moveTo>
                  <a:lnTo>
                    <a:pt x="89735" y="274345"/>
                  </a:lnTo>
                  <a:lnTo>
                    <a:pt x="253397" y="274345"/>
                  </a:lnTo>
                  <a:lnTo>
                    <a:pt x="520987" y="227832"/>
                  </a:lnTo>
                  <a:lnTo>
                    <a:pt x="510002" y="201275"/>
                  </a:lnTo>
                  <a:close/>
                </a:path>
                <a:path w="530225" h="347979">
                  <a:moveTo>
                    <a:pt x="454590" y="0"/>
                  </a:moveTo>
                  <a:lnTo>
                    <a:pt x="17615" y="75952"/>
                  </a:lnTo>
                  <a:lnTo>
                    <a:pt x="92919" y="257972"/>
                  </a:lnTo>
                  <a:lnTo>
                    <a:pt x="496910" y="187748"/>
                  </a:lnTo>
                  <a:lnTo>
                    <a:pt x="270820" y="187748"/>
                  </a:lnTo>
                  <a:lnTo>
                    <a:pt x="245181" y="181428"/>
                  </a:lnTo>
                  <a:lnTo>
                    <a:pt x="206489" y="151655"/>
                  </a:lnTo>
                  <a:lnTo>
                    <a:pt x="197640" y="119382"/>
                  </a:lnTo>
                  <a:lnTo>
                    <a:pt x="197557" y="118841"/>
                  </a:lnTo>
                  <a:lnTo>
                    <a:pt x="223354" y="80463"/>
                  </a:lnTo>
                  <a:lnTo>
                    <a:pt x="279944" y="70631"/>
                  </a:lnTo>
                  <a:lnTo>
                    <a:pt x="483812" y="70631"/>
                  </a:lnTo>
                  <a:lnTo>
                    <a:pt x="454590" y="0"/>
                  </a:lnTo>
                  <a:close/>
                </a:path>
                <a:path w="530225" h="347979">
                  <a:moveTo>
                    <a:pt x="483812" y="70631"/>
                  </a:moveTo>
                  <a:lnTo>
                    <a:pt x="279944" y="70631"/>
                  </a:lnTo>
                  <a:lnTo>
                    <a:pt x="308188" y="79049"/>
                  </a:lnTo>
                  <a:lnTo>
                    <a:pt x="331394" y="94773"/>
                  </a:lnTo>
                  <a:lnTo>
                    <a:pt x="349346" y="141622"/>
                  </a:lnTo>
                  <a:lnTo>
                    <a:pt x="349454" y="143875"/>
                  </a:lnTo>
                  <a:lnTo>
                    <a:pt x="340606" y="163019"/>
                  </a:lnTo>
                  <a:lnTo>
                    <a:pt x="340490" y="163269"/>
                  </a:lnTo>
                  <a:lnTo>
                    <a:pt x="322818" y="178271"/>
                  </a:lnTo>
                  <a:lnTo>
                    <a:pt x="297738" y="186985"/>
                  </a:lnTo>
                  <a:lnTo>
                    <a:pt x="270820" y="187748"/>
                  </a:lnTo>
                  <a:lnTo>
                    <a:pt x="496910" y="187748"/>
                  </a:lnTo>
                  <a:lnTo>
                    <a:pt x="529893" y="182015"/>
                  </a:lnTo>
                  <a:lnTo>
                    <a:pt x="483812" y="70631"/>
                  </a:lnTo>
                  <a:close/>
                </a:path>
                <a:path w="530225" h="347979">
                  <a:moveTo>
                    <a:pt x="295855" y="165480"/>
                  </a:moveTo>
                  <a:lnTo>
                    <a:pt x="280986" y="165480"/>
                  </a:lnTo>
                  <a:lnTo>
                    <a:pt x="285571" y="176301"/>
                  </a:lnTo>
                  <a:lnTo>
                    <a:pt x="299385" y="173796"/>
                  </a:lnTo>
                  <a:lnTo>
                    <a:pt x="295855" y="165480"/>
                  </a:lnTo>
                  <a:close/>
                </a:path>
                <a:path w="530225" h="347979">
                  <a:moveTo>
                    <a:pt x="253643" y="151173"/>
                  </a:moveTo>
                  <a:lnTo>
                    <a:pt x="255001" y="165124"/>
                  </a:lnTo>
                  <a:lnTo>
                    <a:pt x="260410" y="165972"/>
                  </a:lnTo>
                  <a:lnTo>
                    <a:pt x="266810" y="166381"/>
                  </a:lnTo>
                  <a:lnTo>
                    <a:pt x="273801" y="166251"/>
                  </a:lnTo>
                  <a:lnTo>
                    <a:pt x="280986" y="165480"/>
                  </a:lnTo>
                  <a:lnTo>
                    <a:pt x="295855" y="165480"/>
                  </a:lnTo>
                  <a:lnTo>
                    <a:pt x="294461" y="162195"/>
                  </a:lnTo>
                  <a:lnTo>
                    <a:pt x="304090" y="157446"/>
                  </a:lnTo>
                  <a:lnTo>
                    <a:pt x="308658" y="152709"/>
                  </a:lnTo>
                  <a:lnTo>
                    <a:pt x="265579" y="152709"/>
                  </a:lnTo>
                  <a:lnTo>
                    <a:pt x="259291" y="152147"/>
                  </a:lnTo>
                  <a:lnTo>
                    <a:pt x="253643" y="151173"/>
                  </a:lnTo>
                  <a:close/>
                </a:path>
                <a:path w="530225" h="347979">
                  <a:moveTo>
                    <a:pt x="260998" y="81800"/>
                  </a:moveTo>
                  <a:lnTo>
                    <a:pt x="247175" y="84343"/>
                  </a:lnTo>
                  <a:lnTo>
                    <a:pt x="251631" y="94773"/>
                  </a:lnTo>
                  <a:lnTo>
                    <a:pt x="251740" y="95027"/>
                  </a:lnTo>
                  <a:lnTo>
                    <a:pt x="242791" y="99532"/>
                  </a:lnTo>
                  <a:lnTo>
                    <a:pt x="237196" y="105326"/>
                  </a:lnTo>
                  <a:lnTo>
                    <a:pt x="235050" y="112059"/>
                  </a:lnTo>
                  <a:lnTo>
                    <a:pt x="236197" y="118047"/>
                  </a:lnTo>
                  <a:lnTo>
                    <a:pt x="236232" y="118230"/>
                  </a:lnTo>
                  <a:lnTo>
                    <a:pt x="236349" y="118841"/>
                  </a:lnTo>
                  <a:lnTo>
                    <a:pt x="236453" y="119382"/>
                  </a:lnTo>
                  <a:lnTo>
                    <a:pt x="272611" y="135529"/>
                  </a:lnTo>
                  <a:lnTo>
                    <a:pt x="274404" y="135729"/>
                  </a:lnTo>
                  <a:lnTo>
                    <a:pt x="284056" y="137018"/>
                  </a:lnTo>
                  <a:lnTo>
                    <a:pt x="288338" y="138878"/>
                  </a:lnTo>
                  <a:lnTo>
                    <a:pt x="291704" y="146811"/>
                  </a:lnTo>
                  <a:lnTo>
                    <a:pt x="287181" y="150403"/>
                  </a:lnTo>
                  <a:lnTo>
                    <a:pt x="279135" y="151877"/>
                  </a:lnTo>
                  <a:lnTo>
                    <a:pt x="272018" y="152709"/>
                  </a:lnTo>
                  <a:lnTo>
                    <a:pt x="308658" y="152709"/>
                  </a:lnTo>
                  <a:lnTo>
                    <a:pt x="309961" y="151359"/>
                  </a:lnTo>
                  <a:lnTo>
                    <a:pt x="312143" y="144379"/>
                  </a:lnTo>
                  <a:lnTo>
                    <a:pt x="310720" y="137018"/>
                  </a:lnTo>
                  <a:lnTo>
                    <a:pt x="278854" y="120113"/>
                  </a:lnTo>
                  <a:lnTo>
                    <a:pt x="279116" y="120113"/>
                  </a:lnTo>
                  <a:lnTo>
                    <a:pt x="265681" y="118841"/>
                  </a:lnTo>
                  <a:lnTo>
                    <a:pt x="265064" y="118841"/>
                  </a:lnTo>
                  <a:lnTo>
                    <a:pt x="258737" y="117139"/>
                  </a:lnTo>
                  <a:lnTo>
                    <a:pt x="257193" y="113572"/>
                  </a:lnTo>
                  <a:lnTo>
                    <a:pt x="255862" y="110411"/>
                  </a:lnTo>
                  <a:lnTo>
                    <a:pt x="257429" y="106598"/>
                  </a:lnTo>
                  <a:lnTo>
                    <a:pt x="276737" y="103104"/>
                  </a:lnTo>
                  <a:lnTo>
                    <a:pt x="288387" y="103104"/>
                  </a:lnTo>
                  <a:lnTo>
                    <a:pt x="287389" y="91743"/>
                  </a:lnTo>
                  <a:lnTo>
                    <a:pt x="265215" y="91743"/>
                  </a:lnTo>
                  <a:lnTo>
                    <a:pt x="260998" y="81800"/>
                  </a:lnTo>
                  <a:close/>
                </a:path>
                <a:path w="530225" h="347979">
                  <a:moveTo>
                    <a:pt x="288387" y="103104"/>
                  </a:moveTo>
                  <a:lnTo>
                    <a:pt x="276737" y="103104"/>
                  </a:lnTo>
                  <a:lnTo>
                    <a:pt x="288570" y="105181"/>
                  </a:lnTo>
                  <a:lnTo>
                    <a:pt x="288387" y="103104"/>
                  </a:lnTo>
                  <a:close/>
                </a:path>
                <a:path w="530225" h="347979">
                  <a:moveTo>
                    <a:pt x="274767" y="90240"/>
                  </a:moveTo>
                  <a:lnTo>
                    <a:pt x="265215" y="91743"/>
                  </a:lnTo>
                  <a:lnTo>
                    <a:pt x="287598" y="91743"/>
                  </a:lnTo>
                  <a:lnTo>
                    <a:pt x="281836" y="90811"/>
                  </a:lnTo>
                  <a:lnTo>
                    <a:pt x="274767" y="9024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074482" y="3517900"/>
            <a:ext cx="222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solidFill>
                  <a:srgbClr val="8D3124"/>
                </a:solidFill>
                <a:latin typeface="Times New Roman"/>
                <a:cs typeface="Times New Roman"/>
              </a:rPr>
              <a:t>s</a:t>
            </a:r>
            <a:r>
              <a:rPr sz="1950" i="1" spc="-37" baseline="-641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950" baseline="-641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111868" y="3987800"/>
            <a:ext cx="121920" cy="367665"/>
            <a:chOff x="2111868" y="3987800"/>
            <a:chExt cx="121920" cy="367665"/>
          </a:xfrm>
        </p:grpSpPr>
        <p:sp>
          <p:nvSpPr>
            <p:cNvPr id="62" name="object 62"/>
            <p:cNvSpPr/>
            <p:nvPr/>
          </p:nvSpPr>
          <p:spPr>
            <a:xfrm>
              <a:off x="2172828" y="3987800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844"/>
                  </a:moveTo>
                  <a:lnTo>
                    <a:pt x="0" y="2761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1868" y="4233464"/>
              <a:ext cx="121919" cy="121919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212131" y="3517900"/>
            <a:ext cx="1943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solidFill>
                  <a:srgbClr val="8D3124"/>
                </a:solidFill>
                <a:latin typeface="Times New Roman"/>
                <a:cs typeface="Times New Roman"/>
              </a:rPr>
              <a:t>f</a:t>
            </a:r>
            <a:r>
              <a:rPr sz="1950" i="1" spc="-37" baseline="-641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950" baseline="-641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232560" y="3987800"/>
            <a:ext cx="121920" cy="367665"/>
            <a:chOff x="6232560" y="3987800"/>
            <a:chExt cx="121920" cy="367665"/>
          </a:xfrm>
        </p:grpSpPr>
        <p:sp>
          <p:nvSpPr>
            <p:cNvPr id="66" name="object 66"/>
            <p:cNvSpPr/>
            <p:nvPr/>
          </p:nvSpPr>
          <p:spPr>
            <a:xfrm>
              <a:off x="6293520" y="3987800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844"/>
                  </a:moveTo>
                  <a:lnTo>
                    <a:pt x="0" y="2761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2560" y="4233464"/>
              <a:ext cx="121920" cy="121919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5066313" y="3517900"/>
            <a:ext cx="292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950" i="1" spc="-37" baseline="-641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950" baseline="-641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138983" y="3987800"/>
            <a:ext cx="121920" cy="367665"/>
            <a:chOff x="5138983" y="3987800"/>
            <a:chExt cx="121920" cy="367665"/>
          </a:xfrm>
        </p:grpSpPr>
        <p:sp>
          <p:nvSpPr>
            <p:cNvPr id="70" name="object 70"/>
            <p:cNvSpPr/>
            <p:nvPr/>
          </p:nvSpPr>
          <p:spPr>
            <a:xfrm>
              <a:off x="5199943" y="3987800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844"/>
                  </a:moveTo>
                  <a:lnTo>
                    <a:pt x="0" y="2761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8983" y="4233464"/>
              <a:ext cx="121919" cy="121919"/>
            </a:xfrm>
            <a:prstGeom prst="rect">
              <a:avLst/>
            </a:prstGeom>
          </p:spPr>
        </p:pic>
      </p:grp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Earliest-</a:t>
            </a:r>
            <a:r>
              <a:rPr spc="-80" dirty="0"/>
              <a:t>finish-</a:t>
            </a:r>
            <a:r>
              <a:rPr dirty="0"/>
              <a:t>time</a:t>
            </a:r>
            <a:r>
              <a:rPr spc="35" dirty="0"/>
              <a:t> </a:t>
            </a:r>
            <a:r>
              <a:rPr dirty="0"/>
              <a:t>first</a:t>
            </a:r>
            <a:r>
              <a:rPr spc="40" dirty="0"/>
              <a:t>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338580"/>
            <a:ext cx="1036701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Earliest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finish-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time</a:t>
            </a:r>
            <a:r>
              <a:rPr sz="2400" spc="-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first.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ascending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finish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Add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compatible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previously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chosen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jobs.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2045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Recall.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correct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1.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4716779"/>
            <a:ext cx="1071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05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fails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spectacularly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version.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149" y="7589316"/>
            <a:ext cx="1339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7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600" spc="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999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149" y="8275116"/>
            <a:ext cx="1082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7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600" spc="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88178" y="8834437"/>
            <a:ext cx="490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06637" y="6834505"/>
            <a:ext cx="7591425" cy="2167890"/>
            <a:chOff x="2306637" y="6834505"/>
            <a:chExt cx="7591425" cy="2167890"/>
          </a:xfrm>
        </p:grpSpPr>
        <p:sp>
          <p:nvSpPr>
            <p:cNvPr id="10" name="object 10"/>
            <p:cNvSpPr/>
            <p:nvPr/>
          </p:nvSpPr>
          <p:spPr>
            <a:xfrm>
              <a:off x="3013876" y="7936653"/>
              <a:ext cx="0" cy="1059815"/>
            </a:xfrm>
            <a:custGeom>
              <a:avLst/>
              <a:gdLst/>
              <a:ahLst/>
              <a:cxnLst/>
              <a:rect l="l" t="t" r="r" b="b"/>
              <a:pathLst>
                <a:path h="1059815">
                  <a:moveTo>
                    <a:pt x="0" y="700758"/>
                  </a:moveTo>
                  <a:lnTo>
                    <a:pt x="0" y="1059709"/>
                  </a:lnTo>
                </a:path>
                <a:path h="1059815">
                  <a:moveTo>
                    <a:pt x="0" y="0"/>
                  </a:moveTo>
                  <a:lnTo>
                    <a:pt x="0" y="305647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13876" y="6840537"/>
              <a:ext cx="0" cy="703580"/>
            </a:xfrm>
            <a:custGeom>
              <a:avLst/>
              <a:gdLst/>
              <a:ahLst/>
              <a:cxnLst/>
              <a:rect l="l" t="t" r="r" b="b"/>
              <a:pathLst>
                <a:path h="703579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1400" y="6845300"/>
              <a:ext cx="2540" cy="2146300"/>
            </a:xfrm>
            <a:custGeom>
              <a:avLst/>
              <a:gdLst/>
              <a:ahLst/>
              <a:cxnLst/>
              <a:rect l="l" t="t" r="r" b="b"/>
              <a:pathLst>
                <a:path w="2539" h="2146300">
                  <a:moveTo>
                    <a:pt x="0" y="2146300"/>
                  </a:moveTo>
                  <a:lnTo>
                    <a:pt x="2257" y="0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80730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0"/>
                  </a:moveTo>
                  <a:lnTo>
                    <a:pt x="0" y="703262"/>
                  </a:lnTo>
                </a:path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9824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0"/>
                  </a:moveTo>
                  <a:lnTo>
                    <a:pt x="0" y="703262"/>
                  </a:lnTo>
                </a:path>
                <a:path h="2155825">
                  <a:moveTo>
                    <a:pt x="0" y="1796873"/>
                  </a:moveTo>
                  <a:lnTo>
                    <a:pt x="0" y="2155825"/>
                  </a:lnTo>
                </a:path>
                <a:path h="2155825">
                  <a:moveTo>
                    <a:pt x="0" y="1096115"/>
                  </a:moveTo>
                  <a:lnTo>
                    <a:pt x="0" y="14017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9377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  <a:path h="2155825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35322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  <a:path h="2155825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46673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0"/>
                  </a:moveTo>
                  <a:lnTo>
                    <a:pt x="0" y="703262"/>
                  </a:lnTo>
                </a:path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06726" y="8994687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335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12617" y="7936653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247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12617" y="6840537"/>
              <a:ext cx="0" cy="703580"/>
            </a:xfrm>
            <a:custGeom>
              <a:avLst/>
              <a:gdLst/>
              <a:ahLst/>
              <a:cxnLst/>
              <a:rect l="l" t="t" r="r" b="b"/>
              <a:pathLst>
                <a:path h="703579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23969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  <a:path h="2155825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91041" y="6845300"/>
              <a:ext cx="2540" cy="2146300"/>
            </a:xfrm>
            <a:custGeom>
              <a:avLst/>
              <a:gdLst/>
              <a:ahLst/>
              <a:cxnLst/>
              <a:rect l="l" t="t" r="r" b="b"/>
              <a:pathLst>
                <a:path w="2540" h="2146300">
                  <a:moveTo>
                    <a:pt x="0" y="2146300"/>
                  </a:moveTo>
                  <a:lnTo>
                    <a:pt x="2257" y="0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97632" y="8994687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335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03523" y="7936653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247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03523" y="6840537"/>
              <a:ext cx="0" cy="703580"/>
            </a:xfrm>
            <a:custGeom>
              <a:avLst/>
              <a:gdLst/>
              <a:ahLst/>
              <a:cxnLst/>
              <a:rect l="l" t="t" r="r" b="b"/>
              <a:pathLst>
                <a:path h="703579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58026" y="6840537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h="2155825">
                  <a:moveTo>
                    <a:pt x="0" y="1096115"/>
                  </a:moveTo>
                  <a:lnTo>
                    <a:pt x="0" y="2155825"/>
                  </a:lnTo>
                </a:path>
                <a:path h="2155825">
                  <a:moveTo>
                    <a:pt x="0" y="0"/>
                  </a:moveTo>
                  <a:lnTo>
                    <a:pt x="0" y="70326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2724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82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67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425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83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141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12687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98486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84286" y="9037116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70086" y="9037116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4830" algn="l"/>
              </a:tabLst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51974" y="9037116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298700" y="7543800"/>
            <a:ext cx="8378190" cy="1524000"/>
            <a:chOff x="2298700" y="7543800"/>
            <a:chExt cx="8378190" cy="1524000"/>
          </a:xfrm>
        </p:grpSpPr>
        <p:sp>
          <p:nvSpPr>
            <p:cNvPr id="39" name="object 39"/>
            <p:cNvSpPr/>
            <p:nvPr/>
          </p:nvSpPr>
          <p:spPr>
            <a:xfrm>
              <a:off x="2311400" y="9004300"/>
              <a:ext cx="8286750" cy="2540"/>
            </a:xfrm>
            <a:custGeom>
              <a:avLst/>
              <a:gdLst/>
              <a:ahLst/>
              <a:cxnLst/>
              <a:rect l="l" t="t" r="r" b="b"/>
              <a:pathLst>
                <a:path w="8286750" h="2540">
                  <a:moveTo>
                    <a:pt x="0" y="0"/>
                  </a:moveTo>
                  <a:lnTo>
                    <a:pt x="8273627" y="2233"/>
                  </a:lnTo>
                  <a:lnTo>
                    <a:pt x="8286327" y="22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554530" y="8945565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33" y="0"/>
                  </a:moveTo>
                  <a:lnTo>
                    <a:pt x="30496" y="60968"/>
                  </a:lnTo>
                  <a:lnTo>
                    <a:pt x="0" y="121920"/>
                  </a:lnTo>
                  <a:lnTo>
                    <a:pt x="121936" y="6099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11400" y="7543800"/>
              <a:ext cx="6913880" cy="393065"/>
            </a:xfrm>
            <a:custGeom>
              <a:avLst/>
              <a:gdLst/>
              <a:ahLst/>
              <a:cxnLst/>
              <a:rect l="l" t="t" r="r" b="b"/>
              <a:pathLst>
                <a:path w="6913880" h="393065">
                  <a:moveTo>
                    <a:pt x="6913316" y="0"/>
                  </a:moveTo>
                  <a:lnTo>
                    <a:pt x="0" y="0"/>
                  </a:lnTo>
                  <a:lnTo>
                    <a:pt x="0" y="392853"/>
                  </a:lnTo>
                  <a:lnTo>
                    <a:pt x="6913316" y="392853"/>
                  </a:lnTo>
                  <a:lnTo>
                    <a:pt x="691331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691858" y="7556500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311400" y="8242300"/>
            <a:ext cx="2066289" cy="395605"/>
          </a:xfrm>
          <a:custGeom>
            <a:avLst/>
            <a:gdLst/>
            <a:ahLst/>
            <a:cxnLst/>
            <a:rect l="l" t="t" r="r" b="b"/>
            <a:pathLst>
              <a:path w="2066289" h="395604">
                <a:moveTo>
                  <a:pt x="2065867" y="0"/>
                </a:moveTo>
                <a:lnTo>
                  <a:pt x="0" y="0"/>
                </a:lnTo>
                <a:lnTo>
                  <a:pt x="0" y="395111"/>
                </a:lnTo>
                <a:lnTo>
                  <a:pt x="2065867" y="395111"/>
                </a:lnTo>
                <a:lnTo>
                  <a:pt x="2065867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268133" y="8267700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823200" y="8597900"/>
            <a:ext cx="2068195" cy="395605"/>
          </a:xfrm>
          <a:custGeom>
            <a:avLst/>
            <a:gdLst/>
            <a:ahLst/>
            <a:cxnLst/>
            <a:rect l="l" t="t" r="r" b="b"/>
            <a:pathLst>
              <a:path w="2068195" h="395604">
                <a:moveTo>
                  <a:pt x="2068125" y="0"/>
                </a:moveTo>
                <a:lnTo>
                  <a:pt x="0" y="0"/>
                </a:lnTo>
                <a:lnTo>
                  <a:pt x="0" y="395111"/>
                </a:lnTo>
                <a:lnTo>
                  <a:pt x="2068125" y="395111"/>
                </a:lnTo>
                <a:lnTo>
                  <a:pt x="2068125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829860" y="8623300"/>
            <a:ext cx="205676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981200" y="7686040"/>
            <a:ext cx="661035" cy="820419"/>
            <a:chOff x="1981200" y="7686040"/>
            <a:chExt cx="661035" cy="820419"/>
          </a:xfrm>
        </p:grpSpPr>
        <p:sp>
          <p:nvSpPr>
            <p:cNvPr id="48" name="object 48"/>
            <p:cNvSpPr/>
            <p:nvPr/>
          </p:nvSpPr>
          <p:spPr>
            <a:xfrm>
              <a:off x="2005153" y="7747000"/>
              <a:ext cx="558800" cy="0"/>
            </a:xfrm>
            <a:custGeom>
              <a:avLst/>
              <a:gdLst/>
              <a:ahLst/>
              <a:cxnLst/>
              <a:rect l="l" t="t" r="r" b="b"/>
              <a:pathLst>
                <a:path w="558800">
                  <a:moveTo>
                    <a:pt x="558172" y="0"/>
                  </a:moveTo>
                  <a:lnTo>
                    <a:pt x="545472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20146" y="76860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0" y="0"/>
                  </a:moveTo>
                  <a:lnTo>
                    <a:pt x="30480" y="60959"/>
                  </a:lnTo>
                  <a:lnTo>
                    <a:pt x="0" y="121919"/>
                  </a:lnTo>
                  <a:lnTo>
                    <a:pt x="121919" y="6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93900" y="8445500"/>
              <a:ext cx="558800" cy="0"/>
            </a:xfrm>
            <a:custGeom>
              <a:avLst/>
              <a:gdLst/>
              <a:ahLst/>
              <a:cxnLst/>
              <a:rect l="l" t="t" r="r" b="b"/>
              <a:pathLst>
                <a:path w="558800">
                  <a:moveTo>
                    <a:pt x="558172" y="0"/>
                  </a:moveTo>
                  <a:lnTo>
                    <a:pt x="545472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08892" y="8384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0" y="0"/>
                  </a:moveTo>
                  <a:lnTo>
                    <a:pt x="30480" y="60959"/>
                  </a:lnTo>
                  <a:lnTo>
                    <a:pt x="0" y="121919"/>
                  </a:lnTo>
                  <a:lnTo>
                    <a:pt x="121919" y="6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034808" y="8042249"/>
            <a:ext cx="1082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7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600" spc="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9534294" y="8302080"/>
            <a:ext cx="498475" cy="498475"/>
            <a:chOff x="9534294" y="8302080"/>
            <a:chExt cx="498475" cy="498475"/>
          </a:xfrm>
        </p:grpSpPr>
        <p:sp>
          <p:nvSpPr>
            <p:cNvPr id="54" name="object 54"/>
            <p:cNvSpPr/>
            <p:nvPr/>
          </p:nvSpPr>
          <p:spPr>
            <a:xfrm>
              <a:off x="9589971" y="8314780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0" y="429506"/>
                  </a:moveTo>
                  <a:lnTo>
                    <a:pt x="8980" y="420526"/>
                  </a:lnTo>
                  <a:lnTo>
                    <a:pt x="429506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534294" y="8670649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43105" y="0"/>
                  </a:moveTo>
                  <a:lnTo>
                    <a:pt x="0" y="129315"/>
                  </a:lnTo>
                  <a:lnTo>
                    <a:pt x="129316" y="86210"/>
                  </a:lnTo>
                  <a:lnTo>
                    <a:pt x="64658" y="64657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10656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25014" algn="l"/>
                <a:tab pos="8432165" algn="l"/>
                <a:tab pos="903922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Convention.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ascending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finish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spc="600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60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 . . ≤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baseline="-19097" dirty="0">
                <a:latin typeface="Times New Roman"/>
                <a:cs typeface="Times New Roman"/>
              </a:rPr>
              <a:t>n </a:t>
            </a: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2186940"/>
            <a:ext cx="961898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810895" algn="l"/>
                <a:tab pos="420433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largest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index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&lt;</a:t>
            </a:r>
            <a:r>
              <a:rPr sz="2400" i="1" dirty="0">
                <a:latin typeface="Times New Roman"/>
                <a:cs typeface="Times New Roman"/>
              </a:rPr>
              <a:t>	j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compatible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1094" y="2786380"/>
            <a:ext cx="3360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(8)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(7)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(2)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8778" y="8703204"/>
            <a:ext cx="490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32881" y="4325266"/>
            <a:ext cx="7591425" cy="4551045"/>
            <a:chOff x="2032881" y="4325266"/>
            <a:chExt cx="7591425" cy="4551045"/>
          </a:xfrm>
        </p:grpSpPr>
        <p:sp>
          <p:nvSpPr>
            <p:cNvPr id="9" name="object 9"/>
            <p:cNvSpPr/>
            <p:nvPr/>
          </p:nvSpPr>
          <p:spPr>
            <a:xfrm>
              <a:off x="2727395" y="4331299"/>
              <a:ext cx="0" cy="4538980"/>
            </a:xfrm>
            <a:custGeom>
              <a:avLst/>
              <a:gdLst/>
              <a:ahLst/>
              <a:cxnLst/>
              <a:rect l="l" t="t" r="r" b="b"/>
              <a:pathLst>
                <a:path h="4538980">
                  <a:moveTo>
                    <a:pt x="0" y="0"/>
                  </a:moveTo>
                  <a:lnTo>
                    <a:pt x="0" y="1236381"/>
                  </a:lnTo>
                </a:path>
                <a:path h="4538980">
                  <a:moveTo>
                    <a:pt x="0" y="1629234"/>
                  </a:moveTo>
                  <a:lnTo>
                    <a:pt x="0" y="453862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37643" y="4336061"/>
              <a:ext cx="2540" cy="4529455"/>
            </a:xfrm>
            <a:custGeom>
              <a:avLst/>
              <a:gdLst/>
              <a:ahLst/>
              <a:cxnLst/>
              <a:rect l="l" t="t" r="r" b="b"/>
              <a:pathLst>
                <a:path w="2539" h="4529455">
                  <a:moveTo>
                    <a:pt x="0" y="4529101"/>
                  </a:moveTo>
                  <a:lnTo>
                    <a:pt x="2257" y="0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01006" y="4334245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5891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6897" y="4730043"/>
              <a:ext cx="0" cy="4140200"/>
            </a:xfrm>
            <a:custGeom>
              <a:avLst/>
              <a:gdLst/>
              <a:ahLst/>
              <a:cxnLst/>
              <a:rect l="l" t="t" r="r" b="b"/>
              <a:pathLst>
                <a:path h="4140200">
                  <a:moveTo>
                    <a:pt x="0" y="0"/>
                  </a:moveTo>
                  <a:lnTo>
                    <a:pt x="0" y="837637"/>
                  </a:lnTo>
                </a:path>
                <a:path h="4140200">
                  <a:moveTo>
                    <a:pt x="0" y="1230490"/>
                  </a:moveTo>
                  <a:lnTo>
                    <a:pt x="0" y="413988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0126" y="4334245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4">
                  <a:moveTo>
                    <a:pt x="0" y="0"/>
                  </a:moveTo>
                  <a:lnTo>
                    <a:pt x="11782" y="0"/>
                  </a:lnTo>
                </a:path>
              </a:pathLst>
            </a:custGeom>
            <a:ln w="5891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16017" y="4730043"/>
              <a:ext cx="0" cy="4140200"/>
            </a:xfrm>
            <a:custGeom>
              <a:avLst/>
              <a:gdLst/>
              <a:ahLst/>
              <a:cxnLst/>
              <a:rect l="l" t="t" r="r" b="b"/>
              <a:pathLst>
                <a:path h="4140200">
                  <a:moveTo>
                    <a:pt x="0" y="0"/>
                  </a:moveTo>
                  <a:lnTo>
                    <a:pt x="0" y="837637"/>
                  </a:lnTo>
                </a:path>
                <a:path h="4140200">
                  <a:moveTo>
                    <a:pt x="0" y="1230490"/>
                  </a:moveTo>
                  <a:lnTo>
                    <a:pt x="0" y="4139882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95519" y="4331299"/>
              <a:ext cx="0" cy="4538980"/>
            </a:xfrm>
            <a:custGeom>
              <a:avLst/>
              <a:gdLst/>
              <a:ahLst/>
              <a:cxnLst/>
              <a:rect l="l" t="t" r="r" b="b"/>
              <a:pathLst>
                <a:path h="4538980">
                  <a:moveTo>
                    <a:pt x="0" y="0"/>
                  </a:moveTo>
                  <a:lnTo>
                    <a:pt x="0" y="659800"/>
                  </a:lnTo>
                </a:path>
                <a:path h="4538980">
                  <a:moveTo>
                    <a:pt x="0" y="1054911"/>
                  </a:moveTo>
                  <a:lnTo>
                    <a:pt x="0" y="1236381"/>
                  </a:lnTo>
                </a:path>
                <a:path h="4538980">
                  <a:moveTo>
                    <a:pt x="0" y="2821340"/>
                  </a:moveTo>
                  <a:lnTo>
                    <a:pt x="0" y="4538626"/>
                  </a:lnTo>
                </a:path>
                <a:path h="4538980">
                  <a:moveTo>
                    <a:pt x="0" y="1629234"/>
                  </a:moveTo>
                  <a:lnTo>
                    <a:pt x="0" y="2428487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61387" y="4331299"/>
              <a:ext cx="0" cy="4538980"/>
            </a:xfrm>
            <a:custGeom>
              <a:avLst/>
              <a:gdLst/>
              <a:ahLst/>
              <a:cxnLst/>
              <a:rect l="l" t="t" r="r" b="b"/>
              <a:pathLst>
                <a:path h="4538980">
                  <a:moveTo>
                    <a:pt x="0" y="0"/>
                  </a:moveTo>
                  <a:lnTo>
                    <a:pt x="0" y="2428487"/>
                  </a:lnTo>
                </a:path>
                <a:path h="4538980">
                  <a:moveTo>
                    <a:pt x="0" y="3349660"/>
                  </a:moveTo>
                  <a:lnTo>
                    <a:pt x="0" y="3548345"/>
                  </a:lnTo>
                </a:path>
                <a:path h="4538980">
                  <a:moveTo>
                    <a:pt x="0" y="2821340"/>
                  </a:moveTo>
                  <a:lnTo>
                    <a:pt x="0" y="2956807"/>
                  </a:lnTo>
                </a:path>
                <a:path h="4538980">
                  <a:moveTo>
                    <a:pt x="0" y="3941198"/>
                  </a:moveTo>
                  <a:lnTo>
                    <a:pt x="0" y="4126900"/>
                  </a:lnTo>
                </a:path>
                <a:path h="4538980">
                  <a:moveTo>
                    <a:pt x="0" y="4522011"/>
                  </a:moveTo>
                  <a:lnTo>
                    <a:pt x="0" y="453862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2765" y="4331299"/>
              <a:ext cx="0" cy="4538980"/>
            </a:xfrm>
            <a:custGeom>
              <a:avLst/>
              <a:gdLst/>
              <a:ahLst/>
              <a:cxnLst/>
              <a:rect l="l" t="t" r="r" b="b"/>
              <a:pathLst>
                <a:path h="4538980">
                  <a:moveTo>
                    <a:pt x="0" y="3349660"/>
                  </a:moveTo>
                  <a:lnTo>
                    <a:pt x="0" y="4126900"/>
                  </a:lnTo>
                </a:path>
                <a:path h="4538980">
                  <a:moveTo>
                    <a:pt x="0" y="2236011"/>
                  </a:moveTo>
                  <a:lnTo>
                    <a:pt x="0" y="2428487"/>
                  </a:lnTo>
                </a:path>
                <a:path h="4538980">
                  <a:moveTo>
                    <a:pt x="0" y="2821340"/>
                  </a:moveTo>
                  <a:lnTo>
                    <a:pt x="0" y="2956807"/>
                  </a:lnTo>
                </a:path>
                <a:path h="4538980">
                  <a:moveTo>
                    <a:pt x="0" y="4522011"/>
                  </a:moveTo>
                  <a:lnTo>
                    <a:pt x="0" y="4538626"/>
                  </a:lnTo>
                </a:path>
                <a:path h="4538980">
                  <a:moveTo>
                    <a:pt x="0" y="0"/>
                  </a:moveTo>
                  <a:lnTo>
                    <a:pt x="0" y="1840900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38632" y="885331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5">
                  <a:moveTo>
                    <a:pt x="0" y="0"/>
                  </a:moveTo>
                  <a:lnTo>
                    <a:pt x="0" y="16615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38632" y="4331299"/>
              <a:ext cx="0" cy="3548379"/>
            </a:xfrm>
            <a:custGeom>
              <a:avLst/>
              <a:gdLst/>
              <a:ahLst/>
              <a:cxnLst/>
              <a:rect l="l" t="t" r="r" b="b"/>
              <a:pathLst>
                <a:path h="3548379">
                  <a:moveTo>
                    <a:pt x="0" y="0"/>
                  </a:moveTo>
                  <a:lnTo>
                    <a:pt x="0" y="3548345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38632" y="8272498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0"/>
                  </a:moveTo>
                  <a:lnTo>
                    <a:pt x="0" y="18570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50008" y="7680960"/>
              <a:ext cx="0" cy="1189355"/>
            </a:xfrm>
            <a:custGeom>
              <a:avLst/>
              <a:gdLst/>
              <a:ahLst/>
              <a:cxnLst/>
              <a:rect l="l" t="t" r="r" b="b"/>
              <a:pathLst>
                <a:path h="1189354">
                  <a:moveTo>
                    <a:pt x="0" y="0"/>
                  </a:moveTo>
                  <a:lnTo>
                    <a:pt x="0" y="198684"/>
                  </a:lnTo>
                </a:path>
                <a:path h="1189354">
                  <a:moveTo>
                    <a:pt x="0" y="1172351"/>
                  </a:moveTo>
                  <a:lnTo>
                    <a:pt x="0" y="1188966"/>
                  </a:lnTo>
                </a:path>
                <a:path h="1189354">
                  <a:moveTo>
                    <a:pt x="0" y="591538"/>
                  </a:moveTo>
                  <a:lnTo>
                    <a:pt x="0" y="777240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50008" y="4331299"/>
              <a:ext cx="0" cy="2957195"/>
            </a:xfrm>
            <a:custGeom>
              <a:avLst/>
              <a:gdLst/>
              <a:ahLst/>
              <a:cxnLst/>
              <a:rect l="l" t="t" r="r" b="b"/>
              <a:pathLst>
                <a:path h="2957195">
                  <a:moveTo>
                    <a:pt x="0" y="0"/>
                  </a:moveTo>
                  <a:lnTo>
                    <a:pt x="0" y="2956807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17003" y="4336061"/>
              <a:ext cx="2540" cy="4529455"/>
            </a:xfrm>
            <a:custGeom>
              <a:avLst/>
              <a:gdLst/>
              <a:ahLst/>
              <a:cxnLst/>
              <a:rect l="l" t="t" r="r" b="b"/>
              <a:pathLst>
                <a:path w="2540" h="4529455">
                  <a:moveTo>
                    <a:pt x="0" y="4529101"/>
                  </a:moveTo>
                  <a:lnTo>
                    <a:pt x="2257" y="0"/>
                  </a:lnTo>
                </a:path>
              </a:pathLst>
            </a:custGeom>
            <a:ln w="952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929510" y="4331299"/>
              <a:ext cx="0" cy="4538980"/>
            </a:xfrm>
            <a:custGeom>
              <a:avLst/>
              <a:gdLst/>
              <a:ahLst/>
              <a:cxnLst/>
              <a:rect l="l" t="t" r="r" b="b"/>
              <a:pathLst>
                <a:path h="4538980">
                  <a:moveTo>
                    <a:pt x="0" y="0"/>
                  </a:moveTo>
                  <a:lnTo>
                    <a:pt x="0" y="4126900"/>
                  </a:lnTo>
                </a:path>
                <a:path h="4538980">
                  <a:moveTo>
                    <a:pt x="0" y="4522011"/>
                  </a:moveTo>
                  <a:lnTo>
                    <a:pt x="0" y="4538626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4141" y="7152640"/>
              <a:ext cx="0" cy="1305560"/>
            </a:xfrm>
            <a:custGeom>
              <a:avLst/>
              <a:gdLst/>
              <a:ahLst/>
              <a:cxnLst/>
              <a:rect l="l" t="t" r="r" b="b"/>
              <a:pathLst>
                <a:path h="1305559">
                  <a:moveTo>
                    <a:pt x="0" y="0"/>
                  </a:moveTo>
                  <a:lnTo>
                    <a:pt x="0" y="1305559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84141" y="885331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5">
                  <a:moveTo>
                    <a:pt x="0" y="0"/>
                  </a:moveTo>
                  <a:lnTo>
                    <a:pt x="0" y="16615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84141" y="4331299"/>
              <a:ext cx="0" cy="2428875"/>
            </a:xfrm>
            <a:custGeom>
              <a:avLst/>
              <a:gdLst/>
              <a:ahLst/>
              <a:cxnLst/>
              <a:rect l="l" t="t" r="r" b="b"/>
              <a:pathLst>
                <a:path h="2428875">
                  <a:moveTo>
                    <a:pt x="0" y="2236011"/>
                  </a:moveTo>
                  <a:lnTo>
                    <a:pt x="0" y="2428487"/>
                  </a:lnTo>
                </a:path>
                <a:path h="2428875">
                  <a:moveTo>
                    <a:pt x="0" y="1629234"/>
                  </a:moveTo>
                  <a:lnTo>
                    <a:pt x="0" y="1840900"/>
                  </a:lnTo>
                </a:path>
                <a:path h="2428875">
                  <a:moveTo>
                    <a:pt x="0" y="0"/>
                  </a:moveTo>
                  <a:lnTo>
                    <a:pt x="0" y="1236381"/>
                  </a:lnTo>
                </a:path>
              </a:pathLst>
            </a:custGeom>
            <a:ln w="1178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993087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82556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71178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9800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50680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39303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27925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19086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05169" y="8909552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93791" y="8909552"/>
            <a:ext cx="8121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655" algn="l"/>
              </a:tabLst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72574" y="8910116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038769" y="4337202"/>
            <a:ext cx="7573645" cy="4516120"/>
          </a:xfrm>
          <a:custGeom>
            <a:avLst/>
            <a:gdLst/>
            <a:ahLst/>
            <a:cxnLst/>
            <a:rect l="l" t="t" r="r" b="b"/>
            <a:pathLst>
              <a:path w="7573645" h="4516120">
                <a:moveTo>
                  <a:pt x="2759849" y="0"/>
                </a:moveTo>
                <a:lnTo>
                  <a:pt x="691730" y="0"/>
                </a:lnTo>
                <a:lnTo>
                  <a:pt x="691730" y="392849"/>
                </a:lnTo>
                <a:lnTo>
                  <a:pt x="2759849" y="392849"/>
                </a:lnTo>
                <a:lnTo>
                  <a:pt x="2759849" y="0"/>
                </a:lnTo>
                <a:close/>
              </a:path>
              <a:path w="7573645" h="4516120">
                <a:moveTo>
                  <a:pt x="3445370" y="653897"/>
                </a:moveTo>
                <a:lnTo>
                  <a:pt x="2068118" y="653897"/>
                </a:lnTo>
                <a:lnTo>
                  <a:pt x="2068118" y="1049020"/>
                </a:lnTo>
                <a:lnTo>
                  <a:pt x="3445370" y="1049020"/>
                </a:lnTo>
                <a:lnTo>
                  <a:pt x="3445370" y="653897"/>
                </a:lnTo>
                <a:close/>
              </a:path>
              <a:path w="7573645" h="4516120">
                <a:moveTo>
                  <a:pt x="4133989" y="1230490"/>
                </a:moveTo>
                <a:lnTo>
                  <a:pt x="0" y="1230490"/>
                </a:lnTo>
                <a:lnTo>
                  <a:pt x="0" y="1623339"/>
                </a:lnTo>
                <a:lnTo>
                  <a:pt x="4133989" y="1623339"/>
                </a:lnTo>
                <a:lnTo>
                  <a:pt x="4133989" y="1230490"/>
                </a:lnTo>
                <a:close/>
              </a:path>
              <a:path w="7573645" h="4516120">
                <a:moveTo>
                  <a:pt x="4822609" y="1834997"/>
                </a:moveTo>
                <a:lnTo>
                  <a:pt x="2756751" y="1834997"/>
                </a:lnTo>
                <a:lnTo>
                  <a:pt x="2756751" y="2230120"/>
                </a:lnTo>
                <a:lnTo>
                  <a:pt x="4822609" y="2230120"/>
                </a:lnTo>
                <a:lnTo>
                  <a:pt x="4822609" y="1834997"/>
                </a:lnTo>
                <a:close/>
              </a:path>
              <a:path w="7573645" h="4516120">
                <a:moveTo>
                  <a:pt x="5511228" y="2422588"/>
                </a:moveTo>
                <a:lnTo>
                  <a:pt x="2068118" y="2422588"/>
                </a:lnTo>
                <a:lnTo>
                  <a:pt x="2068118" y="2815437"/>
                </a:lnTo>
                <a:lnTo>
                  <a:pt x="5511228" y="2815437"/>
                </a:lnTo>
                <a:lnTo>
                  <a:pt x="5511228" y="2422588"/>
                </a:lnTo>
                <a:close/>
              </a:path>
              <a:path w="7573645" h="4516120">
                <a:moveTo>
                  <a:pt x="6199860" y="2950908"/>
                </a:moveTo>
                <a:lnTo>
                  <a:pt x="3445370" y="2950908"/>
                </a:lnTo>
                <a:lnTo>
                  <a:pt x="3445370" y="3343757"/>
                </a:lnTo>
                <a:lnTo>
                  <a:pt x="6199860" y="3343757"/>
                </a:lnTo>
                <a:lnTo>
                  <a:pt x="6199860" y="2950908"/>
                </a:lnTo>
                <a:close/>
              </a:path>
              <a:path w="7573645" h="4516120">
                <a:moveTo>
                  <a:pt x="6890740" y="3542449"/>
                </a:moveTo>
                <a:lnTo>
                  <a:pt x="4133989" y="3542449"/>
                </a:lnTo>
                <a:lnTo>
                  <a:pt x="4133989" y="3935298"/>
                </a:lnTo>
                <a:lnTo>
                  <a:pt x="6890740" y="3935298"/>
                </a:lnTo>
                <a:lnTo>
                  <a:pt x="6890740" y="3542449"/>
                </a:lnTo>
                <a:close/>
              </a:path>
              <a:path w="7573645" h="4516120">
                <a:moveTo>
                  <a:pt x="7573150" y="4120997"/>
                </a:moveTo>
                <a:lnTo>
                  <a:pt x="2751099" y="4120997"/>
                </a:lnTo>
                <a:lnTo>
                  <a:pt x="2751099" y="4516120"/>
                </a:lnTo>
                <a:lnTo>
                  <a:pt x="7573150" y="4516120"/>
                </a:lnTo>
                <a:lnTo>
                  <a:pt x="7573150" y="4120997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679509" y="4375697"/>
            <a:ext cx="3956685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043305">
              <a:lnSpc>
                <a:spcPct val="100000"/>
              </a:lnSpc>
            </a:pPr>
            <a:r>
              <a:rPr sz="1800" spc="-50" dirty="0"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  <a:p>
            <a:pPr marL="353695">
              <a:lnSpc>
                <a:spcPct val="100000"/>
              </a:lnSpc>
              <a:spcBef>
                <a:spcPts val="2380"/>
              </a:spcBef>
            </a:pPr>
            <a:r>
              <a:rPr sz="1800" spc="-50" dirty="0">
                <a:latin typeface="Lucida Sans Unicode"/>
                <a:cs typeface="Lucida Sans Unicode"/>
              </a:rPr>
              <a:t>3</a:t>
            </a:r>
            <a:endParaRPr sz="1800">
              <a:latin typeface="Lucida Sans Unicode"/>
              <a:cs typeface="Lucida Sans Unicode"/>
            </a:endParaRPr>
          </a:p>
          <a:p>
            <a:pPr marL="340995" algn="ctr">
              <a:lnSpc>
                <a:spcPct val="100000"/>
              </a:lnSpc>
              <a:spcBef>
                <a:spcPts val="2600"/>
              </a:spcBef>
            </a:pPr>
            <a:r>
              <a:rPr sz="1800" spc="-50" dirty="0">
                <a:latin typeface="Lucida Sans Unicode"/>
                <a:cs typeface="Lucida Sans Unicode"/>
              </a:rPr>
              <a:t>4</a:t>
            </a:r>
            <a:endParaRPr sz="1800">
              <a:latin typeface="Lucida Sans Unicode"/>
              <a:cs typeface="Lucida Sans Unicode"/>
            </a:endParaRPr>
          </a:p>
          <a:p>
            <a:pPr marL="340995" algn="ctr">
              <a:lnSpc>
                <a:spcPct val="100000"/>
              </a:lnSpc>
              <a:spcBef>
                <a:spcPts val="2470"/>
              </a:spcBef>
            </a:pPr>
            <a:r>
              <a:rPr sz="1800" spc="-50" dirty="0">
                <a:latin typeface="Lucida Sans Unicode"/>
                <a:cs typeface="Lucida Sans Unicode"/>
              </a:rPr>
              <a:t>5</a:t>
            </a:r>
            <a:endParaRPr sz="1800">
              <a:latin typeface="Lucida Sans Unicode"/>
              <a:cs typeface="Lucida Sans Unicode"/>
            </a:endParaRPr>
          </a:p>
          <a:p>
            <a:pPr marR="694690" algn="r">
              <a:lnSpc>
                <a:spcPct val="100000"/>
              </a:lnSpc>
              <a:spcBef>
                <a:spcPts val="2000"/>
              </a:spcBef>
            </a:pPr>
            <a:r>
              <a:rPr sz="1800" spc="-50" dirty="0">
                <a:latin typeface="Lucida Sans Unicode"/>
                <a:cs typeface="Lucida Sans Unicode"/>
              </a:rPr>
              <a:t>6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2495"/>
              </a:spcBef>
            </a:pPr>
            <a:r>
              <a:rPr sz="1800" spc="-50" dirty="0">
                <a:latin typeface="Lucida Sans Unicode"/>
                <a:cs typeface="Lucida Sans Unicode"/>
              </a:rPr>
              <a:t>7</a:t>
            </a:r>
            <a:endParaRPr sz="1800">
              <a:latin typeface="Lucida Sans Unicode"/>
              <a:cs typeface="Lucida Sans Unicode"/>
            </a:endParaRPr>
          </a:p>
          <a:p>
            <a:pPr marR="354965" algn="r">
              <a:lnSpc>
                <a:spcPct val="100000"/>
              </a:lnSpc>
              <a:spcBef>
                <a:spcPts val="2395"/>
              </a:spcBef>
            </a:pPr>
            <a:r>
              <a:rPr sz="1800" spc="-50" dirty="0">
                <a:latin typeface="Lucida Sans Unicode"/>
                <a:cs typeface="Lucida Sans Unicode"/>
              </a:rPr>
              <a:t>8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13372" y="8818000"/>
            <a:ext cx="8378190" cy="121920"/>
            <a:chOff x="2013372" y="8818000"/>
            <a:chExt cx="8378190" cy="121920"/>
          </a:xfrm>
        </p:grpSpPr>
        <p:sp>
          <p:nvSpPr>
            <p:cNvPr id="42" name="object 42"/>
            <p:cNvSpPr/>
            <p:nvPr/>
          </p:nvSpPr>
          <p:spPr>
            <a:xfrm>
              <a:off x="2026072" y="8876735"/>
              <a:ext cx="8286750" cy="2540"/>
            </a:xfrm>
            <a:custGeom>
              <a:avLst/>
              <a:gdLst/>
              <a:ahLst/>
              <a:cxnLst/>
              <a:rect l="l" t="t" r="r" b="b"/>
              <a:pathLst>
                <a:path w="8286750" h="2540">
                  <a:moveTo>
                    <a:pt x="0" y="0"/>
                  </a:moveTo>
                  <a:lnTo>
                    <a:pt x="8273627" y="2233"/>
                  </a:lnTo>
                  <a:lnTo>
                    <a:pt x="8286327" y="22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269203" y="8818000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33" y="0"/>
                  </a:moveTo>
                  <a:lnTo>
                    <a:pt x="30496" y="60968"/>
                  </a:lnTo>
                  <a:lnTo>
                    <a:pt x="0" y="121920"/>
                  </a:lnTo>
                  <a:lnTo>
                    <a:pt x="121936" y="6099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243536" y="2944362"/>
            <a:ext cx="249999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173355">
              <a:lnSpc>
                <a:spcPts val="2000"/>
              </a:lnSpc>
              <a:spcBef>
                <a:spcPts val="300"/>
              </a:spcBef>
            </a:pP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2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rightmost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interval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that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ends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before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r>
              <a:rPr sz="1800" i="1" spc="4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begins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825177" y="2772488"/>
            <a:ext cx="420370" cy="387985"/>
            <a:chOff x="8825177" y="2772488"/>
            <a:chExt cx="420370" cy="387985"/>
          </a:xfrm>
        </p:grpSpPr>
        <p:sp>
          <p:nvSpPr>
            <p:cNvPr id="46" name="object 46"/>
            <p:cNvSpPr/>
            <p:nvPr/>
          </p:nvSpPr>
          <p:spPr>
            <a:xfrm>
              <a:off x="8883103" y="2825822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9343" y="8602"/>
                  </a:lnTo>
                  <a:lnTo>
                    <a:pt x="349249" y="321555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825177" y="2772488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0" y="0"/>
                  </a:moveTo>
                  <a:lnTo>
                    <a:pt x="48402" y="127427"/>
                  </a:lnTo>
                  <a:lnTo>
                    <a:pt x="67269" y="61936"/>
                  </a:lnTo>
                  <a:lnTo>
                    <a:pt x="130983" y="37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2395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2725" algn="l"/>
              </a:tabLst>
            </a:pPr>
            <a:r>
              <a:rPr dirty="0"/>
              <a:t>Dynamic</a:t>
            </a:r>
            <a:r>
              <a:rPr spc="135" dirty="0"/>
              <a:t> </a:t>
            </a:r>
            <a:r>
              <a:rPr spc="-10" dirty="0"/>
              <a:t>programming:</a:t>
            </a:r>
            <a:r>
              <a:rPr dirty="0"/>
              <a:t>	</a:t>
            </a:r>
            <a:r>
              <a:rPr spc="95" dirty="0"/>
              <a:t>binary</a:t>
            </a:r>
            <a:r>
              <a:rPr spc="100" dirty="0"/>
              <a:t> </a:t>
            </a:r>
            <a:r>
              <a:rPr spc="-10" dirty="0"/>
              <a:t>choice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69784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OPT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mutually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compatible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for </a:t>
            </a:r>
            <a:r>
              <a:rPr sz="2400" dirty="0">
                <a:latin typeface="Lucida Sans Unicode"/>
                <a:cs typeface="Lucida Sans Unicode"/>
              </a:rPr>
              <a:t>subproblem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consisting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2786380"/>
            <a:ext cx="786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2904" y="2786380"/>
            <a:ext cx="9482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 weight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any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 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mutually compatible </a:t>
            </a:r>
            <a:r>
              <a:rPr sz="2400" spc="-10" dirty="0">
                <a:latin typeface="Lucida Sans Unicode"/>
                <a:cs typeface="Lucida Sans Unicode"/>
              </a:rPr>
              <a:t>jobs.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5681979"/>
            <a:ext cx="418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7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OPT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00" y="5981700"/>
            <a:ext cx="10318750" cy="2021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Collect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profit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3800"/>
              </a:lnSpc>
              <a:tabLst>
                <a:tab pos="767588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spc="-20" dirty="0">
                <a:latin typeface="Lucida Sans Unicode"/>
                <a:cs typeface="Lucida Sans Unicode"/>
              </a:rPr>
              <a:t>Can’t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incompatible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...,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 </a:t>
            </a:r>
            <a:r>
              <a:rPr sz="2400" dirty="0">
                <a:latin typeface="Times New Roman"/>
                <a:cs typeface="Times New Roman"/>
              </a:rPr>
              <a:t>– 1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0" marR="43180" indent="-457200">
              <a:lnSpc>
                <a:spcPts val="3800"/>
              </a:lnSpc>
              <a:spcBef>
                <a:spcPts val="219"/>
              </a:spcBef>
              <a:tabLst>
                <a:tab pos="403606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include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consisting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remaining </a:t>
            </a:r>
            <a:r>
              <a:rPr sz="2400" dirty="0">
                <a:latin typeface="Lucida Sans Unicode"/>
                <a:cs typeface="Lucida Sans Unicode"/>
              </a:rPr>
              <a:t>compatible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1, 2, </a:t>
            </a:r>
            <a:r>
              <a:rPr sz="2400" spc="-20" dirty="0">
                <a:latin typeface="Times New Roman"/>
                <a:cs typeface="Times New Roman"/>
              </a:rPr>
              <a:t>...,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00" y="8577580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Bellman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equation.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70143" y="5749898"/>
            <a:ext cx="420370" cy="387985"/>
            <a:chOff x="7770143" y="5749898"/>
            <a:chExt cx="420370" cy="387985"/>
          </a:xfrm>
        </p:grpSpPr>
        <p:sp>
          <p:nvSpPr>
            <p:cNvPr id="11" name="object 11"/>
            <p:cNvSpPr/>
            <p:nvPr/>
          </p:nvSpPr>
          <p:spPr>
            <a:xfrm>
              <a:off x="7828069" y="5762598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321555"/>
                  </a:moveTo>
                  <a:lnTo>
                    <a:pt x="9343" y="312953"/>
                  </a:lnTo>
                  <a:lnTo>
                    <a:pt x="349249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70143" y="6010059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48402" y="0"/>
                  </a:moveTo>
                  <a:lnTo>
                    <a:pt x="0" y="127427"/>
                  </a:lnTo>
                  <a:lnTo>
                    <a:pt x="130982" y="89693"/>
                  </a:lnTo>
                  <a:lnTo>
                    <a:pt x="67269" y="65492"/>
                  </a:lnTo>
                  <a:lnTo>
                    <a:pt x="4840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4700" y="3751579"/>
            <a:ext cx="10574655" cy="1904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13201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OPT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22300" marR="442595" indent="-457200">
              <a:lnSpc>
                <a:spcPts val="3800"/>
              </a:lnSpc>
              <a:spcBef>
                <a:spcPts val="545"/>
              </a:spcBef>
              <a:tabLst>
                <a:tab pos="2412365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consisting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remaining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1, 2, </a:t>
            </a:r>
            <a:r>
              <a:rPr sz="2400" spc="-20" dirty="0">
                <a:latin typeface="Times New Roman"/>
                <a:cs typeface="Times New Roman"/>
              </a:rPr>
              <a:t>...,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R="43180" algn="r">
              <a:lnSpc>
                <a:spcPct val="100000"/>
              </a:lnSpc>
              <a:spcBef>
                <a:spcPts val="211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72806" y="5664023"/>
            <a:ext cx="3072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 via exchange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759700" y="5245100"/>
            <a:ext cx="420370" cy="387985"/>
            <a:chOff x="7759700" y="5245100"/>
            <a:chExt cx="420370" cy="387985"/>
          </a:xfrm>
        </p:grpSpPr>
        <p:sp>
          <p:nvSpPr>
            <p:cNvPr id="16" name="object 16"/>
            <p:cNvSpPr/>
            <p:nvPr/>
          </p:nvSpPr>
          <p:spPr>
            <a:xfrm>
              <a:off x="7817627" y="529843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0"/>
                  </a:moveTo>
                  <a:lnTo>
                    <a:pt x="9343" y="8602"/>
                  </a:lnTo>
                  <a:lnTo>
                    <a:pt x="349249" y="321555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59700" y="5245100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0" y="0"/>
                  </a:moveTo>
                  <a:lnTo>
                    <a:pt x="48403" y="127427"/>
                  </a:lnTo>
                  <a:lnTo>
                    <a:pt x="67269" y="61935"/>
                  </a:lnTo>
                  <a:lnTo>
                    <a:pt x="130983" y="37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36592" y="8577630"/>
            <a:ext cx="150558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6030" algn="l"/>
              </a:tabLst>
            </a:pP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10" dirty="0">
                <a:latin typeface="Calibri"/>
                <a:cs typeface="Calibri"/>
              </a:rPr>
              <a:t> </a:t>
            </a:r>
            <a:r>
              <a:rPr sz="2400" spc="280" dirty="0">
                <a:latin typeface="Calibri"/>
                <a:cs typeface="Calibri"/>
              </a:rPr>
              <a:t>(</a:t>
            </a:r>
            <a:r>
              <a:rPr sz="2400" i="1" spc="280" dirty="0">
                <a:latin typeface="Calibri"/>
                <a:cs typeface="Calibri"/>
              </a:rPr>
              <a:t>j</a:t>
            </a:r>
            <a:r>
              <a:rPr sz="2400" spc="28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5385560" y="8058556"/>
            <a:ext cx="2698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89039" y="8161444"/>
            <a:ext cx="5095875" cy="10820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80"/>
              </a:spcBef>
              <a:tabLst>
                <a:tab pos="2673350" algn="l"/>
              </a:tabLst>
            </a:pPr>
            <a:r>
              <a:rPr sz="2400" spc="110" dirty="0">
                <a:latin typeface="Calibri"/>
                <a:cs typeface="Calibri"/>
              </a:rPr>
              <a:t>max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i="1" spc="155" dirty="0">
                <a:latin typeface="Georgia"/>
                <a:cs typeface="Georgia"/>
              </a:rPr>
              <a:t>{</a:t>
            </a:r>
            <a:r>
              <a:rPr sz="2400" i="1" spc="-180" dirty="0">
                <a:latin typeface="Georgia"/>
                <a:cs typeface="Georgia"/>
              </a:rPr>
              <a:t> </a:t>
            </a: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04" dirty="0">
                <a:latin typeface="Calibri"/>
                <a:cs typeface="Calibri"/>
              </a:rPr>
              <a:t> </a:t>
            </a:r>
            <a:r>
              <a:rPr sz="2400" spc="295" dirty="0">
                <a:latin typeface="Calibri"/>
                <a:cs typeface="Calibri"/>
              </a:rPr>
              <a:t>(</a:t>
            </a:r>
            <a:r>
              <a:rPr sz="2400" i="1" spc="295" dirty="0">
                <a:latin typeface="Calibri"/>
                <a:cs typeface="Calibri"/>
              </a:rPr>
              <a:t>j</a:t>
            </a:r>
            <a:r>
              <a:rPr sz="2400" i="1" spc="135" dirty="0">
                <a:latin typeface="Calibri"/>
                <a:cs typeface="Calibri"/>
              </a:rPr>
              <a:t> </a:t>
            </a:r>
            <a:r>
              <a:rPr sz="2400" i="1" spc="-215" dirty="0">
                <a:latin typeface="Georgia"/>
                <a:cs typeface="Georgia"/>
              </a:rPr>
              <a:t>—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spc="50" dirty="0">
                <a:latin typeface="Calibri"/>
                <a:cs typeface="Calibri"/>
              </a:rPr>
              <a:t>1)</a:t>
            </a:r>
            <a:r>
              <a:rPr sz="2400" i="1" spc="5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185" dirty="0">
                <a:latin typeface="Calibri"/>
                <a:cs typeface="Calibri"/>
              </a:rPr>
              <a:t>w</a:t>
            </a:r>
            <a:r>
              <a:rPr sz="2475" i="1" spc="277" baseline="-11784" dirty="0">
                <a:latin typeface="Calibri"/>
                <a:cs typeface="Calibri"/>
              </a:rPr>
              <a:t>j</a:t>
            </a:r>
            <a:r>
              <a:rPr sz="2475" i="1" spc="577" baseline="-11784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04" dirty="0">
                <a:latin typeface="Calibri"/>
                <a:cs typeface="Calibri"/>
              </a:rPr>
              <a:t> </a:t>
            </a:r>
            <a:r>
              <a:rPr sz="2400" spc="210" dirty="0">
                <a:latin typeface="Calibri"/>
                <a:cs typeface="Calibri"/>
              </a:rPr>
              <a:t>(</a:t>
            </a:r>
            <a:r>
              <a:rPr sz="2400" i="1" spc="210" dirty="0">
                <a:latin typeface="Calibri"/>
                <a:cs typeface="Calibri"/>
              </a:rPr>
              <a:t>p</a:t>
            </a:r>
            <a:r>
              <a:rPr sz="2400" spc="210" dirty="0">
                <a:latin typeface="Calibri"/>
                <a:cs typeface="Calibri"/>
              </a:rPr>
              <a:t>(</a:t>
            </a:r>
            <a:r>
              <a:rPr sz="2400" i="1" spc="210" dirty="0">
                <a:latin typeface="Calibri"/>
                <a:cs typeface="Calibri"/>
              </a:rPr>
              <a:t>j</a:t>
            </a:r>
            <a:r>
              <a:rPr sz="2400" spc="210" dirty="0">
                <a:latin typeface="Calibri"/>
                <a:cs typeface="Calibri"/>
              </a:rPr>
              <a:t>))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i="1" spc="105" dirty="0">
                <a:latin typeface="Georgia"/>
                <a:cs typeface="Georgia"/>
              </a:rPr>
              <a:t>}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8355" y="8161444"/>
            <a:ext cx="1003300" cy="10820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i="1" spc="400" dirty="0">
                <a:latin typeface="Calibri"/>
                <a:cs typeface="Calibri"/>
              </a:rPr>
              <a:t>j</a:t>
            </a:r>
            <a:r>
              <a:rPr sz="2400" i="1" spc="195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=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i="1" spc="400" dirty="0">
                <a:latin typeface="Calibri"/>
                <a:cs typeface="Calibri"/>
              </a:rPr>
              <a:t>j</a:t>
            </a:r>
            <a:r>
              <a:rPr sz="2400" i="1" spc="190" dirty="0">
                <a:latin typeface="Calibri"/>
                <a:cs typeface="Calibri"/>
              </a:rPr>
              <a:t> </a:t>
            </a:r>
            <a:r>
              <a:rPr sz="2400" i="1" spc="645" dirty="0">
                <a:latin typeface="Calibri"/>
                <a:cs typeface="Calibri"/>
              </a:rPr>
              <a:t>&gt;</a:t>
            </a:r>
            <a:r>
              <a:rPr sz="2400" i="1" spc="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816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brute</a:t>
            </a:r>
            <a:r>
              <a:rPr spc="270" dirty="0"/>
              <a:t> </a:t>
            </a:r>
            <a:r>
              <a:rPr spc="-10" dirty="0"/>
              <a:t>force</a:t>
            </a:r>
          </a:p>
        </p:txBody>
      </p:sp>
      <p:sp>
        <p:nvSpPr>
          <p:cNvPr id="4" name="object 4"/>
          <p:cNvSpPr/>
          <p:nvPr/>
        </p:nvSpPr>
        <p:spPr>
          <a:xfrm>
            <a:off x="1826351" y="2254250"/>
            <a:ext cx="8982075" cy="2679700"/>
          </a:xfrm>
          <a:custGeom>
            <a:avLst/>
            <a:gdLst/>
            <a:ahLst/>
            <a:cxnLst/>
            <a:rect l="l" t="t" r="r" b="b"/>
            <a:pathLst>
              <a:path w="8982075" h="2679700">
                <a:moveTo>
                  <a:pt x="8981573" y="0"/>
                </a:moveTo>
                <a:lnTo>
                  <a:pt x="0" y="0"/>
                </a:lnTo>
                <a:lnTo>
                  <a:pt x="0" y="2679700"/>
                </a:lnTo>
                <a:lnTo>
                  <a:pt x="8981573" y="2679700"/>
                </a:lnTo>
                <a:lnTo>
                  <a:pt x="89815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93051" y="2520950"/>
            <a:ext cx="5965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B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RUTE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-F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ORCE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8451" y="3077851"/>
            <a:ext cx="6610350" cy="0"/>
          </a:xfrm>
          <a:custGeom>
            <a:avLst/>
            <a:gdLst/>
            <a:ahLst/>
            <a:cxnLst/>
            <a:rect l="l" t="t" r="r" b="b"/>
            <a:pathLst>
              <a:path w="6610350">
                <a:moveTo>
                  <a:pt x="0" y="0"/>
                </a:moveTo>
                <a:lnTo>
                  <a:pt x="66103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53270" y="3206750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01955" algn="l"/>
                <a:tab pos="721360" algn="l"/>
                <a:tab pos="1178560" algn="l"/>
                <a:tab pos="157480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2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3051" y="3051810"/>
            <a:ext cx="6208395" cy="15875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20"/>
              </a:spcBef>
              <a:tabLst>
                <a:tab pos="5663565" algn="l"/>
                <a:tab pos="6002020" algn="l"/>
              </a:tabLst>
            </a:pPr>
            <a:r>
              <a:rPr sz="2400" dirty="0">
                <a:latin typeface="Times New Roman"/>
                <a:cs typeface="Times New Roman"/>
              </a:rPr>
              <a:t>Sort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renumber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1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endParaRPr sz="2400">
              <a:latin typeface="Times New Roman"/>
              <a:cs typeface="Times New Roman"/>
            </a:endParaRPr>
          </a:p>
          <a:p>
            <a:pPr marL="25400" marR="384810">
              <a:lnSpc>
                <a:spcPts val="4100"/>
              </a:lnSpc>
              <a:spcBef>
                <a:spcPts val="140"/>
              </a:spcBef>
              <a:tabLst>
                <a:tab pos="1193165" algn="l"/>
                <a:tab pos="12947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[1],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[2],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 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6351" y="5867400"/>
            <a:ext cx="9627235" cy="3200400"/>
            <a:chOff x="1826351" y="5867400"/>
            <a:chExt cx="9627235" cy="3200400"/>
          </a:xfrm>
        </p:grpSpPr>
        <p:sp>
          <p:nvSpPr>
            <p:cNvPr id="10" name="object 10"/>
            <p:cNvSpPr/>
            <p:nvPr/>
          </p:nvSpPr>
          <p:spPr>
            <a:xfrm>
              <a:off x="1826351" y="5867400"/>
              <a:ext cx="9627235" cy="3200400"/>
            </a:xfrm>
            <a:custGeom>
              <a:avLst/>
              <a:gdLst/>
              <a:ahLst/>
              <a:cxnLst/>
              <a:rect l="l" t="t" r="r" b="b"/>
              <a:pathLst>
                <a:path w="9627235" h="3200400">
                  <a:moveTo>
                    <a:pt x="9626956" y="0"/>
                  </a:moveTo>
                  <a:lnTo>
                    <a:pt x="0" y="0"/>
                  </a:lnTo>
                  <a:lnTo>
                    <a:pt x="0" y="3200400"/>
                  </a:lnTo>
                  <a:lnTo>
                    <a:pt x="9626956" y="3200400"/>
                  </a:lnTo>
                  <a:lnTo>
                    <a:pt x="96269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8451" y="6691001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26351" y="5867400"/>
            <a:ext cx="9627235" cy="3200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92100" marR="7125970">
              <a:lnSpc>
                <a:spcPts val="5400"/>
              </a:lnSpc>
              <a:spcBef>
                <a:spcPts val="280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C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OMPUTE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-O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620"/>
              </a:spcBef>
              <a:tabLst>
                <a:tab pos="1762125" algn="l"/>
              </a:tabLst>
            </a:pP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220"/>
              </a:spcBef>
            </a:pPr>
            <a:r>
              <a:rPr sz="2400" cap="small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1220"/>
              </a:spcBef>
              <a:tabLst>
                <a:tab pos="1802764" algn="l"/>
                <a:tab pos="5335905" algn="l"/>
                <a:tab pos="871029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{C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65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63163" y="232962"/>
            <a:ext cx="490220" cy="579755"/>
            <a:chOff x="11663163" y="232962"/>
            <a:chExt cx="490220" cy="5797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6362" y="469167"/>
              <a:ext cx="97795" cy="981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63163" y="232962"/>
              <a:ext cx="489949" cy="57958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58802" y="1348740"/>
            <a:ext cx="921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Tahoma"/>
                <a:cs typeface="Tahoma"/>
              </a:rPr>
              <a:t>What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b="1" spc="75" dirty="0">
                <a:latin typeface="Tahoma"/>
                <a:cs typeface="Tahoma"/>
              </a:rPr>
              <a:t>is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running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time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60" dirty="0">
                <a:latin typeface="Tahoma"/>
                <a:cs typeface="Tahoma"/>
              </a:rPr>
              <a:t>of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60" dirty="0">
                <a:latin typeface="Tahoma"/>
                <a:cs typeface="Tahoma"/>
              </a:rPr>
              <a:t>C</a:t>
            </a:r>
            <a:r>
              <a:rPr sz="1900" b="1" spc="60" dirty="0">
                <a:latin typeface="Tahoma"/>
                <a:cs typeface="Tahoma"/>
              </a:rPr>
              <a:t>OMPUTE</a:t>
            </a:r>
            <a:r>
              <a:rPr sz="2400" b="1" spc="6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O</a:t>
            </a:r>
            <a:r>
              <a:rPr sz="1900" b="1" dirty="0">
                <a:latin typeface="Tahoma"/>
                <a:cs typeface="Tahoma"/>
              </a:rPr>
              <a:t>PT</a:t>
            </a:r>
            <a:r>
              <a:rPr sz="2400" b="1" dirty="0">
                <a:latin typeface="Tahoma"/>
                <a:cs typeface="Tahoma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ahoma"/>
                <a:cs typeface="Tahoma"/>
              </a:rPr>
              <a:t>)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worst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case?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1500" y="3141979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Θ(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41500" y="3789679"/>
            <a:ext cx="1320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Θ(1.618</a:t>
            </a:r>
            <a:r>
              <a:rPr sz="2400" i="1" spc="-15" baseline="27777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200" y="2494280"/>
            <a:ext cx="1976755" cy="233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9765" algn="l"/>
              </a:tabLst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A.</a:t>
            </a:r>
            <a:r>
              <a:rPr sz="2400" b="1" dirty="0">
                <a:solidFill>
                  <a:srgbClr val="005493"/>
                </a:solidFill>
                <a:latin typeface="Tahoma"/>
                <a:cs typeface="Tahoma"/>
              </a:rPr>
              <a:t>	</a:t>
            </a:r>
            <a:r>
              <a:rPr sz="2400" spc="80" dirty="0">
                <a:latin typeface="Times New Roman"/>
                <a:cs typeface="Times New Roman"/>
              </a:rPr>
              <a:t>Θ(</a:t>
            </a:r>
            <a:r>
              <a:rPr sz="2400" i="1" spc="8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B.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C.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1500" y="4437379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Θ(2</a:t>
            </a:r>
            <a:r>
              <a:rPr sz="2400" i="1" spc="-15" baseline="27777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58802" y="354235"/>
            <a:ext cx="5057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2725" algn="l"/>
              </a:tabLst>
            </a:pPr>
            <a:r>
              <a:rPr dirty="0"/>
              <a:t>Dynamic</a:t>
            </a:r>
            <a:r>
              <a:rPr spc="135" dirty="0"/>
              <a:t> </a:t>
            </a:r>
            <a:r>
              <a:rPr spc="-10" dirty="0"/>
              <a:t>programming: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1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016000" y="4330700"/>
            <a:ext cx="685800" cy="685800"/>
            <a:chOff x="1016000" y="4330700"/>
            <a:chExt cx="685800" cy="685800"/>
          </a:xfrm>
        </p:grpSpPr>
        <p:sp>
          <p:nvSpPr>
            <p:cNvPr id="14" name="object 14"/>
            <p:cNvSpPr/>
            <p:nvPr/>
          </p:nvSpPr>
          <p:spPr>
            <a:xfrm>
              <a:off x="1054100" y="4368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508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4100" y="43688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76200">
              <a:solidFill>
                <a:srgbClr val="FB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826351" y="5867400"/>
            <a:ext cx="9627235" cy="3200400"/>
            <a:chOff x="1826351" y="5867400"/>
            <a:chExt cx="9627235" cy="3200400"/>
          </a:xfrm>
        </p:grpSpPr>
        <p:sp>
          <p:nvSpPr>
            <p:cNvPr id="17" name="object 17"/>
            <p:cNvSpPr/>
            <p:nvPr/>
          </p:nvSpPr>
          <p:spPr>
            <a:xfrm>
              <a:off x="1826351" y="5867400"/>
              <a:ext cx="9627235" cy="3200400"/>
            </a:xfrm>
            <a:custGeom>
              <a:avLst/>
              <a:gdLst/>
              <a:ahLst/>
              <a:cxnLst/>
              <a:rect l="l" t="t" r="r" b="b"/>
              <a:pathLst>
                <a:path w="9627235" h="3200400">
                  <a:moveTo>
                    <a:pt x="9626956" y="0"/>
                  </a:moveTo>
                  <a:lnTo>
                    <a:pt x="0" y="0"/>
                  </a:lnTo>
                  <a:lnTo>
                    <a:pt x="0" y="3200400"/>
                  </a:lnTo>
                  <a:lnTo>
                    <a:pt x="9626956" y="3200400"/>
                  </a:lnTo>
                  <a:lnTo>
                    <a:pt x="96269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18451" y="6691001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26351" y="5867400"/>
            <a:ext cx="9627235" cy="3200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92100" marR="7125970">
              <a:lnSpc>
                <a:spcPts val="5400"/>
              </a:lnSpc>
              <a:spcBef>
                <a:spcPts val="280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C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OMPUTE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-O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620"/>
              </a:spcBef>
              <a:tabLst>
                <a:tab pos="1762125" algn="l"/>
              </a:tabLst>
            </a:pP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220"/>
              </a:spcBef>
            </a:pPr>
            <a:r>
              <a:rPr sz="2400" cap="small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1220"/>
              </a:spcBef>
              <a:tabLst>
                <a:tab pos="1802764" algn="l"/>
                <a:tab pos="5335905" algn="l"/>
                <a:tab pos="871029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{C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65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68379" y="3000549"/>
            <a:ext cx="5465445" cy="148526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919"/>
              </a:lnSpc>
              <a:tabLst>
                <a:tab pos="806450" algn="l"/>
                <a:tab pos="1210945" algn="l"/>
              </a:tabLst>
            </a:pPr>
            <a:r>
              <a:rPr sz="2400" i="1" spc="210" dirty="0">
                <a:latin typeface="Calibri"/>
                <a:cs typeface="Calibri"/>
              </a:rPr>
              <a:t>T</a:t>
            </a:r>
            <a:r>
              <a:rPr sz="2400" i="1" spc="-215" dirty="0">
                <a:latin typeface="Calibri"/>
                <a:cs typeface="Calibri"/>
              </a:rPr>
              <a:t> </a:t>
            </a:r>
            <a:r>
              <a:rPr sz="2400" spc="165" dirty="0">
                <a:latin typeface="Calibri"/>
                <a:cs typeface="Calibri"/>
              </a:rPr>
              <a:t>(</a:t>
            </a:r>
            <a:r>
              <a:rPr sz="2400" i="1" spc="165" dirty="0">
                <a:latin typeface="Calibri"/>
                <a:cs typeface="Calibri"/>
              </a:rPr>
              <a:t>n</a:t>
            </a:r>
            <a:r>
              <a:rPr sz="2400" spc="16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8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600" spc="-1335" baseline="113425" dirty="0">
                <a:latin typeface="Trebuchet MS"/>
                <a:cs typeface="Trebuchet MS"/>
              </a:rPr>
              <a:t>,</a:t>
            </a:r>
            <a:r>
              <a:rPr sz="3600" baseline="63657" dirty="0">
                <a:latin typeface="Trebuchet MS"/>
                <a:cs typeface="Trebuchet MS"/>
              </a:rPr>
              <a:t> </a:t>
            </a:r>
            <a:endParaRPr sz="3600" baseline="63657">
              <a:latin typeface="Trebuchet MS"/>
              <a:cs typeface="Trebuchet MS"/>
            </a:endParaRPr>
          </a:p>
          <a:p>
            <a:pPr marL="1565275">
              <a:lnSpc>
                <a:spcPts val="415"/>
              </a:lnSpc>
              <a:tabLst>
                <a:tab pos="4447540" algn="l"/>
              </a:tabLst>
            </a:pPr>
            <a:r>
              <a:rPr sz="2400" spc="140" dirty="0">
                <a:latin typeface="Calibri"/>
                <a:cs typeface="Calibri"/>
              </a:rPr>
              <a:t>Θ(1)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620" dirty="0">
                <a:latin typeface="Trebuchet MS"/>
                <a:cs typeface="Trebuchet MS"/>
              </a:rPr>
              <a:t>B7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i="1" spc="185" dirty="0">
                <a:latin typeface="Calibri"/>
                <a:cs typeface="Calibri"/>
              </a:rPr>
              <a:t>n</a:t>
            </a:r>
            <a:r>
              <a:rPr sz="2400" i="1" spc="125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=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565275">
              <a:lnSpc>
                <a:spcPct val="100000"/>
              </a:lnSpc>
              <a:spcBef>
                <a:spcPts val="2240"/>
              </a:spcBef>
              <a:tabLst>
                <a:tab pos="3030220" algn="l"/>
                <a:tab pos="3418204" algn="l"/>
                <a:tab pos="4447540" algn="l"/>
              </a:tabLst>
            </a:pPr>
            <a:r>
              <a:rPr sz="2400" spc="90" dirty="0">
                <a:latin typeface="Calibri"/>
                <a:cs typeface="Calibri"/>
              </a:rPr>
              <a:t>2</a:t>
            </a:r>
            <a:r>
              <a:rPr sz="2400" i="1" spc="90" dirty="0">
                <a:latin typeface="Calibri"/>
                <a:cs typeface="Calibri"/>
              </a:rPr>
              <a:t>T</a:t>
            </a:r>
            <a:r>
              <a:rPr sz="2400" i="1" spc="-210" dirty="0">
                <a:latin typeface="Calibri"/>
                <a:cs typeface="Calibri"/>
              </a:rPr>
              <a:t> </a:t>
            </a:r>
            <a:r>
              <a:rPr sz="2400" spc="190" dirty="0">
                <a:latin typeface="Calibri"/>
                <a:cs typeface="Calibri"/>
              </a:rPr>
              <a:t>(</a:t>
            </a:r>
            <a:r>
              <a:rPr sz="2400" i="1" spc="190" dirty="0">
                <a:latin typeface="Calibri"/>
                <a:cs typeface="Calibri"/>
              </a:rPr>
              <a:t>n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spc="-215" dirty="0">
                <a:latin typeface="Georgia"/>
                <a:cs typeface="Georgia"/>
              </a:rPr>
              <a:t>—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spc="60" dirty="0">
                <a:latin typeface="Calibri"/>
                <a:cs typeface="Calibri"/>
              </a:rPr>
              <a:t>1)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40" dirty="0">
                <a:latin typeface="Calibri"/>
                <a:cs typeface="Calibri"/>
              </a:rPr>
              <a:t>Θ(1)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620" dirty="0">
                <a:latin typeface="Trebuchet MS"/>
                <a:cs typeface="Trebuchet MS"/>
              </a:rPr>
              <a:t>B7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i="1" spc="185" dirty="0">
                <a:latin typeface="Calibri"/>
                <a:cs typeface="Calibri"/>
              </a:rPr>
              <a:t>n</a:t>
            </a:r>
            <a:r>
              <a:rPr sz="2400" i="1" spc="125" dirty="0">
                <a:latin typeface="Calibri"/>
                <a:cs typeface="Calibri"/>
              </a:rPr>
              <a:t> </a:t>
            </a:r>
            <a:r>
              <a:rPr sz="2400" i="1" spc="645" dirty="0">
                <a:latin typeface="Calibri"/>
                <a:cs typeface="Calibri"/>
              </a:rPr>
              <a:t>&gt;</a:t>
            </a:r>
            <a:r>
              <a:rPr sz="2400" i="1" spc="1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20529" y="2647950"/>
            <a:ext cx="6006465" cy="2009775"/>
          </a:xfrm>
          <a:custGeom>
            <a:avLst/>
            <a:gdLst/>
            <a:ahLst/>
            <a:cxnLst/>
            <a:rect l="l" t="t" r="r" b="b"/>
            <a:pathLst>
              <a:path w="6006465" h="2009775">
                <a:moveTo>
                  <a:pt x="6006270" y="0"/>
                </a:moveTo>
                <a:lnTo>
                  <a:pt x="0" y="0"/>
                </a:lnTo>
                <a:lnTo>
                  <a:pt x="0" y="2009438"/>
                </a:lnTo>
                <a:lnTo>
                  <a:pt x="6006270" y="2009438"/>
                </a:lnTo>
                <a:lnTo>
                  <a:pt x="600627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662627" y="940743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12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816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brute</a:t>
            </a:r>
            <a:r>
              <a:rPr spc="270" dirty="0"/>
              <a:t> </a:t>
            </a:r>
            <a:r>
              <a:rPr spc="-10" dirty="0"/>
              <a:t>force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900410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79805">
              <a:lnSpc>
                <a:spcPct val="131900"/>
              </a:lnSpc>
              <a:spcBef>
                <a:spcPts val="100"/>
              </a:spcBef>
              <a:tabLst>
                <a:tab pos="2100580" algn="l"/>
                <a:tab pos="3994785" algn="l"/>
                <a:tab pos="44881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Recursive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spectacularly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slow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because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of </a:t>
            </a:r>
            <a:r>
              <a:rPr sz="2400" dirty="0">
                <a:latin typeface="Lucida Sans Unicode"/>
                <a:cs typeface="Lucida Sans Unicode"/>
              </a:rPr>
              <a:t>overlapping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subproblems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60" dirty="0">
                <a:latin typeface="Lucida Sans Unicode"/>
                <a:cs typeface="Lucida Sans Unicode"/>
              </a:rPr>
              <a:t>exponential-</a:t>
            </a:r>
            <a:r>
              <a:rPr sz="2400" spc="-1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recursive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calls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family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“layered”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grows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like </a:t>
            </a:r>
            <a:r>
              <a:rPr sz="2400" dirty="0">
                <a:latin typeface="Lucida Sans Unicode"/>
                <a:cs typeface="Lucida Sans Unicode"/>
              </a:rPr>
              <a:t>Fibonacci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sequence.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50735" y="7065950"/>
            <a:ext cx="122555" cy="121920"/>
          </a:xfrm>
          <a:custGeom>
            <a:avLst/>
            <a:gdLst/>
            <a:ahLst/>
            <a:cxnLst/>
            <a:rect l="l" t="t" r="r" b="b"/>
            <a:pathLst>
              <a:path w="122554" h="121920">
                <a:moveTo>
                  <a:pt x="48" y="0"/>
                </a:moveTo>
                <a:lnTo>
                  <a:pt x="30504" y="60972"/>
                </a:lnTo>
                <a:lnTo>
                  <a:pt x="0" y="121919"/>
                </a:lnTo>
                <a:lnTo>
                  <a:pt x="121944" y="61008"/>
                </a:lnTo>
                <a:lnTo>
                  <a:pt x="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97037" y="4870924"/>
          <a:ext cx="5706737" cy="2237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0"/>
                <a:gridCol w="491490"/>
                <a:gridCol w="493394"/>
                <a:gridCol w="491489"/>
                <a:gridCol w="491489"/>
                <a:gridCol w="491489"/>
                <a:gridCol w="491489"/>
                <a:gridCol w="491489"/>
                <a:gridCol w="491489"/>
                <a:gridCol w="493395"/>
                <a:gridCol w="491489"/>
                <a:gridCol w="296545"/>
              </a:tblGrid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815">
                <a:tc gridSpan="3">
                  <a:txBody>
                    <a:bodyPr/>
                    <a:lstStyle/>
                    <a:p>
                      <a:pPr marL="21590" algn="ctr">
                        <a:lnSpc>
                          <a:spcPts val="1880"/>
                        </a:lnSpc>
                      </a:pPr>
                      <a:r>
                        <a:rPr sz="16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35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0160" algn="ctr">
                        <a:lnSpc>
                          <a:spcPts val="1880"/>
                        </a:lnSpc>
                      </a:pPr>
                      <a:r>
                        <a:rPr sz="16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04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08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880"/>
                        </a:lnSpc>
                      </a:pPr>
                      <a:r>
                        <a:rPr sz="1600" spc="-5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0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880"/>
                        </a:lnSpc>
                      </a:pPr>
                      <a:r>
                        <a:rPr sz="1600" spc="-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8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54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350" algn="ctr">
                        <a:lnSpc>
                          <a:spcPts val="1880"/>
                        </a:lnSpc>
                      </a:pPr>
                      <a:r>
                        <a:rPr sz="16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R w="12700">
                      <a:solidFill>
                        <a:srgbClr val="000000"/>
                      </a:solidFill>
                      <a:prstDash val="sysDot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ysDot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48050" y="7297737"/>
            <a:ext cx="1971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p(1)</a:t>
            </a:r>
            <a:r>
              <a:rPr sz="1600" b="1" spc="-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0,</a:t>
            </a:r>
            <a:r>
              <a:rPr sz="1600" b="1" spc="-30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p(j)</a:t>
            </a:r>
            <a:r>
              <a:rPr sz="1600" b="1" spc="-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30" dirty="0">
                <a:latin typeface="Tahoma"/>
                <a:cs typeface="Tahoma"/>
              </a:rPr>
              <a:t> </a:t>
            </a:r>
            <a:r>
              <a:rPr sz="1600" b="1" spc="145" dirty="0">
                <a:latin typeface="Tahoma"/>
                <a:cs typeface="Tahoma"/>
              </a:rPr>
              <a:t>j-</a:t>
            </a:r>
            <a:r>
              <a:rPr sz="1600" b="1" spc="-50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45831" y="5064331"/>
            <a:ext cx="312420" cy="312420"/>
            <a:chOff x="9445831" y="5064331"/>
            <a:chExt cx="312420" cy="312420"/>
          </a:xfrm>
        </p:grpSpPr>
        <p:sp>
          <p:nvSpPr>
            <p:cNvPr id="9" name="object 9"/>
            <p:cNvSpPr/>
            <p:nvPr/>
          </p:nvSpPr>
          <p:spPr>
            <a:xfrm>
              <a:off x="9450594" y="50690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50594" y="50690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32969" y="50785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4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05975" y="4613275"/>
            <a:ext cx="2300605" cy="763905"/>
            <a:chOff x="9705975" y="4613275"/>
            <a:chExt cx="2300605" cy="763905"/>
          </a:xfrm>
        </p:grpSpPr>
        <p:sp>
          <p:nvSpPr>
            <p:cNvPr id="13" name="object 13"/>
            <p:cNvSpPr/>
            <p:nvPr/>
          </p:nvSpPr>
          <p:spPr>
            <a:xfrm>
              <a:off x="9715500" y="4622800"/>
              <a:ext cx="1008380" cy="497840"/>
            </a:xfrm>
            <a:custGeom>
              <a:avLst/>
              <a:gdLst/>
              <a:ahLst/>
              <a:cxnLst/>
              <a:rect l="l" t="t" r="r" b="b"/>
              <a:pathLst>
                <a:path w="1008379" h="497839">
                  <a:moveTo>
                    <a:pt x="1008193" y="0"/>
                  </a:moveTo>
                  <a:lnTo>
                    <a:pt x="0" y="497785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698494" y="50690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98494" y="50690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780869" y="50785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3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36231" y="4613275"/>
            <a:ext cx="2912110" cy="1487805"/>
            <a:chOff x="8836231" y="4613275"/>
            <a:chExt cx="2912110" cy="1487805"/>
          </a:xfrm>
        </p:grpSpPr>
        <p:sp>
          <p:nvSpPr>
            <p:cNvPr id="18" name="object 18"/>
            <p:cNvSpPr/>
            <p:nvPr/>
          </p:nvSpPr>
          <p:spPr>
            <a:xfrm>
              <a:off x="10934700" y="4622800"/>
              <a:ext cx="804545" cy="497840"/>
            </a:xfrm>
            <a:custGeom>
              <a:avLst/>
              <a:gdLst/>
              <a:ahLst/>
              <a:cxnLst/>
              <a:rect l="l" t="t" r="r" b="b"/>
              <a:pathLst>
                <a:path w="804545" h="497839">
                  <a:moveTo>
                    <a:pt x="0" y="0"/>
                  </a:moveTo>
                  <a:lnTo>
                    <a:pt x="804002" y="497784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409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409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923369" y="58024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3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982075" y="5324475"/>
            <a:ext cx="1398905" cy="776605"/>
            <a:chOff x="8982075" y="5324475"/>
            <a:chExt cx="1398905" cy="776605"/>
          </a:xfrm>
        </p:grpSpPr>
        <p:sp>
          <p:nvSpPr>
            <p:cNvPr id="23" name="object 23"/>
            <p:cNvSpPr/>
            <p:nvPr/>
          </p:nvSpPr>
          <p:spPr>
            <a:xfrm>
              <a:off x="8991600" y="5334000"/>
              <a:ext cx="504190" cy="453390"/>
            </a:xfrm>
            <a:custGeom>
              <a:avLst/>
              <a:gdLst/>
              <a:ahLst/>
              <a:cxnLst/>
              <a:rect l="l" t="t" r="r" b="b"/>
              <a:pathLst>
                <a:path w="504190" h="453389">
                  <a:moveTo>
                    <a:pt x="504096" y="0"/>
                  </a:moveTo>
                  <a:lnTo>
                    <a:pt x="0" y="453112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728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728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155269" y="58024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2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705975" y="5324475"/>
            <a:ext cx="1894205" cy="776605"/>
            <a:chOff x="9705975" y="5324475"/>
            <a:chExt cx="1894205" cy="776605"/>
          </a:xfrm>
        </p:grpSpPr>
        <p:sp>
          <p:nvSpPr>
            <p:cNvPr id="28" name="object 28"/>
            <p:cNvSpPr/>
            <p:nvPr/>
          </p:nvSpPr>
          <p:spPr>
            <a:xfrm>
              <a:off x="9715500" y="5334000"/>
              <a:ext cx="504190" cy="453390"/>
            </a:xfrm>
            <a:custGeom>
              <a:avLst/>
              <a:gdLst/>
              <a:ahLst/>
              <a:cxnLst/>
              <a:rect l="l" t="t" r="r" b="b"/>
              <a:pathLst>
                <a:path w="504190" h="453389">
                  <a:moveTo>
                    <a:pt x="0" y="0"/>
                  </a:moveTo>
                  <a:lnTo>
                    <a:pt x="504097" y="453112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2920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920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374469" y="58024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2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433175" y="5324475"/>
            <a:ext cx="979805" cy="776605"/>
            <a:chOff x="11433175" y="5324475"/>
            <a:chExt cx="979805" cy="776605"/>
          </a:xfrm>
        </p:grpSpPr>
        <p:sp>
          <p:nvSpPr>
            <p:cNvPr id="33" name="object 33"/>
            <p:cNvSpPr/>
            <p:nvPr/>
          </p:nvSpPr>
          <p:spPr>
            <a:xfrm>
              <a:off x="11442700" y="5334000"/>
              <a:ext cx="300355" cy="453390"/>
            </a:xfrm>
            <a:custGeom>
              <a:avLst/>
              <a:gdLst/>
              <a:ahLst/>
              <a:cxnLst/>
              <a:rect l="l" t="t" r="r" b="b"/>
              <a:pathLst>
                <a:path w="300354" h="453389">
                  <a:moveTo>
                    <a:pt x="299906" y="0"/>
                  </a:moveTo>
                  <a:lnTo>
                    <a:pt x="0" y="453112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1048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104894" y="57929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187269" y="58024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531431" y="5324475"/>
            <a:ext cx="3741420" cy="1487805"/>
            <a:chOff x="8531431" y="5324475"/>
            <a:chExt cx="3741420" cy="1487805"/>
          </a:xfrm>
        </p:grpSpPr>
        <p:sp>
          <p:nvSpPr>
            <p:cNvPr id="38" name="object 38"/>
            <p:cNvSpPr/>
            <p:nvPr/>
          </p:nvSpPr>
          <p:spPr>
            <a:xfrm>
              <a:off x="11963400" y="5334000"/>
              <a:ext cx="300355" cy="453390"/>
            </a:xfrm>
            <a:custGeom>
              <a:avLst/>
              <a:gdLst/>
              <a:ahLst/>
              <a:cxnLst/>
              <a:rect l="l" t="t" r="r" b="b"/>
              <a:pathLst>
                <a:path w="300354" h="453389">
                  <a:moveTo>
                    <a:pt x="0" y="0"/>
                  </a:moveTo>
                  <a:lnTo>
                    <a:pt x="299906" y="453112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361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5361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6185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2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77275" y="6035675"/>
            <a:ext cx="776605" cy="776605"/>
            <a:chOff x="8677275" y="6035675"/>
            <a:chExt cx="776605" cy="776605"/>
          </a:xfrm>
        </p:grpSpPr>
        <p:sp>
          <p:nvSpPr>
            <p:cNvPr id="43" name="object 43"/>
            <p:cNvSpPr/>
            <p:nvPr/>
          </p:nvSpPr>
          <p:spPr>
            <a:xfrm>
              <a:off x="86868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197810" y="0"/>
                  </a:moveTo>
                  <a:lnTo>
                    <a:pt x="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457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457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2281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226631" y="6035675"/>
            <a:ext cx="1087120" cy="1487805"/>
            <a:chOff x="8226631" y="6035675"/>
            <a:chExt cx="1087120" cy="1487805"/>
          </a:xfrm>
        </p:grpSpPr>
        <p:sp>
          <p:nvSpPr>
            <p:cNvPr id="48" name="object 48"/>
            <p:cNvSpPr/>
            <p:nvPr/>
          </p:nvSpPr>
          <p:spPr>
            <a:xfrm>
              <a:off x="91059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0" y="0"/>
                  </a:moveTo>
                  <a:lnTo>
                    <a:pt x="19781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231394" y="72153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31394" y="72153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313769" y="72248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372475" y="6759575"/>
            <a:ext cx="776605" cy="763905"/>
            <a:chOff x="8372475" y="6759575"/>
            <a:chExt cx="776605" cy="763905"/>
          </a:xfrm>
        </p:grpSpPr>
        <p:sp>
          <p:nvSpPr>
            <p:cNvPr id="53" name="object 53"/>
            <p:cNvSpPr/>
            <p:nvPr/>
          </p:nvSpPr>
          <p:spPr>
            <a:xfrm>
              <a:off x="8382000" y="67691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90">
                  <a:moveTo>
                    <a:pt x="197810" y="0"/>
                  </a:moveTo>
                  <a:lnTo>
                    <a:pt x="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840994" y="72153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840994" y="72153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923369" y="72248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0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791575" y="6499431"/>
            <a:ext cx="1271905" cy="732790"/>
            <a:chOff x="8791575" y="6499431"/>
            <a:chExt cx="1271905" cy="732790"/>
          </a:xfrm>
        </p:grpSpPr>
        <p:sp>
          <p:nvSpPr>
            <p:cNvPr id="58" name="object 58"/>
            <p:cNvSpPr/>
            <p:nvPr/>
          </p:nvSpPr>
          <p:spPr>
            <a:xfrm>
              <a:off x="8801100" y="67691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90">
                  <a:moveTo>
                    <a:pt x="0" y="0"/>
                  </a:moveTo>
                  <a:lnTo>
                    <a:pt x="19781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553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553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98377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909175" y="6035675"/>
            <a:ext cx="776605" cy="776605"/>
            <a:chOff x="9909175" y="6035675"/>
            <a:chExt cx="776605" cy="776605"/>
          </a:xfrm>
        </p:grpSpPr>
        <p:sp>
          <p:nvSpPr>
            <p:cNvPr id="63" name="object 63"/>
            <p:cNvSpPr/>
            <p:nvPr/>
          </p:nvSpPr>
          <p:spPr>
            <a:xfrm>
              <a:off x="99187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197810" y="0"/>
                  </a:moveTo>
                  <a:lnTo>
                    <a:pt x="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3776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3776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04600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0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315575" y="6035675"/>
            <a:ext cx="979805" cy="776605"/>
            <a:chOff x="10315575" y="6035675"/>
            <a:chExt cx="979805" cy="776605"/>
          </a:xfrm>
        </p:grpSpPr>
        <p:sp>
          <p:nvSpPr>
            <p:cNvPr id="68" name="object 68"/>
            <p:cNvSpPr/>
            <p:nvPr/>
          </p:nvSpPr>
          <p:spPr>
            <a:xfrm>
              <a:off x="103251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0" y="0"/>
                  </a:moveTo>
                  <a:lnTo>
                    <a:pt x="19781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9872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9872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10696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1128375" y="6035675"/>
            <a:ext cx="776605" cy="776605"/>
            <a:chOff x="11128375" y="6035675"/>
            <a:chExt cx="776605" cy="776605"/>
          </a:xfrm>
        </p:grpSpPr>
        <p:sp>
          <p:nvSpPr>
            <p:cNvPr id="73" name="object 73"/>
            <p:cNvSpPr/>
            <p:nvPr/>
          </p:nvSpPr>
          <p:spPr>
            <a:xfrm>
              <a:off x="111379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197810" y="0"/>
                  </a:moveTo>
                  <a:lnTo>
                    <a:pt x="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5968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596894" y="65041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1679269" y="65136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0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0677731" y="4403931"/>
            <a:ext cx="1087120" cy="2104390"/>
            <a:chOff x="10677731" y="4403931"/>
            <a:chExt cx="1087120" cy="2104390"/>
          </a:xfrm>
        </p:grpSpPr>
        <p:sp>
          <p:nvSpPr>
            <p:cNvPr id="78" name="object 78"/>
            <p:cNvSpPr/>
            <p:nvPr/>
          </p:nvSpPr>
          <p:spPr>
            <a:xfrm>
              <a:off x="11557000" y="6045200"/>
              <a:ext cx="198120" cy="453390"/>
            </a:xfrm>
            <a:custGeom>
              <a:avLst/>
              <a:gdLst/>
              <a:ahLst/>
              <a:cxnLst/>
              <a:rect l="l" t="t" r="r" b="b"/>
              <a:pathLst>
                <a:path w="198120" h="453389">
                  <a:moveTo>
                    <a:pt x="0" y="0"/>
                  </a:moveTo>
                  <a:lnTo>
                    <a:pt x="197810" y="453112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682494" y="44086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174790" y="0"/>
                  </a:moveTo>
                  <a:lnTo>
                    <a:pt x="127907" y="0"/>
                  </a:lnTo>
                  <a:lnTo>
                    <a:pt x="82808" y="14355"/>
                  </a:lnTo>
                  <a:lnTo>
                    <a:pt x="43060" y="43067"/>
                  </a:lnTo>
                  <a:lnTo>
                    <a:pt x="14353" y="82821"/>
                  </a:lnTo>
                  <a:lnTo>
                    <a:pt x="0" y="127926"/>
                  </a:lnTo>
                  <a:lnTo>
                    <a:pt x="0" y="174815"/>
                  </a:lnTo>
                  <a:lnTo>
                    <a:pt x="14353" y="219920"/>
                  </a:lnTo>
                  <a:lnTo>
                    <a:pt x="43060" y="259674"/>
                  </a:lnTo>
                  <a:lnTo>
                    <a:pt x="82808" y="288385"/>
                  </a:lnTo>
                  <a:lnTo>
                    <a:pt x="127907" y="302741"/>
                  </a:lnTo>
                  <a:lnTo>
                    <a:pt x="174790" y="302741"/>
                  </a:lnTo>
                  <a:lnTo>
                    <a:pt x="219889" y="288385"/>
                  </a:lnTo>
                  <a:lnTo>
                    <a:pt x="259637" y="259674"/>
                  </a:lnTo>
                  <a:lnTo>
                    <a:pt x="288345" y="219920"/>
                  </a:lnTo>
                  <a:lnTo>
                    <a:pt x="302698" y="174815"/>
                  </a:lnTo>
                  <a:lnTo>
                    <a:pt x="302698" y="127926"/>
                  </a:lnTo>
                  <a:lnTo>
                    <a:pt x="288345" y="82821"/>
                  </a:lnTo>
                  <a:lnTo>
                    <a:pt x="259637" y="43067"/>
                  </a:lnTo>
                  <a:lnTo>
                    <a:pt x="219889" y="14355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682494" y="4408694"/>
              <a:ext cx="302895" cy="302895"/>
            </a:xfrm>
            <a:custGeom>
              <a:avLst/>
              <a:gdLst/>
              <a:ahLst/>
              <a:cxnLst/>
              <a:rect l="l" t="t" r="r" b="b"/>
              <a:pathLst>
                <a:path w="302895" h="302895">
                  <a:moveTo>
                    <a:pt x="259637" y="43066"/>
                  </a:moveTo>
                  <a:lnTo>
                    <a:pt x="288344" y="82820"/>
                  </a:lnTo>
                  <a:lnTo>
                    <a:pt x="302698" y="127925"/>
                  </a:lnTo>
                  <a:lnTo>
                    <a:pt x="302698" y="174814"/>
                  </a:lnTo>
                  <a:lnTo>
                    <a:pt x="288344" y="219920"/>
                  </a:lnTo>
                  <a:lnTo>
                    <a:pt x="259637" y="259674"/>
                  </a:lnTo>
                  <a:lnTo>
                    <a:pt x="219889" y="288385"/>
                  </a:lnTo>
                  <a:lnTo>
                    <a:pt x="174790" y="302740"/>
                  </a:lnTo>
                  <a:lnTo>
                    <a:pt x="127907" y="302740"/>
                  </a:lnTo>
                  <a:lnTo>
                    <a:pt x="82808" y="288385"/>
                  </a:lnTo>
                  <a:lnTo>
                    <a:pt x="43060" y="259674"/>
                  </a:lnTo>
                  <a:lnTo>
                    <a:pt x="14353" y="219920"/>
                  </a:lnTo>
                  <a:lnTo>
                    <a:pt x="0" y="174814"/>
                  </a:lnTo>
                  <a:lnTo>
                    <a:pt x="0" y="127925"/>
                  </a:lnTo>
                  <a:lnTo>
                    <a:pt x="14353" y="82820"/>
                  </a:lnTo>
                  <a:lnTo>
                    <a:pt x="43060" y="43066"/>
                  </a:lnTo>
                  <a:lnTo>
                    <a:pt x="82808" y="14355"/>
                  </a:lnTo>
                  <a:lnTo>
                    <a:pt x="127907" y="0"/>
                  </a:lnTo>
                  <a:lnTo>
                    <a:pt x="174790" y="0"/>
                  </a:lnTo>
                  <a:lnTo>
                    <a:pt x="219889" y="14355"/>
                  </a:lnTo>
                  <a:lnTo>
                    <a:pt x="259637" y="4306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9709150" y="7589837"/>
            <a:ext cx="14947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recursion</a:t>
            </a:r>
            <a:r>
              <a:rPr sz="1600" b="1" spc="22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tree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82" name="object 82"/>
          <p:cNvSpPr txBox="1"/>
          <p:nvPr/>
        </p:nvSpPr>
        <p:spPr>
          <a:xfrm>
            <a:off x="10764869" y="4418152"/>
            <a:ext cx="138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Lucida Sans Unicode"/>
                <a:cs typeface="Lucida Sans Unicode"/>
              </a:rPr>
              <a:t>5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71062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</a:t>
            </a:r>
            <a:r>
              <a:rPr spc="-10" dirty="0"/>
              <a:t>memoization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1027" y="6637576"/>
            <a:ext cx="10499090" cy="2694940"/>
            <a:chOff x="1181027" y="6637576"/>
            <a:chExt cx="10499090" cy="2694940"/>
          </a:xfrm>
        </p:grpSpPr>
        <p:sp>
          <p:nvSpPr>
            <p:cNvPr id="5" name="object 5"/>
            <p:cNvSpPr/>
            <p:nvPr/>
          </p:nvSpPr>
          <p:spPr>
            <a:xfrm>
              <a:off x="1181027" y="6637576"/>
              <a:ext cx="10499090" cy="2694940"/>
            </a:xfrm>
            <a:custGeom>
              <a:avLst/>
              <a:gdLst/>
              <a:ahLst/>
              <a:cxnLst/>
              <a:rect l="l" t="t" r="r" b="b"/>
              <a:pathLst>
                <a:path w="10499090" h="2694940">
                  <a:moveTo>
                    <a:pt x="10498715" y="0"/>
                  </a:moveTo>
                  <a:lnTo>
                    <a:pt x="0" y="0"/>
                  </a:lnTo>
                  <a:lnTo>
                    <a:pt x="0" y="2694583"/>
                  </a:lnTo>
                  <a:lnTo>
                    <a:pt x="10498715" y="2694583"/>
                  </a:lnTo>
                  <a:lnTo>
                    <a:pt x="10498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73127" y="7461178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81027" y="6637576"/>
            <a:ext cx="10499090" cy="269494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400" cap="small" spc="-20" dirty="0">
                <a:solidFill>
                  <a:srgbClr val="003F83"/>
                </a:solidFill>
                <a:latin typeface="Times New Roman"/>
                <a:cs typeface="Times New Roman"/>
              </a:rPr>
              <a:t>M-</a:t>
            </a: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Compute-Opt</a:t>
            </a:r>
            <a:r>
              <a:rPr sz="2400" cap="small" spc="-10" dirty="0">
                <a:latin typeface="Times New Roman"/>
                <a:cs typeface="Times New Roman"/>
              </a:rPr>
              <a:t>(</a:t>
            </a:r>
            <a:r>
              <a:rPr sz="2400" cap="small" spc="-1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45" dirty="0">
                <a:latin typeface="Times New Roman"/>
                <a:cs typeface="Times New Roman"/>
              </a:rPr>
              <a:t> </a:t>
            </a:r>
            <a:r>
              <a:rPr sz="2400" cap="small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9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tabLst>
                <a:tab pos="681355" algn="l"/>
                <a:tab pos="1568450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uninitialized)</a:t>
            </a:r>
            <a:endParaRPr sz="2400">
              <a:latin typeface="Times New Roman"/>
              <a:cs typeface="Times New Roman"/>
            </a:endParaRPr>
          </a:p>
          <a:p>
            <a:pPr marL="711200">
              <a:lnSpc>
                <a:spcPct val="100000"/>
              </a:lnSpc>
              <a:spcBef>
                <a:spcPts val="1220"/>
              </a:spcBef>
              <a:tabLst>
                <a:tab pos="5808980" algn="l"/>
                <a:tab pos="9515475" algn="l"/>
              </a:tabLst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M-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1900" dirty="0">
                <a:latin typeface="Times New Roman"/>
                <a:cs typeface="Times New Roman"/>
              </a:rPr>
              <a:t>PT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72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M-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335"/>
              </a:spcBef>
              <a:tabLst>
                <a:tab pos="1419225" algn="l"/>
              </a:tabLst>
            </a:pP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96102" y="3059113"/>
            <a:ext cx="8927465" cy="3307079"/>
            <a:chOff x="1196102" y="3059113"/>
            <a:chExt cx="8927465" cy="3307079"/>
          </a:xfrm>
        </p:grpSpPr>
        <p:sp>
          <p:nvSpPr>
            <p:cNvPr id="9" name="object 9"/>
            <p:cNvSpPr/>
            <p:nvPr/>
          </p:nvSpPr>
          <p:spPr>
            <a:xfrm>
              <a:off x="1196102" y="3059113"/>
              <a:ext cx="8927465" cy="3307079"/>
            </a:xfrm>
            <a:custGeom>
              <a:avLst/>
              <a:gdLst/>
              <a:ahLst/>
              <a:cxnLst/>
              <a:rect l="l" t="t" r="r" b="b"/>
              <a:pathLst>
                <a:path w="8927465" h="3307079">
                  <a:moveTo>
                    <a:pt x="8926972" y="0"/>
                  </a:moveTo>
                  <a:lnTo>
                    <a:pt x="0" y="0"/>
                  </a:lnTo>
                  <a:lnTo>
                    <a:pt x="0" y="3306810"/>
                  </a:lnTo>
                  <a:lnTo>
                    <a:pt x="8926972" y="3306810"/>
                  </a:lnTo>
                  <a:lnTo>
                    <a:pt x="8926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88202" y="3882715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4700" y="1338580"/>
            <a:ext cx="8996680" cy="358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Top-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down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(memoization).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Cache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result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[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[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avoid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once.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1310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T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OP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D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OWN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713105" marR="102870">
              <a:lnSpc>
                <a:spcPct val="142400"/>
              </a:lnSpc>
              <a:spcBef>
                <a:spcPts val="1295"/>
              </a:spcBef>
              <a:tabLst>
                <a:tab pos="1983105" algn="l"/>
                <a:tab pos="6351270" algn="l"/>
                <a:tab pos="6690359" algn="l"/>
                <a:tab pos="7085965" algn="l"/>
                <a:tab pos="7449820" algn="l"/>
                <a:tab pos="7769859" algn="l"/>
                <a:tab pos="8227059" algn="l"/>
                <a:tab pos="8622665" algn="l"/>
              </a:tabLst>
            </a:pPr>
            <a:r>
              <a:rPr sz="2400" dirty="0">
                <a:latin typeface="Times New Roman"/>
                <a:cs typeface="Times New Roman"/>
              </a:rPr>
              <a:t>Sort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renumber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1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2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 </a:t>
            </a: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[1],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[2],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8202" y="5053013"/>
            <a:ext cx="1395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Times New Roman"/>
                <a:cs typeface="Times New Roman"/>
              </a:rPr>
              <a:t>[0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8202" y="5588596"/>
            <a:ext cx="3797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67765" algn="l"/>
              </a:tabLst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cap="small" spc="-20" dirty="0">
                <a:latin typeface="Times New Roman"/>
                <a:cs typeface="Times New Roman"/>
              </a:rPr>
              <a:t>M-</a:t>
            </a:r>
            <a:r>
              <a:rPr sz="2400" cap="small" spc="-10" dirty="0">
                <a:latin typeface="Times New Roman"/>
                <a:cs typeface="Times New Roman"/>
              </a:rPr>
              <a:t>Compute-</a:t>
            </a:r>
            <a:r>
              <a:rPr sz="2400" cap="small" spc="-55" dirty="0">
                <a:latin typeface="Times New Roman"/>
                <a:cs typeface="Times New Roman"/>
              </a:rPr>
              <a:t>Opt(</a:t>
            </a:r>
            <a:r>
              <a:rPr sz="2400" i="1" spc="-55" dirty="0">
                <a:latin typeface="Times New Roman"/>
                <a:cs typeface="Times New Roman"/>
              </a:rPr>
              <a:t>n</a:t>
            </a:r>
            <a:r>
              <a:rPr sz="2400" cap="small" spc="-5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1356" y="5079119"/>
            <a:ext cx="1191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global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array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8660" y="5174898"/>
            <a:ext cx="775335" cy="121920"/>
            <a:chOff x="3038660" y="5174898"/>
            <a:chExt cx="775335" cy="121920"/>
          </a:xfrm>
        </p:grpSpPr>
        <p:sp>
          <p:nvSpPr>
            <p:cNvPr id="16" name="object 16"/>
            <p:cNvSpPr/>
            <p:nvPr/>
          </p:nvSpPr>
          <p:spPr>
            <a:xfrm>
              <a:off x="3117400" y="5235858"/>
              <a:ext cx="696595" cy="0"/>
            </a:xfrm>
            <a:custGeom>
              <a:avLst/>
              <a:gdLst/>
              <a:ahLst/>
              <a:cxnLst/>
              <a:rect l="l" t="t" r="r" b="b"/>
              <a:pathLst>
                <a:path w="696595">
                  <a:moveTo>
                    <a:pt x="0" y="0"/>
                  </a:moveTo>
                  <a:lnTo>
                    <a:pt x="12699" y="0"/>
                  </a:lnTo>
                  <a:lnTo>
                    <a:pt x="696261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38660" y="517489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91439" y="6095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7035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running</a:t>
            </a:r>
            <a:r>
              <a:rPr spc="245" dirty="0"/>
              <a:t> </a:t>
            </a:r>
            <a:r>
              <a:rPr spc="-20" dirty="0"/>
              <a:t>time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889063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1410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Memoized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version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100" y="2120900"/>
            <a:ext cx="333184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finish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5899" y="2303780"/>
            <a:ext cx="3535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via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mergesort.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100" y="2603500"/>
            <a:ext cx="9563735" cy="157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0276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Compute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2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via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binary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search.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  <a:tabLst>
                <a:tab pos="332232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spc="-20" dirty="0">
                <a:latin typeface="Times New Roman"/>
                <a:cs typeface="Times New Roman"/>
              </a:rPr>
              <a:t>M-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-O</a:t>
            </a:r>
            <a:r>
              <a:rPr sz="1900" spc="-10" dirty="0">
                <a:latin typeface="Times New Roman"/>
                <a:cs typeface="Times New Roman"/>
              </a:rPr>
              <a:t>PT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sz="2400" dirty="0">
                <a:latin typeface="Lucida Sans Unicode"/>
                <a:cs typeface="Lucida Sans Unicode"/>
              </a:rPr>
              <a:t>	each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invocation takes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 </a:t>
            </a:r>
            <a:r>
              <a:rPr sz="2400" spc="-10" dirty="0">
                <a:latin typeface="Lucida Sans Unicode"/>
                <a:cs typeface="Lucida Sans Unicode"/>
              </a:rPr>
              <a:t>either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7000" y="4071264"/>
            <a:ext cx="12446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500" y="4117339"/>
            <a:ext cx="720979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1020"/>
              </a:spcBef>
              <a:buAutoNum type="arabicParenBoth"/>
              <a:tabLst>
                <a:tab pos="499745" algn="l"/>
              </a:tabLst>
            </a:pPr>
            <a:r>
              <a:rPr sz="2400" dirty="0">
                <a:latin typeface="Lucida Sans Unicode"/>
                <a:cs typeface="Lucida Sans Unicode"/>
              </a:rPr>
              <a:t>returns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initialized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920"/>
              </a:spcBef>
              <a:buAutoNum type="arabicParenBoth"/>
              <a:tabLst>
                <a:tab pos="499745" algn="l"/>
              </a:tabLst>
            </a:pPr>
            <a:r>
              <a:rPr sz="2400" dirty="0">
                <a:latin typeface="Lucida Sans Unicode"/>
                <a:cs typeface="Lucida Sans Unicode"/>
              </a:rPr>
              <a:t>initializes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recursive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calls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100" y="5499100"/>
            <a:ext cx="902462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Progress</a:t>
            </a:r>
            <a:r>
              <a:rPr sz="2400" spc="-1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measure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245" dirty="0">
                <a:latin typeface="Times New Roman"/>
                <a:cs typeface="Times New Roman"/>
              </a:rPr>
              <a:t>Φ</a:t>
            </a:r>
            <a:r>
              <a:rPr sz="2400" dirty="0">
                <a:latin typeface="Times New Roman"/>
                <a:cs typeface="Times New Roman"/>
              </a:rPr>
              <a:t> = # </a:t>
            </a:r>
            <a:r>
              <a:rPr sz="2400" dirty="0">
                <a:latin typeface="Lucida Sans Unicode"/>
                <a:cs typeface="Lucida Sans Unicode"/>
              </a:rPr>
              <a:t>initialized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entries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among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[1.</a:t>
            </a:r>
            <a:r>
              <a:rPr sz="2400" spc="-30" dirty="0">
                <a:latin typeface="Times New Roman"/>
                <a:cs typeface="Times New Roman"/>
              </a:rPr>
              <a:t>.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7000" y="5994223"/>
            <a:ext cx="124460" cy="10058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4500" y="6047739"/>
            <a:ext cx="6506845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  <a:tabLst>
                <a:tab pos="4292600" algn="l"/>
                <a:tab pos="4612005" algn="l"/>
              </a:tabLst>
            </a:pPr>
            <a:r>
              <a:rPr sz="2400" dirty="0">
                <a:latin typeface="Lucida Sans Unicode"/>
                <a:cs typeface="Lucida Sans Unicode"/>
              </a:rPr>
              <a:t>initially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245" dirty="0">
                <a:latin typeface="Times New Roman"/>
                <a:cs typeface="Times New Roman"/>
              </a:rPr>
              <a:t>Φ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;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throughout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195" dirty="0">
                <a:latin typeface="Times New Roman"/>
                <a:cs typeface="Times New Roman"/>
              </a:rPr>
              <a:t>Φ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3131185" algn="l"/>
                <a:tab pos="3624579" algn="l"/>
              </a:tabLst>
            </a:pPr>
            <a:r>
              <a:rPr sz="2400" dirty="0">
                <a:latin typeface="Lucida Sans Unicode"/>
                <a:cs typeface="Lucida Sans Unicode"/>
              </a:rPr>
              <a:t>(2)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increases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245" dirty="0">
                <a:latin typeface="Times New Roman"/>
                <a:cs typeface="Times New Roman"/>
              </a:rPr>
              <a:t>Φ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≤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recursive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calls.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7100" y="7429500"/>
            <a:ext cx="8154034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8639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Overall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M-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1900" spc="-10" dirty="0">
                <a:latin typeface="Times New Roman"/>
                <a:cs typeface="Times New Roman"/>
              </a:rPr>
              <a:t>OMPUTE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1900" dirty="0">
                <a:latin typeface="Times New Roman"/>
                <a:cs typeface="Times New Roman"/>
              </a:rPr>
              <a:t>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9753600"/>
            <a:chOff x="0" y="0"/>
            <a:chExt cx="13004800" cy="975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25600"/>
              <a:ext cx="13004800" cy="6502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3004800" cy="20207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732712"/>
              <a:ext cx="13004800" cy="202079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78047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finding</a:t>
            </a:r>
            <a:r>
              <a:rPr spc="235" dirty="0"/>
              <a:t> </a:t>
            </a:r>
            <a:r>
              <a:rPr spc="105" dirty="0"/>
              <a:t>a</a:t>
            </a:r>
            <a:r>
              <a:rPr spc="23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8577580"/>
            <a:ext cx="610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9080" algn="l"/>
                <a:tab pos="4965700" algn="l"/>
                <a:tab pos="541909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Analysis.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#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recursive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calls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57120" y="2659539"/>
            <a:ext cx="6510020" cy="4276725"/>
          </a:xfrm>
          <a:custGeom>
            <a:avLst/>
            <a:gdLst/>
            <a:ahLst/>
            <a:cxnLst/>
            <a:rect l="l" t="t" r="r" b="b"/>
            <a:pathLst>
              <a:path w="6510020" h="4276725">
                <a:moveTo>
                  <a:pt x="6509992" y="0"/>
                </a:moveTo>
                <a:lnTo>
                  <a:pt x="0" y="0"/>
                </a:lnTo>
                <a:lnTo>
                  <a:pt x="0" y="4276675"/>
                </a:lnTo>
                <a:lnTo>
                  <a:pt x="6509992" y="4276675"/>
                </a:lnTo>
                <a:lnTo>
                  <a:pt x="65099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0100" y="1221740"/>
            <a:ext cx="10704830" cy="209613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DP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value.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Lucida Sans Unicode"/>
                <a:cs typeface="Lucida Sans Unicode"/>
              </a:rPr>
              <a:t>How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solution?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11809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Make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second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pass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calling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cap="small" spc="-10" dirty="0">
                <a:latin typeface="Times New Roman"/>
                <a:cs typeface="Times New Roman"/>
              </a:rPr>
              <a:t>Find-Solution(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cap="small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2648585">
              <a:lnSpc>
                <a:spcPct val="100000"/>
              </a:lnSpc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Find-Solution</a:t>
            </a:r>
            <a:r>
              <a:rPr sz="2400" cap="small" spc="-10" dirty="0">
                <a:latin typeface="Times New Roman"/>
                <a:cs typeface="Times New Roman"/>
              </a:rPr>
              <a:t>(</a:t>
            </a:r>
            <a:r>
              <a:rPr sz="2400" cap="small" spc="-3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10" dirty="0">
                <a:latin typeface="Times New Roman"/>
                <a:cs typeface="Times New Roman"/>
              </a:rPr>
              <a:t> </a:t>
            </a:r>
            <a:r>
              <a:rPr sz="2400" cap="small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9220" y="3483141"/>
            <a:ext cx="5924550" cy="12700"/>
          </a:xfrm>
          <a:custGeom>
            <a:avLst/>
            <a:gdLst/>
            <a:ahLst/>
            <a:cxnLst/>
            <a:rect l="l" t="t" r="r" b="b"/>
            <a:pathLst>
              <a:path w="5924550" h="12700">
                <a:moveTo>
                  <a:pt x="0" y="0"/>
                </a:moveTo>
                <a:lnTo>
                  <a:pt x="5924550" y="0"/>
                </a:lnTo>
              </a:path>
              <a:path w="5924550" h="12700">
                <a:moveTo>
                  <a:pt x="0" y="12700"/>
                </a:moveTo>
                <a:lnTo>
                  <a:pt x="685800" y="127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0540" y="3983207"/>
            <a:ext cx="3743325" cy="160210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75"/>
              </a:spcBef>
            </a:pPr>
            <a:r>
              <a:rPr sz="2200" spc="-25" dirty="0">
                <a:latin typeface="Symbol"/>
                <a:cs typeface="Symbol"/>
              </a:rPr>
              <a:t>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1280"/>
              </a:spcBef>
              <a:tabLst>
                <a:tab pos="1461135" algn="l"/>
                <a:tab pos="1785620" algn="l"/>
              </a:tabLst>
            </a:pP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1])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tabLst>
                <a:tab pos="991869" algn="l"/>
              </a:tabLst>
            </a:pP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i="1" dirty="0">
                <a:latin typeface="Times New Roman"/>
                <a:cs typeface="Times New Roman"/>
              </a:rPr>
              <a:t>j </a:t>
            </a: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50" dirty="0">
                <a:latin typeface="Symbol"/>
                <a:cs typeface="Symbol"/>
              </a:rPr>
              <a:t>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1900" spc="-10" dirty="0">
                <a:latin typeface="Times New Roman"/>
                <a:cs typeface="Times New Roman"/>
              </a:rPr>
              <a:t>IND</a:t>
            </a:r>
            <a:r>
              <a:rPr sz="2400" spc="-10" dirty="0">
                <a:latin typeface="Times New Roman"/>
                <a:cs typeface="Times New Roman"/>
              </a:rPr>
              <a:t>-S</a:t>
            </a:r>
            <a:r>
              <a:rPr sz="1900" spc="-10" dirty="0">
                <a:latin typeface="Times New Roman"/>
                <a:cs typeface="Times New Roman"/>
              </a:rPr>
              <a:t>OLUTION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423820" y="3469799"/>
            <a:ext cx="1490345" cy="317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97790" indent="-342900">
              <a:lnSpc>
                <a:spcPct val="142400"/>
              </a:lnSpc>
              <a:spcBef>
                <a:spcPts val="95"/>
              </a:spcBef>
              <a:tabLst>
                <a:tab pos="41465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0) 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endParaRPr sz="1900">
              <a:latin typeface="Times New Roman"/>
              <a:cs typeface="Times New Roman"/>
            </a:endParaRPr>
          </a:p>
          <a:p>
            <a:pPr marL="368300" marR="30480" indent="-342900">
              <a:lnSpc>
                <a:spcPct val="142400"/>
              </a:lnSpc>
              <a:spcBef>
                <a:spcPts val="60"/>
              </a:spcBef>
              <a:tabLst>
                <a:tab pos="1090295" algn="l"/>
              </a:tabLst>
            </a:pP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r>
              <a:rPr sz="2400" cap="small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cap="small" spc="-135" dirty="0">
                <a:solidFill>
                  <a:srgbClr val="003F83"/>
                </a:solidFill>
                <a:latin typeface="Times New Roman"/>
                <a:cs typeface="Times New Roman"/>
              </a:rPr>
              <a:t>(</a:t>
            </a:r>
            <a:r>
              <a:rPr sz="2400" i="1" spc="-135" dirty="0">
                <a:latin typeface="Times New Roman"/>
                <a:cs typeface="Times New Roman"/>
              </a:rPr>
              <a:t>w</a:t>
            </a:r>
            <a:r>
              <a:rPr sz="2400" i="1" spc="-202" baseline="-6944" dirty="0">
                <a:latin typeface="Times New Roman"/>
                <a:cs typeface="Times New Roman"/>
              </a:rPr>
              <a:t>j </a:t>
            </a: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335"/>
              </a:spcBef>
            </a:pPr>
            <a:r>
              <a:rPr sz="2400" cap="small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  <a:spcBef>
                <a:spcPts val="1220"/>
              </a:spcBef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0540" y="6250415"/>
            <a:ext cx="2791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cap="small" spc="-10" dirty="0">
                <a:latin typeface="Times New Roman"/>
                <a:cs typeface="Times New Roman"/>
              </a:rPr>
              <a:t>Find-Solution(</a:t>
            </a:r>
            <a:r>
              <a:rPr sz="2400" cap="small" spc="-1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7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–</a:t>
            </a:r>
            <a:r>
              <a:rPr sz="2400" cap="small" spc="-180" dirty="0">
                <a:latin typeface="Times New Roman"/>
                <a:cs typeface="Times New Roman"/>
              </a:rPr>
              <a:t> </a:t>
            </a:r>
            <a:r>
              <a:rPr sz="2400" cap="small" spc="-25" dirty="0">
                <a:latin typeface="Times New Roman"/>
                <a:cs typeface="Times New Roman"/>
              </a:rPr>
              <a:t>1).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3856" y="7152910"/>
            <a:ext cx="5001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95295" algn="l"/>
                <a:tab pos="4740275" algn="l"/>
              </a:tabLst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i="1" spc="-1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1],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42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30470" algn="l"/>
              </a:tabLst>
            </a:pPr>
            <a:r>
              <a:rPr dirty="0"/>
              <a:t>Weighted</a:t>
            </a:r>
            <a:r>
              <a:rPr spc="265" dirty="0"/>
              <a:t> </a:t>
            </a:r>
            <a:r>
              <a:rPr spc="45" dirty="0"/>
              <a:t>interval</a:t>
            </a:r>
            <a:r>
              <a:rPr spc="270" dirty="0"/>
              <a:t> </a:t>
            </a:r>
            <a:r>
              <a:rPr spc="-10" dirty="0"/>
              <a:t>scheduling:</a:t>
            </a:r>
            <a:r>
              <a:rPr dirty="0"/>
              <a:t>	</a:t>
            </a:r>
            <a:r>
              <a:rPr spc="-25" dirty="0"/>
              <a:t>bottom-</a:t>
            </a:r>
            <a:r>
              <a:rPr dirty="0"/>
              <a:t>up</a:t>
            </a:r>
            <a:r>
              <a:rPr spc="210" dirty="0"/>
              <a:t> </a:t>
            </a:r>
            <a:r>
              <a:rPr dirty="0"/>
              <a:t>dynamic</a:t>
            </a:r>
            <a:r>
              <a:rPr spc="215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8028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2410" algn="l"/>
              </a:tabLst>
            </a:pPr>
            <a:r>
              <a:rPr sz="24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Bottom-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up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dynamic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Unwind</a:t>
            </a:r>
            <a:r>
              <a:rPr sz="2400" spc="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recursion.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8577580"/>
            <a:ext cx="8783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09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Running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80" dirty="0">
                <a:latin typeface="Lucida Sans Unicode"/>
                <a:cs typeface="Lucida Sans Unicode"/>
              </a:rPr>
              <a:t>bottom-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version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32000" y="3009900"/>
            <a:ext cx="8940800" cy="4081145"/>
            <a:chOff x="2032000" y="3009900"/>
            <a:chExt cx="8940800" cy="4081145"/>
          </a:xfrm>
        </p:grpSpPr>
        <p:sp>
          <p:nvSpPr>
            <p:cNvPr id="7" name="object 7"/>
            <p:cNvSpPr/>
            <p:nvPr/>
          </p:nvSpPr>
          <p:spPr>
            <a:xfrm>
              <a:off x="2032000" y="3009900"/>
              <a:ext cx="8940800" cy="4081145"/>
            </a:xfrm>
            <a:custGeom>
              <a:avLst/>
              <a:gdLst/>
              <a:ahLst/>
              <a:cxnLst/>
              <a:rect l="l" t="t" r="r" b="b"/>
              <a:pathLst>
                <a:path w="8940800" h="4081145">
                  <a:moveTo>
                    <a:pt x="8940800" y="0"/>
                  </a:moveTo>
                  <a:lnTo>
                    <a:pt x="0" y="0"/>
                  </a:lnTo>
                  <a:lnTo>
                    <a:pt x="0" y="4081064"/>
                  </a:lnTo>
                  <a:lnTo>
                    <a:pt x="8940800" y="4081064"/>
                  </a:lnTo>
                  <a:lnTo>
                    <a:pt x="894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24100" y="3833501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73300" y="3276600"/>
            <a:ext cx="8299450" cy="159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B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OTTOM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U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50800" marR="68580">
              <a:lnSpc>
                <a:spcPct val="142400"/>
              </a:lnSpc>
              <a:spcBef>
                <a:spcPts val="1295"/>
              </a:spcBef>
              <a:tabLst>
                <a:tab pos="1320165" algn="l"/>
                <a:tab pos="5688965" algn="l"/>
                <a:tab pos="6027420" algn="l"/>
                <a:tab pos="6423660" algn="l"/>
                <a:tab pos="6787515" algn="l"/>
                <a:tab pos="7106920" algn="l"/>
                <a:tab pos="7564120" algn="l"/>
                <a:tab pos="7960359" algn="l"/>
              </a:tabLst>
            </a:pPr>
            <a:r>
              <a:rPr sz="2400" dirty="0">
                <a:latin typeface="Times New Roman"/>
                <a:cs typeface="Times New Roman"/>
              </a:rPr>
              <a:t>Sort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renumber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1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spc="-37" baseline="-6944" dirty="0">
                <a:latin typeface="Times New Roman"/>
                <a:cs typeface="Times New Roman"/>
              </a:rPr>
              <a:t>2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f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 </a:t>
            </a: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[1],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[2],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4100" y="4833976"/>
            <a:ext cx="1784350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46400"/>
              </a:lnSpc>
              <a:spcBef>
                <a:spcPts val="100"/>
              </a:spcBef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Times New Roman"/>
                <a:cs typeface="Times New Roman"/>
              </a:rPr>
              <a:t>[0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1600" y="6060083"/>
            <a:ext cx="5335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187450" algn="l"/>
                <a:tab pos="3268979" algn="l"/>
                <a:tab pos="5074920" algn="l"/>
              </a:tabLst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max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1],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135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24100" y="5412502"/>
            <a:ext cx="6610350" cy="1219835"/>
            <a:chOff x="2324100" y="5412502"/>
            <a:chExt cx="6610350" cy="1219835"/>
          </a:xfrm>
        </p:grpSpPr>
        <p:sp>
          <p:nvSpPr>
            <p:cNvPr id="13" name="object 13"/>
            <p:cNvSpPr/>
            <p:nvPr/>
          </p:nvSpPr>
          <p:spPr>
            <a:xfrm>
              <a:off x="2324100" y="6631867"/>
              <a:ext cx="6610350" cy="0"/>
            </a:xfrm>
            <a:custGeom>
              <a:avLst/>
              <a:gdLst/>
              <a:ahLst/>
              <a:cxnLst/>
              <a:rect l="l" t="t" r="r" b="b"/>
              <a:pathLst>
                <a:path w="6610350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76982" y="5425202"/>
              <a:ext cx="305435" cy="422909"/>
            </a:xfrm>
            <a:custGeom>
              <a:avLst/>
              <a:gdLst/>
              <a:ahLst/>
              <a:cxnLst/>
              <a:rect l="l" t="t" r="r" b="b"/>
              <a:pathLst>
                <a:path w="305435" h="422910">
                  <a:moveTo>
                    <a:pt x="0" y="422408"/>
                  </a:moveTo>
                  <a:lnTo>
                    <a:pt x="7440" y="412116"/>
                  </a:lnTo>
                  <a:lnTo>
                    <a:pt x="305393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30850" y="5776902"/>
              <a:ext cx="121285" cy="134620"/>
            </a:xfrm>
            <a:custGeom>
              <a:avLst/>
              <a:gdLst/>
              <a:ahLst/>
              <a:cxnLst/>
              <a:rect l="l" t="t" r="r" b="b"/>
              <a:pathLst>
                <a:path w="121285" h="134620">
                  <a:moveTo>
                    <a:pt x="22030" y="0"/>
                  </a:moveTo>
                  <a:lnTo>
                    <a:pt x="0" y="134518"/>
                  </a:lnTo>
                  <a:lnTo>
                    <a:pt x="120834" y="71432"/>
                  </a:lnTo>
                  <a:lnTo>
                    <a:pt x="53573" y="60416"/>
                  </a:lnTo>
                  <a:lnTo>
                    <a:pt x="2203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38407" y="5425202"/>
              <a:ext cx="305435" cy="422909"/>
            </a:xfrm>
            <a:custGeom>
              <a:avLst/>
              <a:gdLst/>
              <a:ahLst/>
              <a:cxnLst/>
              <a:rect l="l" t="t" r="r" b="b"/>
              <a:pathLst>
                <a:path w="305434" h="422910">
                  <a:moveTo>
                    <a:pt x="305393" y="422408"/>
                  </a:moveTo>
                  <a:lnTo>
                    <a:pt x="297952" y="412116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69101" y="5776902"/>
              <a:ext cx="121285" cy="134620"/>
            </a:xfrm>
            <a:custGeom>
              <a:avLst/>
              <a:gdLst/>
              <a:ahLst/>
              <a:cxnLst/>
              <a:rect l="l" t="t" r="r" b="b"/>
              <a:pathLst>
                <a:path w="121284" h="134620">
                  <a:moveTo>
                    <a:pt x="98802" y="0"/>
                  </a:moveTo>
                  <a:lnTo>
                    <a:pt x="67259" y="60416"/>
                  </a:lnTo>
                  <a:lnTo>
                    <a:pt x="0" y="71432"/>
                  </a:lnTo>
                  <a:lnTo>
                    <a:pt x="120832" y="134518"/>
                  </a:lnTo>
                  <a:lnTo>
                    <a:pt x="9880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88539" y="5057828"/>
            <a:ext cx="27901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previously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computed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values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280" dirty="0">
                <a:solidFill>
                  <a:srgbClr val="FFFFFF"/>
                </a:solidFill>
                <a:latin typeface="Tahoma"/>
                <a:cs typeface="Tahoma"/>
              </a:rPr>
              <a:t>Maximum</a:t>
            </a:r>
            <a:r>
              <a:rPr sz="4000" b="1" cap="small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15" dirty="0">
                <a:solidFill>
                  <a:srgbClr val="FFFFFF"/>
                </a:solidFill>
                <a:latin typeface="Tahoma"/>
                <a:cs typeface="Tahoma"/>
              </a:rPr>
              <a:t>subarray</a:t>
            </a:r>
            <a:r>
              <a:rPr sz="4000" b="1" cap="small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0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802" y="1778000"/>
            <a:ext cx="845312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(positive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negative), </a:t>
            </a:r>
            <a:r>
              <a:rPr sz="2400" dirty="0">
                <a:latin typeface="Lucida Sans Unicode"/>
                <a:cs typeface="Lucida Sans Unicode"/>
              </a:rPr>
              <a:t>find 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contiguous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maximum.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802" y="7721600"/>
            <a:ext cx="8364855" cy="10160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  <a:tabLst>
                <a:tab pos="2131695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Applications.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Computer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vision,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data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mining,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dirty="0">
                <a:latin typeface="Lucida Sans Unicode"/>
                <a:cs typeface="Lucida Sans Unicode"/>
              </a:rPr>
              <a:t>genomic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analysis,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technical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interviews,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….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105618" y="3390899"/>
            <a:ext cx="4762500" cy="579755"/>
          </a:xfrm>
          <a:custGeom>
            <a:avLst/>
            <a:gdLst/>
            <a:ahLst/>
            <a:cxnLst/>
            <a:rect l="l" t="t" r="r" b="b"/>
            <a:pathLst>
              <a:path w="4762500" h="579754">
                <a:moveTo>
                  <a:pt x="4762297" y="0"/>
                </a:moveTo>
                <a:lnTo>
                  <a:pt x="4762297" y="0"/>
                </a:lnTo>
                <a:lnTo>
                  <a:pt x="0" y="0"/>
                </a:lnTo>
                <a:lnTo>
                  <a:pt x="0" y="579437"/>
                </a:lnTo>
                <a:lnTo>
                  <a:pt x="4762297" y="579437"/>
                </a:lnTo>
                <a:lnTo>
                  <a:pt x="4762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4300" y="3390900"/>
            <a:ext cx="67437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0979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1309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1638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31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7159" y="3506787"/>
            <a:ext cx="4102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Times New Roman"/>
                <a:cs typeface="Times New Roman"/>
              </a:rPr>
              <a:t>−61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51927" y="3376004"/>
          <a:ext cx="3400424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/>
                <a:gridCol w="680085"/>
                <a:gridCol w="680085"/>
                <a:gridCol w="680084"/>
                <a:gridCol w="677545"/>
              </a:tblGrid>
              <a:tr h="544195"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76200">
                      <a:solidFill>
                        <a:srgbClr val="A34431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−53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58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97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76200">
                      <a:solidFill>
                        <a:srgbClr val="A34431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329137" y="3506787"/>
            <a:ext cx="4102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Times New Roman"/>
                <a:cs typeface="Times New Roman"/>
              </a:rPr>
              <a:t>−93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74276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−23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54605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84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34934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15265" y="3390900"/>
            <a:ext cx="67437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64629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4959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25288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05619" y="3378200"/>
            <a:ext cx="4762500" cy="605155"/>
          </a:xfrm>
          <a:custGeom>
            <a:avLst/>
            <a:gdLst/>
            <a:ahLst/>
            <a:cxnLst/>
            <a:rect l="l" t="t" r="r" b="b"/>
            <a:pathLst>
              <a:path w="4762500" h="605154">
                <a:moveTo>
                  <a:pt x="0" y="0"/>
                </a:moveTo>
                <a:lnTo>
                  <a:pt x="0" y="604833"/>
                </a:lnTo>
              </a:path>
              <a:path w="4762500" h="605154">
                <a:moveTo>
                  <a:pt x="4762306" y="0"/>
                </a:moveTo>
                <a:lnTo>
                  <a:pt x="4762306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548255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228584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08915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219050" y="4128282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D3124"/>
                </a:solidFill>
                <a:latin typeface="Tahoma"/>
                <a:cs typeface="Tahoma"/>
              </a:rPr>
              <a:t>187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32885" y="6364315"/>
            <a:ext cx="1947515" cy="2639663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2662627" y="940743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19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280" dirty="0">
                <a:solidFill>
                  <a:srgbClr val="FFFFFF"/>
                </a:solidFill>
                <a:latin typeface="Tahoma"/>
                <a:cs typeface="Tahoma"/>
              </a:rPr>
              <a:t>Maximum</a:t>
            </a:r>
            <a:r>
              <a:rPr sz="4000" b="1" cap="small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15" dirty="0">
                <a:solidFill>
                  <a:srgbClr val="FFFFFF"/>
                </a:solidFill>
                <a:latin typeface="Tahoma"/>
                <a:cs typeface="Tahoma"/>
              </a:rPr>
              <a:t>subarray</a:t>
            </a:r>
            <a:r>
              <a:rPr sz="4000" b="1" cap="small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0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702" y="5374640"/>
            <a:ext cx="7733665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590"/>
              </a:lnSpc>
              <a:spcBef>
                <a:spcPts val="100"/>
              </a:spcBef>
            </a:pPr>
            <a:r>
              <a:rPr sz="24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Brute-</a:t>
            </a:r>
            <a:r>
              <a:rPr sz="2400" spc="-30" dirty="0">
                <a:solidFill>
                  <a:srgbClr val="005493"/>
                </a:solidFill>
                <a:latin typeface="Lucida Sans Unicode"/>
                <a:cs typeface="Lucida Sans Unicode"/>
              </a:rPr>
              <a:t>force</a:t>
            </a:r>
            <a:r>
              <a:rPr sz="2400" spc="-10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18745">
              <a:lnSpc>
                <a:spcPts val="4060"/>
              </a:lnSpc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: </a:t>
            </a:r>
            <a:r>
              <a:rPr sz="2400" dirty="0">
                <a:latin typeface="Lucida Sans Unicode"/>
                <a:cs typeface="Lucida Sans Unicode"/>
              </a:rPr>
              <a:t>computer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] +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+1]</a:t>
            </a:r>
            <a:r>
              <a:rPr sz="2400" spc="-5" dirty="0">
                <a:latin typeface="Times New Roman"/>
                <a:cs typeface="Times New Roman"/>
              </a:rPr>
              <a:t> + … + 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j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18745">
              <a:lnSpc>
                <a:spcPts val="4350"/>
              </a:lnSpc>
            </a:pPr>
            <a:r>
              <a:rPr sz="6000" baseline="-62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114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Θ(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</a:t>
            </a:r>
            <a:r>
              <a:rPr sz="2400" spc="135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Apply</a:t>
            </a:r>
            <a:r>
              <a:rPr sz="2400" spc="40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“cumulative</a:t>
            </a:r>
            <a:r>
              <a:rPr sz="2400" spc="4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sum”</a:t>
            </a:r>
            <a:r>
              <a:rPr sz="2400" spc="40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trick.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7647940"/>
            <a:ext cx="50387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Precompute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cumulative</a:t>
            </a:r>
            <a:r>
              <a:rPr sz="2400" spc="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sums: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81776" y="7851140"/>
            <a:ext cx="3681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=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[0]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[1]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8143240"/>
            <a:ext cx="628269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4350"/>
              </a:lnSpc>
              <a:spcBef>
                <a:spcPts val="100"/>
              </a:spcBef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spc="50" dirty="0">
                <a:latin typeface="Lucida Sans Unicode"/>
                <a:cs typeface="Lucida Sans Unicode"/>
              </a:rPr>
              <a:t>Now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] +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+1]</a:t>
            </a:r>
            <a:r>
              <a:rPr sz="2400" spc="-5" dirty="0">
                <a:latin typeface="Times New Roman"/>
                <a:cs typeface="Times New Roman"/>
              </a:rPr>
              <a:t> + … +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spc="75" dirty="0">
                <a:latin typeface="Times New Roman"/>
                <a:cs typeface="Times New Roman"/>
              </a:rPr>
              <a:t>] </a:t>
            </a:r>
            <a:r>
              <a:rPr sz="2400" spc="-204" dirty="0">
                <a:latin typeface="Lucida Sans Unicode"/>
                <a:cs typeface="Lucida Sans Unicode"/>
              </a:rPr>
              <a:t>=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spc="-5" dirty="0">
                <a:latin typeface="Times New Roman"/>
                <a:cs typeface="Times New Roman"/>
              </a:rPr>
              <a:t>] − 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−1]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350"/>
              </a:lnSpc>
            </a:pPr>
            <a:r>
              <a:rPr sz="6000" baseline="-62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Improves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Θ(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61544" y="8245608"/>
            <a:ext cx="202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Lucida Sans Unicode"/>
                <a:cs typeface="Lucida Sans Unicode"/>
              </a:rPr>
              <a:t>20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05618" y="3390899"/>
            <a:ext cx="4762500" cy="579755"/>
          </a:xfrm>
          <a:custGeom>
            <a:avLst/>
            <a:gdLst/>
            <a:ahLst/>
            <a:cxnLst/>
            <a:rect l="l" t="t" r="r" b="b"/>
            <a:pathLst>
              <a:path w="4762500" h="579754">
                <a:moveTo>
                  <a:pt x="4762297" y="0"/>
                </a:moveTo>
                <a:lnTo>
                  <a:pt x="4762297" y="0"/>
                </a:lnTo>
                <a:lnTo>
                  <a:pt x="0" y="0"/>
                </a:lnTo>
                <a:lnTo>
                  <a:pt x="0" y="579437"/>
                </a:lnTo>
                <a:lnTo>
                  <a:pt x="4762297" y="579437"/>
                </a:lnTo>
                <a:lnTo>
                  <a:pt x="4762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84300" y="3390900"/>
            <a:ext cx="67437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0979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51309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31638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31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751927" y="3376004"/>
          <a:ext cx="3400424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/>
                <a:gridCol w="680085"/>
                <a:gridCol w="680085"/>
                <a:gridCol w="680084"/>
                <a:gridCol w="677545"/>
              </a:tblGrid>
              <a:tr h="544195"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76200">
                      <a:solidFill>
                        <a:srgbClr val="A34431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−53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58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97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76200">
                      <a:solidFill>
                        <a:srgbClr val="A34431"/>
                      </a:solidFill>
                      <a:prstDash val="solid"/>
                    </a:lnR>
                    <a:lnT w="76200">
                      <a:solidFill>
                        <a:srgbClr val="A34431"/>
                      </a:solidFill>
                      <a:prstDash val="solid"/>
                    </a:lnT>
                    <a:lnB w="76200">
                      <a:solidFill>
                        <a:srgbClr val="A3443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4247159" y="3506787"/>
            <a:ext cx="44919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81779" algn="l"/>
              </a:tabLst>
            </a:pPr>
            <a:r>
              <a:rPr sz="2000" spc="-25" dirty="0">
                <a:latin typeface="Times New Roman"/>
                <a:cs typeface="Times New Roman"/>
              </a:rPr>
              <a:t>−61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−93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74276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−23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54605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84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34934" y="3390900"/>
            <a:ext cx="66802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10"/>
              </a:spcBef>
            </a:pPr>
            <a:r>
              <a:rPr sz="2000" spc="-25" dirty="0">
                <a:latin typeface="Times New Roman"/>
                <a:cs typeface="Times New Roman"/>
              </a:rPr>
              <a:t>−15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915265" y="3390900"/>
            <a:ext cx="674370" cy="579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27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4629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44959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5288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05619" y="3378200"/>
            <a:ext cx="4762500" cy="605155"/>
          </a:xfrm>
          <a:custGeom>
            <a:avLst/>
            <a:gdLst/>
            <a:ahLst/>
            <a:cxnLst/>
            <a:rect l="l" t="t" r="r" b="b"/>
            <a:pathLst>
              <a:path w="4762500" h="605154">
                <a:moveTo>
                  <a:pt x="0" y="0"/>
                </a:moveTo>
                <a:lnTo>
                  <a:pt x="0" y="604833"/>
                </a:lnTo>
              </a:path>
              <a:path w="4762500" h="605154">
                <a:moveTo>
                  <a:pt x="4762306" y="0"/>
                </a:moveTo>
                <a:lnTo>
                  <a:pt x="4762306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48255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228584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08915" y="337820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4">
                <a:moveTo>
                  <a:pt x="0" y="0"/>
                </a:moveTo>
                <a:lnTo>
                  <a:pt x="0" y="604833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219050" y="4128282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D3124"/>
                </a:solidFill>
                <a:latin typeface="Tahoma"/>
                <a:cs typeface="Tahoma"/>
              </a:rPr>
              <a:t>187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802" y="1778000"/>
            <a:ext cx="8453120" cy="143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(positive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negative), </a:t>
            </a:r>
            <a:r>
              <a:rPr sz="2400" dirty="0">
                <a:latin typeface="Lucida Sans Unicode"/>
                <a:cs typeface="Lucida Sans Unicode"/>
              </a:rPr>
              <a:t>find 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contiguous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maximum.</a:t>
            </a:r>
            <a:endParaRPr sz="2400">
              <a:latin typeface="Lucida Sans Unicode"/>
              <a:cs typeface="Lucida Sans Unicode"/>
            </a:endParaRPr>
          </a:p>
          <a:p>
            <a:pPr marL="4185285">
              <a:lnSpc>
                <a:spcPct val="100000"/>
              </a:lnSpc>
              <a:spcBef>
                <a:spcPts val="1350"/>
              </a:spcBef>
              <a:tabLst>
                <a:tab pos="6903084" algn="l"/>
              </a:tabLst>
            </a:pPr>
            <a:r>
              <a:rPr sz="1600" b="1" spc="-50" dirty="0">
                <a:latin typeface="Tahoma"/>
                <a:cs typeface="Tahoma"/>
              </a:rPr>
              <a:t>i</a:t>
            </a:r>
            <a:r>
              <a:rPr sz="1600" b="1" dirty="0">
                <a:latin typeface="Tahoma"/>
                <a:cs typeface="Tahoma"/>
              </a:rPr>
              <a:t>	</a:t>
            </a:r>
            <a:r>
              <a:rPr sz="1600" b="1" spc="-50" dirty="0">
                <a:latin typeface="Tahoma"/>
                <a:cs typeface="Tahoma"/>
              </a:rPr>
              <a:t>j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155" dirty="0">
                <a:solidFill>
                  <a:srgbClr val="FFFFFF"/>
                </a:solidFill>
                <a:latin typeface="Tahoma"/>
                <a:cs typeface="Tahoma"/>
              </a:rPr>
              <a:t>Kadane’s</a:t>
            </a:r>
            <a:r>
              <a:rPr sz="4000" b="1" cap="small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6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802" y="1907540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Def.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9336" y="1778000"/>
            <a:ext cx="830580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940">
              <a:lnSpc>
                <a:spcPct val="135400"/>
              </a:lnSpc>
              <a:spcBef>
                <a:spcPts val="100"/>
              </a:spcBef>
            </a:pPr>
            <a:r>
              <a:rPr sz="2400" i="1" spc="-20" dirty="0">
                <a:latin typeface="Times New Roman"/>
                <a:cs typeface="Times New Roman"/>
              </a:rPr>
              <a:t>OPT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subarray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rightmost </a:t>
            </a:r>
            <a:r>
              <a:rPr sz="2400" dirty="0">
                <a:latin typeface="Lucida Sans Unicode"/>
                <a:cs typeface="Lucida Sans Unicode"/>
              </a:rPr>
              <a:t>index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8802" y="3393440"/>
            <a:ext cx="786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Goal.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802" y="4384040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Bellman</a:t>
            </a:r>
            <a:r>
              <a:rPr sz="2400" spc="-100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equation.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802" y="5869940"/>
            <a:ext cx="2101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Running</a:t>
            </a:r>
            <a:r>
              <a:rPr sz="2400" spc="-10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7428" y="5869940"/>
            <a:ext cx="68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99042" y="5877858"/>
            <a:ext cx="9436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ts val="2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take</a:t>
            </a: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only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element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19625" y="5230216"/>
            <a:ext cx="121920" cy="516255"/>
            <a:chOff x="6719625" y="5230216"/>
            <a:chExt cx="121920" cy="516255"/>
          </a:xfrm>
        </p:grpSpPr>
        <p:sp>
          <p:nvSpPr>
            <p:cNvPr id="19" name="object 19"/>
            <p:cNvSpPr/>
            <p:nvPr/>
          </p:nvSpPr>
          <p:spPr>
            <a:xfrm>
              <a:off x="6780585" y="5308956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4">
                  <a:moveTo>
                    <a:pt x="0" y="0"/>
                  </a:moveTo>
                  <a:lnTo>
                    <a:pt x="0" y="12700"/>
                  </a:lnTo>
                  <a:lnTo>
                    <a:pt x="0" y="437241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19625" y="523021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60959" y="0"/>
                  </a:moveTo>
                  <a:lnTo>
                    <a:pt x="0" y="121919"/>
                  </a:lnTo>
                  <a:lnTo>
                    <a:pt x="60959" y="91439"/>
                  </a:lnTo>
                  <a:lnTo>
                    <a:pt x="121919" y="121919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292593" y="5852458"/>
            <a:ext cx="277304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take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element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 marL="12700" marR="5080" algn="ctr">
              <a:lnSpc>
                <a:spcPts val="2000"/>
              </a:lnSpc>
              <a:spcBef>
                <a:spcPts val="4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together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with</a:t>
            </a:r>
            <a:r>
              <a:rPr sz="1600" spc="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best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subarray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ending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index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−</a:t>
            </a:r>
            <a:r>
              <a:rPr sz="1800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88135" y="5230216"/>
            <a:ext cx="222250" cy="523875"/>
            <a:chOff x="8888135" y="5230216"/>
            <a:chExt cx="222250" cy="523875"/>
          </a:xfrm>
        </p:grpSpPr>
        <p:sp>
          <p:nvSpPr>
            <p:cNvPr id="23" name="object 23"/>
            <p:cNvSpPr/>
            <p:nvPr/>
          </p:nvSpPr>
          <p:spPr>
            <a:xfrm>
              <a:off x="8929632" y="5303754"/>
              <a:ext cx="167640" cy="437515"/>
            </a:xfrm>
            <a:custGeom>
              <a:avLst/>
              <a:gdLst/>
              <a:ahLst/>
              <a:cxnLst/>
              <a:rect l="l" t="t" r="r" b="b"/>
              <a:pathLst>
                <a:path w="167640" h="437514">
                  <a:moveTo>
                    <a:pt x="0" y="0"/>
                  </a:moveTo>
                  <a:lnTo>
                    <a:pt x="4539" y="11860"/>
                  </a:lnTo>
                  <a:lnTo>
                    <a:pt x="167458" y="437507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88135" y="5230216"/>
              <a:ext cx="114300" cy="135890"/>
            </a:xfrm>
            <a:custGeom>
              <a:avLst/>
              <a:gdLst/>
              <a:ahLst/>
              <a:cxnLst/>
              <a:rect l="l" t="t" r="r" b="b"/>
              <a:pathLst>
                <a:path w="114300" h="135889">
                  <a:moveTo>
                    <a:pt x="13350" y="0"/>
                  </a:moveTo>
                  <a:lnTo>
                    <a:pt x="0" y="135656"/>
                  </a:lnTo>
                  <a:lnTo>
                    <a:pt x="46036" y="85398"/>
                  </a:lnTo>
                  <a:lnTo>
                    <a:pt x="113864" y="92073"/>
                  </a:lnTo>
                  <a:lnTo>
                    <a:pt x="1335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50573" y="1828800"/>
            <a:ext cx="1305091" cy="144047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860722" y="4369751"/>
            <a:ext cx="23114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43965" algn="l"/>
                <a:tab pos="1649095" algn="l"/>
              </a:tabLst>
            </a:pP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10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(</a:t>
            </a:r>
            <a:r>
              <a:rPr sz="2400" i="1" spc="195" dirty="0">
                <a:latin typeface="Calibri"/>
                <a:cs typeface="Calibri"/>
              </a:rPr>
              <a:t>i</a:t>
            </a:r>
            <a:r>
              <a:rPr sz="2400" spc="19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600" spc="322" baseline="94907" dirty="0">
                <a:latin typeface="Trebuchet MS"/>
                <a:cs typeface="Trebuchet MS"/>
              </a:rPr>
              <a:t>  </a:t>
            </a:r>
            <a:r>
              <a:rPr sz="3600" i="1" spc="322" baseline="46296" dirty="0">
                <a:latin typeface="Calibri"/>
                <a:cs typeface="Calibri"/>
              </a:rPr>
              <a:t>x</a:t>
            </a:r>
            <a:r>
              <a:rPr sz="2475" spc="322" baseline="55555" dirty="0">
                <a:latin typeface="Calibri"/>
                <a:cs typeface="Calibri"/>
              </a:rPr>
              <a:t>1</a:t>
            </a:r>
            <a:endParaRPr sz="2475" baseline="55555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21</a:t>
            </a:fld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01079" y="4645595"/>
            <a:ext cx="37973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49375" algn="l"/>
              </a:tabLst>
            </a:pPr>
            <a:r>
              <a:rPr sz="2400" spc="110" dirty="0">
                <a:latin typeface="Calibri"/>
                <a:cs typeface="Calibri"/>
              </a:rPr>
              <a:t>max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i="1" spc="155" dirty="0">
                <a:latin typeface="Georgia"/>
                <a:cs typeface="Georgia"/>
              </a:rPr>
              <a:t>{</a:t>
            </a:r>
            <a:r>
              <a:rPr sz="2400" i="1" spc="-180" dirty="0">
                <a:latin typeface="Georgia"/>
                <a:cs typeface="Georgia"/>
              </a:rPr>
              <a:t> </a:t>
            </a:r>
            <a:r>
              <a:rPr sz="2400" i="1" spc="240" dirty="0">
                <a:latin typeface="Calibri"/>
                <a:cs typeface="Calibri"/>
              </a:rPr>
              <a:t>x</a:t>
            </a:r>
            <a:r>
              <a:rPr sz="2475" i="1" spc="359" baseline="-11784" dirty="0">
                <a:latin typeface="Calibri"/>
                <a:cs typeface="Calibri"/>
              </a:rPr>
              <a:t>i</a:t>
            </a:r>
            <a:r>
              <a:rPr sz="2400" i="1" spc="24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310" dirty="0">
                <a:latin typeface="Calibri"/>
                <a:cs typeface="Calibri"/>
              </a:rPr>
              <a:t>x</a:t>
            </a:r>
            <a:r>
              <a:rPr sz="2475" i="1" spc="465" baseline="-11784" dirty="0">
                <a:latin typeface="Calibri"/>
                <a:cs typeface="Calibri"/>
              </a:rPr>
              <a:t>i</a:t>
            </a:r>
            <a:r>
              <a:rPr sz="2475" i="1" spc="427" baseline="-11784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04" dirty="0">
                <a:latin typeface="Calibri"/>
                <a:cs typeface="Calibri"/>
              </a:rPr>
              <a:t> </a:t>
            </a:r>
            <a:r>
              <a:rPr sz="2400" spc="229" dirty="0">
                <a:latin typeface="Calibri"/>
                <a:cs typeface="Calibri"/>
              </a:rPr>
              <a:t>(</a:t>
            </a:r>
            <a:r>
              <a:rPr sz="2400" i="1" spc="229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spc="-215" dirty="0">
                <a:latin typeface="Georgia"/>
                <a:cs typeface="Georgia"/>
              </a:rPr>
              <a:t>—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spc="85" dirty="0">
                <a:latin typeface="Calibri"/>
                <a:cs typeface="Calibri"/>
              </a:rPr>
              <a:t>1)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i="1" spc="105" dirty="0">
                <a:latin typeface="Georgia"/>
                <a:cs typeface="Georgia"/>
              </a:rPr>
              <a:t>}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52252" y="3953565"/>
            <a:ext cx="965200" cy="10820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latin typeface="Trebuchet MS"/>
                <a:cs typeface="Trebuchet MS"/>
              </a:rPr>
              <a:t>if </a:t>
            </a:r>
            <a:r>
              <a:rPr sz="2400" i="1" spc="265" dirty="0">
                <a:latin typeface="Calibri"/>
                <a:cs typeface="Calibri"/>
              </a:rPr>
              <a:t>i</a:t>
            </a:r>
            <a:r>
              <a:rPr sz="2400" i="1" spc="65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=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dirty="0">
                <a:latin typeface="Trebuchet MS"/>
                <a:cs typeface="Trebuchet MS"/>
              </a:rPr>
              <a:t>if </a:t>
            </a:r>
            <a:r>
              <a:rPr sz="2400" i="1" spc="265" dirty="0">
                <a:latin typeface="Calibri"/>
                <a:cs typeface="Calibri"/>
              </a:rPr>
              <a:t>i</a:t>
            </a:r>
            <a:r>
              <a:rPr sz="2400" i="1" spc="65" dirty="0">
                <a:latin typeface="Calibri"/>
                <a:cs typeface="Calibri"/>
              </a:rPr>
              <a:t> </a:t>
            </a:r>
            <a:r>
              <a:rPr sz="2400" i="1" spc="645" dirty="0">
                <a:latin typeface="Calibri"/>
                <a:cs typeface="Calibri"/>
              </a:rPr>
              <a:t>&gt;</a:t>
            </a:r>
            <a:r>
              <a:rPr sz="2400" i="1" spc="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26426" y="3365103"/>
            <a:ext cx="1763395" cy="56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570"/>
              </a:lnSpc>
              <a:spcBef>
                <a:spcPts val="90"/>
              </a:spcBef>
              <a:tabLst>
                <a:tab pos="712470" algn="l"/>
              </a:tabLst>
            </a:pPr>
            <a:r>
              <a:rPr sz="2400" spc="85" dirty="0">
                <a:latin typeface="Calibri"/>
                <a:cs typeface="Calibri"/>
              </a:rPr>
              <a:t>max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10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(</a:t>
            </a:r>
            <a:r>
              <a:rPr sz="2400" i="1" spc="195" dirty="0">
                <a:latin typeface="Calibri"/>
                <a:cs typeface="Calibri"/>
              </a:rPr>
              <a:t>i</a:t>
            </a:r>
            <a:r>
              <a:rPr sz="2400" spc="19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52095">
              <a:lnSpc>
                <a:spcPts val="1670"/>
              </a:lnSpc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8802" y="1907540"/>
            <a:ext cx="1088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145" dirty="0">
                <a:latin typeface="Times New Roman"/>
                <a:cs typeface="Times New Roman"/>
              </a:rPr>
              <a:t>n</a:t>
            </a:r>
            <a:r>
              <a:rPr sz="2400" spc="-145" dirty="0">
                <a:latin typeface="Lucida Sans Unicode"/>
                <a:cs typeface="Lucida Sans Unicode"/>
              </a:rPr>
              <a:t>-</a:t>
            </a:r>
            <a:r>
              <a:rPr sz="2400" spc="-280" dirty="0">
                <a:latin typeface="Lucida Sans Unicode"/>
                <a:cs typeface="Lucida Sans Unicode"/>
              </a:rPr>
              <a:t>by-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matrix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rectangle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maximum.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9023" y="4624227"/>
            <a:ext cx="65849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8940" algn="l"/>
              </a:tabLst>
            </a:pPr>
            <a:r>
              <a:rPr sz="2400" i="1" spc="350" dirty="0">
                <a:latin typeface="Calibri"/>
                <a:cs typeface="Calibri"/>
              </a:rPr>
              <a:t>A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0342" y="2920700"/>
            <a:ext cx="2152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89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0342" y="3455319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0342" y="3819555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0342" y="4366061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0342" y="4912872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0342" y="5277109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0342" y="5459379"/>
            <a:ext cx="2152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0342" y="5653842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65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824" y="3163625"/>
            <a:ext cx="41338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-220" dirty="0">
                <a:latin typeface="Georgia"/>
                <a:cs typeface="Georgia"/>
              </a:rPr>
              <a:t>—</a:t>
            </a: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0739" y="3649477"/>
            <a:ext cx="1778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44824" y="4135328"/>
            <a:ext cx="41338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-220" dirty="0">
                <a:latin typeface="Georgia"/>
                <a:cs typeface="Georgia"/>
              </a:rPr>
              <a:t>—</a:t>
            </a: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4824" y="4621179"/>
            <a:ext cx="41338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-220" dirty="0">
                <a:latin typeface="Georgia"/>
                <a:cs typeface="Georgia"/>
              </a:rPr>
              <a:t>—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0739" y="5107030"/>
            <a:ext cx="1778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4824" y="5592881"/>
            <a:ext cx="41338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-220" dirty="0">
                <a:latin typeface="Georgia"/>
                <a:cs typeface="Georgia"/>
              </a:rPr>
              <a:t>—</a:t>
            </a: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0739" y="6078733"/>
            <a:ext cx="1778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817366" y="3244652"/>
          <a:ext cx="3910328" cy="344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175"/>
                <a:gridCol w="1316989"/>
                <a:gridCol w="764539"/>
                <a:gridCol w="619125"/>
                <a:gridCol w="571500"/>
              </a:tblGrid>
              <a:tr h="506095">
                <a:tc>
                  <a:txBody>
                    <a:bodyPr/>
                    <a:lstStyle/>
                    <a:p>
                      <a:pPr marR="210820" algn="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335"/>
                        </a:lnSpc>
                        <a:tabLst>
                          <a:tab pos="454659" algn="l"/>
                        </a:tabLst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335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35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85775">
                <a:tc>
                  <a:txBody>
                    <a:bodyPr/>
                    <a:lstStyle/>
                    <a:p>
                      <a:pPr marR="21018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927100" algn="l"/>
                        </a:tabLst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85775">
                <a:tc>
                  <a:txBody>
                    <a:bodyPr/>
                    <a:lstStyle/>
                    <a:p>
                      <a:pPr marR="210820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454659" algn="l"/>
                        </a:tabLst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85775">
                <a:tc>
                  <a:txBody>
                    <a:bodyPr/>
                    <a:lstStyle/>
                    <a:p>
                      <a:pPr marR="21018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455295" algn="l"/>
                        </a:tabLst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85775">
                <a:tc>
                  <a:txBody>
                    <a:bodyPr/>
                    <a:lstStyle/>
                    <a:p>
                      <a:pPr marR="21018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691515" algn="l"/>
                        </a:tabLst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85775">
                <a:tc>
                  <a:txBody>
                    <a:bodyPr/>
                    <a:lstStyle/>
                    <a:p>
                      <a:pPr marR="210820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927100" algn="l"/>
                        </a:tabLst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506095">
                <a:tc>
                  <a:txBody>
                    <a:bodyPr/>
                    <a:lstStyle/>
                    <a:p>
                      <a:pPr marR="21018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  <a:tabLst>
                          <a:tab pos="691515" algn="l"/>
                        </a:tabLst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17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0"/>
                        </a:lnSpc>
                      </a:pPr>
                      <a:r>
                        <a:rPr sz="2400" i="1" spc="-21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8834477" y="3455319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34477" y="3819555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34477" y="4366061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34477" y="4912872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34477" y="5277109"/>
            <a:ext cx="2279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280" dirty="0">
                <a:solidFill>
                  <a:srgbClr val="FFFFFF"/>
                </a:solidFill>
                <a:latin typeface="Tahoma"/>
                <a:cs typeface="Tahoma"/>
              </a:rPr>
              <a:t>Maximum</a:t>
            </a:r>
            <a:r>
              <a:rPr sz="4000" b="1" cap="small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25" dirty="0">
                <a:solidFill>
                  <a:srgbClr val="FFFFFF"/>
                </a:solidFill>
                <a:latin typeface="Tahoma"/>
                <a:cs typeface="Tahoma"/>
              </a:rPr>
              <a:t>rectangle</a:t>
            </a:r>
            <a:r>
              <a:rPr sz="4000" b="1" cap="small" spc="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8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5455534" y="3611814"/>
            <a:ext cx="2081530" cy="2948940"/>
          </a:xfrm>
          <a:custGeom>
            <a:avLst/>
            <a:gdLst/>
            <a:ahLst/>
            <a:cxnLst/>
            <a:rect l="l" t="t" r="r" b="b"/>
            <a:pathLst>
              <a:path w="2081529" h="2948940">
                <a:moveTo>
                  <a:pt x="0" y="0"/>
                </a:moveTo>
                <a:lnTo>
                  <a:pt x="2081032" y="0"/>
                </a:lnTo>
                <a:lnTo>
                  <a:pt x="2081032" y="2948795"/>
                </a:lnTo>
                <a:lnTo>
                  <a:pt x="0" y="2948795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A344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58802" y="6795282"/>
            <a:ext cx="9694545" cy="1942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8D3124"/>
                </a:solidFill>
                <a:latin typeface="Tahoma"/>
                <a:cs typeface="Tahoma"/>
              </a:rPr>
              <a:t>13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35400"/>
              </a:lnSpc>
              <a:spcBef>
                <a:spcPts val="5"/>
              </a:spcBef>
              <a:tabLst>
                <a:tab pos="2131695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Applications.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Databases,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image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processing,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likelihood </a:t>
            </a:r>
            <a:r>
              <a:rPr sz="2400" dirty="0">
                <a:latin typeface="Lucida Sans Unicode"/>
                <a:cs typeface="Lucida Sans Unicode"/>
              </a:rPr>
              <a:t>estimation,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technical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interviews,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…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22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35554" y="2785042"/>
            <a:ext cx="1760220" cy="2816225"/>
          </a:xfrm>
          <a:custGeom>
            <a:avLst/>
            <a:gdLst/>
            <a:ahLst/>
            <a:cxnLst/>
            <a:rect l="l" t="t" r="r" b="b"/>
            <a:pathLst>
              <a:path w="1760220" h="2816225">
                <a:moveTo>
                  <a:pt x="1759771" y="0"/>
                </a:moveTo>
                <a:lnTo>
                  <a:pt x="0" y="0"/>
                </a:lnTo>
                <a:lnTo>
                  <a:pt x="0" y="2815657"/>
                </a:lnTo>
                <a:lnTo>
                  <a:pt x="1759771" y="2815657"/>
                </a:lnTo>
                <a:lnTo>
                  <a:pt x="1759771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8802" y="1907540"/>
            <a:ext cx="1099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6289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Assumption.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Suppose you knew the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left and right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column indices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975" dirty="0">
                <a:latin typeface="Symbol"/>
                <a:cs typeface="Symbol"/>
              </a:rPr>
              <a:t>ʹ</a:t>
            </a:r>
            <a:r>
              <a:rPr sz="2400" spc="-97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100" y="6257645"/>
            <a:ext cx="533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0" dirty="0">
                <a:latin typeface="Microsoft JhengHei UI"/>
                <a:cs typeface="Microsoft JhengHei UI"/>
              </a:rPr>
              <a:t>・</a:t>
            </a:r>
            <a:endParaRPr sz="400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9638" y="6365240"/>
            <a:ext cx="121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5100" y="7205624"/>
            <a:ext cx="177800" cy="10160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spc="-50" dirty="0">
                <a:latin typeface="Lucida Sans Unicode"/>
                <a:cs typeface="Lucida Sans Unicode"/>
              </a:rPr>
              <a:t>–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50" dirty="0">
                <a:latin typeface="Lucida Sans Unicode"/>
                <a:cs typeface="Lucida Sans Unicode"/>
              </a:rPr>
              <a:t>–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802" y="8841740"/>
            <a:ext cx="224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Open</a:t>
            </a:r>
            <a:r>
              <a:rPr sz="2400" spc="-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4675" y="8841740"/>
            <a:ext cx="4280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3−ε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 any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3321" y="2632688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530" dirty="0">
                <a:latin typeface="Trebuchet MS"/>
                <a:cs typeface="Trebuchet MS"/>
              </a:rPr>
              <a:t>,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63321" y="3356781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3321" y="4090697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3321" y="4384361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3321" y="4530948"/>
            <a:ext cx="1758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3321" y="4677780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3321" y="4834434"/>
            <a:ext cx="1758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700" dirty="0">
                <a:latin typeface="Trebuchet MS"/>
                <a:cs typeface="Trebuchet MS"/>
              </a:rPr>
              <a:t>,</a:t>
            </a:r>
            <a:endParaRPr sz="190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129833" y="2485518"/>
          <a:ext cx="3719194" cy="122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450"/>
                <a:gridCol w="569594"/>
                <a:gridCol w="627380"/>
                <a:gridCol w="953770"/>
              </a:tblGrid>
              <a:tr h="299085">
                <a:tc>
                  <a:txBody>
                    <a:bodyPr/>
                    <a:lstStyle/>
                    <a:p>
                      <a:pPr marR="127000" algn="r">
                        <a:lnSpc>
                          <a:spcPts val="1755"/>
                        </a:lnSpc>
                      </a:pPr>
                      <a:r>
                        <a:rPr sz="1800" i="1" spc="-50" dirty="0">
                          <a:solidFill>
                            <a:srgbClr val="8D3124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710"/>
                        </a:lnSpc>
                      </a:pPr>
                      <a:r>
                        <a:rPr sz="1800" i="1" dirty="0">
                          <a:solidFill>
                            <a:srgbClr val="8D3124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800" i="1" spc="-270" dirty="0">
                          <a:solidFill>
                            <a:srgbClr val="8D312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420" dirty="0">
                          <a:solidFill>
                            <a:srgbClr val="8D3124"/>
                          </a:solidFill>
                          <a:latin typeface="Symbol"/>
                          <a:cs typeface="Symbol"/>
                        </a:rPr>
                        <a:t>ʹ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9264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65"/>
                        </a:spcBef>
                        <a:tabLst>
                          <a:tab pos="778510" algn="l"/>
                          <a:tab pos="1336040" algn="l"/>
                        </a:tabLst>
                      </a:pPr>
                      <a:r>
                        <a:rPr sz="1900" i="1" spc="-135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22161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588645" algn="l"/>
                          <a:tab pos="1145540" algn="l"/>
                        </a:tabLst>
                      </a:pPr>
                      <a:r>
                        <a:rPr sz="1900" spc="-5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5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3244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900" spc="-50" dirty="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solidFill>
                      <a:srgbClr val="FBE8E5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900" spc="-5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solidFill>
                      <a:srgbClr val="FBE8E5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465"/>
                        </a:spcBef>
                        <a:tabLst>
                          <a:tab pos="608965" algn="l"/>
                        </a:tabLst>
                      </a:pPr>
                      <a:r>
                        <a:rPr sz="19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24193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608965" algn="l"/>
                        </a:tabLst>
                      </a:pPr>
                      <a:r>
                        <a:rPr sz="190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900" i="1" spc="-130" dirty="0">
                          <a:latin typeface="Georgia"/>
                          <a:cs typeface="Georgia"/>
                        </a:rPr>
                        <a:t>—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9055" marB="0"/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926742" y="3356781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9700" y="3510872"/>
            <a:ext cx="5075555" cy="198501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543560" algn="ctr">
              <a:lnSpc>
                <a:spcPct val="100000"/>
              </a:lnSpc>
              <a:spcBef>
                <a:spcPts val="915"/>
              </a:spcBef>
              <a:tabLst>
                <a:tab pos="1576705" algn="l"/>
                <a:tab pos="2133600" algn="l"/>
                <a:tab pos="2500630" algn="l"/>
                <a:tab pos="3058160" algn="l"/>
                <a:tab pos="3615054" algn="l"/>
                <a:tab pos="4171950" algn="l"/>
              </a:tabLst>
            </a:pPr>
            <a:r>
              <a:rPr sz="2850" spc="262" baseline="-8771" dirty="0">
                <a:latin typeface="Trebuchet MS"/>
                <a:cs typeface="Trebuchet MS"/>
              </a:rPr>
              <a:t>   </a:t>
            </a:r>
            <a:r>
              <a:rPr sz="1900" i="1" spc="-135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5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6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5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4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2</a:t>
            </a:r>
            <a:r>
              <a:rPr sz="2850" spc="-75" baseline="-8771" dirty="0">
                <a:latin typeface="Trebuchet MS"/>
                <a:cs typeface="Trebuchet MS"/>
              </a:rPr>
              <a:t> </a:t>
            </a:r>
            <a:endParaRPr sz="2850" baseline="-8771">
              <a:latin typeface="Trebuchet MS"/>
              <a:cs typeface="Trebuchet MS"/>
            </a:endParaRPr>
          </a:p>
          <a:p>
            <a:pPr marL="50800">
              <a:lnSpc>
                <a:spcPts val="1475"/>
              </a:lnSpc>
              <a:spcBef>
                <a:spcPts val="819"/>
              </a:spcBef>
              <a:tabLst>
                <a:tab pos="369570" algn="l"/>
                <a:tab pos="981710" algn="l"/>
                <a:tab pos="1538605" algn="l"/>
                <a:tab pos="2286000" algn="l"/>
                <a:tab pos="2653030" algn="l"/>
                <a:tab pos="3400425" algn="l"/>
                <a:tab pos="3957320" algn="l"/>
                <a:tab pos="4514850" algn="l"/>
              </a:tabLst>
            </a:pPr>
            <a:r>
              <a:rPr sz="1900" i="1" spc="290" dirty="0">
                <a:latin typeface="Calibri"/>
                <a:cs typeface="Calibri"/>
              </a:rPr>
              <a:t>A</a:t>
            </a:r>
            <a:r>
              <a:rPr sz="1900" i="1" dirty="0">
                <a:latin typeface="Calibri"/>
                <a:cs typeface="Calibri"/>
              </a:rPr>
              <a:t>	</a:t>
            </a:r>
            <a:r>
              <a:rPr sz="1900" spc="490" dirty="0">
                <a:latin typeface="Calibri"/>
                <a:cs typeface="Calibri"/>
              </a:rPr>
              <a:t>=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5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4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  <a:p>
            <a:pPr marR="144780" algn="r">
              <a:lnSpc>
                <a:spcPts val="1475"/>
              </a:lnSpc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  <a:p>
            <a:pPr marL="1171575">
              <a:lnSpc>
                <a:spcPct val="100000"/>
              </a:lnSpc>
              <a:spcBef>
                <a:spcPts val="110"/>
              </a:spcBef>
              <a:tabLst>
                <a:tab pos="1538605" algn="l"/>
                <a:tab pos="2286000" algn="l"/>
                <a:tab pos="2843530" algn="l"/>
                <a:tab pos="3400425" algn="l"/>
                <a:tab pos="3767454" algn="l"/>
              </a:tabLst>
            </a:pP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2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0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  <a:p>
            <a:pPr marL="981710">
              <a:lnSpc>
                <a:spcPct val="100000"/>
              </a:lnSpc>
              <a:spcBef>
                <a:spcPts val="800"/>
              </a:spcBef>
              <a:tabLst>
                <a:tab pos="1729105" algn="l"/>
                <a:tab pos="2095500" algn="l"/>
                <a:tab pos="2842895" algn="l"/>
                <a:tab pos="3400425" algn="l"/>
                <a:tab pos="3957320" algn="l"/>
                <a:tab pos="4324350" algn="l"/>
              </a:tabLst>
            </a:pPr>
            <a:r>
              <a:rPr sz="1900" i="1" spc="-135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2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2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  <a:p>
            <a:pPr marL="1171575">
              <a:lnSpc>
                <a:spcPct val="100000"/>
              </a:lnSpc>
              <a:spcBef>
                <a:spcPts val="800"/>
              </a:spcBef>
              <a:tabLst>
                <a:tab pos="1538605" algn="l"/>
                <a:tab pos="2286000" algn="l"/>
                <a:tab pos="2843530" algn="l"/>
                <a:tab pos="3400425" algn="l"/>
                <a:tab pos="3767454" algn="l"/>
                <a:tab pos="4324350" algn="l"/>
              </a:tabLst>
            </a:pPr>
            <a:r>
              <a:rPr sz="1900" spc="-50" dirty="0">
                <a:latin typeface="Calibri"/>
                <a:cs typeface="Calibri"/>
              </a:rPr>
              <a:t>2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4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0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0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1893" y="4393937"/>
            <a:ext cx="62357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2</a:t>
            </a:r>
            <a:r>
              <a:rPr sz="2850" spc="-75" baseline="2923" dirty="0">
                <a:latin typeface="Trebuchet MS"/>
                <a:cs typeface="Trebuchet MS"/>
              </a:rPr>
              <a:t> </a:t>
            </a:r>
            <a:endParaRPr sz="2850" baseline="2923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26742" y="4530948"/>
            <a:ext cx="1885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40" dirty="0">
                <a:solidFill>
                  <a:srgbClr val="FFFFFF"/>
                </a:solidFill>
                <a:latin typeface="Tahoma"/>
                <a:cs typeface="Tahoma"/>
              </a:rPr>
              <a:t>Bentley’s</a:t>
            </a:r>
            <a:r>
              <a:rPr sz="4000" b="1" cap="small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6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3402" y="5740400"/>
            <a:ext cx="5982970" cy="15519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20"/>
              </a:spcBef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An</a:t>
            </a:r>
            <a:r>
              <a:rPr sz="2400" spc="-2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5493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5493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005493"/>
                </a:solidFill>
                <a:latin typeface="Times New Roman"/>
                <a:cs typeface="Times New Roman"/>
              </a:rPr>
              <a:t>)</a:t>
            </a:r>
            <a:r>
              <a:rPr sz="2400" spc="14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614045">
              <a:lnSpc>
                <a:spcPts val="2590"/>
              </a:lnSpc>
              <a:spcBef>
                <a:spcPts val="1020"/>
              </a:spcBef>
            </a:pPr>
            <a:r>
              <a:rPr sz="2400" dirty="0">
                <a:latin typeface="Lucida Sans Unicode"/>
                <a:cs typeface="Lucida Sans Unicode"/>
              </a:rPr>
              <a:t>Precompute</a:t>
            </a:r>
            <a:r>
              <a:rPr sz="2400" spc="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cumulative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row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sums</a:t>
            </a:r>
            <a:r>
              <a:rPr sz="2400" spc="280" dirty="0">
                <a:latin typeface="Lucida Sans Unicode"/>
                <a:cs typeface="Lucida Sans Unicode"/>
              </a:rPr>
              <a:t> </a:t>
            </a:r>
            <a:r>
              <a:rPr sz="2400" i="1" spc="315" dirty="0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106045">
              <a:lnSpc>
                <a:spcPts val="4510"/>
              </a:lnSpc>
            </a:pPr>
            <a:r>
              <a:rPr sz="6000" baseline="-9027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825" dirty="0">
                <a:latin typeface="Symbol"/>
                <a:cs typeface="Symbol"/>
              </a:rPr>
              <a:t>ʹ</a:t>
            </a:r>
            <a:r>
              <a:rPr sz="2400" spc="-25" dirty="0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65329" y="6502576"/>
            <a:ext cx="21209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315" dirty="0">
                <a:latin typeface="Calibri"/>
                <a:cs typeface="Calibri"/>
              </a:rPr>
              <a:t>ij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89814" y="6063054"/>
            <a:ext cx="12573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335" dirty="0">
                <a:latin typeface="Calibri"/>
                <a:cs typeface="Calibri"/>
              </a:rPr>
              <a:t>j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27050" y="6077411"/>
            <a:ext cx="46418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2095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4074" y="6822311"/>
            <a:ext cx="59182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60" dirty="0">
                <a:latin typeface="Calibri"/>
                <a:cs typeface="Calibri"/>
              </a:rPr>
              <a:t>k</a:t>
            </a:r>
            <a:r>
              <a:rPr sz="1650" i="1" spc="-10" dirty="0">
                <a:latin typeface="Calibri"/>
                <a:cs typeface="Calibri"/>
              </a:rPr>
              <a:t> </a:t>
            </a:r>
            <a:r>
              <a:rPr sz="1650" spc="509" dirty="0">
                <a:latin typeface="Calibri"/>
                <a:cs typeface="Calibri"/>
              </a:rPr>
              <a:t>=1 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63423" y="6366056"/>
            <a:ext cx="114935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8050" algn="l"/>
              </a:tabLst>
            </a:pPr>
            <a:r>
              <a:rPr sz="2400" spc="59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3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86917" y="6502576"/>
            <a:ext cx="24066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4" dirty="0">
                <a:latin typeface="Calibri"/>
                <a:cs typeface="Calibri"/>
              </a:rPr>
              <a:t>ik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01903" y="6043502"/>
            <a:ext cx="1779270" cy="777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solve</a:t>
            </a:r>
            <a:r>
              <a:rPr sz="1600" spc="7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maximum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subarray</a:t>
            </a:r>
            <a:r>
              <a:rPr sz="1600" spc="6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problem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this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array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220832" y="5658511"/>
            <a:ext cx="222885" cy="488950"/>
            <a:chOff x="10220832" y="5658511"/>
            <a:chExt cx="222885" cy="488950"/>
          </a:xfrm>
        </p:grpSpPr>
        <p:sp>
          <p:nvSpPr>
            <p:cNvPr id="39" name="object 39"/>
            <p:cNvSpPr/>
            <p:nvPr/>
          </p:nvSpPr>
          <p:spPr>
            <a:xfrm>
              <a:off x="10260156" y="5731032"/>
              <a:ext cx="170815" cy="403860"/>
            </a:xfrm>
            <a:custGeom>
              <a:avLst/>
              <a:gdLst/>
              <a:ahLst/>
              <a:cxnLst/>
              <a:rect l="l" t="t" r="r" b="b"/>
              <a:pathLst>
                <a:path w="170815" h="403860">
                  <a:moveTo>
                    <a:pt x="0" y="0"/>
                  </a:moveTo>
                  <a:lnTo>
                    <a:pt x="4947" y="11696"/>
                  </a:lnTo>
                  <a:lnTo>
                    <a:pt x="170662" y="40351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220832" y="5658511"/>
              <a:ext cx="112395" cy="136525"/>
            </a:xfrm>
            <a:custGeom>
              <a:avLst/>
              <a:gdLst/>
              <a:ahLst/>
              <a:cxnLst/>
              <a:rect l="l" t="t" r="r" b="b"/>
              <a:pathLst>
                <a:path w="112395" h="136525">
                  <a:moveTo>
                    <a:pt x="8652" y="0"/>
                  </a:moveTo>
                  <a:lnTo>
                    <a:pt x="0" y="136036"/>
                  </a:lnTo>
                  <a:lnTo>
                    <a:pt x="44272" y="84217"/>
                  </a:lnTo>
                  <a:lnTo>
                    <a:pt x="112289" y="88543"/>
                  </a:lnTo>
                  <a:lnTo>
                    <a:pt x="865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590613" y="4675173"/>
            <a:ext cx="240029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575" dirty="0">
                <a:latin typeface="Trebuchet MS"/>
                <a:cs typeface="Trebuchet MS"/>
              </a:rPr>
              <a:t> </a:t>
            </a:r>
            <a:r>
              <a:rPr sz="2850" spc="869" baseline="-36549" dirty="0">
                <a:latin typeface="Trebuchet MS"/>
                <a:cs typeface="Trebuchet MS"/>
              </a:rPr>
              <a:t>,</a:t>
            </a:r>
            <a:endParaRPr sz="2850" baseline="-36549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90613" y="2822614"/>
            <a:ext cx="67564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spc="869" baseline="45321" dirty="0">
                <a:latin typeface="Trebuchet MS"/>
                <a:cs typeface="Trebuchet MS"/>
              </a:rPr>
              <a:t>,</a:t>
            </a:r>
            <a:r>
              <a:rPr sz="2850" spc="592" baseline="45321" dirty="0">
                <a:latin typeface="Trebuchet MS"/>
                <a:cs typeface="Trebuchet MS"/>
              </a:rPr>
              <a:t> 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7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092434" y="4684903"/>
            <a:ext cx="147955" cy="8096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900" spc="-50" dirty="0">
                <a:latin typeface="Calibri"/>
                <a:cs typeface="Calibri"/>
              </a:rPr>
              <a:t>0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900" spc="-50" dirty="0"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616013" y="3214672"/>
            <a:ext cx="9105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8950" algn="l"/>
              </a:tabLst>
            </a:pPr>
            <a:r>
              <a:rPr sz="2850" baseline="2923" dirty="0">
                <a:latin typeface="Trebuchet MS"/>
                <a:cs typeface="Trebuchet MS"/>
              </a:rPr>
              <a:t>	</a:t>
            </a:r>
            <a:r>
              <a:rPr sz="1900" spc="-50" dirty="0">
                <a:latin typeface="Calibri"/>
                <a:cs typeface="Calibri"/>
              </a:rPr>
              <a:t>4</a:t>
            </a:r>
            <a:r>
              <a:rPr sz="2850" spc="-75" baseline="2923" dirty="0">
                <a:latin typeface="Trebuchet MS"/>
                <a:cs typeface="Trebuchet MS"/>
              </a:rPr>
              <a:t> </a:t>
            </a:r>
            <a:endParaRPr sz="2850" baseline="2923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90613" y="3606729"/>
            <a:ext cx="9613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spc="262" baseline="-8771" dirty="0">
                <a:latin typeface="Trebuchet MS"/>
                <a:cs typeface="Trebuchet MS"/>
              </a:rPr>
              <a:t>   </a:t>
            </a:r>
            <a:r>
              <a:rPr sz="1900" i="1" spc="-130" dirty="0">
                <a:latin typeface="Georgia"/>
                <a:cs typeface="Georgia"/>
              </a:rPr>
              <a:t>—</a:t>
            </a:r>
            <a:r>
              <a:rPr sz="1900" spc="-50" dirty="0">
                <a:latin typeface="Calibri"/>
                <a:cs typeface="Calibri"/>
              </a:rPr>
              <a:t>3</a:t>
            </a:r>
            <a:r>
              <a:rPr sz="2850" spc="-75" baseline="-8771" dirty="0">
                <a:latin typeface="Trebuchet MS"/>
                <a:cs typeface="Trebuchet MS"/>
              </a:rPr>
              <a:t> </a:t>
            </a:r>
            <a:endParaRPr sz="2850" baseline="-8771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13169" y="4001247"/>
            <a:ext cx="1513205" cy="405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8290" algn="l"/>
                <a:tab pos="1091565" algn="l"/>
              </a:tabLst>
            </a:pPr>
            <a:r>
              <a:rPr sz="1900" i="1" spc="220" dirty="0">
                <a:latin typeface="Calibri"/>
                <a:cs typeface="Calibri"/>
              </a:rPr>
              <a:t>x</a:t>
            </a:r>
            <a:r>
              <a:rPr sz="1900" i="1" dirty="0">
                <a:latin typeface="Calibri"/>
                <a:cs typeface="Calibri"/>
              </a:rPr>
              <a:t>	</a:t>
            </a:r>
            <a:r>
              <a:rPr sz="1900" spc="490" dirty="0">
                <a:latin typeface="Calibri"/>
                <a:cs typeface="Calibri"/>
              </a:rPr>
              <a:t>=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6</a:t>
            </a:r>
            <a:endParaRPr sz="1900">
              <a:latin typeface="Calibri"/>
              <a:cs typeface="Calibri"/>
            </a:endParaRPr>
          </a:p>
          <a:p>
            <a:pPr marL="615315">
              <a:lnSpc>
                <a:spcPct val="100000"/>
              </a:lnSpc>
              <a:spcBef>
                <a:spcPts val="295"/>
              </a:spcBef>
              <a:tabLst>
                <a:tab pos="1336675" algn="l"/>
              </a:tabLst>
            </a:pPr>
            <a:r>
              <a:rPr sz="1900" dirty="0">
                <a:latin typeface="Trebuchet MS"/>
                <a:cs typeface="Trebuchet MS"/>
              </a:rPr>
              <a:t>	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16013" y="4390845"/>
            <a:ext cx="9105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8950" algn="l"/>
              </a:tabLst>
            </a:pPr>
            <a:r>
              <a:rPr sz="2850" baseline="2923" dirty="0">
                <a:latin typeface="Trebuchet MS"/>
                <a:cs typeface="Trebuchet MS"/>
              </a:rPr>
              <a:t>	</a:t>
            </a:r>
            <a:r>
              <a:rPr sz="1900" spc="-50" dirty="0">
                <a:latin typeface="Calibri"/>
                <a:cs typeface="Calibri"/>
              </a:rPr>
              <a:t>5</a:t>
            </a:r>
            <a:r>
              <a:rPr sz="2850" spc="-75" baseline="2923" dirty="0">
                <a:latin typeface="Trebuchet MS"/>
                <a:cs typeface="Trebuchet MS"/>
              </a:rPr>
              <a:t> </a:t>
            </a:r>
            <a:endParaRPr sz="2850" baseline="2923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337654" y="4528089"/>
            <a:ext cx="18923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230893" y="3340392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0 − 5 −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242515" y="3089247"/>
            <a:ext cx="842644" cy="370205"/>
            <a:chOff x="10242515" y="3089247"/>
            <a:chExt cx="842644" cy="370205"/>
          </a:xfrm>
        </p:grpSpPr>
        <p:sp>
          <p:nvSpPr>
            <p:cNvPr id="51" name="object 51"/>
            <p:cNvSpPr/>
            <p:nvPr/>
          </p:nvSpPr>
          <p:spPr>
            <a:xfrm>
              <a:off x="10315135" y="3128777"/>
              <a:ext cx="757555" cy="317500"/>
            </a:xfrm>
            <a:custGeom>
              <a:avLst/>
              <a:gdLst/>
              <a:ahLst/>
              <a:cxnLst/>
              <a:rect l="l" t="t" r="r" b="b"/>
              <a:pathLst>
                <a:path w="757554" h="317500">
                  <a:moveTo>
                    <a:pt x="0" y="0"/>
                  </a:moveTo>
                  <a:lnTo>
                    <a:pt x="11712" y="4909"/>
                  </a:lnTo>
                  <a:lnTo>
                    <a:pt x="757233" y="317377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242515" y="3089247"/>
              <a:ext cx="136525" cy="113030"/>
            </a:xfrm>
            <a:custGeom>
              <a:avLst/>
              <a:gdLst/>
              <a:ahLst/>
              <a:cxnLst/>
              <a:rect l="l" t="t" r="r" b="b"/>
              <a:pathLst>
                <a:path w="136525" h="113030">
                  <a:moveTo>
                    <a:pt x="136006" y="0"/>
                  </a:moveTo>
                  <a:lnTo>
                    <a:pt x="0" y="9093"/>
                  </a:lnTo>
                  <a:lnTo>
                    <a:pt x="88878" y="112443"/>
                  </a:lnTo>
                  <a:lnTo>
                    <a:pt x="84331" y="44439"/>
                  </a:lnTo>
                  <a:lnTo>
                    <a:pt x="136006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778000" y="7249172"/>
            <a:ext cx="8283575" cy="99314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30"/>
              </a:spcBef>
              <a:tabLst>
                <a:tab pos="6339840" algn="l"/>
              </a:tabLst>
            </a:pPr>
            <a:r>
              <a:rPr sz="3600" baseline="2314" dirty="0">
                <a:latin typeface="Lucida Sans Unicode"/>
                <a:cs typeface="Lucida Sans Unicode"/>
              </a:rPr>
              <a:t>define</a:t>
            </a:r>
            <a:r>
              <a:rPr sz="3600" spc="-60" baseline="2314" dirty="0">
                <a:latin typeface="Lucida Sans Unicode"/>
                <a:cs typeface="Lucida Sans Unicode"/>
              </a:rPr>
              <a:t> </a:t>
            </a:r>
            <a:r>
              <a:rPr sz="3600" baseline="2314" dirty="0">
                <a:latin typeface="Lucida Sans Unicode"/>
                <a:cs typeface="Lucida Sans Unicode"/>
              </a:rPr>
              <a:t>array</a:t>
            </a:r>
            <a:r>
              <a:rPr sz="3600" spc="-60" baseline="2314" dirty="0">
                <a:latin typeface="Lucida Sans Unicode"/>
                <a:cs typeface="Lucida Sans Unicode"/>
              </a:rPr>
              <a:t> </a:t>
            </a:r>
            <a:r>
              <a:rPr sz="3600" i="1" baseline="2314" dirty="0">
                <a:latin typeface="Times New Roman"/>
                <a:cs typeface="Times New Roman"/>
              </a:rPr>
              <a:t>x</a:t>
            </a:r>
            <a:r>
              <a:rPr sz="3600" i="1" spc="179" baseline="2314" dirty="0">
                <a:latin typeface="Times New Roman"/>
                <a:cs typeface="Times New Roman"/>
              </a:rPr>
              <a:t> </a:t>
            </a:r>
            <a:r>
              <a:rPr sz="3600" baseline="2314" dirty="0">
                <a:latin typeface="Lucida Sans Unicode"/>
                <a:cs typeface="Lucida Sans Unicode"/>
              </a:rPr>
              <a:t>using</a:t>
            </a:r>
            <a:r>
              <a:rPr sz="3600" spc="-60" baseline="2314" dirty="0">
                <a:latin typeface="Lucida Sans Unicode"/>
                <a:cs typeface="Lucida Sans Unicode"/>
              </a:rPr>
              <a:t> </a:t>
            </a:r>
            <a:r>
              <a:rPr sz="3600" spc="-120" baseline="2314" dirty="0">
                <a:latin typeface="Lucida Sans Unicode"/>
                <a:cs typeface="Lucida Sans Unicode"/>
              </a:rPr>
              <a:t>row-</a:t>
            </a:r>
            <a:r>
              <a:rPr sz="3600" spc="-60" baseline="2314" dirty="0">
                <a:latin typeface="Lucida Sans Unicode"/>
                <a:cs typeface="Lucida Sans Unicode"/>
              </a:rPr>
              <a:t>sum </a:t>
            </a:r>
            <a:r>
              <a:rPr sz="3600" spc="-15" baseline="2314" dirty="0">
                <a:latin typeface="Lucida Sans Unicode"/>
                <a:cs typeface="Lucida Sans Unicode"/>
              </a:rPr>
              <a:t>differences:</a:t>
            </a:r>
            <a:r>
              <a:rPr sz="3600" baseline="2314" dirty="0">
                <a:latin typeface="Lucida Sans Unicode"/>
                <a:cs typeface="Lucida Sans Unicode"/>
              </a:rPr>
              <a:t>	</a:t>
            </a:r>
            <a:r>
              <a:rPr sz="3600" i="1" spc="465" baseline="8101" dirty="0">
                <a:latin typeface="Calibri"/>
                <a:cs typeface="Calibri"/>
              </a:rPr>
              <a:t>x</a:t>
            </a:r>
            <a:r>
              <a:rPr sz="1650" i="1" spc="310" dirty="0">
                <a:latin typeface="Calibri"/>
                <a:cs typeface="Calibri"/>
              </a:rPr>
              <a:t>i</a:t>
            </a:r>
            <a:r>
              <a:rPr sz="1650" i="1" spc="415" dirty="0">
                <a:latin typeface="Calibri"/>
                <a:cs typeface="Calibri"/>
              </a:rPr>
              <a:t> </a:t>
            </a:r>
            <a:r>
              <a:rPr sz="3600" spc="967" baseline="8101" dirty="0">
                <a:latin typeface="Calibri"/>
                <a:cs typeface="Calibri"/>
              </a:rPr>
              <a:t>=</a:t>
            </a:r>
            <a:r>
              <a:rPr sz="3600" spc="187" baseline="8101" dirty="0">
                <a:latin typeface="Calibri"/>
                <a:cs typeface="Calibri"/>
              </a:rPr>
              <a:t> </a:t>
            </a:r>
            <a:r>
              <a:rPr sz="3600" i="1" spc="502" baseline="8101" dirty="0">
                <a:latin typeface="Calibri"/>
                <a:cs typeface="Calibri"/>
              </a:rPr>
              <a:t>S</a:t>
            </a:r>
            <a:r>
              <a:rPr sz="1650" i="1" spc="335" dirty="0">
                <a:latin typeface="Calibri"/>
                <a:cs typeface="Calibri"/>
              </a:rPr>
              <a:t>ij</a:t>
            </a:r>
            <a:r>
              <a:rPr sz="1800" i="1" spc="502" baseline="23148" dirty="0">
                <a:latin typeface="Verdana"/>
                <a:cs typeface="Verdana"/>
              </a:rPr>
              <a:t>'</a:t>
            </a:r>
            <a:r>
              <a:rPr sz="1800" i="1" spc="540" baseline="23148" dirty="0">
                <a:latin typeface="Verdana"/>
                <a:cs typeface="Verdana"/>
              </a:rPr>
              <a:t> </a:t>
            </a:r>
            <a:r>
              <a:rPr sz="3600" i="1" spc="-322" baseline="8101" dirty="0">
                <a:latin typeface="Georgia"/>
                <a:cs typeface="Georgia"/>
              </a:rPr>
              <a:t>—</a:t>
            </a:r>
            <a:r>
              <a:rPr sz="3600" i="1" spc="-60" baseline="8101" dirty="0">
                <a:latin typeface="Georgia"/>
                <a:cs typeface="Georgia"/>
              </a:rPr>
              <a:t> </a:t>
            </a:r>
            <a:r>
              <a:rPr sz="3600" i="1" spc="487" baseline="8101" dirty="0">
                <a:latin typeface="Calibri"/>
                <a:cs typeface="Calibri"/>
              </a:rPr>
              <a:t>S</a:t>
            </a:r>
            <a:r>
              <a:rPr sz="1650" i="1" spc="325" dirty="0">
                <a:latin typeface="Calibri"/>
                <a:cs typeface="Calibri"/>
              </a:rPr>
              <a:t>ij</a:t>
            </a:r>
            <a:endParaRPr sz="16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Kadane’s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23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5864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677795" algn="l"/>
                <a:tab pos="5735320" algn="l"/>
              </a:tabLst>
            </a:pPr>
            <a:r>
              <a:rPr sz="3600" b="1" cap="small" spc="-25" dirty="0">
                <a:latin typeface="Tahoma"/>
                <a:cs typeface="Tahoma"/>
              </a:rPr>
              <a:t>6.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Dynamic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Programming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275" dirty="0"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891405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weighted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D5D5D5"/>
                </a:solidFill>
                <a:latin typeface="Verdana"/>
                <a:cs typeface="Verdana"/>
              </a:rPr>
              <a:t>interval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scheduling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75" dirty="0">
                <a:latin typeface="Verdana"/>
                <a:cs typeface="Verdana"/>
              </a:rPr>
              <a:t>segmented</a:t>
            </a:r>
            <a:r>
              <a:rPr sz="3000" i="1" spc="-160" dirty="0">
                <a:latin typeface="Verdana"/>
                <a:cs typeface="Verdana"/>
              </a:rPr>
              <a:t> </a:t>
            </a:r>
            <a:r>
              <a:rPr sz="3000" i="1" spc="-305" dirty="0">
                <a:latin typeface="Verdana"/>
                <a:cs typeface="Verdana"/>
              </a:rPr>
              <a:t>least</a:t>
            </a:r>
            <a:r>
              <a:rPr sz="3000" i="1" spc="-160" dirty="0">
                <a:latin typeface="Verdana"/>
                <a:cs typeface="Verdana"/>
              </a:rPr>
              <a:t> </a:t>
            </a:r>
            <a:r>
              <a:rPr sz="3000" i="1" spc="-315" dirty="0">
                <a:latin typeface="Verdana"/>
                <a:cs typeface="Verdana"/>
              </a:rPr>
              <a:t>squares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knapsack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114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60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4904" y="6918652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6.3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Least</a:t>
            </a:r>
            <a:r>
              <a:rPr spc="-120" dirty="0"/>
              <a:t> </a:t>
            </a:r>
            <a:r>
              <a:rPr spc="-25" dirty="0"/>
              <a:t>squares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1030986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23475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Least</a:t>
            </a:r>
            <a:r>
              <a:rPr sz="24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squares.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Foundational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9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statistics.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  <a:tabLst>
                <a:tab pos="489966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plane: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y</a:t>
            </a:r>
            <a:r>
              <a:rPr sz="2400" i="1" spc="-30" baseline="-6944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= </a:t>
            </a:r>
            <a:r>
              <a:rPr sz="2400" i="1" dirty="0">
                <a:latin typeface="Times New Roman"/>
                <a:cs typeface="Times New Roman"/>
              </a:rPr>
              <a:t>ax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+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minimizes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squared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error: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7129780"/>
            <a:ext cx="7488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8125" algn="l"/>
                <a:tab pos="2947035" algn="l"/>
                <a:tab pos="3440429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Calculus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error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achieved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when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1458" y="3450590"/>
            <a:ext cx="3876675" cy="2741930"/>
            <a:chOff x="7721458" y="3450590"/>
            <a:chExt cx="3876675" cy="2741930"/>
          </a:xfrm>
        </p:grpSpPr>
        <p:sp>
          <p:nvSpPr>
            <p:cNvPr id="7" name="object 7"/>
            <p:cNvSpPr/>
            <p:nvPr/>
          </p:nvSpPr>
          <p:spPr>
            <a:xfrm>
              <a:off x="8066485" y="3520440"/>
              <a:ext cx="2540" cy="2665730"/>
            </a:xfrm>
            <a:custGeom>
              <a:avLst/>
              <a:gdLst/>
              <a:ahLst/>
              <a:cxnLst/>
              <a:rect l="l" t="t" r="r" b="b"/>
              <a:pathLst>
                <a:path w="2540" h="2665729">
                  <a:moveTo>
                    <a:pt x="0" y="0"/>
                  </a:moveTo>
                  <a:lnTo>
                    <a:pt x="5" y="6349"/>
                  </a:lnTo>
                  <a:lnTo>
                    <a:pt x="2215" y="266530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28405" y="3469640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037" y="0"/>
                  </a:moveTo>
                  <a:lnTo>
                    <a:pt x="0" y="76231"/>
                  </a:lnTo>
                  <a:lnTo>
                    <a:pt x="38084" y="57150"/>
                  </a:lnTo>
                  <a:lnTo>
                    <a:pt x="76200" y="76168"/>
                  </a:lnTo>
                  <a:lnTo>
                    <a:pt x="380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27808" y="5914136"/>
              <a:ext cx="3819525" cy="2540"/>
            </a:xfrm>
            <a:custGeom>
              <a:avLst/>
              <a:gdLst/>
              <a:ahLst/>
              <a:cxnLst/>
              <a:rect l="l" t="t" r="r" b="b"/>
              <a:pathLst>
                <a:path w="3819525" h="2539">
                  <a:moveTo>
                    <a:pt x="0" y="0"/>
                  </a:moveTo>
                  <a:lnTo>
                    <a:pt x="3812680" y="2224"/>
                  </a:lnTo>
                  <a:lnTo>
                    <a:pt x="3819030" y="22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21418" y="5878249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44" y="0"/>
                  </a:moveTo>
                  <a:lnTo>
                    <a:pt x="19071" y="38110"/>
                  </a:lnTo>
                  <a:lnTo>
                    <a:pt x="0" y="76200"/>
                  </a:lnTo>
                  <a:lnTo>
                    <a:pt x="76221" y="381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76702" y="3469640"/>
              <a:ext cx="3578860" cy="2227580"/>
            </a:xfrm>
            <a:custGeom>
              <a:avLst/>
              <a:gdLst/>
              <a:ahLst/>
              <a:cxnLst/>
              <a:rect l="l" t="t" r="r" b="b"/>
              <a:pathLst>
                <a:path w="3578859" h="2227579">
                  <a:moveTo>
                    <a:pt x="0" y="2227207"/>
                  </a:moveTo>
                  <a:lnTo>
                    <a:pt x="3578279" y="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76306" y="4231960"/>
              <a:ext cx="3810" cy="273685"/>
            </a:xfrm>
            <a:custGeom>
              <a:avLst/>
              <a:gdLst/>
              <a:ahLst/>
              <a:cxnLst/>
              <a:rect l="l" t="t" r="r" b="b"/>
              <a:pathLst>
                <a:path w="3809" h="273685">
                  <a:moveTo>
                    <a:pt x="0" y="0"/>
                  </a:moveTo>
                  <a:lnTo>
                    <a:pt x="3621" y="273421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4921" y="4931575"/>
              <a:ext cx="107312" cy="1181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22447" y="4442676"/>
              <a:ext cx="107312" cy="1181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0821" y="4388354"/>
              <a:ext cx="107312" cy="1181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4075" y="5257507"/>
              <a:ext cx="105501" cy="11816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26472" y="4822930"/>
              <a:ext cx="105501" cy="11816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239" y="4116743"/>
              <a:ext cx="105501" cy="1181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6211" y="4714285"/>
              <a:ext cx="105501" cy="1181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72955" y="3953776"/>
              <a:ext cx="107312" cy="1181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17217" y="4125797"/>
              <a:ext cx="105501" cy="11816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1002" y="3790810"/>
              <a:ext cx="105501" cy="11816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5448" y="4196415"/>
              <a:ext cx="107312" cy="11816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4906" y="3618790"/>
              <a:ext cx="107312" cy="11816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485152" y="6067071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15170" y="3448050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87630" y="9330537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25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53441" y="8302039"/>
            <a:ext cx="59055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1630" algn="l"/>
              </a:tabLst>
            </a:pPr>
            <a:r>
              <a:rPr sz="2400" i="1" spc="-50" dirty="0">
                <a:latin typeface="Calibri"/>
                <a:cs typeface="Calibri"/>
              </a:rPr>
              <a:t>a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23976" y="8092337"/>
            <a:ext cx="2076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35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56843" y="7864651"/>
            <a:ext cx="346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77492" y="827457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02714" y="8229162"/>
            <a:ext cx="36131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62255" algn="l"/>
              </a:tabLst>
            </a:pPr>
            <a:r>
              <a:rPr sz="1650" i="1" spc="250" dirty="0">
                <a:latin typeface="Calibri"/>
                <a:cs typeface="Calibri"/>
              </a:rPr>
              <a:t>i</a:t>
            </a:r>
            <a:r>
              <a:rPr sz="1650" i="1" dirty="0">
                <a:latin typeface="Calibri"/>
                <a:cs typeface="Calibri"/>
              </a:rPr>
              <a:t>	</a:t>
            </a: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9283" y="8092337"/>
            <a:ext cx="10388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4520" algn="l"/>
              </a:tabLst>
            </a:pPr>
            <a:r>
              <a:rPr sz="2400" i="1" spc="320" dirty="0">
                <a:latin typeface="Calibri"/>
                <a:cs typeface="Calibri"/>
              </a:rPr>
              <a:t>x</a:t>
            </a:r>
            <a:r>
              <a:rPr sz="2400" i="1" spc="250" dirty="0">
                <a:latin typeface="Calibri"/>
                <a:cs typeface="Calibri"/>
              </a:rPr>
              <a:t> </a:t>
            </a:r>
            <a:r>
              <a:rPr sz="2400" i="1" spc="25" dirty="0">
                <a:latin typeface="Calibri"/>
                <a:cs typeface="Calibri"/>
              </a:rPr>
              <a:t>y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50" dirty="0">
                <a:latin typeface="Georgia"/>
                <a:cs typeface="Georgia"/>
              </a:rPr>
              <a:t> </a:t>
            </a:r>
            <a:r>
              <a:rPr sz="2400" spc="145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88919" y="8229162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43048" y="7864651"/>
            <a:ext cx="132905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95044" algn="l"/>
              </a:tabLst>
            </a:pPr>
            <a:r>
              <a:rPr sz="2400" spc="1170" dirty="0">
                <a:latin typeface="Trebuchet MS"/>
                <a:cs typeface="Trebuchet MS"/>
              </a:rPr>
              <a:t>Σ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116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46677" y="827457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47210" y="8229162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15183" y="8092337"/>
            <a:ext cx="137668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95680" algn="l"/>
              </a:tabLst>
            </a:pPr>
            <a:r>
              <a:rPr sz="2400" i="1" spc="320" dirty="0">
                <a:latin typeface="Calibri"/>
                <a:cs typeface="Calibri"/>
              </a:rPr>
              <a:t>x</a:t>
            </a:r>
            <a:r>
              <a:rPr sz="2400" i="1" spc="250" dirty="0">
                <a:latin typeface="Calibri"/>
                <a:cs typeface="Calibri"/>
              </a:rPr>
              <a:t> </a:t>
            </a:r>
            <a:r>
              <a:rPr sz="2400" spc="160" dirty="0">
                <a:latin typeface="Calibri"/>
                <a:cs typeface="Calibri"/>
              </a:rPr>
              <a:t>)(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85" dirty="0">
                <a:latin typeface="Calibri"/>
                <a:cs typeface="Calibri"/>
              </a:rPr>
              <a:t>y</a:t>
            </a:r>
            <a:r>
              <a:rPr sz="2400" i="1" spc="250" dirty="0">
                <a:latin typeface="Calibri"/>
                <a:cs typeface="Calibri"/>
              </a:rPr>
              <a:t> </a:t>
            </a:r>
            <a:r>
              <a:rPr sz="2400" spc="14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636676" y="8542516"/>
            <a:ext cx="3542665" cy="0"/>
          </a:xfrm>
          <a:custGeom>
            <a:avLst/>
            <a:gdLst/>
            <a:ahLst/>
            <a:cxnLst/>
            <a:rect l="l" t="t" r="r" b="b"/>
            <a:pathLst>
              <a:path w="3542665">
                <a:moveTo>
                  <a:pt x="0" y="0"/>
                </a:moveTo>
                <a:lnTo>
                  <a:pt x="3542385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375307" y="8282532"/>
            <a:ext cx="346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95957" y="869245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21179" y="868605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17040" y="8510217"/>
            <a:ext cx="159321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42950" algn="l"/>
              </a:tabLst>
            </a:pPr>
            <a:r>
              <a:rPr sz="2400" i="1" spc="135" dirty="0">
                <a:latin typeface="Calibri"/>
                <a:cs typeface="Calibri"/>
              </a:rPr>
              <a:t>n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215" dirty="0">
                <a:latin typeface="Calibri"/>
                <a:cs typeface="Calibri"/>
              </a:rPr>
              <a:t>x</a:t>
            </a:r>
            <a:r>
              <a:rPr sz="2475" spc="322" baseline="26936" dirty="0">
                <a:latin typeface="Calibri"/>
                <a:cs typeface="Calibri"/>
              </a:rPr>
              <a:t>2</a:t>
            </a:r>
            <a:r>
              <a:rPr sz="2475" spc="412" baseline="26936" dirty="0">
                <a:latin typeface="Calibri"/>
                <a:cs typeface="Calibri"/>
              </a:rPr>
              <a:t> 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spc="145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21228" y="8183472"/>
            <a:ext cx="17907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600" spc="-1620" baseline="-18518" dirty="0">
                <a:latin typeface="Trebuchet MS"/>
                <a:cs typeface="Trebuchet MS"/>
              </a:rPr>
              <a:t>Σ</a:t>
            </a:r>
            <a:r>
              <a:rPr sz="1650" i="1" spc="155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67278" y="869245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93363" y="8510217"/>
            <a:ext cx="59055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00" i="1" spc="240" dirty="0">
                <a:latin typeface="Calibri"/>
                <a:cs typeface="Calibri"/>
              </a:rPr>
              <a:t>x</a:t>
            </a:r>
            <a:r>
              <a:rPr sz="2475" i="1" spc="359" baseline="-11784" dirty="0">
                <a:latin typeface="Calibri"/>
                <a:cs typeface="Calibri"/>
              </a:rPr>
              <a:t>i</a:t>
            </a:r>
            <a:r>
              <a:rPr sz="2400" spc="240" dirty="0">
                <a:latin typeface="Calibri"/>
                <a:cs typeface="Calibri"/>
              </a:rPr>
              <a:t>)</a:t>
            </a:r>
            <a:r>
              <a:rPr sz="2475" spc="359" baseline="23569" dirty="0">
                <a:latin typeface="Calibri"/>
                <a:cs typeface="Calibri"/>
              </a:rPr>
              <a:t>2</a:t>
            </a:r>
            <a:endParaRPr sz="2475" baseline="23569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02937" y="8302039"/>
            <a:ext cx="99949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0850" algn="l"/>
                <a:tab pos="749935" algn="l"/>
              </a:tabLst>
            </a:pPr>
            <a:r>
              <a:rPr sz="2400" i="1" spc="1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-50" dirty="0">
                <a:latin typeface="Calibri"/>
                <a:cs typeface="Calibri"/>
              </a:rPr>
              <a:t>b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81904" y="7864651"/>
            <a:ext cx="346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02249" y="827457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02782" y="8229162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54039" y="8092337"/>
            <a:ext cx="80708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9565" algn="l"/>
              </a:tabLst>
            </a:pPr>
            <a:r>
              <a:rPr sz="2400" i="1" spc="35" dirty="0">
                <a:latin typeface="Calibri"/>
                <a:cs typeface="Calibri"/>
              </a:rPr>
              <a:t>y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i="1" spc="-6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86143" y="7864651"/>
            <a:ext cx="346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06792" y="8274577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58583" y="8092337"/>
            <a:ext cx="19939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270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332014" y="8229162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394604" y="8542516"/>
            <a:ext cx="2051685" cy="0"/>
          </a:xfrm>
          <a:custGeom>
            <a:avLst/>
            <a:gdLst/>
            <a:ahLst/>
            <a:cxnLst/>
            <a:rect l="l" t="t" r="r" b="b"/>
            <a:pathLst>
              <a:path w="2051684">
                <a:moveTo>
                  <a:pt x="0" y="0"/>
                </a:moveTo>
                <a:lnTo>
                  <a:pt x="2051304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316421" y="8510217"/>
            <a:ext cx="2076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35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24933" y="3192282"/>
            <a:ext cx="10795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29944" algn="l"/>
              </a:tabLst>
            </a:pPr>
            <a:r>
              <a:rPr sz="2400" i="1" spc="505" dirty="0">
                <a:latin typeface="Calibri"/>
                <a:cs typeface="Calibri"/>
              </a:rPr>
              <a:t>SSE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91961" y="2903911"/>
            <a:ext cx="17589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80" dirty="0">
                <a:latin typeface="Calibri"/>
                <a:cs typeface="Calibri"/>
              </a:rPr>
              <a:t>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47791" y="2903941"/>
            <a:ext cx="464184" cy="1018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2095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400">
              <a:latin typeface="Trebuchet MS"/>
              <a:cs typeface="Trebuchet MS"/>
            </a:endParaRPr>
          </a:p>
          <a:p>
            <a:pPr marL="34925">
              <a:lnSpc>
                <a:spcPct val="100000"/>
              </a:lnSpc>
            </a:pPr>
            <a:r>
              <a:rPr sz="1650" i="1" spc="320" dirty="0">
                <a:latin typeface="Calibri"/>
                <a:cs typeface="Calibri"/>
              </a:rPr>
              <a:t>i</a:t>
            </a:r>
            <a:r>
              <a:rPr sz="1650" spc="320" dirty="0">
                <a:latin typeface="Calibri"/>
                <a:cs typeface="Calibri"/>
              </a:rPr>
              <a:t>=1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70523" y="3192282"/>
            <a:ext cx="29273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4" dirty="0">
                <a:latin typeface="Calibri"/>
                <a:cs typeface="Calibri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637528" y="3329106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444029" y="3329106"/>
            <a:ext cx="1117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50" dirty="0">
                <a:latin typeface="Calibri"/>
                <a:cs typeface="Calibri"/>
              </a:rPr>
              <a:t>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06082" y="3192282"/>
            <a:ext cx="13836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18515" algn="l"/>
              </a:tabLst>
            </a:pPr>
            <a:r>
              <a:rPr sz="2400" i="1" spc="-215" dirty="0">
                <a:latin typeface="Georgia"/>
                <a:cs typeface="Georgia"/>
              </a:rPr>
              <a:t>—</a:t>
            </a:r>
            <a:r>
              <a:rPr sz="2400" i="1" spc="-40" dirty="0">
                <a:latin typeface="Georgia"/>
                <a:cs typeface="Georgia"/>
              </a:rPr>
              <a:t> </a:t>
            </a:r>
            <a:r>
              <a:rPr sz="2400" i="1" spc="145" dirty="0">
                <a:latin typeface="Calibri"/>
                <a:cs typeface="Calibri"/>
              </a:rPr>
              <a:t>ax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50" dirty="0">
                <a:latin typeface="Georgia"/>
                <a:cs typeface="Georgia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64576" y="3158114"/>
            <a:ext cx="14668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55" dirty="0">
                <a:latin typeface="Calibri"/>
                <a:cs typeface="Calibri"/>
              </a:rPr>
              <a:t>2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Segmented</a:t>
            </a:r>
            <a:r>
              <a:rPr spc="-85" dirty="0"/>
              <a:t> </a:t>
            </a:r>
            <a:r>
              <a:rPr dirty="0"/>
              <a:t>least</a:t>
            </a:r>
            <a:r>
              <a:rPr spc="-85" dirty="0"/>
              <a:t> </a:t>
            </a:r>
            <a:r>
              <a:rPr spc="-10" dirty="0"/>
              <a:t>squares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338580"/>
            <a:ext cx="11236325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Segmented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least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squares.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roughly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several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</a:t>
            </a:r>
            <a:r>
              <a:rPr sz="2400" spc="-10" dirty="0">
                <a:latin typeface="Lucida Sans Unicode"/>
                <a:cs typeface="Lucida Sans Unicode"/>
              </a:rPr>
              <a:t> segments.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491236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plane: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with</a:t>
            </a:r>
            <a:endParaRPr sz="2400">
              <a:latin typeface="Lucida Sans Unicode"/>
              <a:cs typeface="Lucida Sans Unicode"/>
            </a:endParaRPr>
          </a:p>
          <a:p>
            <a:pPr marL="635000">
              <a:lnSpc>
                <a:spcPct val="100000"/>
              </a:lnSpc>
              <a:spcBef>
                <a:spcPts val="630"/>
              </a:spcBef>
            </a:pP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24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270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minimizes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x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reasonable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choice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balance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accuracy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parsimony?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70050" y="5269512"/>
            <a:ext cx="6101080" cy="4123690"/>
            <a:chOff x="1670050" y="5269512"/>
            <a:chExt cx="6101080" cy="4123690"/>
          </a:xfrm>
        </p:grpSpPr>
        <p:sp>
          <p:nvSpPr>
            <p:cNvPr id="6" name="object 6"/>
            <p:cNvSpPr/>
            <p:nvPr/>
          </p:nvSpPr>
          <p:spPr>
            <a:xfrm>
              <a:off x="2151137" y="5702723"/>
              <a:ext cx="2540" cy="3681095"/>
            </a:xfrm>
            <a:custGeom>
              <a:avLst/>
              <a:gdLst/>
              <a:ahLst/>
              <a:cxnLst/>
              <a:rect l="l" t="t" r="r" b="b"/>
              <a:pathLst>
                <a:path w="2539" h="3681095">
                  <a:moveTo>
                    <a:pt x="0" y="0"/>
                  </a:moveTo>
                  <a:lnTo>
                    <a:pt x="5" y="9524"/>
                  </a:lnTo>
                  <a:lnTo>
                    <a:pt x="2218" y="368088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01627" y="5637953"/>
              <a:ext cx="99060" cy="99695"/>
            </a:xfrm>
            <a:custGeom>
              <a:avLst/>
              <a:gdLst/>
              <a:ahLst/>
              <a:cxnLst/>
              <a:rect l="l" t="t" r="r" b="b"/>
              <a:pathLst>
                <a:path w="99060" h="99695">
                  <a:moveTo>
                    <a:pt x="49470" y="0"/>
                  </a:moveTo>
                  <a:lnTo>
                    <a:pt x="0" y="99090"/>
                  </a:lnTo>
                  <a:lnTo>
                    <a:pt x="49514" y="74295"/>
                  </a:lnTo>
                  <a:lnTo>
                    <a:pt x="99060" y="99030"/>
                  </a:lnTo>
                  <a:lnTo>
                    <a:pt x="49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76307" y="9008816"/>
              <a:ext cx="5929630" cy="2540"/>
            </a:xfrm>
            <a:custGeom>
              <a:avLst/>
              <a:gdLst/>
              <a:ahLst/>
              <a:cxnLst/>
              <a:rect l="l" t="t" r="r" b="b"/>
              <a:pathLst>
                <a:path w="5929630" h="2540">
                  <a:moveTo>
                    <a:pt x="0" y="0"/>
                  </a:moveTo>
                  <a:lnTo>
                    <a:pt x="5920105" y="2229"/>
                  </a:lnTo>
                  <a:lnTo>
                    <a:pt x="5929630" y="22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71627" y="8961506"/>
              <a:ext cx="99695" cy="99060"/>
            </a:xfrm>
            <a:custGeom>
              <a:avLst/>
              <a:gdLst/>
              <a:ahLst/>
              <a:cxnLst/>
              <a:rect l="l" t="t" r="r" b="b"/>
              <a:pathLst>
                <a:path w="99695" h="99059">
                  <a:moveTo>
                    <a:pt x="36" y="0"/>
                  </a:moveTo>
                  <a:lnTo>
                    <a:pt x="24784" y="49539"/>
                  </a:lnTo>
                  <a:lnTo>
                    <a:pt x="0" y="99059"/>
                  </a:lnTo>
                  <a:lnTo>
                    <a:pt x="99079" y="49567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0290" y="7805173"/>
              <a:ext cx="158538" cy="1607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00680" y="8259234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5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6337" y="7881937"/>
              <a:ext cx="158538" cy="1607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49978" y="811022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8317" y="7730666"/>
              <a:ext cx="160796" cy="1585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8050" y="7430382"/>
              <a:ext cx="158538" cy="1607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23649" y="773542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6362" y="6156995"/>
              <a:ext cx="160796" cy="16079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6077" y="6827837"/>
              <a:ext cx="160796" cy="15853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1571" y="7206862"/>
              <a:ext cx="160796" cy="1585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97604" y="653654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46618" y="5867400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4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8753" y="7730666"/>
              <a:ext cx="158538" cy="15853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8184" y="7656159"/>
              <a:ext cx="158538" cy="15853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18602" y="7730666"/>
              <a:ext cx="160796" cy="15853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51667" y="8333740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5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98990" y="7961207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4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3962" y="7656159"/>
              <a:ext cx="158538" cy="15853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095630" y="5712460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5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1286" y="7730666"/>
              <a:ext cx="160796" cy="15853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998154" y="7586416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4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92841" y="6231502"/>
              <a:ext cx="158538" cy="1607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46334" y="6462042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5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51700" y="5563447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1126" y="8480249"/>
              <a:ext cx="158538" cy="1585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89100" y="7836182"/>
              <a:ext cx="2472690" cy="1049020"/>
            </a:xfrm>
            <a:custGeom>
              <a:avLst/>
              <a:gdLst/>
              <a:ahLst/>
              <a:cxnLst/>
              <a:rect l="l" t="t" r="r" b="b"/>
              <a:pathLst>
                <a:path w="2472690" h="1049020">
                  <a:moveTo>
                    <a:pt x="0" y="1049020"/>
                  </a:moveTo>
                  <a:lnTo>
                    <a:pt x="2472444" y="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84144" y="5288562"/>
              <a:ext cx="899160" cy="2472690"/>
            </a:xfrm>
            <a:custGeom>
              <a:avLst/>
              <a:gdLst/>
              <a:ahLst/>
              <a:cxnLst/>
              <a:rect l="l" t="t" r="r" b="b"/>
              <a:pathLst>
                <a:path w="899159" h="2472690">
                  <a:moveTo>
                    <a:pt x="899070" y="0"/>
                  </a:moveTo>
                  <a:lnTo>
                    <a:pt x="0" y="247269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61544" y="7761253"/>
              <a:ext cx="2322830" cy="74930"/>
            </a:xfrm>
            <a:custGeom>
              <a:avLst/>
              <a:gdLst/>
              <a:ahLst/>
              <a:cxnLst/>
              <a:rect l="l" t="t" r="r" b="b"/>
              <a:pathLst>
                <a:path w="2322829" h="74929">
                  <a:moveTo>
                    <a:pt x="0" y="74930"/>
                  </a:moveTo>
                  <a:lnTo>
                    <a:pt x="2322600" y="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09107" y="5629062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46767" y="4598607"/>
            <a:ext cx="15132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goodness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fit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767798" y="4176041"/>
            <a:ext cx="121920" cy="410209"/>
            <a:chOff x="8767798" y="4176041"/>
            <a:chExt cx="121920" cy="410209"/>
          </a:xfrm>
        </p:grpSpPr>
        <p:sp>
          <p:nvSpPr>
            <p:cNvPr id="41" name="object 41"/>
            <p:cNvSpPr/>
            <p:nvPr/>
          </p:nvSpPr>
          <p:spPr>
            <a:xfrm>
              <a:off x="8828758" y="4254781"/>
              <a:ext cx="0" cy="331470"/>
            </a:xfrm>
            <a:custGeom>
              <a:avLst/>
              <a:gdLst/>
              <a:ahLst/>
              <a:cxnLst/>
              <a:rect l="l" t="t" r="r" b="b"/>
              <a:pathLst>
                <a:path h="331470">
                  <a:moveTo>
                    <a:pt x="0" y="0"/>
                  </a:moveTo>
                  <a:lnTo>
                    <a:pt x="0" y="12700"/>
                  </a:lnTo>
                  <a:lnTo>
                    <a:pt x="0" y="33086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67798" y="4176041"/>
              <a:ext cx="121920" cy="12191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0323626" y="4604816"/>
            <a:ext cx="1579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number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lines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0975340" y="4178300"/>
            <a:ext cx="121920" cy="410209"/>
            <a:chOff x="10975340" y="4178300"/>
            <a:chExt cx="121920" cy="410209"/>
          </a:xfrm>
        </p:grpSpPr>
        <p:sp>
          <p:nvSpPr>
            <p:cNvPr id="45" name="object 45"/>
            <p:cNvSpPr/>
            <p:nvPr/>
          </p:nvSpPr>
          <p:spPr>
            <a:xfrm>
              <a:off x="11036300" y="4257039"/>
              <a:ext cx="0" cy="331470"/>
            </a:xfrm>
            <a:custGeom>
              <a:avLst/>
              <a:gdLst/>
              <a:ahLst/>
              <a:cxnLst/>
              <a:rect l="l" t="t" r="r" b="b"/>
              <a:pathLst>
                <a:path h="331470">
                  <a:moveTo>
                    <a:pt x="0" y="0"/>
                  </a:moveTo>
                  <a:lnTo>
                    <a:pt x="0" y="12700"/>
                  </a:lnTo>
                  <a:lnTo>
                    <a:pt x="0" y="33086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75340" y="4178300"/>
              <a:ext cx="121919" cy="12192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466024" y="9276362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Segmented</a:t>
            </a:r>
            <a:r>
              <a:rPr spc="-85" dirty="0"/>
              <a:t> </a:t>
            </a:r>
            <a:r>
              <a:rPr dirty="0"/>
              <a:t>least</a:t>
            </a:r>
            <a:r>
              <a:rPr spc="-85" dirty="0"/>
              <a:t> </a:t>
            </a:r>
            <a:r>
              <a:rPr spc="-10" dirty="0"/>
              <a:t>squares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70050" y="5269512"/>
            <a:ext cx="6101080" cy="4123690"/>
            <a:chOff x="1670050" y="5269512"/>
            <a:chExt cx="6101080" cy="4123690"/>
          </a:xfrm>
        </p:grpSpPr>
        <p:sp>
          <p:nvSpPr>
            <p:cNvPr id="5" name="object 5"/>
            <p:cNvSpPr/>
            <p:nvPr/>
          </p:nvSpPr>
          <p:spPr>
            <a:xfrm>
              <a:off x="2151137" y="5702723"/>
              <a:ext cx="2540" cy="3681095"/>
            </a:xfrm>
            <a:custGeom>
              <a:avLst/>
              <a:gdLst/>
              <a:ahLst/>
              <a:cxnLst/>
              <a:rect l="l" t="t" r="r" b="b"/>
              <a:pathLst>
                <a:path w="2539" h="3681095">
                  <a:moveTo>
                    <a:pt x="0" y="0"/>
                  </a:moveTo>
                  <a:lnTo>
                    <a:pt x="5" y="9524"/>
                  </a:lnTo>
                  <a:lnTo>
                    <a:pt x="2218" y="368088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01627" y="5637953"/>
              <a:ext cx="99060" cy="99695"/>
            </a:xfrm>
            <a:custGeom>
              <a:avLst/>
              <a:gdLst/>
              <a:ahLst/>
              <a:cxnLst/>
              <a:rect l="l" t="t" r="r" b="b"/>
              <a:pathLst>
                <a:path w="99060" h="99695">
                  <a:moveTo>
                    <a:pt x="49470" y="0"/>
                  </a:moveTo>
                  <a:lnTo>
                    <a:pt x="0" y="99090"/>
                  </a:lnTo>
                  <a:lnTo>
                    <a:pt x="49514" y="74295"/>
                  </a:lnTo>
                  <a:lnTo>
                    <a:pt x="99060" y="99030"/>
                  </a:lnTo>
                  <a:lnTo>
                    <a:pt x="49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6307" y="9008816"/>
              <a:ext cx="5929630" cy="2540"/>
            </a:xfrm>
            <a:custGeom>
              <a:avLst/>
              <a:gdLst/>
              <a:ahLst/>
              <a:cxnLst/>
              <a:rect l="l" t="t" r="r" b="b"/>
              <a:pathLst>
                <a:path w="5929630" h="2540">
                  <a:moveTo>
                    <a:pt x="0" y="0"/>
                  </a:moveTo>
                  <a:lnTo>
                    <a:pt x="5920105" y="2229"/>
                  </a:lnTo>
                  <a:lnTo>
                    <a:pt x="5929630" y="22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71627" y="8961506"/>
              <a:ext cx="99695" cy="99060"/>
            </a:xfrm>
            <a:custGeom>
              <a:avLst/>
              <a:gdLst/>
              <a:ahLst/>
              <a:cxnLst/>
              <a:rect l="l" t="t" r="r" b="b"/>
              <a:pathLst>
                <a:path w="99695" h="99059">
                  <a:moveTo>
                    <a:pt x="36" y="0"/>
                  </a:moveTo>
                  <a:lnTo>
                    <a:pt x="24784" y="49539"/>
                  </a:lnTo>
                  <a:lnTo>
                    <a:pt x="0" y="99059"/>
                  </a:lnTo>
                  <a:lnTo>
                    <a:pt x="99079" y="49567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0290" y="7805173"/>
              <a:ext cx="158538" cy="1607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00680" y="8259234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5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6337" y="7881937"/>
              <a:ext cx="158538" cy="1607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49978" y="811022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8317" y="7730666"/>
              <a:ext cx="160796" cy="1585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8050" y="7430382"/>
              <a:ext cx="158538" cy="16079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923649" y="773542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6362" y="6156995"/>
              <a:ext cx="160796" cy="16079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6077" y="6827837"/>
              <a:ext cx="160796" cy="1585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1571" y="7206862"/>
              <a:ext cx="160796" cy="15853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97604" y="653654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46618" y="5867400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4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8753" y="7730666"/>
              <a:ext cx="158538" cy="1585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8184" y="7656159"/>
              <a:ext cx="158538" cy="15853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18602" y="7730666"/>
              <a:ext cx="160796" cy="15853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51667" y="8333740"/>
              <a:ext cx="149225" cy="151765"/>
            </a:xfrm>
            <a:custGeom>
              <a:avLst/>
              <a:gdLst/>
              <a:ahLst/>
              <a:cxnLst/>
              <a:rect l="l" t="t" r="r" b="b"/>
              <a:pathLst>
                <a:path w="149225" h="151765">
                  <a:moveTo>
                    <a:pt x="127190" y="22153"/>
                  </a:moveTo>
                  <a:lnTo>
                    <a:pt x="143557" y="47173"/>
                  </a:lnTo>
                  <a:lnTo>
                    <a:pt x="149013" y="75635"/>
                  </a:lnTo>
                  <a:lnTo>
                    <a:pt x="143557" y="104097"/>
                  </a:lnTo>
                  <a:lnTo>
                    <a:pt x="127190" y="129117"/>
                  </a:lnTo>
                  <a:lnTo>
                    <a:pt x="102543" y="145732"/>
                  </a:lnTo>
                  <a:lnTo>
                    <a:pt x="74506" y="151271"/>
                  </a:lnTo>
                  <a:lnTo>
                    <a:pt x="46469" y="145732"/>
                  </a:lnTo>
                  <a:lnTo>
                    <a:pt x="21822" y="129117"/>
                  </a:lnTo>
                  <a:lnTo>
                    <a:pt x="5455" y="104097"/>
                  </a:lnTo>
                  <a:lnTo>
                    <a:pt x="0" y="75635"/>
                  </a:lnTo>
                  <a:lnTo>
                    <a:pt x="5455" y="47173"/>
                  </a:lnTo>
                  <a:lnTo>
                    <a:pt x="21822" y="22153"/>
                  </a:lnTo>
                  <a:lnTo>
                    <a:pt x="46469" y="5538"/>
                  </a:lnTo>
                  <a:lnTo>
                    <a:pt x="74506" y="0"/>
                  </a:lnTo>
                  <a:lnTo>
                    <a:pt x="102543" y="5538"/>
                  </a:lnTo>
                  <a:lnTo>
                    <a:pt x="127190" y="221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98990" y="7961207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4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3962" y="7656159"/>
              <a:ext cx="158538" cy="15853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95630" y="5712460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5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1286" y="7730666"/>
              <a:ext cx="160796" cy="15853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98154" y="7586416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4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92841" y="6231502"/>
              <a:ext cx="158538" cy="1607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46334" y="6462042"/>
              <a:ext cx="151765" cy="149225"/>
            </a:xfrm>
            <a:custGeom>
              <a:avLst/>
              <a:gdLst/>
              <a:ahLst/>
              <a:cxnLst/>
              <a:rect l="l" t="t" r="r" b="b"/>
              <a:pathLst>
                <a:path w="151765" h="149225">
                  <a:moveTo>
                    <a:pt x="129117" y="21822"/>
                  </a:moveTo>
                  <a:lnTo>
                    <a:pt x="145732" y="46469"/>
                  </a:lnTo>
                  <a:lnTo>
                    <a:pt x="151271" y="74506"/>
                  </a:lnTo>
                  <a:lnTo>
                    <a:pt x="145732" y="102543"/>
                  </a:lnTo>
                  <a:lnTo>
                    <a:pt x="129117" y="127190"/>
                  </a:lnTo>
                  <a:lnTo>
                    <a:pt x="104097" y="143557"/>
                  </a:lnTo>
                  <a:lnTo>
                    <a:pt x="75635" y="149013"/>
                  </a:lnTo>
                  <a:lnTo>
                    <a:pt x="47173" y="143557"/>
                  </a:lnTo>
                  <a:lnTo>
                    <a:pt x="22153" y="127190"/>
                  </a:lnTo>
                  <a:lnTo>
                    <a:pt x="5538" y="102543"/>
                  </a:lnTo>
                  <a:lnTo>
                    <a:pt x="0" y="74506"/>
                  </a:lnTo>
                  <a:lnTo>
                    <a:pt x="5538" y="46469"/>
                  </a:lnTo>
                  <a:lnTo>
                    <a:pt x="22153" y="21822"/>
                  </a:lnTo>
                  <a:lnTo>
                    <a:pt x="47173" y="5455"/>
                  </a:lnTo>
                  <a:lnTo>
                    <a:pt x="75635" y="0"/>
                  </a:lnTo>
                  <a:lnTo>
                    <a:pt x="104097" y="5455"/>
                  </a:lnTo>
                  <a:lnTo>
                    <a:pt x="129117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51700" y="5563447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127190" y="21822"/>
                  </a:moveTo>
                  <a:lnTo>
                    <a:pt x="143557" y="46469"/>
                  </a:lnTo>
                  <a:lnTo>
                    <a:pt x="149013" y="74506"/>
                  </a:lnTo>
                  <a:lnTo>
                    <a:pt x="143557" y="102543"/>
                  </a:lnTo>
                  <a:lnTo>
                    <a:pt x="127190" y="127190"/>
                  </a:lnTo>
                  <a:lnTo>
                    <a:pt x="102543" y="143557"/>
                  </a:lnTo>
                  <a:lnTo>
                    <a:pt x="74506" y="149013"/>
                  </a:lnTo>
                  <a:lnTo>
                    <a:pt x="46469" y="143557"/>
                  </a:lnTo>
                  <a:lnTo>
                    <a:pt x="21822" y="127190"/>
                  </a:lnTo>
                  <a:lnTo>
                    <a:pt x="5455" y="102543"/>
                  </a:lnTo>
                  <a:lnTo>
                    <a:pt x="0" y="74506"/>
                  </a:lnTo>
                  <a:lnTo>
                    <a:pt x="5455" y="46469"/>
                  </a:lnTo>
                  <a:lnTo>
                    <a:pt x="21822" y="21822"/>
                  </a:lnTo>
                  <a:lnTo>
                    <a:pt x="46469" y="5455"/>
                  </a:lnTo>
                  <a:lnTo>
                    <a:pt x="74506" y="0"/>
                  </a:lnTo>
                  <a:lnTo>
                    <a:pt x="102543" y="5455"/>
                  </a:lnTo>
                  <a:lnTo>
                    <a:pt x="127190" y="2182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1126" y="8480249"/>
              <a:ext cx="158538" cy="15853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689100" y="7836182"/>
              <a:ext cx="2472690" cy="1049020"/>
            </a:xfrm>
            <a:custGeom>
              <a:avLst/>
              <a:gdLst/>
              <a:ahLst/>
              <a:cxnLst/>
              <a:rect l="l" t="t" r="r" b="b"/>
              <a:pathLst>
                <a:path w="2472690" h="1049020">
                  <a:moveTo>
                    <a:pt x="0" y="1049020"/>
                  </a:moveTo>
                  <a:lnTo>
                    <a:pt x="2472444" y="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84144" y="5288562"/>
              <a:ext cx="899160" cy="2472690"/>
            </a:xfrm>
            <a:custGeom>
              <a:avLst/>
              <a:gdLst/>
              <a:ahLst/>
              <a:cxnLst/>
              <a:rect l="l" t="t" r="r" b="b"/>
              <a:pathLst>
                <a:path w="899159" h="2472690">
                  <a:moveTo>
                    <a:pt x="899070" y="0"/>
                  </a:moveTo>
                  <a:lnTo>
                    <a:pt x="0" y="247269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61544" y="7761253"/>
              <a:ext cx="2322830" cy="74930"/>
            </a:xfrm>
            <a:custGeom>
              <a:avLst/>
              <a:gdLst/>
              <a:ahLst/>
              <a:cxnLst/>
              <a:rect l="l" t="t" r="r" b="b"/>
              <a:pathLst>
                <a:path w="2322829" h="74929">
                  <a:moveTo>
                    <a:pt x="0" y="74930"/>
                  </a:moveTo>
                  <a:lnTo>
                    <a:pt x="2322600" y="0"/>
                  </a:lnTo>
                </a:path>
              </a:pathLst>
            </a:custGeom>
            <a:ln w="38100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9300" y="1338580"/>
            <a:ext cx="9665970" cy="459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Segmented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least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squares.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roughly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several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</a:t>
            </a:r>
            <a:r>
              <a:rPr sz="2400" spc="-10" dirty="0">
                <a:latin typeface="Lucida Sans Unicode"/>
                <a:cs typeface="Lucida Sans Unicode"/>
              </a:rPr>
              <a:t> segments.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  <a:tabLst>
                <a:tab pos="492506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plane: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with</a:t>
            </a:r>
            <a:endParaRPr sz="2400">
              <a:latin typeface="Lucida Sans Unicode"/>
              <a:cs typeface="Lucida Sans Unicode"/>
            </a:endParaRPr>
          </a:p>
          <a:p>
            <a:pPr marL="647700">
              <a:lnSpc>
                <a:spcPct val="100000"/>
              </a:lnSpc>
              <a:spcBef>
                <a:spcPts val="630"/>
              </a:spcBef>
            </a:pP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24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270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minimizes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x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ts val="2615"/>
              </a:lnSpc>
              <a:tabLst>
                <a:tab pos="10160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Minimize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where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  <a:tabLst>
                <a:tab pos="101663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spc="-50" dirty="0">
                <a:latin typeface="Times New Roman"/>
                <a:cs typeface="Times New Roman"/>
              </a:rPr>
              <a:t>E</a:t>
            </a:r>
            <a:r>
              <a:rPr sz="2400" i="1" dirty="0">
                <a:latin typeface="Times New Roman"/>
                <a:cs typeface="Times New Roman"/>
              </a:rPr>
              <a:t>	=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squared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errors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segment.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  <a:tabLst>
                <a:tab pos="99441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spc="-50" dirty="0">
                <a:latin typeface="Times New Roman"/>
                <a:cs typeface="Times New Roman"/>
              </a:rPr>
              <a:t>L</a:t>
            </a:r>
            <a:r>
              <a:rPr sz="2400" i="1" dirty="0">
                <a:latin typeface="Times New Roman"/>
                <a:cs typeface="Times New Roman"/>
              </a:rPr>
              <a:t>	=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lines.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071880">
              <a:lnSpc>
                <a:spcPct val="100000"/>
              </a:lnSpc>
            </a:pPr>
            <a:r>
              <a:rPr sz="1800" i="1" spc="-5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66024" y="9276362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i="1" spc="-5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616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2725" algn="l"/>
              </a:tabLst>
            </a:pPr>
            <a:r>
              <a:rPr dirty="0"/>
              <a:t>Dynamic</a:t>
            </a:r>
            <a:r>
              <a:rPr spc="135" dirty="0"/>
              <a:t> </a:t>
            </a:r>
            <a:r>
              <a:rPr spc="-10" dirty="0"/>
              <a:t>programming:</a:t>
            </a:r>
            <a:r>
              <a:rPr dirty="0"/>
              <a:t>	multiway</a:t>
            </a:r>
            <a:r>
              <a:rPr spc="330" dirty="0"/>
              <a:t> </a:t>
            </a:r>
            <a:r>
              <a:rPr spc="-10" dirty="0"/>
              <a:t>choice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564640" cy="141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endParaRPr sz="2400">
              <a:latin typeface="Lucida Sans Unicode"/>
              <a:cs typeface="Lucida Sans Unicode"/>
            </a:endParaRPr>
          </a:p>
          <a:p>
            <a:pPr marL="139700">
              <a:lnSpc>
                <a:spcPts val="40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spc="-20" dirty="0">
                <a:latin typeface="Times New Roman"/>
                <a:cs typeface="Times New Roman"/>
              </a:rPr>
              <a:t>OPT</a:t>
            </a:r>
            <a:r>
              <a:rPr sz="2400" spc="-185" dirty="0">
                <a:latin typeface="Times New Roman"/>
                <a:cs typeface="Times New Roman"/>
              </a:rPr>
              <a:t>(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39700">
              <a:lnSpc>
                <a:spcPts val="4310"/>
              </a:lnSpc>
            </a:pPr>
            <a:r>
              <a:rPr sz="5775" spc="-67" baseline="-2164" dirty="0">
                <a:latin typeface="Microsoft JhengHei UI"/>
                <a:cs typeface="Microsoft JhengHei UI"/>
              </a:rPr>
              <a:t>・</a:t>
            </a:r>
            <a:r>
              <a:rPr sz="3600" i="1" spc="-37" baseline="4629" dirty="0">
                <a:latin typeface="Times New Roman"/>
                <a:cs typeface="Times New Roman"/>
              </a:rPr>
              <a:t>e</a:t>
            </a:r>
            <a:r>
              <a:rPr sz="1600" i="1" spc="-25" dirty="0">
                <a:latin typeface="Times New Roman"/>
                <a:cs typeface="Times New Roman"/>
              </a:rPr>
              <a:t>ij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3492" y="1704340"/>
            <a:ext cx="5774690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19"/>
              </a:spcBef>
              <a:tabLst>
                <a:tab pos="4973320" algn="l"/>
              </a:tabLst>
            </a:pPr>
            <a:r>
              <a:rPr sz="2400" spc="-405" dirty="0">
                <a:latin typeface="Lucida Sans Unicode"/>
                <a:cs typeface="Lucida Sans Unicode"/>
              </a:rPr>
              <a:t>=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minimum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spc="-37" baseline="-6944" dirty="0"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…, </a:t>
            </a: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919"/>
              </a:spcBef>
              <a:tabLst>
                <a:tab pos="4016375" algn="l"/>
              </a:tabLst>
            </a:pPr>
            <a:r>
              <a:rPr sz="2400" spc="-405" dirty="0">
                <a:latin typeface="Lucida Sans Unicode"/>
                <a:cs typeface="Lucida Sans Unicode"/>
              </a:rPr>
              <a:t>=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SSE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i="1" spc="-15" baseline="-6944" dirty="0">
                <a:latin typeface="Times New Roman"/>
                <a:cs typeface="Times New Roman"/>
              </a:rPr>
              <a:t>i+</a:t>
            </a:r>
            <a:r>
              <a:rPr sz="2400" spc="-15" baseline="-694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…, </a:t>
            </a: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3268979"/>
            <a:ext cx="834326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To compute</a:t>
            </a:r>
            <a:r>
              <a:rPr sz="2400" spc="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i="1" spc="-20" dirty="0">
                <a:solidFill>
                  <a:srgbClr val="0048AA"/>
                </a:solidFill>
                <a:latin typeface="Times New Roman"/>
                <a:cs typeface="Times New Roman"/>
              </a:rPr>
              <a:t>OPT</a:t>
            </a:r>
            <a:r>
              <a:rPr sz="2400" spc="-2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spc="-36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j</a:t>
            </a:r>
            <a:r>
              <a:rPr sz="2400" i="1" spc="-35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355"/>
              </a:lnSpc>
              <a:tabLst>
                <a:tab pos="554291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segment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i="1" spc="-15" baseline="-6944" dirty="0">
                <a:latin typeface="Times New Roman"/>
                <a:cs typeface="Times New Roman"/>
              </a:rPr>
              <a:t>i+</a:t>
            </a:r>
            <a:r>
              <a:rPr sz="2400" spc="-15" baseline="-6944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…,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52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4051300"/>
            <a:ext cx="437134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79295" algn="l"/>
                <a:tab pos="2303145" algn="l"/>
                <a:tab pos="2590800" algn="l"/>
                <a:tab pos="291528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=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400" i="1" spc="-37" baseline="-6944" dirty="0">
                <a:latin typeface="Times New Roman"/>
                <a:cs typeface="Times New Roman"/>
              </a:rPr>
              <a:t>ij</a:t>
            </a:r>
            <a:r>
              <a:rPr sz="2400" i="1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+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+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100" y="5681979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Bellman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equation.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5306" y="4310996"/>
            <a:ext cx="3072765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">
              <a:lnSpc>
                <a:spcPct val="1139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 via exchange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62643" y="4428728"/>
            <a:ext cx="604520" cy="121920"/>
            <a:chOff x="5962643" y="4428728"/>
            <a:chExt cx="604520" cy="121920"/>
          </a:xfrm>
        </p:grpSpPr>
        <p:sp>
          <p:nvSpPr>
            <p:cNvPr id="11" name="object 11"/>
            <p:cNvSpPr/>
            <p:nvPr/>
          </p:nvSpPr>
          <p:spPr>
            <a:xfrm>
              <a:off x="6041384" y="4489688"/>
              <a:ext cx="525780" cy="0"/>
            </a:xfrm>
            <a:custGeom>
              <a:avLst/>
              <a:gdLst/>
              <a:ahLst/>
              <a:cxnLst/>
              <a:rect l="l" t="t" r="r" b="b"/>
              <a:pathLst>
                <a:path w="525779">
                  <a:moveTo>
                    <a:pt x="0" y="0"/>
                  </a:moveTo>
                  <a:lnTo>
                    <a:pt x="12699" y="0"/>
                  </a:lnTo>
                  <a:lnTo>
                    <a:pt x="525292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62643" y="442872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50129" y="6925719"/>
            <a:ext cx="150558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6030" algn="l"/>
              </a:tabLst>
            </a:pPr>
            <a:r>
              <a:rPr sz="2400" i="1" spc="380" dirty="0">
                <a:latin typeface="Calibri"/>
                <a:cs typeface="Calibri"/>
              </a:rPr>
              <a:t>OPT</a:t>
            </a:r>
            <a:r>
              <a:rPr sz="2400" i="1" spc="-210" dirty="0">
                <a:latin typeface="Calibri"/>
                <a:cs typeface="Calibri"/>
              </a:rPr>
              <a:t> </a:t>
            </a:r>
            <a:r>
              <a:rPr sz="2400" spc="285" dirty="0">
                <a:latin typeface="Calibri"/>
                <a:cs typeface="Calibri"/>
              </a:rPr>
              <a:t>(</a:t>
            </a:r>
            <a:r>
              <a:rPr sz="2400" i="1" spc="285" dirty="0">
                <a:latin typeface="Calibri"/>
                <a:cs typeface="Calibri"/>
              </a:rPr>
              <a:t>j</a:t>
            </a:r>
            <a:r>
              <a:rPr sz="2400" spc="28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899097" y="6303317"/>
            <a:ext cx="2825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89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9097" y="6576722"/>
            <a:ext cx="2952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Trebuchet MS"/>
                <a:cs typeface="Trebuchet MS"/>
              </a:rPr>
              <a:t> 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3274" y="6559044"/>
            <a:ext cx="1778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3274" y="7466403"/>
            <a:ext cx="7124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380" dirty="0">
                <a:latin typeface="Calibri"/>
                <a:cs typeface="Calibri"/>
              </a:rPr>
              <a:t>1</a:t>
            </a:r>
            <a:r>
              <a:rPr sz="1650" i="1" spc="380" dirty="0">
                <a:latin typeface="Arial"/>
                <a:cs typeface="Arial"/>
              </a:rPr>
              <a:t>≤</a:t>
            </a:r>
            <a:r>
              <a:rPr sz="1650" i="1" spc="380" dirty="0">
                <a:latin typeface="Calibri"/>
                <a:cs typeface="Calibri"/>
              </a:rPr>
              <a:t>i</a:t>
            </a:r>
            <a:r>
              <a:rPr sz="1650" i="1" spc="380" dirty="0">
                <a:latin typeface="Arial"/>
                <a:cs typeface="Arial"/>
              </a:rPr>
              <a:t>≤</a:t>
            </a:r>
            <a:r>
              <a:rPr sz="1650" i="1" spc="380" dirty="0">
                <a:latin typeface="Calibri"/>
                <a:cs typeface="Calibri"/>
              </a:rPr>
              <a:t>j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24496" y="7087262"/>
            <a:ext cx="399161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90880" algn="l"/>
              </a:tabLst>
            </a:pPr>
            <a:r>
              <a:rPr sz="2400" spc="50" dirty="0">
                <a:latin typeface="Calibri"/>
                <a:cs typeface="Calibri"/>
              </a:rPr>
              <a:t>min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155" dirty="0">
                <a:latin typeface="Georgia"/>
                <a:cs typeface="Georgia"/>
              </a:rPr>
              <a:t>{</a:t>
            </a:r>
            <a:r>
              <a:rPr sz="2400" i="1" spc="95" dirty="0">
                <a:latin typeface="Georgia"/>
                <a:cs typeface="Georgia"/>
              </a:rPr>
              <a:t> </a:t>
            </a:r>
            <a:r>
              <a:rPr sz="2400" i="1" spc="210" dirty="0">
                <a:latin typeface="Calibri"/>
                <a:cs typeface="Calibri"/>
              </a:rPr>
              <a:t>e</a:t>
            </a:r>
            <a:r>
              <a:rPr sz="2475" i="1" spc="315" baseline="-11784" dirty="0">
                <a:latin typeface="Calibri"/>
                <a:cs typeface="Calibri"/>
              </a:rPr>
              <a:t>ij</a:t>
            </a:r>
            <a:r>
              <a:rPr sz="2475" i="1" spc="577" baseline="-11784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375" dirty="0">
                <a:latin typeface="Calibri"/>
                <a:cs typeface="Calibri"/>
              </a:rPr>
              <a:t>OPT</a:t>
            </a:r>
            <a:r>
              <a:rPr sz="2400" i="1" spc="-204" dirty="0">
                <a:latin typeface="Calibri"/>
                <a:cs typeface="Calibri"/>
              </a:rPr>
              <a:t> </a:t>
            </a:r>
            <a:r>
              <a:rPr sz="2400" spc="229" dirty="0">
                <a:latin typeface="Calibri"/>
                <a:cs typeface="Calibri"/>
              </a:rPr>
              <a:t>(</a:t>
            </a:r>
            <a:r>
              <a:rPr sz="2400" i="1" spc="229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spc="-215" dirty="0">
                <a:latin typeface="Georgia"/>
                <a:cs typeface="Georgia"/>
              </a:rPr>
              <a:t>—</a:t>
            </a:r>
            <a:r>
              <a:rPr sz="2400" i="1" spc="-40" dirty="0">
                <a:latin typeface="Georgia"/>
                <a:cs typeface="Georgia"/>
              </a:rPr>
              <a:t> </a:t>
            </a:r>
            <a:r>
              <a:rPr sz="2400" spc="85" dirty="0">
                <a:latin typeface="Calibri"/>
                <a:cs typeface="Calibri"/>
              </a:rPr>
              <a:t>1)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i="1" spc="105" dirty="0">
                <a:latin typeface="Georgia"/>
                <a:cs typeface="Georgia"/>
              </a:rPr>
              <a:t>}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69826" y="6395232"/>
            <a:ext cx="1003300" cy="10820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i="1" spc="400" dirty="0">
                <a:latin typeface="Calibri"/>
                <a:cs typeface="Calibri"/>
              </a:rPr>
              <a:t>j</a:t>
            </a:r>
            <a:r>
              <a:rPr sz="2400" i="1" spc="195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=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i="1" spc="400" dirty="0">
                <a:latin typeface="Calibri"/>
                <a:cs typeface="Calibri"/>
              </a:rPr>
              <a:t>j</a:t>
            </a:r>
            <a:r>
              <a:rPr sz="2400" i="1" spc="190" dirty="0">
                <a:latin typeface="Calibri"/>
                <a:cs typeface="Calibri"/>
              </a:rPr>
              <a:t> </a:t>
            </a:r>
            <a:r>
              <a:rPr sz="2400" i="1" spc="645" dirty="0">
                <a:latin typeface="Calibri"/>
                <a:cs typeface="Calibri"/>
              </a:rPr>
              <a:t>&gt;</a:t>
            </a:r>
            <a:r>
              <a:rPr sz="2400" i="1" spc="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Segmented</a:t>
            </a:r>
            <a:r>
              <a:rPr spc="-120" dirty="0"/>
              <a:t> </a:t>
            </a:r>
            <a:r>
              <a:rPr dirty="0"/>
              <a:t>least</a:t>
            </a:r>
            <a:r>
              <a:rPr spc="-120" dirty="0"/>
              <a:t> </a:t>
            </a:r>
            <a:r>
              <a:rPr dirty="0"/>
              <a:t>squares</a:t>
            </a:r>
            <a:r>
              <a:rPr spc="-114" dirty="0"/>
              <a:t> </a:t>
            </a:r>
            <a:r>
              <a:rPr spc="40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46200" y="2413000"/>
            <a:ext cx="10160000" cy="5998845"/>
            <a:chOff x="1346200" y="2413000"/>
            <a:chExt cx="10160000" cy="5998845"/>
          </a:xfrm>
        </p:grpSpPr>
        <p:sp>
          <p:nvSpPr>
            <p:cNvPr id="5" name="object 5"/>
            <p:cNvSpPr/>
            <p:nvPr/>
          </p:nvSpPr>
          <p:spPr>
            <a:xfrm>
              <a:off x="1346200" y="2413000"/>
              <a:ext cx="10160000" cy="5998845"/>
            </a:xfrm>
            <a:custGeom>
              <a:avLst/>
              <a:gdLst/>
              <a:ahLst/>
              <a:cxnLst/>
              <a:rect l="l" t="t" r="r" b="b"/>
              <a:pathLst>
                <a:path w="10160000" h="5998845">
                  <a:moveTo>
                    <a:pt x="10160000" y="0"/>
                  </a:moveTo>
                  <a:lnTo>
                    <a:pt x="0" y="0"/>
                  </a:lnTo>
                  <a:lnTo>
                    <a:pt x="0" y="5998766"/>
                  </a:lnTo>
                  <a:lnTo>
                    <a:pt x="10160000" y="5998766"/>
                  </a:lnTo>
                  <a:lnTo>
                    <a:pt x="1016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8300" y="3236601"/>
              <a:ext cx="8648700" cy="0"/>
            </a:xfrm>
            <a:custGeom>
              <a:avLst/>
              <a:gdLst/>
              <a:ahLst/>
              <a:cxnLst/>
              <a:rect l="l" t="t" r="r" b="b"/>
              <a:pathLst>
                <a:path w="8648700">
                  <a:moveTo>
                    <a:pt x="0" y="0"/>
                  </a:moveTo>
                  <a:lnTo>
                    <a:pt x="8648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0200" y="2679700"/>
            <a:ext cx="6725920" cy="211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EGMENTED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-L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EAST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QUARES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n,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tabLst>
                <a:tab pos="698500" algn="l"/>
                <a:tab pos="1809114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j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1 </a:t>
            </a:r>
            <a:r>
              <a:rPr sz="1900" spc="-3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381000">
              <a:lnSpc>
                <a:spcPct val="100000"/>
              </a:lnSpc>
              <a:spcBef>
                <a:spcPts val="1220"/>
              </a:spcBef>
              <a:tabLst>
                <a:tab pos="1041400" algn="l"/>
                <a:tab pos="215201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1 </a:t>
            </a:r>
            <a:r>
              <a:rPr sz="1900" spc="-3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  <a:p>
            <a:pPr marL="7239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6944" dirty="0">
                <a:latin typeface="Times New Roman"/>
                <a:cs typeface="Times New Roman"/>
              </a:rPr>
              <a:t>ij</a:t>
            </a:r>
            <a:r>
              <a:rPr sz="2400" i="1" spc="284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baseline="-6944" dirty="0">
                <a:latin typeface="Times New Roman"/>
                <a:cs typeface="Times New Roman"/>
              </a:rPr>
              <a:t>+1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8300" y="5278476"/>
            <a:ext cx="1936750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46400"/>
              </a:lnSpc>
              <a:spcBef>
                <a:spcPts val="100"/>
              </a:spcBef>
              <a:tabLst>
                <a:tab pos="660400" algn="l"/>
                <a:tab pos="1771014" algn="l"/>
              </a:tabLst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 </a:t>
            </a:r>
            <a:r>
              <a:rPr sz="2400" dirty="0">
                <a:latin typeface="Times New Roman"/>
                <a:cs typeface="Times New Roman"/>
              </a:rPr>
              <a:t>= 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5600" y="6504582"/>
            <a:ext cx="5525770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  <a:tabLst>
                <a:tab pos="1517650" algn="l"/>
                <a:tab pos="2861310" algn="l"/>
              </a:tabLst>
            </a:pP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min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 ≤</a:t>
            </a:r>
            <a:r>
              <a:rPr sz="2400" spc="-7" baseline="-6944" dirty="0">
                <a:latin typeface="Times New Roman"/>
                <a:cs typeface="Times New Roman"/>
              </a:rPr>
              <a:t> 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-7" baseline="-6944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≤ </a:t>
            </a:r>
            <a:r>
              <a:rPr sz="2400" i="1" spc="-75" baseline="-6944" dirty="0">
                <a:latin typeface="Times New Roman"/>
                <a:cs typeface="Times New Roman"/>
              </a:rPr>
              <a:t>j</a:t>
            </a:r>
            <a:r>
              <a:rPr sz="2400" i="1" baseline="-6944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6944" dirty="0">
                <a:latin typeface="Times New Roman"/>
                <a:cs typeface="Times New Roman"/>
              </a:rPr>
              <a:t>ij</a:t>
            </a:r>
            <a:r>
              <a:rPr sz="2400" i="1" spc="142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1]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7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80465" algn="l"/>
              </a:tabLst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cap="small" spc="-10" dirty="0">
                <a:latin typeface="Times New Roman"/>
                <a:cs typeface="Times New Roman"/>
              </a:rPr>
              <a:t>[</a:t>
            </a:r>
            <a:r>
              <a:rPr sz="2400" cap="small" spc="-36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cap="small" spc="-25" dirty="0"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38300" y="6077681"/>
            <a:ext cx="8648700" cy="2040889"/>
            <a:chOff x="1638300" y="6077681"/>
            <a:chExt cx="8648700" cy="2040889"/>
          </a:xfrm>
        </p:grpSpPr>
        <p:sp>
          <p:nvSpPr>
            <p:cNvPr id="11" name="object 11"/>
            <p:cNvSpPr/>
            <p:nvPr/>
          </p:nvSpPr>
          <p:spPr>
            <a:xfrm>
              <a:off x="1638300" y="8117767"/>
              <a:ext cx="8648700" cy="0"/>
            </a:xfrm>
            <a:custGeom>
              <a:avLst/>
              <a:gdLst/>
              <a:ahLst/>
              <a:cxnLst/>
              <a:rect l="l" t="t" r="r" b="b"/>
              <a:pathLst>
                <a:path w="8648700">
                  <a:moveTo>
                    <a:pt x="0" y="0"/>
                  </a:moveTo>
                  <a:lnTo>
                    <a:pt x="8648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01071" y="6090381"/>
              <a:ext cx="186690" cy="304165"/>
            </a:xfrm>
            <a:custGeom>
              <a:avLst/>
              <a:gdLst/>
              <a:ahLst/>
              <a:cxnLst/>
              <a:rect l="l" t="t" r="r" b="b"/>
              <a:pathLst>
                <a:path w="186690" h="304164">
                  <a:moveTo>
                    <a:pt x="0" y="304162"/>
                  </a:moveTo>
                  <a:lnTo>
                    <a:pt x="6628" y="293329"/>
                  </a:lnTo>
                  <a:lnTo>
                    <a:pt x="18610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59975" y="6325896"/>
              <a:ext cx="116205" cy="135890"/>
            </a:xfrm>
            <a:custGeom>
              <a:avLst/>
              <a:gdLst/>
              <a:ahLst/>
              <a:cxnLst/>
              <a:rect l="l" t="t" r="r" b="b"/>
              <a:pathLst>
                <a:path w="116204" h="135889">
                  <a:moveTo>
                    <a:pt x="11633" y="0"/>
                  </a:moveTo>
                  <a:lnTo>
                    <a:pt x="0" y="135812"/>
                  </a:lnTo>
                  <a:lnTo>
                    <a:pt x="115630" y="63630"/>
                  </a:lnTo>
                  <a:lnTo>
                    <a:pt x="47724" y="57814"/>
                  </a:lnTo>
                  <a:lnTo>
                    <a:pt x="11633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66325" y="5737031"/>
            <a:ext cx="2686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previously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computed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value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Segmented</a:t>
            </a:r>
            <a:r>
              <a:rPr spc="-120" dirty="0"/>
              <a:t> </a:t>
            </a:r>
            <a:r>
              <a:rPr dirty="0"/>
              <a:t>least</a:t>
            </a:r>
            <a:r>
              <a:rPr spc="-120" dirty="0"/>
              <a:t> </a:t>
            </a:r>
            <a:r>
              <a:rPr dirty="0"/>
              <a:t>squares</a:t>
            </a:r>
            <a:r>
              <a:rPr spc="-114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1426825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1657350" algn="l"/>
                <a:tab pos="40792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[Bellman</a:t>
            </a:r>
            <a:r>
              <a:rPr sz="24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606060"/>
                </a:solidFill>
                <a:latin typeface="Lucida Sans Unicode"/>
                <a:cs typeface="Lucida Sans Unicode"/>
              </a:rPr>
              <a:t>1961]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DP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segmented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squares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space.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145" dirty="0">
                <a:latin typeface="Lucida Sans Unicode"/>
                <a:cs typeface="Lucida Sans Unicode"/>
              </a:rPr>
              <a:t> = </a:t>
            </a:r>
            <a:r>
              <a:rPr sz="2400" dirty="0">
                <a:latin typeface="Lucida Sans Unicode"/>
                <a:cs typeface="Lucida Sans Unicode"/>
              </a:rPr>
              <a:t>computing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6944" dirty="0">
                <a:latin typeface="Times New Roman"/>
                <a:cs typeface="Times New Roman"/>
              </a:rPr>
              <a:t>ij</a:t>
            </a:r>
            <a:r>
              <a:rPr sz="2400" i="1" spc="52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000" y="5499100"/>
            <a:ext cx="3824604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63156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e</a:t>
            </a:r>
            <a:r>
              <a:rPr sz="2400" i="1" spc="-30" baseline="-6944" dirty="0">
                <a:latin typeface="Times New Roman"/>
                <a:cs typeface="Times New Roman"/>
              </a:rPr>
              <a:t>ij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7129780"/>
            <a:ext cx="603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452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improved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100" y="7473238"/>
            <a:ext cx="51308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850" spc="-50" dirty="0">
                <a:latin typeface="Microsoft JhengHei UI"/>
                <a:cs typeface="Microsoft JhengHei UI"/>
              </a:rPr>
              <a:t>・</a:t>
            </a:r>
            <a:endParaRPr sz="38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4780" y="7612380"/>
            <a:ext cx="6209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4830" algn="l"/>
              </a:tabLst>
            </a:pP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:</a:t>
            </a:r>
            <a:r>
              <a:rPr sz="2400" dirty="0">
                <a:latin typeface="Lucida Sans Unicode"/>
                <a:cs typeface="Lucida Sans Unicode"/>
              </a:rPr>
              <a:t>	precompute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cumulative</a:t>
            </a:r>
            <a:r>
              <a:rPr sz="2400" spc="6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sums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36451" y="7612380"/>
            <a:ext cx="121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8394700"/>
            <a:ext cx="833564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cumulative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6944" dirty="0">
                <a:latin typeface="Times New Roman"/>
                <a:cs typeface="Times New Roman"/>
              </a:rPr>
              <a:t>ij</a:t>
            </a:r>
            <a:r>
              <a:rPr sz="2400" i="1" spc="51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1099" y="4404944"/>
            <a:ext cx="4235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600" i="1" spc="315" baseline="8101" dirty="0">
                <a:latin typeface="Calibri"/>
                <a:cs typeface="Calibri"/>
              </a:rPr>
              <a:t>a</a:t>
            </a:r>
            <a:r>
              <a:rPr sz="1650" i="1" spc="210" dirty="0">
                <a:latin typeface="Calibri"/>
                <a:cs typeface="Calibri"/>
              </a:rPr>
              <a:t>ij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9653" y="4359529"/>
            <a:ext cx="26162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4520" y="4332066"/>
            <a:ext cx="15494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10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5107" y="4332066"/>
            <a:ext cx="15494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10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96369" y="4149826"/>
            <a:ext cx="32289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681480" algn="l"/>
                <a:tab pos="2760980" algn="l"/>
              </a:tabLst>
            </a:pPr>
            <a:r>
              <a:rPr sz="2400" i="1" spc="270" dirty="0">
                <a:latin typeface="Calibri"/>
                <a:cs typeface="Calibri"/>
              </a:rPr>
              <a:t>x</a:t>
            </a:r>
            <a:r>
              <a:rPr sz="2475" i="1" spc="405" baseline="-11784" dirty="0">
                <a:latin typeface="Calibri"/>
                <a:cs typeface="Calibri"/>
              </a:rPr>
              <a:t>k</a:t>
            </a:r>
            <a:r>
              <a:rPr sz="2400" i="1" spc="270" dirty="0">
                <a:latin typeface="Calibri"/>
                <a:cs typeface="Calibri"/>
              </a:rPr>
              <a:t>y</a:t>
            </a:r>
            <a:r>
              <a:rPr sz="2475" i="1" spc="405" baseline="-11784" dirty="0">
                <a:latin typeface="Calibri"/>
                <a:cs typeface="Calibri"/>
              </a:rPr>
              <a:t>k</a:t>
            </a:r>
            <a:r>
              <a:rPr sz="2475" i="1" spc="480" baseline="-11784" dirty="0">
                <a:latin typeface="Calibri"/>
                <a:cs typeface="Calibri"/>
              </a:rPr>
              <a:t> 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35" dirty="0">
                <a:latin typeface="Georgia"/>
                <a:cs typeface="Georgia"/>
              </a:rPr>
              <a:t> </a:t>
            </a:r>
            <a:r>
              <a:rPr sz="2400" spc="680" dirty="0">
                <a:latin typeface="Calibri"/>
                <a:cs typeface="Calibri"/>
              </a:rPr>
              <a:t>(</a:t>
            </a:r>
            <a:r>
              <a:rPr sz="3600" spc="1019" baseline="41666" dirty="0">
                <a:latin typeface="Trebuchet MS"/>
                <a:cs typeface="Trebuchet MS"/>
              </a:rPr>
              <a:t>Σ</a:t>
            </a:r>
            <a:r>
              <a:rPr sz="3600" baseline="41666" dirty="0">
                <a:latin typeface="Trebuchet MS"/>
                <a:cs typeface="Trebuchet MS"/>
              </a:rPr>
              <a:t>	</a:t>
            </a:r>
            <a:r>
              <a:rPr sz="2400" i="1" spc="459" dirty="0">
                <a:latin typeface="Calibri"/>
                <a:cs typeface="Calibri"/>
              </a:rPr>
              <a:t>x</a:t>
            </a:r>
            <a:r>
              <a:rPr sz="2475" i="1" spc="690" baseline="-11784" dirty="0">
                <a:latin typeface="Calibri"/>
                <a:cs typeface="Calibri"/>
              </a:rPr>
              <a:t>k</a:t>
            </a:r>
            <a:r>
              <a:rPr sz="2400" spc="459" dirty="0">
                <a:latin typeface="Calibri"/>
                <a:cs typeface="Calibri"/>
              </a:rPr>
              <a:t>)(</a:t>
            </a:r>
            <a:r>
              <a:rPr sz="3600" spc="690" baseline="41666" dirty="0">
                <a:latin typeface="Trebuchet MS"/>
                <a:cs typeface="Trebuchet MS"/>
              </a:rPr>
              <a:t>Σ</a:t>
            </a:r>
            <a:r>
              <a:rPr sz="3600" baseline="41666" dirty="0">
                <a:latin typeface="Trebuchet MS"/>
                <a:cs typeface="Trebuchet MS"/>
              </a:rPr>
              <a:t>	</a:t>
            </a:r>
            <a:r>
              <a:rPr sz="2400" i="1" spc="204" dirty="0">
                <a:latin typeface="Calibri"/>
                <a:cs typeface="Calibri"/>
              </a:rPr>
              <a:t>y</a:t>
            </a:r>
            <a:r>
              <a:rPr sz="2475" i="1" spc="307" baseline="-11784" dirty="0">
                <a:latin typeface="Calibri"/>
                <a:cs typeface="Calibri"/>
              </a:rPr>
              <a:t>k</a:t>
            </a:r>
            <a:r>
              <a:rPr sz="2400" spc="204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3704" y="4600006"/>
            <a:ext cx="3880485" cy="0"/>
          </a:xfrm>
          <a:custGeom>
            <a:avLst/>
            <a:gdLst/>
            <a:ahLst/>
            <a:cxnLst/>
            <a:rect l="l" t="t" r="r" b="b"/>
            <a:pathLst>
              <a:path w="3880484">
                <a:moveTo>
                  <a:pt x="0" y="0"/>
                </a:moveTo>
                <a:lnTo>
                  <a:pt x="3880408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22251" y="4340021"/>
            <a:ext cx="346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6586" y="4750556"/>
            <a:ext cx="15494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10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63984" y="4567707"/>
            <a:ext cx="165481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91185" algn="l"/>
              </a:tabLst>
            </a:pPr>
            <a:r>
              <a:rPr sz="2400" i="1" spc="135" dirty="0">
                <a:latin typeface="Calibri"/>
                <a:cs typeface="Calibri"/>
              </a:rPr>
              <a:t>n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75" i="1" spc="390" baseline="-23569" dirty="0">
                <a:latin typeface="Calibri"/>
                <a:cs typeface="Calibri"/>
              </a:rPr>
              <a:t>k</a:t>
            </a:r>
            <a:r>
              <a:rPr sz="2475" i="1" spc="277" baseline="-23569" dirty="0">
                <a:latin typeface="Calibri"/>
                <a:cs typeface="Calibri"/>
              </a:rPr>
              <a:t> </a:t>
            </a:r>
            <a:r>
              <a:rPr sz="2400" i="1" spc="215" dirty="0">
                <a:latin typeface="Calibri"/>
                <a:cs typeface="Calibri"/>
              </a:rPr>
              <a:t>x</a:t>
            </a:r>
            <a:r>
              <a:rPr sz="2475" spc="322" baseline="26936" dirty="0">
                <a:latin typeface="Calibri"/>
                <a:cs typeface="Calibri"/>
              </a:rPr>
              <a:t>2</a:t>
            </a:r>
            <a:r>
              <a:rPr sz="2475" spc="569" baseline="26936" dirty="0">
                <a:latin typeface="Calibri"/>
                <a:cs typeface="Calibri"/>
              </a:rPr>
              <a:t> 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spc="145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29742" y="4240962"/>
            <a:ext cx="2159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600" spc="-1710" baseline="-18518" dirty="0">
                <a:latin typeface="Trebuchet MS"/>
                <a:cs typeface="Trebuchet MS"/>
              </a:rPr>
              <a:t>Σ</a:t>
            </a:r>
            <a:r>
              <a:rPr sz="1650" i="1" spc="125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0392" y="4567707"/>
            <a:ext cx="8382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75" i="1" spc="390" baseline="-23569" dirty="0">
                <a:latin typeface="Calibri"/>
                <a:cs typeface="Calibri"/>
              </a:rPr>
              <a:t>k</a:t>
            </a:r>
            <a:r>
              <a:rPr sz="2475" i="1" spc="277" baseline="-23569" dirty="0">
                <a:latin typeface="Calibri"/>
                <a:cs typeface="Calibri"/>
              </a:rPr>
              <a:t> </a:t>
            </a:r>
            <a:r>
              <a:rPr sz="2400" i="1" spc="240" dirty="0">
                <a:latin typeface="Calibri"/>
                <a:cs typeface="Calibri"/>
              </a:rPr>
              <a:t>x</a:t>
            </a:r>
            <a:r>
              <a:rPr sz="2475" i="1" spc="359" baseline="-11784" dirty="0">
                <a:latin typeface="Calibri"/>
                <a:cs typeface="Calibri"/>
              </a:rPr>
              <a:t>k</a:t>
            </a:r>
            <a:r>
              <a:rPr sz="2400" spc="240" dirty="0">
                <a:latin typeface="Calibri"/>
                <a:cs typeface="Calibri"/>
              </a:rPr>
              <a:t>)</a:t>
            </a:r>
            <a:r>
              <a:rPr sz="2475" spc="359" baseline="23569" dirty="0">
                <a:latin typeface="Calibri"/>
                <a:cs typeface="Calibri"/>
              </a:rPr>
              <a:t>2</a:t>
            </a:r>
            <a:endParaRPr sz="2475" baseline="23569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1031" y="4404944"/>
            <a:ext cx="3930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600" i="1" spc="195" baseline="8101" dirty="0">
                <a:latin typeface="Calibri"/>
                <a:cs typeface="Calibri"/>
              </a:rPr>
              <a:t>b</a:t>
            </a:r>
            <a:r>
              <a:rPr sz="1650" i="1" spc="130" dirty="0">
                <a:latin typeface="Calibri"/>
                <a:cs typeface="Calibri"/>
              </a:rPr>
              <a:t>ij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97988" y="4359529"/>
            <a:ext cx="121285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3294" algn="l"/>
              </a:tabLst>
            </a:pPr>
            <a:r>
              <a:rPr sz="2400" i="1" spc="1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42903" y="3922141"/>
            <a:ext cx="57194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360035" algn="l"/>
              </a:tabLst>
            </a:pPr>
            <a:r>
              <a:rPr sz="3600" i="1" spc="277" baseline="-41666" dirty="0">
                <a:latin typeface="Calibri"/>
                <a:cs typeface="Calibri"/>
              </a:rPr>
              <a:t>n</a:t>
            </a:r>
            <a:r>
              <a:rPr sz="3600" i="1" spc="-217" baseline="-41666" dirty="0">
                <a:latin typeface="Calibri"/>
                <a:cs typeface="Calibri"/>
              </a:rPr>
              <a:t> </a:t>
            </a:r>
            <a:r>
              <a:rPr sz="2400" spc="1170" dirty="0">
                <a:latin typeface="Trebuchet MS"/>
                <a:cs typeface="Trebuchet MS"/>
              </a:rPr>
              <a:t>Σ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1170" dirty="0">
                <a:latin typeface="Trebuchet MS"/>
                <a:cs typeface="Trebuchet MS"/>
              </a:rPr>
              <a:t>Σ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11269" y="4332066"/>
            <a:ext cx="15494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10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26099" y="4332066"/>
            <a:ext cx="15494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10" dirty="0">
                <a:latin typeface="Calibri"/>
                <a:cs typeface="Calibri"/>
              </a:rPr>
              <a:t>k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73118" y="4149826"/>
            <a:ext cx="20193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665605" algn="l"/>
              </a:tabLst>
            </a:pPr>
            <a:r>
              <a:rPr sz="2400" i="1" spc="170" dirty="0">
                <a:latin typeface="Calibri"/>
                <a:cs typeface="Calibri"/>
              </a:rPr>
              <a:t>y</a:t>
            </a:r>
            <a:r>
              <a:rPr sz="2475" i="1" spc="254" baseline="-11784" dirty="0">
                <a:latin typeface="Calibri"/>
                <a:cs typeface="Calibri"/>
              </a:rPr>
              <a:t>k</a:t>
            </a:r>
            <a:r>
              <a:rPr sz="2475" i="1" spc="480" baseline="-11784" dirty="0">
                <a:latin typeface="Calibri"/>
                <a:cs typeface="Calibri"/>
              </a:rPr>
              <a:t> </a:t>
            </a:r>
            <a:r>
              <a:rPr sz="2400" i="1" spc="305" dirty="0">
                <a:latin typeface="Georgia"/>
                <a:cs typeface="Georgia"/>
              </a:rPr>
              <a:t>−</a:t>
            </a:r>
            <a:r>
              <a:rPr sz="2400" i="1" spc="-45" dirty="0">
                <a:latin typeface="Georgia"/>
                <a:cs typeface="Georgia"/>
              </a:rPr>
              <a:t> </a:t>
            </a:r>
            <a:r>
              <a:rPr sz="2400" i="1" spc="235" dirty="0">
                <a:latin typeface="Calibri"/>
                <a:cs typeface="Calibri"/>
              </a:rPr>
              <a:t>a</a:t>
            </a:r>
            <a:r>
              <a:rPr sz="2475" i="1" spc="352" baseline="-11784" dirty="0">
                <a:latin typeface="Calibri"/>
                <a:cs typeface="Calibri"/>
              </a:rPr>
              <a:t>ij</a:t>
            </a:r>
            <a:r>
              <a:rPr sz="2475" i="1" spc="382" baseline="-11784" dirty="0">
                <a:latin typeface="Calibri"/>
                <a:cs typeface="Calibri"/>
              </a:rPr>
              <a:t> </a:t>
            </a:r>
            <a:r>
              <a:rPr sz="3600" spc="1754" baseline="41666" dirty="0">
                <a:latin typeface="Trebuchet MS"/>
                <a:cs typeface="Trebuchet MS"/>
              </a:rPr>
              <a:t>Σ</a:t>
            </a:r>
            <a:r>
              <a:rPr sz="3600" baseline="41666" dirty="0">
                <a:latin typeface="Trebuchet MS"/>
                <a:cs typeface="Trebuchet MS"/>
              </a:rPr>
              <a:t>	</a:t>
            </a:r>
            <a:r>
              <a:rPr sz="2400" i="1" spc="265" dirty="0">
                <a:latin typeface="Calibri"/>
                <a:cs typeface="Calibri"/>
              </a:rPr>
              <a:t>x</a:t>
            </a:r>
            <a:r>
              <a:rPr sz="2475" i="1" spc="397" baseline="-11784" dirty="0">
                <a:latin typeface="Calibri"/>
                <a:cs typeface="Calibri"/>
              </a:rPr>
              <a:t>k</a:t>
            </a:r>
            <a:endParaRPr sz="2475" baseline="-11784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03320" y="4600006"/>
            <a:ext cx="2458720" cy="0"/>
          </a:xfrm>
          <a:custGeom>
            <a:avLst/>
            <a:gdLst/>
            <a:ahLst/>
            <a:cxnLst/>
            <a:rect l="l" t="t" r="r" b="b"/>
            <a:pathLst>
              <a:path w="2458720">
                <a:moveTo>
                  <a:pt x="0" y="0"/>
                </a:moveTo>
                <a:lnTo>
                  <a:pt x="2458516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328742" y="4567707"/>
            <a:ext cx="2076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35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0" name="object 30"/>
          <p:cNvSpPr txBox="1"/>
          <p:nvPr/>
        </p:nvSpPr>
        <p:spPr>
          <a:xfrm>
            <a:off x="7889965" y="7396614"/>
            <a:ext cx="965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90" dirty="0">
                <a:latin typeface="Calibri"/>
                <a:cs typeface="Calibri"/>
              </a:rPr>
              <a:t>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44575" y="7396639"/>
            <a:ext cx="38735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1735" dirty="0">
                <a:latin typeface="Trebuchet MS"/>
                <a:cs typeface="Trebuchet MS"/>
              </a:rPr>
              <a:t>Σ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92681" y="7747513"/>
            <a:ext cx="1320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60" dirty="0"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49555" y="7634848"/>
            <a:ext cx="36131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i="1" spc="270" dirty="0">
                <a:latin typeface="Calibri"/>
                <a:cs typeface="Calibri"/>
              </a:rPr>
              <a:t>x</a:t>
            </a:r>
            <a:r>
              <a:rPr sz="1950" i="1" spc="40" dirty="0">
                <a:latin typeface="Calibri"/>
                <a:cs typeface="Calibri"/>
              </a:rPr>
              <a:t>  </a:t>
            </a:r>
            <a:r>
              <a:rPr sz="1950" i="1" spc="5" dirty="0">
                <a:latin typeface="Calibri"/>
                <a:cs typeface="Calibri"/>
              </a:rPr>
              <a:t>,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24802" y="7396614"/>
            <a:ext cx="965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90" dirty="0">
                <a:latin typeface="Calibri"/>
                <a:cs typeface="Calibri"/>
              </a:rPr>
              <a:t>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79161" y="7396639"/>
            <a:ext cx="38735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1735" dirty="0">
                <a:latin typeface="Trebuchet MS"/>
                <a:cs typeface="Trebuchet MS"/>
              </a:rPr>
              <a:t>Σ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43318" y="8011379"/>
            <a:ext cx="142494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47115" algn="l"/>
              </a:tabLst>
            </a:pPr>
            <a:r>
              <a:rPr sz="1350" i="1" spc="265" dirty="0">
                <a:latin typeface="Calibri"/>
                <a:cs typeface="Calibri"/>
              </a:rPr>
              <a:t>k</a:t>
            </a:r>
            <a:r>
              <a:rPr sz="1350" spc="265" dirty="0">
                <a:latin typeface="Calibri"/>
                <a:cs typeface="Calibri"/>
              </a:rPr>
              <a:t>=1</a:t>
            </a:r>
            <a:r>
              <a:rPr sz="1350" dirty="0">
                <a:latin typeface="Calibri"/>
                <a:cs typeface="Calibri"/>
              </a:rPr>
              <a:t>	</a:t>
            </a:r>
            <a:r>
              <a:rPr sz="1350" i="1" spc="265" dirty="0">
                <a:latin typeface="Calibri"/>
                <a:cs typeface="Calibri"/>
              </a:rPr>
              <a:t>k</a:t>
            </a:r>
            <a:r>
              <a:rPr sz="1350" spc="265" dirty="0">
                <a:latin typeface="Calibri"/>
                <a:cs typeface="Calibri"/>
              </a:rPr>
              <a:t>=1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07143" y="7747513"/>
            <a:ext cx="1320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60" dirty="0"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84140" y="7634848"/>
            <a:ext cx="34163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i="1" spc="85" dirty="0">
                <a:latin typeface="Calibri"/>
                <a:cs typeface="Calibri"/>
              </a:rPr>
              <a:t>y</a:t>
            </a:r>
            <a:r>
              <a:rPr sz="1950" i="1" spc="45" dirty="0">
                <a:latin typeface="Calibri"/>
                <a:cs typeface="Calibri"/>
              </a:rPr>
              <a:t>  </a:t>
            </a:r>
            <a:r>
              <a:rPr sz="1950" i="1" spc="-5" dirty="0">
                <a:latin typeface="Calibri"/>
                <a:cs typeface="Calibri"/>
              </a:rPr>
              <a:t>,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39264" y="7396614"/>
            <a:ext cx="965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90" dirty="0">
                <a:latin typeface="Calibri"/>
                <a:cs typeface="Calibri"/>
              </a:rPr>
              <a:t>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793622" y="7396639"/>
            <a:ext cx="38735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1735" dirty="0">
                <a:latin typeface="Trebuchet MS"/>
                <a:cs typeface="Trebuchet MS"/>
              </a:rPr>
              <a:t>Σ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92365" y="8011379"/>
            <a:ext cx="38989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265" dirty="0">
                <a:latin typeface="Calibri"/>
                <a:cs typeface="Calibri"/>
              </a:rPr>
              <a:t>k</a:t>
            </a:r>
            <a:r>
              <a:rPr sz="1350" spc="265" dirty="0">
                <a:latin typeface="Calibri"/>
                <a:cs typeface="Calibri"/>
              </a:rPr>
              <a:t>=1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41980" y="7606399"/>
            <a:ext cx="1257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45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341980" y="7771912"/>
            <a:ext cx="1320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60" dirty="0"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198602" y="7634848"/>
            <a:ext cx="36195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i="1" spc="270" dirty="0">
                <a:latin typeface="Calibri"/>
                <a:cs typeface="Calibri"/>
              </a:rPr>
              <a:t>x</a:t>
            </a:r>
            <a:r>
              <a:rPr sz="1950" i="1" spc="40" dirty="0">
                <a:latin typeface="Calibri"/>
                <a:cs typeface="Calibri"/>
              </a:rPr>
              <a:t>  </a:t>
            </a:r>
            <a:r>
              <a:rPr sz="1950" i="1" spc="5" dirty="0">
                <a:latin typeface="Calibri"/>
                <a:cs typeface="Calibri"/>
              </a:rPr>
              <a:t>,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973849" y="7396614"/>
            <a:ext cx="965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90" dirty="0">
                <a:latin typeface="Calibri"/>
                <a:cs typeface="Calibri"/>
              </a:rPr>
              <a:t>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28459" y="7396639"/>
            <a:ext cx="38735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1735" dirty="0">
                <a:latin typeface="Trebuchet MS"/>
                <a:cs typeface="Trebuchet MS"/>
              </a:rPr>
              <a:t>Σ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827201" y="8011379"/>
            <a:ext cx="38989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265" dirty="0">
                <a:latin typeface="Calibri"/>
                <a:cs typeface="Calibri"/>
              </a:rPr>
              <a:t>k</a:t>
            </a:r>
            <a:r>
              <a:rPr sz="1350" spc="265" dirty="0">
                <a:latin typeface="Calibri"/>
                <a:cs typeface="Calibri"/>
              </a:rPr>
              <a:t>=1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208039" y="7634848"/>
            <a:ext cx="57213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i="1" spc="210" dirty="0">
                <a:latin typeface="Calibri"/>
                <a:cs typeface="Calibri"/>
              </a:rPr>
              <a:t>x</a:t>
            </a:r>
            <a:r>
              <a:rPr sz="2025" i="1" spc="315" baseline="-12345" dirty="0">
                <a:latin typeface="Calibri"/>
                <a:cs typeface="Calibri"/>
              </a:rPr>
              <a:t>k</a:t>
            </a:r>
            <a:r>
              <a:rPr sz="1950" i="1" spc="210" dirty="0">
                <a:latin typeface="Calibri"/>
                <a:cs typeface="Calibri"/>
              </a:rPr>
              <a:t>y</a:t>
            </a:r>
            <a:r>
              <a:rPr sz="2025" i="1" spc="315" baseline="-12345" dirty="0">
                <a:latin typeface="Calibri"/>
                <a:cs typeface="Calibri"/>
              </a:rPr>
              <a:t>k</a:t>
            </a:r>
            <a:endParaRPr sz="2025" baseline="-1234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5864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677795" algn="l"/>
                <a:tab pos="5735320" algn="l"/>
              </a:tabLst>
            </a:pPr>
            <a:r>
              <a:rPr sz="3600" b="1" cap="small" spc="-25" dirty="0">
                <a:latin typeface="Tahoma"/>
                <a:cs typeface="Tahoma"/>
              </a:rPr>
              <a:t>6.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Dynamic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0" dirty="0">
                <a:latin typeface="Tahoma"/>
                <a:cs typeface="Tahoma"/>
              </a:rPr>
              <a:t>Programming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275" dirty="0"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891405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weighted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D5D5D5"/>
                </a:solidFill>
                <a:latin typeface="Verdana"/>
                <a:cs typeface="Verdana"/>
              </a:rPr>
              <a:t>interval</a:t>
            </a:r>
            <a:r>
              <a:rPr sz="3000" i="1" spc="-15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scheduling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75" dirty="0">
                <a:solidFill>
                  <a:srgbClr val="D5D5D5"/>
                </a:solidFill>
                <a:latin typeface="Verdana"/>
                <a:cs typeface="Verdana"/>
              </a:rPr>
              <a:t>segmented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05" dirty="0">
                <a:solidFill>
                  <a:srgbClr val="D5D5D5"/>
                </a:solidFill>
                <a:latin typeface="Verdana"/>
                <a:cs typeface="Verdana"/>
              </a:rPr>
              <a:t>least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D5D5D5"/>
                </a:solidFill>
                <a:latin typeface="Verdana"/>
                <a:cs typeface="Verdana"/>
              </a:rPr>
              <a:t>squares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85" dirty="0">
                <a:latin typeface="Verdana"/>
                <a:cs typeface="Verdana"/>
              </a:rPr>
              <a:t>knapsack</a:t>
            </a:r>
            <a:r>
              <a:rPr sz="3000" i="1" spc="-155" dirty="0">
                <a:latin typeface="Verdana"/>
                <a:cs typeface="Verdana"/>
              </a:rPr>
              <a:t> </a:t>
            </a:r>
            <a:r>
              <a:rPr sz="3000" i="1" spc="-295" dirty="0"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114" dirty="0">
                <a:solidFill>
                  <a:srgbClr val="D5D5D5"/>
                </a:solidFill>
                <a:latin typeface="Verdana"/>
                <a:cs typeface="Verdana"/>
              </a:rPr>
              <a:t>RNA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75" dirty="0">
                <a:solidFill>
                  <a:srgbClr val="D5D5D5"/>
                </a:solidFill>
                <a:latin typeface="Verdana"/>
                <a:cs typeface="Verdana"/>
              </a:rPr>
              <a:t>secondary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60" dirty="0">
                <a:solidFill>
                  <a:srgbClr val="D5D5D5"/>
                </a:solidFill>
                <a:latin typeface="Verdana"/>
                <a:cs typeface="Verdana"/>
              </a:rPr>
              <a:t>structure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4904" y="6918652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6.4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0332720" cy="425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2615"/>
              </a:lnSpc>
              <a:spcBef>
                <a:spcPts val="100"/>
              </a:spcBef>
              <a:tabLst>
                <a:tab pos="10160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Pack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maximize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total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taken.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  <a:tabLst>
                <a:tab pos="3528695" algn="l"/>
                <a:tab pos="7072630" algn="l"/>
                <a:tab pos="977138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items:</a:t>
            </a:r>
            <a:r>
              <a:rPr sz="2400" dirty="0">
                <a:latin typeface="Lucida Sans Unicode"/>
                <a:cs typeface="Lucida Sans Unicode"/>
              </a:rPr>
              <a:t>	item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provides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i="1" baseline="-6944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i="1" baseline="-6944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items</a:t>
            </a:r>
            <a:r>
              <a:rPr sz="2400" spc="-145" dirty="0">
                <a:latin typeface="Lucida Sans Unicode"/>
                <a:cs typeface="Lucida Sans Unicode"/>
              </a:rPr>
              <a:t> =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individual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items.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" marR="1997710">
              <a:lnSpc>
                <a:spcPct val="131900"/>
              </a:lnSpc>
              <a:spcBef>
                <a:spcPts val="3510"/>
              </a:spcBef>
              <a:tabLst>
                <a:tab pos="7042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 subset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 value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$35 (and weight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10).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 subset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 $40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(and weight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11).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11709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Assumption.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integral.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87887" y="6455327"/>
            <a:ext cx="1925320" cy="777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weights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values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can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arbitrary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positive</a:t>
            </a:r>
            <a:r>
              <a:rPr sz="1600" spc="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integers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425493" y="7012940"/>
            <a:ext cx="520065" cy="306070"/>
            <a:chOff x="10425493" y="7012940"/>
            <a:chExt cx="520065" cy="306070"/>
          </a:xfrm>
        </p:grpSpPr>
        <p:sp>
          <p:nvSpPr>
            <p:cNvPr id="7" name="object 7"/>
            <p:cNvSpPr/>
            <p:nvPr/>
          </p:nvSpPr>
          <p:spPr>
            <a:xfrm>
              <a:off x="10493649" y="7025640"/>
              <a:ext cx="439420" cy="254000"/>
            </a:xfrm>
            <a:custGeom>
              <a:avLst/>
              <a:gdLst/>
              <a:ahLst/>
              <a:cxnLst/>
              <a:rect l="l" t="t" r="r" b="b"/>
              <a:pathLst>
                <a:path w="439420" h="254000">
                  <a:moveTo>
                    <a:pt x="0" y="253857"/>
                  </a:moveTo>
                  <a:lnTo>
                    <a:pt x="10992" y="247497"/>
                  </a:lnTo>
                  <a:lnTo>
                    <a:pt x="438811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425493" y="7205108"/>
              <a:ext cx="136525" cy="114300"/>
            </a:xfrm>
            <a:custGeom>
              <a:avLst/>
              <a:gdLst/>
              <a:ahLst/>
              <a:cxnLst/>
              <a:rect l="l" t="t" r="r" b="b"/>
              <a:pathLst>
                <a:path w="136525" h="114300">
                  <a:moveTo>
                    <a:pt x="75006" y="0"/>
                  </a:moveTo>
                  <a:lnTo>
                    <a:pt x="0" y="113818"/>
                  </a:lnTo>
                  <a:lnTo>
                    <a:pt x="136058" y="105533"/>
                  </a:lnTo>
                  <a:lnTo>
                    <a:pt x="79150" y="68030"/>
                  </a:lnTo>
                  <a:lnTo>
                    <a:pt x="75006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170273" y="6690041"/>
            <a:ext cx="2459990" cy="2182495"/>
            <a:chOff x="3170273" y="6690041"/>
            <a:chExt cx="2459990" cy="2182495"/>
          </a:xfrm>
        </p:grpSpPr>
        <p:sp>
          <p:nvSpPr>
            <p:cNvPr id="10" name="object 10"/>
            <p:cNvSpPr/>
            <p:nvPr/>
          </p:nvSpPr>
          <p:spPr>
            <a:xfrm>
              <a:off x="3600253" y="6694169"/>
              <a:ext cx="324485" cy="200660"/>
            </a:xfrm>
            <a:custGeom>
              <a:avLst/>
              <a:gdLst/>
              <a:ahLst/>
              <a:cxnLst/>
              <a:rect l="l" t="t" r="r" b="b"/>
              <a:pathLst>
                <a:path w="324485" h="200659">
                  <a:moveTo>
                    <a:pt x="90327" y="0"/>
                  </a:moveTo>
                  <a:lnTo>
                    <a:pt x="44905" y="16608"/>
                  </a:lnTo>
                  <a:lnTo>
                    <a:pt x="21355" y="59394"/>
                  </a:lnTo>
                  <a:lnTo>
                    <a:pt x="8887" y="112248"/>
                  </a:lnTo>
                  <a:lnTo>
                    <a:pt x="4696" y="139144"/>
                  </a:lnTo>
                  <a:lnTo>
                    <a:pt x="0" y="165921"/>
                  </a:lnTo>
                  <a:lnTo>
                    <a:pt x="7706" y="181767"/>
                  </a:lnTo>
                  <a:lnTo>
                    <a:pt x="20829" y="193588"/>
                  </a:lnTo>
                  <a:lnTo>
                    <a:pt x="37256" y="200076"/>
                  </a:lnTo>
                  <a:lnTo>
                    <a:pt x="54877" y="199920"/>
                  </a:lnTo>
                  <a:lnTo>
                    <a:pt x="62713" y="186895"/>
                  </a:lnTo>
                  <a:lnTo>
                    <a:pt x="65753" y="172131"/>
                  </a:lnTo>
                  <a:lnTo>
                    <a:pt x="66765" y="141446"/>
                  </a:lnTo>
                  <a:lnTo>
                    <a:pt x="66581" y="124517"/>
                  </a:lnTo>
                  <a:lnTo>
                    <a:pt x="67319" y="107343"/>
                  </a:lnTo>
                  <a:lnTo>
                    <a:pt x="93033" y="67851"/>
                  </a:lnTo>
                  <a:lnTo>
                    <a:pt x="124829" y="63698"/>
                  </a:lnTo>
                  <a:lnTo>
                    <a:pt x="160892" y="70450"/>
                  </a:lnTo>
                  <a:lnTo>
                    <a:pt x="209725" y="88650"/>
                  </a:lnTo>
                  <a:lnTo>
                    <a:pt x="236003" y="121466"/>
                  </a:lnTo>
                  <a:lnTo>
                    <a:pt x="238906" y="144369"/>
                  </a:lnTo>
                  <a:lnTo>
                    <a:pt x="243171" y="165917"/>
                  </a:lnTo>
                  <a:lnTo>
                    <a:pt x="257482" y="183564"/>
                  </a:lnTo>
                  <a:lnTo>
                    <a:pt x="266952" y="191634"/>
                  </a:lnTo>
                  <a:lnTo>
                    <a:pt x="278003" y="197812"/>
                  </a:lnTo>
                  <a:lnTo>
                    <a:pt x="289975" y="200516"/>
                  </a:lnTo>
                  <a:lnTo>
                    <a:pt x="302205" y="198165"/>
                  </a:lnTo>
                  <a:lnTo>
                    <a:pt x="311585" y="187820"/>
                  </a:lnTo>
                  <a:lnTo>
                    <a:pt x="318065" y="175396"/>
                  </a:lnTo>
                  <a:lnTo>
                    <a:pt x="322039" y="161799"/>
                  </a:lnTo>
                  <a:lnTo>
                    <a:pt x="323904" y="147935"/>
                  </a:lnTo>
                  <a:lnTo>
                    <a:pt x="318946" y="118508"/>
                  </a:lnTo>
                  <a:lnTo>
                    <a:pt x="288356" y="81973"/>
                  </a:lnTo>
                  <a:lnTo>
                    <a:pt x="226499" y="45755"/>
                  </a:lnTo>
                  <a:lnTo>
                    <a:pt x="181525" y="26403"/>
                  </a:lnTo>
                  <a:lnTo>
                    <a:pt x="134898" y="10629"/>
                  </a:lnTo>
                  <a:lnTo>
                    <a:pt x="90327" y="0"/>
                  </a:lnTo>
                  <a:close/>
                </a:path>
              </a:pathLst>
            </a:custGeom>
            <a:solidFill>
              <a:srgbClr val="D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0253" y="6694168"/>
              <a:ext cx="324485" cy="200660"/>
            </a:xfrm>
            <a:custGeom>
              <a:avLst/>
              <a:gdLst/>
              <a:ahLst/>
              <a:cxnLst/>
              <a:rect l="l" t="t" r="r" b="b"/>
              <a:pathLst>
                <a:path w="324485" h="200659">
                  <a:moveTo>
                    <a:pt x="0" y="165921"/>
                  </a:moveTo>
                  <a:lnTo>
                    <a:pt x="7706" y="181767"/>
                  </a:lnTo>
                  <a:lnTo>
                    <a:pt x="20828" y="193588"/>
                  </a:lnTo>
                  <a:lnTo>
                    <a:pt x="37256" y="200076"/>
                  </a:lnTo>
                  <a:lnTo>
                    <a:pt x="54878" y="199920"/>
                  </a:lnTo>
                  <a:lnTo>
                    <a:pt x="62713" y="186895"/>
                  </a:lnTo>
                  <a:lnTo>
                    <a:pt x="65753" y="172131"/>
                  </a:lnTo>
                  <a:lnTo>
                    <a:pt x="66327" y="156643"/>
                  </a:lnTo>
                  <a:lnTo>
                    <a:pt x="66765" y="141446"/>
                  </a:lnTo>
                  <a:lnTo>
                    <a:pt x="66581" y="124517"/>
                  </a:lnTo>
                  <a:lnTo>
                    <a:pt x="67319" y="107343"/>
                  </a:lnTo>
                  <a:lnTo>
                    <a:pt x="93032" y="67851"/>
                  </a:lnTo>
                  <a:lnTo>
                    <a:pt x="124829" y="63698"/>
                  </a:lnTo>
                  <a:lnTo>
                    <a:pt x="140612" y="66538"/>
                  </a:lnTo>
                  <a:lnTo>
                    <a:pt x="186013" y="78351"/>
                  </a:lnTo>
                  <a:lnTo>
                    <a:pt x="225776" y="99757"/>
                  </a:lnTo>
                  <a:lnTo>
                    <a:pt x="238906" y="144369"/>
                  </a:lnTo>
                  <a:lnTo>
                    <a:pt x="243171" y="165918"/>
                  </a:lnTo>
                  <a:lnTo>
                    <a:pt x="257482" y="183564"/>
                  </a:lnTo>
                  <a:lnTo>
                    <a:pt x="266952" y="191634"/>
                  </a:lnTo>
                  <a:lnTo>
                    <a:pt x="278003" y="197811"/>
                  </a:lnTo>
                  <a:lnTo>
                    <a:pt x="289975" y="200516"/>
                  </a:lnTo>
                  <a:lnTo>
                    <a:pt x="302205" y="198165"/>
                  </a:lnTo>
                  <a:lnTo>
                    <a:pt x="311585" y="187820"/>
                  </a:lnTo>
                  <a:lnTo>
                    <a:pt x="318064" y="175396"/>
                  </a:lnTo>
                  <a:lnTo>
                    <a:pt x="322039" y="161799"/>
                  </a:lnTo>
                  <a:lnTo>
                    <a:pt x="323903" y="147935"/>
                  </a:lnTo>
                  <a:lnTo>
                    <a:pt x="318945" y="118507"/>
                  </a:lnTo>
                  <a:lnTo>
                    <a:pt x="288356" y="81973"/>
                  </a:lnTo>
                  <a:lnTo>
                    <a:pt x="226499" y="45755"/>
                  </a:lnTo>
                  <a:lnTo>
                    <a:pt x="181526" y="26403"/>
                  </a:lnTo>
                  <a:lnTo>
                    <a:pt x="134898" y="10629"/>
                  </a:lnTo>
                  <a:lnTo>
                    <a:pt x="90327" y="0"/>
                  </a:lnTo>
                  <a:lnTo>
                    <a:pt x="65903" y="3733"/>
                  </a:lnTo>
                  <a:lnTo>
                    <a:pt x="29376" y="36027"/>
                  </a:lnTo>
                  <a:lnTo>
                    <a:pt x="13973" y="85557"/>
                  </a:lnTo>
                  <a:lnTo>
                    <a:pt x="4696" y="139144"/>
                  </a:lnTo>
                  <a:lnTo>
                    <a:pt x="0" y="165921"/>
                  </a:lnTo>
                  <a:close/>
                </a:path>
              </a:pathLst>
            </a:custGeom>
            <a:ln w="7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4399" y="6911586"/>
              <a:ext cx="1365777" cy="14763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74400" y="6911583"/>
              <a:ext cx="1365885" cy="1476375"/>
            </a:xfrm>
            <a:custGeom>
              <a:avLst/>
              <a:gdLst/>
              <a:ahLst/>
              <a:cxnLst/>
              <a:rect l="l" t="t" r="r" b="b"/>
              <a:pathLst>
                <a:path w="1365885" h="1476375">
                  <a:moveTo>
                    <a:pt x="234829" y="83565"/>
                  </a:moveTo>
                  <a:lnTo>
                    <a:pt x="254129" y="90529"/>
                  </a:lnTo>
                  <a:lnTo>
                    <a:pt x="278780" y="105849"/>
                  </a:lnTo>
                  <a:lnTo>
                    <a:pt x="307917" y="121169"/>
                  </a:lnTo>
                  <a:lnTo>
                    <a:pt x="340678" y="128132"/>
                  </a:lnTo>
                  <a:lnTo>
                    <a:pt x="435389" y="128132"/>
                  </a:lnTo>
                  <a:lnTo>
                    <a:pt x="487437" y="126514"/>
                  </a:lnTo>
                  <a:lnTo>
                    <a:pt x="539528" y="121960"/>
                  </a:lnTo>
                  <a:lnTo>
                    <a:pt x="591083" y="114921"/>
                  </a:lnTo>
                  <a:lnTo>
                    <a:pt x="641526" y="105849"/>
                  </a:lnTo>
                  <a:lnTo>
                    <a:pt x="688950" y="96721"/>
                  </a:lnTo>
                  <a:lnTo>
                    <a:pt x="736069" y="87242"/>
                  </a:lnTo>
                  <a:lnTo>
                    <a:pt x="781878" y="75924"/>
                  </a:lnTo>
                  <a:lnTo>
                    <a:pt x="825371" y="61281"/>
                  </a:lnTo>
                  <a:lnTo>
                    <a:pt x="854531" y="52357"/>
                  </a:lnTo>
                  <a:lnTo>
                    <a:pt x="882711" y="47507"/>
                  </a:lnTo>
                  <a:lnTo>
                    <a:pt x="910077" y="43973"/>
                  </a:lnTo>
                  <a:lnTo>
                    <a:pt x="936797" y="38998"/>
                  </a:lnTo>
                  <a:lnTo>
                    <a:pt x="959951" y="32338"/>
                  </a:lnTo>
                  <a:lnTo>
                    <a:pt x="980510" y="25281"/>
                  </a:lnTo>
                  <a:lnTo>
                    <a:pt x="1001497" y="18117"/>
                  </a:lnTo>
                  <a:lnTo>
                    <a:pt x="1050817" y="5784"/>
                  </a:lnTo>
                  <a:lnTo>
                    <a:pt x="1099632" y="535"/>
                  </a:lnTo>
                  <a:lnTo>
                    <a:pt x="1126220" y="0"/>
                  </a:lnTo>
                  <a:lnTo>
                    <a:pt x="1153140" y="223"/>
                  </a:lnTo>
                  <a:lnTo>
                    <a:pt x="1167655" y="3845"/>
                  </a:lnTo>
                  <a:lnTo>
                    <a:pt x="1175379" y="15294"/>
                  </a:lnTo>
                  <a:lnTo>
                    <a:pt x="1181925" y="38998"/>
                  </a:lnTo>
                  <a:lnTo>
                    <a:pt x="1188883" y="65957"/>
                  </a:lnTo>
                  <a:lnTo>
                    <a:pt x="1195928" y="92221"/>
                  </a:lnTo>
                  <a:lnTo>
                    <a:pt x="1202937" y="118336"/>
                  </a:lnTo>
                  <a:lnTo>
                    <a:pt x="1209785" y="144847"/>
                  </a:lnTo>
                  <a:lnTo>
                    <a:pt x="1217035" y="186914"/>
                  </a:lnTo>
                  <a:lnTo>
                    <a:pt x="1220737" y="230452"/>
                  </a:lnTo>
                  <a:lnTo>
                    <a:pt x="1224534" y="274364"/>
                  </a:lnTo>
                  <a:lnTo>
                    <a:pt x="1232069" y="317555"/>
                  </a:lnTo>
                  <a:lnTo>
                    <a:pt x="1234488" y="326018"/>
                  </a:lnTo>
                  <a:lnTo>
                    <a:pt x="1237314" y="334363"/>
                  </a:lnTo>
                  <a:lnTo>
                    <a:pt x="1240304" y="342661"/>
                  </a:lnTo>
                  <a:lnTo>
                    <a:pt x="1243214" y="350984"/>
                  </a:lnTo>
                  <a:lnTo>
                    <a:pt x="1254606" y="398270"/>
                  </a:lnTo>
                  <a:lnTo>
                    <a:pt x="1261041" y="445464"/>
                  </a:lnTo>
                  <a:lnTo>
                    <a:pt x="1268312" y="492774"/>
                  </a:lnTo>
                  <a:lnTo>
                    <a:pt x="1282213" y="540406"/>
                  </a:lnTo>
                  <a:lnTo>
                    <a:pt x="1302256" y="590365"/>
                  </a:lnTo>
                  <a:lnTo>
                    <a:pt x="1320144" y="640872"/>
                  </a:lnTo>
                  <a:lnTo>
                    <a:pt x="1332994" y="694072"/>
                  </a:lnTo>
                  <a:lnTo>
                    <a:pt x="1337918" y="752112"/>
                  </a:lnTo>
                  <a:lnTo>
                    <a:pt x="1341401" y="804255"/>
                  </a:lnTo>
                  <a:lnTo>
                    <a:pt x="1349063" y="855707"/>
                  </a:lnTo>
                  <a:lnTo>
                    <a:pt x="1356726" y="906896"/>
                  </a:lnTo>
                  <a:lnTo>
                    <a:pt x="1360209" y="958249"/>
                  </a:lnTo>
                  <a:lnTo>
                    <a:pt x="1361079" y="989605"/>
                  </a:lnTo>
                  <a:lnTo>
                    <a:pt x="1362994" y="1021750"/>
                  </a:lnTo>
                  <a:lnTo>
                    <a:pt x="1364908" y="1054175"/>
                  </a:lnTo>
                  <a:lnTo>
                    <a:pt x="1365778" y="1086374"/>
                  </a:lnTo>
                  <a:lnTo>
                    <a:pt x="1364295" y="1117039"/>
                  </a:lnTo>
                  <a:lnTo>
                    <a:pt x="1355061" y="1172763"/>
                  </a:lnTo>
                  <a:lnTo>
                    <a:pt x="1336057" y="1223074"/>
                  </a:lnTo>
                  <a:lnTo>
                    <a:pt x="1288051" y="1271725"/>
                  </a:lnTo>
                  <a:lnTo>
                    <a:pt x="1265498" y="1292511"/>
                  </a:lnTo>
                  <a:lnTo>
                    <a:pt x="1230529" y="1319599"/>
                  </a:lnTo>
                  <a:lnTo>
                    <a:pt x="1190105" y="1338695"/>
                  </a:lnTo>
                  <a:lnTo>
                    <a:pt x="1146552" y="1350932"/>
                  </a:lnTo>
                  <a:lnTo>
                    <a:pt x="1102196" y="1357443"/>
                  </a:lnTo>
                  <a:lnTo>
                    <a:pt x="1059361" y="1359362"/>
                  </a:lnTo>
                  <a:lnTo>
                    <a:pt x="1012161" y="1361103"/>
                  </a:lnTo>
                  <a:lnTo>
                    <a:pt x="965150" y="1364935"/>
                  </a:lnTo>
                  <a:lnTo>
                    <a:pt x="917889" y="1368766"/>
                  </a:lnTo>
                  <a:lnTo>
                    <a:pt x="869939" y="1370508"/>
                  </a:lnTo>
                  <a:lnTo>
                    <a:pt x="827790" y="1371172"/>
                  </a:lnTo>
                  <a:lnTo>
                    <a:pt x="787976" y="1373674"/>
                  </a:lnTo>
                  <a:lnTo>
                    <a:pt x="748753" y="1378773"/>
                  </a:lnTo>
                  <a:lnTo>
                    <a:pt x="708377" y="1387230"/>
                  </a:lnTo>
                  <a:lnTo>
                    <a:pt x="659981" y="1403462"/>
                  </a:lnTo>
                  <a:lnTo>
                    <a:pt x="614690" y="1423879"/>
                  </a:lnTo>
                  <a:lnTo>
                    <a:pt x="570281" y="1444076"/>
                  </a:lnTo>
                  <a:lnTo>
                    <a:pt x="524531" y="1459650"/>
                  </a:lnTo>
                  <a:lnTo>
                    <a:pt x="499865" y="1465817"/>
                  </a:lnTo>
                  <a:lnTo>
                    <a:pt x="475693" y="1471165"/>
                  </a:lnTo>
                  <a:lnTo>
                    <a:pt x="450869" y="1474932"/>
                  </a:lnTo>
                  <a:lnTo>
                    <a:pt x="424251" y="1476357"/>
                  </a:lnTo>
                  <a:lnTo>
                    <a:pt x="307256" y="1476357"/>
                  </a:lnTo>
                  <a:lnTo>
                    <a:pt x="286745" y="1472503"/>
                  </a:lnTo>
                  <a:lnTo>
                    <a:pt x="268860" y="1462830"/>
                  </a:lnTo>
                  <a:lnTo>
                    <a:pt x="253459" y="1450171"/>
                  </a:lnTo>
                  <a:lnTo>
                    <a:pt x="240397" y="1437358"/>
                  </a:lnTo>
                  <a:lnTo>
                    <a:pt x="216061" y="1419908"/>
                  </a:lnTo>
                  <a:lnTo>
                    <a:pt x="186926" y="1407350"/>
                  </a:lnTo>
                  <a:lnTo>
                    <a:pt x="158064" y="1398655"/>
                  </a:lnTo>
                  <a:lnTo>
                    <a:pt x="134548" y="1392791"/>
                  </a:lnTo>
                  <a:lnTo>
                    <a:pt x="117920" y="1382910"/>
                  </a:lnTo>
                  <a:lnTo>
                    <a:pt x="100031" y="1365183"/>
                  </a:lnTo>
                  <a:lnTo>
                    <a:pt x="82686" y="1345940"/>
                  </a:lnTo>
                  <a:lnTo>
                    <a:pt x="67690" y="1331509"/>
                  </a:lnTo>
                  <a:lnTo>
                    <a:pt x="53090" y="1321651"/>
                  </a:lnTo>
                  <a:lnTo>
                    <a:pt x="38736" y="1313754"/>
                  </a:lnTo>
                  <a:lnTo>
                    <a:pt x="23539" y="1306380"/>
                  </a:lnTo>
                  <a:lnTo>
                    <a:pt x="6408" y="1298088"/>
                  </a:lnTo>
                  <a:lnTo>
                    <a:pt x="1461" y="1279948"/>
                  </a:lnTo>
                  <a:lnTo>
                    <a:pt x="0" y="1243592"/>
                  </a:lnTo>
                  <a:lnTo>
                    <a:pt x="350" y="1205235"/>
                  </a:lnTo>
                  <a:lnTo>
                    <a:pt x="839" y="1181093"/>
                  </a:lnTo>
                  <a:lnTo>
                    <a:pt x="6278" y="1141449"/>
                  </a:lnTo>
                  <a:lnTo>
                    <a:pt x="19057" y="1090305"/>
                  </a:lnTo>
                  <a:lnTo>
                    <a:pt x="33869" y="1038593"/>
                  </a:lnTo>
                  <a:lnTo>
                    <a:pt x="45406" y="997247"/>
                  </a:lnTo>
                  <a:lnTo>
                    <a:pt x="48011" y="987447"/>
                  </a:lnTo>
                  <a:lnTo>
                    <a:pt x="50818" y="977701"/>
                  </a:lnTo>
                  <a:lnTo>
                    <a:pt x="53706" y="967980"/>
                  </a:lnTo>
                  <a:lnTo>
                    <a:pt x="56552" y="958249"/>
                  </a:lnTo>
                  <a:lnTo>
                    <a:pt x="65333" y="920003"/>
                  </a:lnTo>
                  <a:lnTo>
                    <a:pt x="70393" y="881662"/>
                  </a:lnTo>
                  <a:lnTo>
                    <a:pt x="72711" y="842617"/>
                  </a:lnTo>
                  <a:lnTo>
                    <a:pt x="73267" y="802256"/>
                  </a:lnTo>
                  <a:lnTo>
                    <a:pt x="73267" y="635117"/>
                  </a:lnTo>
                  <a:lnTo>
                    <a:pt x="74137" y="598508"/>
                  </a:lnTo>
                  <a:lnTo>
                    <a:pt x="76051" y="562029"/>
                  </a:lnTo>
                  <a:lnTo>
                    <a:pt x="77965" y="525880"/>
                  </a:lnTo>
                  <a:lnTo>
                    <a:pt x="78835" y="490262"/>
                  </a:lnTo>
                  <a:lnTo>
                    <a:pt x="78835" y="334269"/>
                  </a:lnTo>
                  <a:lnTo>
                    <a:pt x="82245" y="309347"/>
                  </a:lnTo>
                  <a:lnTo>
                    <a:pt x="91177" y="280254"/>
                  </a:lnTo>
                  <a:lnTo>
                    <a:pt x="103688" y="251706"/>
                  </a:lnTo>
                  <a:lnTo>
                    <a:pt x="117834" y="228420"/>
                  </a:lnTo>
                  <a:lnTo>
                    <a:pt x="133006" y="209645"/>
                  </a:lnTo>
                  <a:lnTo>
                    <a:pt x="145403" y="193373"/>
                  </a:lnTo>
                  <a:lnTo>
                    <a:pt x="153765" y="175126"/>
                  </a:lnTo>
                  <a:lnTo>
                    <a:pt x="156832" y="150424"/>
                  </a:lnTo>
                  <a:lnTo>
                    <a:pt x="160289" y="136040"/>
                  </a:lnTo>
                  <a:lnTo>
                    <a:pt x="168372" y="120704"/>
                  </a:lnTo>
                  <a:lnTo>
                    <a:pt x="177648" y="106299"/>
                  </a:lnTo>
                  <a:lnTo>
                    <a:pt x="184685" y="94711"/>
                  </a:lnTo>
                  <a:lnTo>
                    <a:pt x="191894" y="77606"/>
                  </a:lnTo>
                  <a:lnTo>
                    <a:pt x="197841" y="68667"/>
                  </a:lnTo>
                  <a:lnTo>
                    <a:pt x="209745" y="69963"/>
                  </a:lnTo>
                  <a:lnTo>
                    <a:pt x="234829" y="83565"/>
                  </a:lnTo>
                  <a:close/>
                </a:path>
              </a:pathLst>
            </a:custGeom>
            <a:ln w="7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25610" y="7258690"/>
              <a:ext cx="203200" cy="1011555"/>
            </a:xfrm>
            <a:custGeom>
              <a:avLst/>
              <a:gdLst/>
              <a:ahLst/>
              <a:cxnLst/>
              <a:rect l="l" t="t" r="r" b="b"/>
              <a:pathLst>
                <a:path w="203200" h="1011554">
                  <a:moveTo>
                    <a:pt x="40690" y="0"/>
                  </a:moveTo>
                  <a:lnTo>
                    <a:pt x="18477" y="12103"/>
                  </a:lnTo>
                  <a:lnTo>
                    <a:pt x="29467" y="30252"/>
                  </a:lnTo>
                  <a:lnTo>
                    <a:pt x="37613" y="79512"/>
                  </a:lnTo>
                  <a:lnTo>
                    <a:pt x="55727" y="177826"/>
                  </a:lnTo>
                  <a:lnTo>
                    <a:pt x="64337" y="227045"/>
                  </a:lnTo>
                  <a:lnTo>
                    <a:pt x="71745" y="276412"/>
                  </a:lnTo>
                  <a:lnTo>
                    <a:pt x="77273" y="326012"/>
                  </a:lnTo>
                  <a:lnTo>
                    <a:pt x="80242" y="375925"/>
                  </a:lnTo>
                  <a:lnTo>
                    <a:pt x="87261" y="425297"/>
                  </a:lnTo>
                  <a:lnTo>
                    <a:pt x="93436" y="474910"/>
                  </a:lnTo>
                  <a:lnTo>
                    <a:pt x="97199" y="524652"/>
                  </a:lnTo>
                  <a:lnTo>
                    <a:pt x="96979" y="574407"/>
                  </a:lnTo>
                  <a:lnTo>
                    <a:pt x="91209" y="624063"/>
                  </a:lnTo>
                  <a:lnTo>
                    <a:pt x="87841" y="666473"/>
                  </a:lnTo>
                  <a:lnTo>
                    <a:pt x="87195" y="709041"/>
                  </a:lnTo>
                  <a:lnTo>
                    <a:pt x="86272" y="751553"/>
                  </a:lnTo>
                  <a:lnTo>
                    <a:pt x="82075" y="793792"/>
                  </a:lnTo>
                  <a:lnTo>
                    <a:pt x="67597" y="843998"/>
                  </a:lnTo>
                  <a:lnTo>
                    <a:pt x="49859" y="893218"/>
                  </a:lnTo>
                  <a:lnTo>
                    <a:pt x="27710" y="940483"/>
                  </a:lnTo>
                  <a:lnTo>
                    <a:pt x="0" y="984828"/>
                  </a:lnTo>
                  <a:lnTo>
                    <a:pt x="15756" y="1008577"/>
                  </a:lnTo>
                  <a:lnTo>
                    <a:pt x="74827" y="998908"/>
                  </a:lnTo>
                  <a:lnTo>
                    <a:pt x="115735" y="950253"/>
                  </a:lnTo>
                  <a:lnTo>
                    <a:pt x="146098" y="888340"/>
                  </a:lnTo>
                  <a:lnTo>
                    <a:pt x="161694" y="857663"/>
                  </a:lnTo>
                  <a:lnTo>
                    <a:pt x="177526" y="813059"/>
                  </a:lnTo>
                  <a:lnTo>
                    <a:pt x="189887" y="767271"/>
                  </a:lnTo>
                  <a:lnTo>
                    <a:pt x="198424" y="720661"/>
                  </a:lnTo>
                  <a:lnTo>
                    <a:pt x="202783" y="673591"/>
                  </a:lnTo>
                  <a:lnTo>
                    <a:pt x="197940" y="633824"/>
                  </a:lnTo>
                  <a:lnTo>
                    <a:pt x="190836" y="594373"/>
                  </a:lnTo>
                  <a:lnTo>
                    <a:pt x="183353" y="554962"/>
                  </a:lnTo>
                  <a:lnTo>
                    <a:pt x="177379" y="515313"/>
                  </a:lnTo>
                  <a:lnTo>
                    <a:pt x="169570" y="465202"/>
                  </a:lnTo>
                  <a:lnTo>
                    <a:pt x="162742" y="414947"/>
                  </a:lnTo>
                  <a:lnTo>
                    <a:pt x="150200" y="314282"/>
                  </a:lnTo>
                  <a:lnTo>
                    <a:pt x="143574" y="264013"/>
                  </a:lnTo>
                  <a:lnTo>
                    <a:pt x="136103" y="213880"/>
                  </a:lnTo>
                  <a:lnTo>
                    <a:pt x="128340" y="169156"/>
                  </a:lnTo>
                  <a:lnTo>
                    <a:pt x="121194" y="124258"/>
                  </a:lnTo>
                  <a:lnTo>
                    <a:pt x="112996" y="79611"/>
                  </a:lnTo>
                  <a:lnTo>
                    <a:pt x="102074" y="35642"/>
                  </a:lnTo>
                  <a:lnTo>
                    <a:pt x="86876" y="15621"/>
                  </a:lnTo>
                  <a:lnTo>
                    <a:pt x="64952" y="2456"/>
                  </a:lnTo>
                  <a:lnTo>
                    <a:pt x="40690" y="0"/>
                  </a:lnTo>
                  <a:close/>
                </a:path>
              </a:pathLst>
            </a:custGeom>
            <a:solidFill>
              <a:srgbClr val="D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25610" y="7258690"/>
              <a:ext cx="203200" cy="1011555"/>
            </a:xfrm>
            <a:custGeom>
              <a:avLst/>
              <a:gdLst/>
              <a:ahLst/>
              <a:cxnLst/>
              <a:rect l="l" t="t" r="r" b="b"/>
              <a:pathLst>
                <a:path w="203200" h="1011554">
                  <a:moveTo>
                    <a:pt x="29467" y="30252"/>
                  </a:moveTo>
                  <a:lnTo>
                    <a:pt x="37613" y="79512"/>
                  </a:lnTo>
                  <a:lnTo>
                    <a:pt x="46593" y="128676"/>
                  </a:lnTo>
                  <a:lnTo>
                    <a:pt x="55727" y="177826"/>
                  </a:lnTo>
                  <a:lnTo>
                    <a:pt x="64337" y="227045"/>
                  </a:lnTo>
                  <a:lnTo>
                    <a:pt x="71745" y="276412"/>
                  </a:lnTo>
                  <a:lnTo>
                    <a:pt x="77273" y="326012"/>
                  </a:lnTo>
                  <a:lnTo>
                    <a:pt x="80242" y="375925"/>
                  </a:lnTo>
                  <a:lnTo>
                    <a:pt x="87261" y="425297"/>
                  </a:lnTo>
                  <a:lnTo>
                    <a:pt x="93436" y="474910"/>
                  </a:lnTo>
                  <a:lnTo>
                    <a:pt x="97199" y="524652"/>
                  </a:lnTo>
                  <a:lnTo>
                    <a:pt x="96979" y="574407"/>
                  </a:lnTo>
                  <a:lnTo>
                    <a:pt x="91209" y="624063"/>
                  </a:lnTo>
                  <a:lnTo>
                    <a:pt x="87841" y="666473"/>
                  </a:lnTo>
                  <a:lnTo>
                    <a:pt x="87195" y="709041"/>
                  </a:lnTo>
                  <a:lnTo>
                    <a:pt x="86272" y="751553"/>
                  </a:lnTo>
                  <a:lnTo>
                    <a:pt x="82075" y="793792"/>
                  </a:lnTo>
                  <a:lnTo>
                    <a:pt x="67597" y="843998"/>
                  </a:lnTo>
                  <a:lnTo>
                    <a:pt x="49859" y="893218"/>
                  </a:lnTo>
                  <a:lnTo>
                    <a:pt x="27710" y="940483"/>
                  </a:lnTo>
                  <a:lnTo>
                    <a:pt x="0" y="984828"/>
                  </a:lnTo>
                  <a:lnTo>
                    <a:pt x="15756" y="1008577"/>
                  </a:lnTo>
                  <a:lnTo>
                    <a:pt x="74827" y="998908"/>
                  </a:lnTo>
                  <a:lnTo>
                    <a:pt x="115735" y="950253"/>
                  </a:lnTo>
                  <a:lnTo>
                    <a:pt x="146098" y="888340"/>
                  </a:lnTo>
                  <a:lnTo>
                    <a:pt x="161694" y="857663"/>
                  </a:lnTo>
                  <a:lnTo>
                    <a:pt x="177526" y="813059"/>
                  </a:lnTo>
                  <a:lnTo>
                    <a:pt x="189887" y="767271"/>
                  </a:lnTo>
                  <a:lnTo>
                    <a:pt x="198424" y="720661"/>
                  </a:lnTo>
                  <a:lnTo>
                    <a:pt x="202783" y="673591"/>
                  </a:lnTo>
                  <a:lnTo>
                    <a:pt x="197940" y="633824"/>
                  </a:lnTo>
                  <a:lnTo>
                    <a:pt x="190836" y="594373"/>
                  </a:lnTo>
                  <a:lnTo>
                    <a:pt x="183353" y="554962"/>
                  </a:lnTo>
                  <a:lnTo>
                    <a:pt x="177379" y="515313"/>
                  </a:lnTo>
                  <a:lnTo>
                    <a:pt x="169570" y="465202"/>
                  </a:lnTo>
                  <a:lnTo>
                    <a:pt x="162742" y="414947"/>
                  </a:lnTo>
                  <a:lnTo>
                    <a:pt x="156437" y="364617"/>
                  </a:lnTo>
                  <a:lnTo>
                    <a:pt x="150200" y="314282"/>
                  </a:lnTo>
                  <a:lnTo>
                    <a:pt x="143574" y="264013"/>
                  </a:lnTo>
                  <a:lnTo>
                    <a:pt x="136103" y="213880"/>
                  </a:lnTo>
                  <a:lnTo>
                    <a:pt x="128340" y="169156"/>
                  </a:lnTo>
                  <a:lnTo>
                    <a:pt x="121194" y="124258"/>
                  </a:lnTo>
                  <a:lnTo>
                    <a:pt x="112996" y="79611"/>
                  </a:lnTo>
                  <a:lnTo>
                    <a:pt x="102074" y="35642"/>
                  </a:lnTo>
                  <a:lnTo>
                    <a:pt x="64952" y="2456"/>
                  </a:lnTo>
                  <a:lnTo>
                    <a:pt x="40690" y="0"/>
                  </a:lnTo>
                  <a:lnTo>
                    <a:pt x="18477" y="12103"/>
                  </a:lnTo>
                </a:path>
              </a:pathLst>
            </a:custGeom>
            <a:ln w="7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09336" y="7405060"/>
              <a:ext cx="270510" cy="990600"/>
            </a:xfrm>
            <a:custGeom>
              <a:avLst/>
              <a:gdLst/>
              <a:ahLst/>
              <a:cxnLst/>
              <a:rect l="l" t="t" r="r" b="b"/>
              <a:pathLst>
                <a:path w="270510" h="990600">
                  <a:moveTo>
                    <a:pt x="228835" y="0"/>
                  </a:moveTo>
                  <a:lnTo>
                    <a:pt x="213362" y="442"/>
                  </a:lnTo>
                  <a:lnTo>
                    <a:pt x="196993" y="1298"/>
                  </a:lnTo>
                  <a:lnTo>
                    <a:pt x="185528" y="1298"/>
                  </a:lnTo>
                  <a:lnTo>
                    <a:pt x="189381" y="3833"/>
                  </a:lnTo>
                  <a:lnTo>
                    <a:pt x="185177" y="5237"/>
                  </a:lnTo>
                  <a:lnTo>
                    <a:pt x="193055" y="24931"/>
                  </a:lnTo>
                  <a:lnTo>
                    <a:pt x="193055" y="127356"/>
                  </a:lnTo>
                  <a:lnTo>
                    <a:pt x="193670" y="152355"/>
                  </a:lnTo>
                  <a:lnTo>
                    <a:pt x="196378" y="200712"/>
                  </a:lnTo>
                  <a:lnTo>
                    <a:pt x="196993" y="225842"/>
                  </a:lnTo>
                  <a:lnTo>
                    <a:pt x="195147" y="271866"/>
                  </a:lnTo>
                  <a:lnTo>
                    <a:pt x="187023" y="361918"/>
                  </a:lnTo>
                  <a:lnTo>
                    <a:pt x="185177" y="407059"/>
                  </a:lnTo>
                  <a:lnTo>
                    <a:pt x="184864" y="471817"/>
                  </a:lnTo>
                  <a:lnTo>
                    <a:pt x="177291" y="533117"/>
                  </a:lnTo>
                  <a:lnTo>
                    <a:pt x="172859" y="555803"/>
                  </a:lnTo>
                  <a:lnTo>
                    <a:pt x="169539" y="577979"/>
                  </a:lnTo>
                  <a:lnTo>
                    <a:pt x="165172" y="599392"/>
                  </a:lnTo>
                  <a:lnTo>
                    <a:pt x="157597" y="619787"/>
                  </a:lnTo>
                  <a:lnTo>
                    <a:pt x="149979" y="641738"/>
                  </a:lnTo>
                  <a:lnTo>
                    <a:pt x="145405" y="666674"/>
                  </a:lnTo>
                  <a:lnTo>
                    <a:pt x="142003" y="691801"/>
                  </a:lnTo>
                  <a:lnTo>
                    <a:pt x="137903" y="714327"/>
                  </a:lnTo>
                  <a:lnTo>
                    <a:pt x="133495" y="732494"/>
                  </a:lnTo>
                  <a:lnTo>
                    <a:pt x="129531" y="749898"/>
                  </a:lnTo>
                  <a:lnTo>
                    <a:pt x="125815" y="767245"/>
                  </a:lnTo>
                  <a:lnTo>
                    <a:pt x="122148" y="785241"/>
                  </a:lnTo>
                  <a:lnTo>
                    <a:pt x="117559" y="797274"/>
                  </a:lnTo>
                  <a:lnTo>
                    <a:pt x="109677" y="811295"/>
                  </a:lnTo>
                  <a:lnTo>
                    <a:pt x="101136" y="825092"/>
                  </a:lnTo>
                  <a:lnTo>
                    <a:pt x="94568" y="836454"/>
                  </a:lnTo>
                  <a:lnTo>
                    <a:pt x="88514" y="847947"/>
                  </a:lnTo>
                  <a:lnTo>
                    <a:pt x="76289" y="869686"/>
                  </a:lnTo>
                  <a:lnTo>
                    <a:pt x="70928" y="879789"/>
                  </a:lnTo>
                  <a:lnTo>
                    <a:pt x="43356" y="923123"/>
                  </a:lnTo>
                  <a:lnTo>
                    <a:pt x="33838" y="933257"/>
                  </a:lnTo>
                  <a:lnTo>
                    <a:pt x="19250" y="950553"/>
                  </a:lnTo>
                  <a:lnTo>
                    <a:pt x="11837" y="958581"/>
                  </a:lnTo>
                  <a:lnTo>
                    <a:pt x="2664" y="970236"/>
                  </a:lnTo>
                  <a:lnTo>
                    <a:pt x="0" y="980320"/>
                  </a:lnTo>
                  <a:lnTo>
                    <a:pt x="5224" y="987412"/>
                  </a:lnTo>
                  <a:lnTo>
                    <a:pt x="19715" y="990091"/>
                  </a:lnTo>
                  <a:lnTo>
                    <a:pt x="86691" y="990091"/>
                  </a:lnTo>
                  <a:lnTo>
                    <a:pt x="93683" y="984148"/>
                  </a:lnTo>
                  <a:lnTo>
                    <a:pt x="105660" y="970632"/>
                  </a:lnTo>
                  <a:lnTo>
                    <a:pt x="118002" y="956012"/>
                  </a:lnTo>
                  <a:lnTo>
                    <a:pt x="126087" y="946756"/>
                  </a:lnTo>
                  <a:lnTo>
                    <a:pt x="139757" y="930620"/>
                  </a:lnTo>
                  <a:lnTo>
                    <a:pt x="164205" y="895337"/>
                  </a:lnTo>
                  <a:lnTo>
                    <a:pt x="177291" y="879789"/>
                  </a:lnTo>
                  <a:lnTo>
                    <a:pt x="188004" y="865383"/>
                  </a:lnTo>
                  <a:lnTo>
                    <a:pt x="195839" y="849424"/>
                  </a:lnTo>
                  <a:lnTo>
                    <a:pt x="203264" y="833875"/>
                  </a:lnTo>
                  <a:lnTo>
                    <a:pt x="212749" y="820698"/>
                  </a:lnTo>
                  <a:lnTo>
                    <a:pt x="221219" y="806083"/>
                  </a:lnTo>
                  <a:lnTo>
                    <a:pt x="226878" y="786578"/>
                  </a:lnTo>
                  <a:lnTo>
                    <a:pt x="232367" y="766404"/>
                  </a:lnTo>
                  <a:lnTo>
                    <a:pt x="251832" y="725330"/>
                  </a:lnTo>
                  <a:lnTo>
                    <a:pt x="257666" y="695029"/>
                  </a:lnTo>
                  <a:lnTo>
                    <a:pt x="259754" y="663546"/>
                  </a:lnTo>
                  <a:lnTo>
                    <a:pt x="260022" y="635542"/>
                  </a:lnTo>
                  <a:lnTo>
                    <a:pt x="260022" y="454325"/>
                  </a:lnTo>
                  <a:lnTo>
                    <a:pt x="260638" y="437003"/>
                  </a:lnTo>
                  <a:lnTo>
                    <a:pt x="263346" y="404237"/>
                  </a:lnTo>
                  <a:lnTo>
                    <a:pt x="263961" y="387358"/>
                  </a:lnTo>
                  <a:lnTo>
                    <a:pt x="263915" y="365400"/>
                  </a:lnTo>
                  <a:lnTo>
                    <a:pt x="264167" y="343600"/>
                  </a:lnTo>
                  <a:lnTo>
                    <a:pt x="265300" y="322013"/>
                  </a:lnTo>
                  <a:lnTo>
                    <a:pt x="267900" y="300696"/>
                  </a:lnTo>
                  <a:lnTo>
                    <a:pt x="269901" y="278612"/>
                  </a:lnTo>
                  <a:lnTo>
                    <a:pt x="269678" y="255596"/>
                  </a:lnTo>
                  <a:lnTo>
                    <a:pt x="268567" y="232477"/>
                  </a:lnTo>
                  <a:lnTo>
                    <a:pt x="267900" y="210087"/>
                  </a:lnTo>
                  <a:lnTo>
                    <a:pt x="267900" y="64327"/>
                  </a:lnTo>
                  <a:lnTo>
                    <a:pt x="265585" y="47986"/>
                  </a:lnTo>
                  <a:lnTo>
                    <a:pt x="260086" y="36729"/>
                  </a:lnTo>
                  <a:lnTo>
                    <a:pt x="253570" y="26468"/>
                  </a:lnTo>
                  <a:lnTo>
                    <a:pt x="248206" y="13115"/>
                  </a:lnTo>
                  <a:lnTo>
                    <a:pt x="241191" y="3161"/>
                  </a:lnTo>
                  <a:lnTo>
                    <a:pt x="228835" y="0"/>
                  </a:lnTo>
                  <a:close/>
                </a:path>
              </a:pathLst>
            </a:custGeom>
            <a:solidFill>
              <a:srgbClr val="D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09336" y="7405060"/>
              <a:ext cx="270510" cy="990600"/>
            </a:xfrm>
            <a:custGeom>
              <a:avLst/>
              <a:gdLst/>
              <a:ahLst/>
              <a:cxnLst/>
              <a:rect l="l" t="t" r="r" b="b"/>
              <a:pathLst>
                <a:path w="270510" h="990600">
                  <a:moveTo>
                    <a:pt x="193055" y="24931"/>
                  </a:moveTo>
                  <a:lnTo>
                    <a:pt x="193055" y="127356"/>
                  </a:lnTo>
                  <a:lnTo>
                    <a:pt x="193670" y="152355"/>
                  </a:lnTo>
                  <a:lnTo>
                    <a:pt x="195024" y="176511"/>
                  </a:lnTo>
                  <a:lnTo>
                    <a:pt x="196378" y="200712"/>
                  </a:lnTo>
                  <a:lnTo>
                    <a:pt x="196993" y="225842"/>
                  </a:lnTo>
                  <a:lnTo>
                    <a:pt x="195147" y="271866"/>
                  </a:lnTo>
                  <a:lnTo>
                    <a:pt x="191085" y="317039"/>
                  </a:lnTo>
                  <a:lnTo>
                    <a:pt x="187023" y="361918"/>
                  </a:lnTo>
                  <a:lnTo>
                    <a:pt x="185177" y="407059"/>
                  </a:lnTo>
                  <a:lnTo>
                    <a:pt x="184864" y="471817"/>
                  </a:lnTo>
                  <a:lnTo>
                    <a:pt x="177291" y="533117"/>
                  </a:lnTo>
                  <a:lnTo>
                    <a:pt x="172859" y="555803"/>
                  </a:lnTo>
                  <a:lnTo>
                    <a:pt x="169539" y="577979"/>
                  </a:lnTo>
                  <a:lnTo>
                    <a:pt x="165172" y="599392"/>
                  </a:lnTo>
                  <a:lnTo>
                    <a:pt x="157597" y="619787"/>
                  </a:lnTo>
                  <a:lnTo>
                    <a:pt x="149979" y="641738"/>
                  </a:lnTo>
                  <a:lnTo>
                    <a:pt x="145405" y="666674"/>
                  </a:lnTo>
                  <a:lnTo>
                    <a:pt x="142003" y="691801"/>
                  </a:lnTo>
                  <a:lnTo>
                    <a:pt x="137903" y="714327"/>
                  </a:lnTo>
                  <a:lnTo>
                    <a:pt x="133495" y="732494"/>
                  </a:lnTo>
                  <a:lnTo>
                    <a:pt x="129531" y="749898"/>
                  </a:lnTo>
                  <a:lnTo>
                    <a:pt x="125815" y="767245"/>
                  </a:lnTo>
                  <a:lnTo>
                    <a:pt x="122148" y="785241"/>
                  </a:lnTo>
                  <a:lnTo>
                    <a:pt x="117559" y="797274"/>
                  </a:lnTo>
                  <a:lnTo>
                    <a:pt x="109677" y="811295"/>
                  </a:lnTo>
                  <a:lnTo>
                    <a:pt x="101136" y="825092"/>
                  </a:lnTo>
                  <a:lnTo>
                    <a:pt x="94568" y="836454"/>
                  </a:lnTo>
                  <a:lnTo>
                    <a:pt x="88514" y="847947"/>
                  </a:lnTo>
                  <a:lnTo>
                    <a:pt x="82286" y="859048"/>
                  </a:lnTo>
                  <a:lnTo>
                    <a:pt x="76289" y="869686"/>
                  </a:lnTo>
                  <a:lnTo>
                    <a:pt x="70928" y="879789"/>
                  </a:lnTo>
                  <a:lnTo>
                    <a:pt x="43356" y="923123"/>
                  </a:lnTo>
                  <a:lnTo>
                    <a:pt x="33838" y="933257"/>
                  </a:lnTo>
                  <a:lnTo>
                    <a:pt x="26193" y="942256"/>
                  </a:lnTo>
                  <a:lnTo>
                    <a:pt x="19250" y="950553"/>
                  </a:lnTo>
                  <a:lnTo>
                    <a:pt x="11837" y="958581"/>
                  </a:lnTo>
                  <a:lnTo>
                    <a:pt x="2664" y="970236"/>
                  </a:lnTo>
                  <a:lnTo>
                    <a:pt x="0" y="980320"/>
                  </a:lnTo>
                  <a:lnTo>
                    <a:pt x="5224" y="987412"/>
                  </a:lnTo>
                  <a:lnTo>
                    <a:pt x="19715" y="990091"/>
                  </a:lnTo>
                  <a:lnTo>
                    <a:pt x="86691" y="990091"/>
                  </a:lnTo>
                  <a:lnTo>
                    <a:pt x="93683" y="984148"/>
                  </a:lnTo>
                  <a:lnTo>
                    <a:pt x="105660" y="970632"/>
                  </a:lnTo>
                  <a:lnTo>
                    <a:pt x="118002" y="956012"/>
                  </a:lnTo>
                  <a:lnTo>
                    <a:pt x="126087" y="946756"/>
                  </a:lnTo>
                  <a:lnTo>
                    <a:pt x="139757" y="930620"/>
                  </a:lnTo>
                  <a:lnTo>
                    <a:pt x="152078" y="912881"/>
                  </a:lnTo>
                  <a:lnTo>
                    <a:pt x="164205" y="895337"/>
                  </a:lnTo>
                  <a:lnTo>
                    <a:pt x="177291" y="879789"/>
                  </a:lnTo>
                  <a:lnTo>
                    <a:pt x="188004" y="865383"/>
                  </a:lnTo>
                  <a:lnTo>
                    <a:pt x="195839" y="849424"/>
                  </a:lnTo>
                  <a:lnTo>
                    <a:pt x="203264" y="833875"/>
                  </a:lnTo>
                  <a:lnTo>
                    <a:pt x="212749" y="820698"/>
                  </a:lnTo>
                  <a:lnTo>
                    <a:pt x="221219" y="806083"/>
                  </a:lnTo>
                  <a:lnTo>
                    <a:pt x="226878" y="786578"/>
                  </a:lnTo>
                  <a:lnTo>
                    <a:pt x="232367" y="766404"/>
                  </a:lnTo>
                  <a:lnTo>
                    <a:pt x="240328" y="749784"/>
                  </a:lnTo>
                  <a:lnTo>
                    <a:pt x="251832" y="725330"/>
                  </a:lnTo>
                  <a:lnTo>
                    <a:pt x="257666" y="695029"/>
                  </a:lnTo>
                  <a:lnTo>
                    <a:pt x="259754" y="663546"/>
                  </a:lnTo>
                  <a:lnTo>
                    <a:pt x="260022" y="635542"/>
                  </a:lnTo>
                  <a:lnTo>
                    <a:pt x="260022" y="548873"/>
                  </a:lnTo>
                  <a:lnTo>
                    <a:pt x="260022" y="454325"/>
                  </a:lnTo>
                  <a:lnTo>
                    <a:pt x="260638" y="437003"/>
                  </a:lnTo>
                  <a:lnTo>
                    <a:pt x="261992" y="420546"/>
                  </a:lnTo>
                  <a:lnTo>
                    <a:pt x="263346" y="404237"/>
                  </a:lnTo>
                  <a:lnTo>
                    <a:pt x="263961" y="387358"/>
                  </a:lnTo>
                  <a:lnTo>
                    <a:pt x="263915" y="365400"/>
                  </a:lnTo>
                  <a:lnTo>
                    <a:pt x="264167" y="343600"/>
                  </a:lnTo>
                  <a:lnTo>
                    <a:pt x="265300" y="322013"/>
                  </a:lnTo>
                  <a:lnTo>
                    <a:pt x="267900" y="300696"/>
                  </a:lnTo>
                  <a:lnTo>
                    <a:pt x="269901" y="278612"/>
                  </a:lnTo>
                  <a:lnTo>
                    <a:pt x="269678" y="255596"/>
                  </a:lnTo>
                  <a:lnTo>
                    <a:pt x="268567" y="232477"/>
                  </a:lnTo>
                  <a:lnTo>
                    <a:pt x="267900" y="210087"/>
                  </a:lnTo>
                  <a:lnTo>
                    <a:pt x="267900" y="135234"/>
                  </a:lnTo>
                  <a:lnTo>
                    <a:pt x="267900" y="64327"/>
                  </a:lnTo>
                  <a:lnTo>
                    <a:pt x="265585" y="47986"/>
                  </a:lnTo>
                  <a:lnTo>
                    <a:pt x="260086" y="36729"/>
                  </a:lnTo>
                  <a:lnTo>
                    <a:pt x="253570" y="26468"/>
                  </a:lnTo>
                  <a:lnTo>
                    <a:pt x="248206" y="13115"/>
                  </a:lnTo>
                  <a:lnTo>
                    <a:pt x="241191" y="3161"/>
                  </a:lnTo>
                  <a:lnTo>
                    <a:pt x="228835" y="0"/>
                  </a:lnTo>
                  <a:lnTo>
                    <a:pt x="213362" y="442"/>
                  </a:lnTo>
                  <a:lnTo>
                    <a:pt x="196993" y="1298"/>
                  </a:lnTo>
                  <a:lnTo>
                    <a:pt x="185528" y="1298"/>
                  </a:lnTo>
                  <a:lnTo>
                    <a:pt x="189381" y="3833"/>
                  </a:lnTo>
                  <a:lnTo>
                    <a:pt x="185177" y="5237"/>
                  </a:lnTo>
                </a:path>
              </a:pathLst>
            </a:custGeom>
            <a:ln w="7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56946" y="7134431"/>
              <a:ext cx="131445" cy="1158875"/>
            </a:xfrm>
            <a:custGeom>
              <a:avLst/>
              <a:gdLst/>
              <a:ahLst/>
              <a:cxnLst/>
              <a:rect l="l" t="t" r="r" b="b"/>
              <a:pathLst>
                <a:path w="131445" h="1158875">
                  <a:moveTo>
                    <a:pt x="102705" y="0"/>
                  </a:moveTo>
                  <a:lnTo>
                    <a:pt x="116350" y="37472"/>
                  </a:lnTo>
                  <a:lnTo>
                    <a:pt x="119114" y="77428"/>
                  </a:lnTo>
                  <a:lnTo>
                    <a:pt x="120746" y="117730"/>
                  </a:lnTo>
                  <a:lnTo>
                    <a:pt x="130995" y="156242"/>
                  </a:lnTo>
                  <a:lnTo>
                    <a:pt x="130809" y="205421"/>
                  </a:lnTo>
                  <a:lnTo>
                    <a:pt x="129421" y="254569"/>
                  </a:lnTo>
                  <a:lnTo>
                    <a:pt x="127092" y="303693"/>
                  </a:lnTo>
                  <a:lnTo>
                    <a:pt x="124085" y="352799"/>
                  </a:lnTo>
                  <a:lnTo>
                    <a:pt x="120658" y="401892"/>
                  </a:lnTo>
                  <a:lnTo>
                    <a:pt x="117075" y="450979"/>
                  </a:lnTo>
                  <a:lnTo>
                    <a:pt x="113597" y="500064"/>
                  </a:lnTo>
                  <a:lnTo>
                    <a:pt x="110484" y="549153"/>
                  </a:lnTo>
                  <a:lnTo>
                    <a:pt x="107997" y="598253"/>
                  </a:lnTo>
                  <a:lnTo>
                    <a:pt x="106399" y="647369"/>
                  </a:lnTo>
                  <a:lnTo>
                    <a:pt x="105950" y="696506"/>
                  </a:lnTo>
                  <a:lnTo>
                    <a:pt x="106912" y="745671"/>
                  </a:lnTo>
                  <a:lnTo>
                    <a:pt x="109546" y="794870"/>
                  </a:lnTo>
                  <a:lnTo>
                    <a:pt x="101078" y="842494"/>
                  </a:lnTo>
                  <a:lnTo>
                    <a:pt x="86845" y="888528"/>
                  </a:lnTo>
                  <a:lnTo>
                    <a:pt x="69575" y="933734"/>
                  </a:lnTo>
                  <a:lnTo>
                    <a:pt x="51999" y="978874"/>
                  </a:lnTo>
                  <a:lnTo>
                    <a:pt x="36843" y="1024711"/>
                  </a:lnTo>
                  <a:lnTo>
                    <a:pt x="26838" y="1072007"/>
                  </a:lnTo>
                  <a:lnTo>
                    <a:pt x="20502" y="1093766"/>
                  </a:lnTo>
                  <a:lnTo>
                    <a:pt x="13966" y="1115469"/>
                  </a:lnTo>
                  <a:lnTo>
                    <a:pt x="7156" y="1137086"/>
                  </a:lnTo>
                  <a:lnTo>
                    <a:pt x="0" y="1158591"/>
                  </a:lnTo>
                </a:path>
              </a:pathLst>
            </a:custGeom>
            <a:ln w="7799">
              <a:solidFill>
                <a:srgbClr val="D45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81374" y="6992365"/>
              <a:ext cx="1094740" cy="709295"/>
            </a:xfrm>
            <a:custGeom>
              <a:avLst/>
              <a:gdLst/>
              <a:ahLst/>
              <a:cxnLst/>
              <a:rect l="l" t="t" r="r" b="b"/>
              <a:pathLst>
                <a:path w="1094739" h="709295">
                  <a:moveTo>
                    <a:pt x="0" y="0"/>
                  </a:moveTo>
                  <a:lnTo>
                    <a:pt x="33758" y="39582"/>
                  </a:lnTo>
                  <a:lnTo>
                    <a:pt x="71433" y="73847"/>
                  </a:lnTo>
                  <a:lnTo>
                    <a:pt x="109635" y="106335"/>
                  </a:lnTo>
                  <a:lnTo>
                    <a:pt x="144971" y="140586"/>
                  </a:lnTo>
                  <a:lnTo>
                    <a:pt x="174049" y="180137"/>
                  </a:lnTo>
                  <a:lnTo>
                    <a:pt x="193478" y="228530"/>
                  </a:lnTo>
                  <a:lnTo>
                    <a:pt x="204983" y="274491"/>
                  </a:lnTo>
                  <a:lnTo>
                    <a:pt x="225921" y="378129"/>
                  </a:lnTo>
                  <a:lnTo>
                    <a:pt x="238695" y="431049"/>
                  </a:lnTo>
                  <a:lnTo>
                    <a:pt x="255232" y="481531"/>
                  </a:lnTo>
                  <a:lnTo>
                    <a:pt x="277202" y="527198"/>
                  </a:lnTo>
                  <a:lnTo>
                    <a:pt x="306277" y="565670"/>
                  </a:lnTo>
                  <a:lnTo>
                    <a:pt x="342749" y="597756"/>
                  </a:lnTo>
                  <a:lnTo>
                    <a:pt x="382690" y="626260"/>
                  </a:lnTo>
                  <a:lnTo>
                    <a:pt x="425435" y="650912"/>
                  </a:lnTo>
                  <a:lnTo>
                    <a:pt x="470317" y="671446"/>
                  </a:lnTo>
                  <a:lnTo>
                    <a:pt x="516674" y="687593"/>
                  </a:lnTo>
                  <a:lnTo>
                    <a:pt x="563838" y="699084"/>
                  </a:lnTo>
                  <a:lnTo>
                    <a:pt x="611146" y="705653"/>
                  </a:lnTo>
                  <a:lnTo>
                    <a:pt x="657932" y="707030"/>
                  </a:lnTo>
                  <a:lnTo>
                    <a:pt x="707478" y="707790"/>
                  </a:lnTo>
                  <a:lnTo>
                    <a:pt x="759428" y="708915"/>
                  </a:lnTo>
                  <a:lnTo>
                    <a:pt x="812799" y="709291"/>
                  </a:lnTo>
                  <a:lnTo>
                    <a:pt x="866610" y="707802"/>
                  </a:lnTo>
                  <a:lnTo>
                    <a:pt x="919880" y="703331"/>
                  </a:lnTo>
                  <a:lnTo>
                    <a:pt x="971627" y="694765"/>
                  </a:lnTo>
                  <a:lnTo>
                    <a:pt x="1020869" y="680986"/>
                  </a:lnTo>
                  <a:lnTo>
                    <a:pt x="1066626" y="660880"/>
                  </a:lnTo>
                  <a:lnTo>
                    <a:pt x="1094578" y="590730"/>
                  </a:lnTo>
                  <a:lnTo>
                    <a:pt x="1088319" y="543363"/>
                  </a:lnTo>
                  <a:lnTo>
                    <a:pt x="1072601" y="495528"/>
                  </a:lnTo>
                  <a:lnTo>
                    <a:pt x="1050453" y="453020"/>
                  </a:lnTo>
                  <a:lnTo>
                    <a:pt x="1024897" y="421633"/>
                  </a:lnTo>
                  <a:lnTo>
                    <a:pt x="995921" y="383307"/>
                  </a:lnTo>
                  <a:lnTo>
                    <a:pt x="965094" y="346514"/>
                  </a:lnTo>
                  <a:lnTo>
                    <a:pt x="932509" y="311305"/>
                  </a:lnTo>
                  <a:lnTo>
                    <a:pt x="898261" y="277726"/>
                  </a:lnTo>
                  <a:lnTo>
                    <a:pt x="862444" y="245828"/>
                  </a:lnTo>
                  <a:lnTo>
                    <a:pt x="825154" y="215657"/>
                  </a:lnTo>
                  <a:lnTo>
                    <a:pt x="786483" y="187263"/>
                  </a:lnTo>
                  <a:lnTo>
                    <a:pt x="746527" y="160694"/>
                  </a:lnTo>
                  <a:lnTo>
                    <a:pt x="705381" y="135999"/>
                  </a:lnTo>
                  <a:lnTo>
                    <a:pt x="663137" y="113226"/>
                  </a:lnTo>
                  <a:lnTo>
                    <a:pt x="619891" y="92423"/>
                  </a:lnTo>
                  <a:lnTo>
                    <a:pt x="575737" y="73640"/>
                  </a:lnTo>
                  <a:lnTo>
                    <a:pt x="530770" y="56925"/>
                  </a:lnTo>
                  <a:lnTo>
                    <a:pt x="485083" y="42325"/>
                  </a:lnTo>
                  <a:lnTo>
                    <a:pt x="438772" y="29890"/>
                  </a:lnTo>
                  <a:lnTo>
                    <a:pt x="391930" y="19669"/>
                  </a:lnTo>
                  <a:lnTo>
                    <a:pt x="344652" y="11709"/>
                  </a:lnTo>
                  <a:lnTo>
                    <a:pt x="297033" y="6059"/>
                  </a:lnTo>
                  <a:lnTo>
                    <a:pt x="249166" y="2768"/>
                  </a:lnTo>
                  <a:lnTo>
                    <a:pt x="201147" y="1884"/>
                  </a:lnTo>
                  <a:lnTo>
                    <a:pt x="153069" y="3455"/>
                  </a:lnTo>
                  <a:lnTo>
                    <a:pt x="114765" y="4404"/>
                  </a:lnTo>
                  <a:lnTo>
                    <a:pt x="76435" y="4714"/>
                  </a:lnTo>
                  <a:lnTo>
                    <a:pt x="38154" y="3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0B0B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0354" y="6823451"/>
              <a:ext cx="1198844" cy="8545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70353" y="6823694"/>
              <a:ext cx="1198880" cy="854710"/>
            </a:xfrm>
            <a:custGeom>
              <a:avLst/>
              <a:gdLst/>
              <a:ahLst/>
              <a:cxnLst/>
              <a:rect l="l" t="t" r="r" b="b"/>
              <a:pathLst>
                <a:path w="1198879" h="854709">
                  <a:moveTo>
                    <a:pt x="0" y="149252"/>
                  </a:moveTo>
                  <a:lnTo>
                    <a:pt x="45808" y="127180"/>
                  </a:lnTo>
                  <a:lnTo>
                    <a:pt x="92141" y="105027"/>
                  </a:lnTo>
                  <a:lnTo>
                    <a:pt x="139046" y="83464"/>
                  </a:lnTo>
                  <a:lnTo>
                    <a:pt x="186565" y="63163"/>
                  </a:lnTo>
                  <a:lnTo>
                    <a:pt x="234745" y="44796"/>
                  </a:lnTo>
                  <a:lnTo>
                    <a:pt x="283629" y="29034"/>
                  </a:lnTo>
                  <a:lnTo>
                    <a:pt x="333262" y="16548"/>
                  </a:lnTo>
                  <a:lnTo>
                    <a:pt x="383689" y="8011"/>
                  </a:lnTo>
                  <a:lnTo>
                    <a:pt x="434954" y="4093"/>
                  </a:lnTo>
                  <a:lnTo>
                    <a:pt x="487103" y="5466"/>
                  </a:lnTo>
                  <a:lnTo>
                    <a:pt x="539805" y="5329"/>
                  </a:lnTo>
                  <a:lnTo>
                    <a:pt x="592678" y="3702"/>
                  </a:lnTo>
                  <a:lnTo>
                    <a:pt x="645627" y="1595"/>
                  </a:lnTo>
                  <a:lnTo>
                    <a:pt x="698556" y="23"/>
                  </a:lnTo>
                  <a:lnTo>
                    <a:pt x="751370" y="0"/>
                  </a:lnTo>
                  <a:lnTo>
                    <a:pt x="803972" y="2537"/>
                  </a:lnTo>
                  <a:lnTo>
                    <a:pt x="856267" y="8649"/>
                  </a:lnTo>
                  <a:lnTo>
                    <a:pt x="908160" y="19349"/>
                  </a:lnTo>
                  <a:lnTo>
                    <a:pt x="947889" y="53451"/>
                  </a:lnTo>
                  <a:lnTo>
                    <a:pt x="975966" y="96058"/>
                  </a:lnTo>
                  <a:lnTo>
                    <a:pt x="998293" y="142955"/>
                  </a:lnTo>
                  <a:lnTo>
                    <a:pt x="1020771" y="189926"/>
                  </a:lnTo>
                  <a:lnTo>
                    <a:pt x="1049302" y="232755"/>
                  </a:lnTo>
                  <a:lnTo>
                    <a:pt x="1070086" y="276483"/>
                  </a:lnTo>
                  <a:lnTo>
                    <a:pt x="1089995" y="320605"/>
                  </a:lnTo>
                  <a:lnTo>
                    <a:pt x="1109114" y="365066"/>
                  </a:lnTo>
                  <a:lnTo>
                    <a:pt x="1127531" y="409812"/>
                  </a:lnTo>
                  <a:lnTo>
                    <a:pt x="1145329" y="454790"/>
                  </a:lnTo>
                  <a:lnTo>
                    <a:pt x="1162596" y="499945"/>
                  </a:lnTo>
                  <a:lnTo>
                    <a:pt x="1179415" y="545224"/>
                  </a:lnTo>
                  <a:lnTo>
                    <a:pt x="1195873" y="590572"/>
                  </a:lnTo>
                  <a:lnTo>
                    <a:pt x="1198844" y="633594"/>
                  </a:lnTo>
                  <a:lnTo>
                    <a:pt x="1192343" y="676139"/>
                  </a:lnTo>
                  <a:lnTo>
                    <a:pt x="1177190" y="716609"/>
                  </a:lnTo>
                  <a:lnTo>
                    <a:pt x="1154202" y="753401"/>
                  </a:lnTo>
                  <a:lnTo>
                    <a:pt x="1124198" y="784917"/>
                  </a:lnTo>
                  <a:lnTo>
                    <a:pt x="1087997" y="809555"/>
                  </a:lnTo>
                  <a:lnTo>
                    <a:pt x="1046416" y="825716"/>
                  </a:lnTo>
                  <a:lnTo>
                    <a:pt x="1000630" y="839358"/>
                  </a:lnTo>
                  <a:lnTo>
                    <a:pt x="954151" y="848197"/>
                  </a:lnTo>
                  <a:lnTo>
                    <a:pt x="907136" y="852938"/>
                  </a:lnTo>
                  <a:lnTo>
                    <a:pt x="859741" y="854287"/>
                  </a:lnTo>
                  <a:lnTo>
                    <a:pt x="812120" y="852947"/>
                  </a:lnTo>
                  <a:lnTo>
                    <a:pt x="764430" y="849623"/>
                  </a:lnTo>
                  <a:lnTo>
                    <a:pt x="716825" y="845020"/>
                  </a:lnTo>
                  <a:lnTo>
                    <a:pt x="669463" y="839842"/>
                  </a:lnTo>
                  <a:lnTo>
                    <a:pt x="622498" y="834795"/>
                  </a:lnTo>
                  <a:lnTo>
                    <a:pt x="579287" y="827285"/>
                  </a:lnTo>
                  <a:lnTo>
                    <a:pt x="535489" y="816695"/>
                  </a:lnTo>
                  <a:lnTo>
                    <a:pt x="493221" y="801715"/>
                  </a:lnTo>
                  <a:lnTo>
                    <a:pt x="454601" y="781033"/>
                  </a:lnTo>
                  <a:lnTo>
                    <a:pt x="421744" y="753337"/>
                  </a:lnTo>
                  <a:lnTo>
                    <a:pt x="396768" y="717316"/>
                  </a:lnTo>
                  <a:lnTo>
                    <a:pt x="372914" y="671807"/>
                  </a:lnTo>
                  <a:lnTo>
                    <a:pt x="348130" y="626731"/>
                  </a:lnTo>
                  <a:lnTo>
                    <a:pt x="320399" y="583493"/>
                  </a:lnTo>
                  <a:lnTo>
                    <a:pt x="287705" y="543493"/>
                  </a:lnTo>
                  <a:lnTo>
                    <a:pt x="261638" y="499775"/>
                  </a:lnTo>
                  <a:lnTo>
                    <a:pt x="241829" y="453249"/>
                  </a:lnTo>
                  <a:lnTo>
                    <a:pt x="227063" y="404914"/>
                  </a:lnTo>
                  <a:lnTo>
                    <a:pt x="216128" y="355763"/>
                  </a:lnTo>
                  <a:lnTo>
                    <a:pt x="191084" y="312258"/>
                  </a:lnTo>
                  <a:lnTo>
                    <a:pt x="157994" y="275316"/>
                  </a:lnTo>
                  <a:lnTo>
                    <a:pt x="119599" y="242742"/>
                  </a:lnTo>
                  <a:lnTo>
                    <a:pt x="78641" y="212337"/>
                  </a:lnTo>
                  <a:lnTo>
                    <a:pt x="37861" y="181906"/>
                  </a:lnTo>
                  <a:lnTo>
                    <a:pt x="0" y="149252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4344" y="7196502"/>
              <a:ext cx="829944" cy="177800"/>
            </a:xfrm>
            <a:custGeom>
              <a:avLst/>
              <a:gdLst/>
              <a:ahLst/>
              <a:cxnLst/>
              <a:rect l="l" t="t" r="r" b="b"/>
              <a:pathLst>
                <a:path w="829945" h="177800">
                  <a:moveTo>
                    <a:pt x="0" y="177238"/>
                  </a:moveTo>
                  <a:lnTo>
                    <a:pt x="31252" y="150341"/>
                  </a:lnTo>
                  <a:lnTo>
                    <a:pt x="68076" y="123842"/>
                  </a:lnTo>
                  <a:lnTo>
                    <a:pt x="109579" y="98396"/>
                  </a:lnTo>
                  <a:lnTo>
                    <a:pt x="154869" y="74658"/>
                  </a:lnTo>
                  <a:lnTo>
                    <a:pt x="203056" y="53284"/>
                  </a:lnTo>
                  <a:lnTo>
                    <a:pt x="253247" y="34928"/>
                  </a:lnTo>
                  <a:lnTo>
                    <a:pt x="304551" y="20246"/>
                  </a:lnTo>
                  <a:lnTo>
                    <a:pt x="356076" y="9892"/>
                  </a:lnTo>
                  <a:lnTo>
                    <a:pt x="406931" y="4522"/>
                  </a:lnTo>
                  <a:lnTo>
                    <a:pt x="459836" y="0"/>
                  </a:lnTo>
                  <a:lnTo>
                    <a:pt x="509924" y="929"/>
                  </a:lnTo>
                  <a:lnTo>
                    <a:pt x="557876" y="6548"/>
                  </a:lnTo>
                  <a:lnTo>
                    <a:pt x="604378" y="16096"/>
                  </a:lnTo>
                  <a:lnTo>
                    <a:pt x="650113" y="28811"/>
                  </a:lnTo>
                  <a:lnTo>
                    <a:pt x="695766" y="43932"/>
                  </a:lnTo>
                  <a:lnTo>
                    <a:pt x="742019" y="60698"/>
                  </a:lnTo>
                  <a:lnTo>
                    <a:pt x="789558" y="78346"/>
                  </a:lnTo>
                  <a:lnTo>
                    <a:pt x="797309" y="80585"/>
                  </a:lnTo>
                  <a:lnTo>
                    <a:pt x="809816" y="83351"/>
                  </a:lnTo>
                  <a:lnTo>
                    <a:pt x="822250" y="86173"/>
                  </a:lnTo>
                  <a:lnTo>
                    <a:pt x="829781" y="88579"/>
                  </a:lnTo>
                </a:path>
              </a:pathLst>
            </a:custGeom>
            <a:ln w="18726">
              <a:solidFill>
                <a:srgbClr val="A0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47665" y="7535558"/>
              <a:ext cx="318135" cy="167640"/>
            </a:xfrm>
            <a:custGeom>
              <a:avLst/>
              <a:gdLst/>
              <a:ahLst/>
              <a:cxnLst/>
              <a:rect l="l" t="t" r="r" b="b"/>
              <a:pathLst>
                <a:path w="318135" h="167640">
                  <a:moveTo>
                    <a:pt x="0" y="0"/>
                  </a:moveTo>
                  <a:lnTo>
                    <a:pt x="200" y="5828"/>
                  </a:lnTo>
                  <a:lnTo>
                    <a:pt x="0" y="47350"/>
                  </a:lnTo>
                  <a:lnTo>
                    <a:pt x="257" y="58524"/>
                  </a:lnTo>
                  <a:lnTo>
                    <a:pt x="29720" y="96294"/>
                  </a:lnTo>
                  <a:lnTo>
                    <a:pt x="72263" y="106271"/>
                  </a:lnTo>
                  <a:lnTo>
                    <a:pt x="128988" y="112122"/>
                  </a:lnTo>
                  <a:lnTo>
                    <a:pt x="140843" y="114226"/>
                  </a:lnTo>
                  <a:lnTo>
                    <a:pt x="151916" y="117711"/>
                  </a:lnTo>
                  <a:lnTo>
                    <a:pt x="164346" y="122562"/>
                  </a:lnTo>
                  <a:lnTo>
                    <a:pt x="174642" y="127609"/>
                  </a:lnTo>
                  <a:lnTo>
                    <a:pt x="184689" y="133085"/>
                  </a:lnTo>
                  <a:lnTo>
                    <a:pt x="195708" y="137478"/>
                  </a:lnTo>
                  <a:lnTo>
                    <a:pt x="222391" y="140896"/>
                  </a:lnTo>
                  <a:lnTo>
                    <a:pt x="235587" y="144985"/>
                  </a:lnTo>
                  <a:lnTo>
                    <a:pt x="261842" y="155992"/>
                  </a:lnTo>
                  <a:lnTo>
                    <a:pt x="275453" y="161231"/>
                  </a:lnTo>
                  <a:lnTo>
                    <a:pt x="286768" y="164674"/>
                  </a:lnTo>
                  <a:lnTo>
                    <a:pt x="298156" y="166562"/>
                  </a:lnTo>
                  <a:lnTo>
                    <a:pt x="311986" y="167138"/>
                  </a:lnTo>
                  <a:lnTo>
                    <a:pt x="314567" y="161257"/>
                  </a:lnTo>
                  <a:lnTo>
                    <a:pt x="315285" y="147974"/>
                  </a:lnTo>
                  <a:lnTo>
                    <a:pt x="314770" y="125347"/>
                  </a:lnTo>
                  <a:lnTo>
                    <a:pt x="314957" y="103857"/>
                  </a:lnTo>
                  <a:lnTo>
                    <a:pt x="315764" y="93488"/>
                  </a:lnTo>
                  <a:lnTo>
                    <a:pt x="317555" y="83564"/>
                  </a:lnTo>
                  <a:lnTo>
                    <a:pt x="311014" y="78026"/>
                  </a:lnTo>
                  <a:lnTo>
                    <a:pt x="294315" y="72943"/>
                  </a:lnTo>
                  <a:lnTo>
                    <a:pt x="276006" y="68992"/>
                  </a:lnTo>
                  <a:lnTo>
                    <a:pt x="264634" y="66850"/>
                  </a:lnTo>
                  <a:lnTo>
                    <a:pt x="245083" y="62420"/>
                  </a:lnTo>
                  <a:lnTo>
                    <a:pt x="189423" y="47350"/>
                  </a:lnTo>
                  <a:lnTo>
                    <a:pt x="174622" y="42456"/>
                  </a:lnTo>
                  <a:lnTo>
                    <a:pt x="147354" y="30374"/>
                  </a:lnTo>
                  <a:lnTo>
                    <a:pt x="130925" y="25067"/>
                  </a:lnTo>
                  <a:lnTo>
                    <a:pt x="117581" y="21810"/>
                  </a:lnTo>
                  <a:lnTo>
                    <a:pt x="104806" y="19156"/>
                  </a:lnTo>
                  <a:lnTo>
                    <a:pt x="91858" y="17369"/>
                  </a:lnTo>
                  <a:lnTo>
                    <a:pt x="64416" y="16035"/>
                  </a:lnTo>
                  <a:lnTo>
                    <a:pt x="53279" y="14206"/>
                  </a:lnTo>
                  <a:lnTo>
                    <a:pt x="22248" y="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7665" y="7535558"/>
              <a:ext cx="318135" cy="167640"/>
            </a:xfrm>
            <a:custGeom>
              <a:avLst/>
              <a:gdLst/>
              <a:ahLst/>
              <a:cxnLst/>
              <a:rect l="l" t="t" r="r" b="b"/>
              <a:pathLst>
                <a:path w="318135" h="167640">
                  <a:moveTo>
                    <a:pt x="0" y="0"/>
                  </a:moveTo>
                  <a:lnTo>
                    <a:pt x="200" y="5829"/>
                  </a:lnTo>
                  <a:lnTo>
                    <a:pt x="178" y="19420"/>
                  </a:lnTo>
                  <a:lnTo>
                    <a:pt x="66" y="35139"/>
                  </a:lnTo>
                  <a:lnTo>
                    <a:pt x="0" y="47351"/>
                  </a:lnTo>
                  <a:lnTo>
                    <a:pt x="14496" y="90779"/>
                  </a:lnTo>
                  <a:lnTo>
                    <a:pt x="58497" y="103064"/>
                  </a:lnTo>
                  <a:lnTo>
                    <a:pt x="72263" y="106271"/>
                  </a:lnTo>
                  <a:lnTo>
                    <a:pt x="86324" y="108931"/>
                  </a:lnTo>
                  <a:lnTo>
                    <a:pt x="100400" y="110746"/>
                  </a:lnTo>
                  <a:lnTo>
                    <a:pt x="114210" y="111418"/>
                  </a:lnTo>
                  <a:lnTo>
                    <a:pt x="128988" y="112123"/>
                  </a:lnTo>
                  <a:lnTo>
                    <a:pt x="140843" y="114226"/>
                  </a:lnTo>
                  <a:lnTo>
                    <a:pt x="151915" y="117712"/>
                  </a:lnTo>
                  <a:lnTo>
                    <a:pt x="164346" y="122563"/>
                  </a:lnTo>
                  <a:lnTo>
                    <a:pt x="174642" y="127610"/>
                  </a:lnTo>
                  <a:lnTo>
                    <a:pt x="184688" y="133085"/>
                  </a:lnTo>
                  <a:lnTo>
                    <a:pt x="195708" y="137478"/>
                  </a:lnTo>
                  <a:lnTo>
                    <a:pt x="208921" y="139278"/>
                  </a:lnTo>
                  <a:lnTo>
                    <a:pt x="222391" y="140896"/>
                  </a:lnTo>
                  <a:lnTo>
                    <a:pt x="235586" y="144985"/>
                  </a:lnTo>
                  <a:lnTo>
                    <a:pt x="248679" y="150400"/>
                  </a:lnTo>
                  <a:lnTo>
                    <a:pt x="261842" y="155993"/>
                  </a:lnTo>
                  <a:lnTo>
                    <a:pt x="275453" y="161232"/>
                  </a:lnTo>
                  <a:lnTo>
                    <a:pt x="286767" y="164675"/>
                  </a:lnTo>
                  <a:lnTo>
                    <a:pt x="298155" y="166563"/>
                  </a:lnTo>
                  <a:lnTo>
                    <a:pt x="311986" y="167138"/>
                  </a:lnTo>
                  <a:lnTo>
                    <a:pt x="314566" y="161258"/>
                  </a:lnTo>
                  <a:lnTo>
                    <a:pt x="315285" y="147974"/>
                  </a:lnTo>
                  <a:lnTo>
                    <a:pt x="315050" y="133825"/>
                  </a:lnTo>
                  <a:lnTo>
                    <a:pt x="314770" y="125348"/>
                  </a:lnTo>
                  <a:lnTo>
                    <a:pt x="314753" y="114525"/>
                  </a:lnTo>
                  <a:lnTo>
                    <a:pt x="314957" y="103857"/>
                  </a:lnTo>
                  <a:lnTo>
                    <a:pt x="315764" y="93488"/>
                  </a:lnTo>
                  <a:lnTo>
                    <a:pt x="317555" y="83565"/>
                  </a:lnTo>
                  <a:lnTo>
                    <a:pt x="311013" y="78027"/>
                  </a:lnTo>
                  <a:lnTo>
                    <a:pt x="294315" y="72944"/>
                  </a:lnTo>
                  <a:lnTo>
                    <a:pt x="276006" y="68993"/>
                  </a:lnTo>
                  <a:lnTo>
                    <a:pt x="264634" y="66850"/>
                  </a:lnTo>
                  <a:lnTo>
                    <a:pt x="245082" y="62420"/>
                  </a:lnTo>
                  <a:lnTo>
                    <a:pt x="226264" y="57414"/>
                  </a:lnTo>
                  <a:lnTo>
                    <a:pt x="207828" y="52250"/>
                  </a:lnTo>
                  <a:lnTo>
                    <a:pt x="189422" y="47351"/>
                  </a:lnTo>
                  <a:lnTo>
                    <a:pt x="174621" y="42457"/>
                  </a:lnTo>
                  <a:lnTo>
                    <a:pt x="161258" y="36484"/>
                  </a:lnTo>
                  <a:lnTo>
                    <a:pt x="147353" y="30375"/>
                  </a:lnTo>
                  <a:lnTo>
                    <a:pt x="104805" y="19156"/>
                  </a:lnTo>
                  <a:lnTo>
                    <a:pt x="77996" y="16714"/>
                  </a:lnTo>
                  <a:lnTo>
                    <a:pt x="64416" y="16035"/>
                  </a:lnTo>
                  <a:lnTo>
                    <a:pt x="53279" y="14207"/>
                  </a:lnTo>
                  <a:lnTo>
                    <a:pt x="42663" y="11542"/>
                  </a:lnTo>
                  <a:lnTo>
                    <a:pt x="30644" y="8353"/>
                  </a:lnTo>
                  <a:lnTo>
                    <a:pt x="22248" y="6146"/>
                  </a:lnTo>
                  <a:lnTo>
                    <a:pt x="15339" y="4182"/>
                  </a:lnTo>
                  <a:lnTo>
                    <a:pt x="8423" y="2215"/>
                  </a:lnTo>
                  <a:lnTo>
                    <a:pt x="0" y="0"/>
                  </a:lnTo>
                  <a:close/>
                </a:path>
              </a:pathLst>
            </a:custGeom>
            <a:ln w="7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1796" y="7409090"/>
              <a:ext cx="120382" cy="13085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24096" y="8359266"/>
              <a:ext cx="544195" cy="501015"/>
            </a:xfrm>
            <a:custGeom>
              <a:avLst/>
              <a:gdLst/>
              <a:ahLst/>
              <a:cxnLst/>
              <a:rect l="l" t="t" r="r" b="b"/>
              <a:pathLst>
                <a:path w="544195" h="501015">
                  <a:moveTo>
                    <a:pt x="0" y="0"/>
                  </a:moveTo>
                  <a:lnTo>
                    <a:pt x="0" y="329582"/>
                  </a:lnTo>
                  <a:lnTo>
                    <a:pt x="543939" y="500753"/>
                  </a:lnTo>
                  <a:lnTo>
                    <a:pt x="543939" y="171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2A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4096" y="8359266"/>
              <a:ext cx="544195" cy="501015"/>
            </a:xfrm>
            <a:custGeom>
              <a:avLst/>
              <a:gdLst/>
              <a:ahLst/>
              <a:cxnLst/>
              <a:rect l="l" t="t" r="r" b="b"/>
              <a:pathLst>
                <a:path w="544195" h="501015">
                  <a:moveTo>
                    <a:pt x="0" y="0"/>
                  </a:moveTo>
                  <a:lnTo>
                    <a:pt x="543939" y="171178"/>
                  </a:lnTo>
                  <a:lnTo>
                    <a:pt x="543939" y="500753"/>
                  </a:lnTo>
                  <a:lnTo>
                    <a:pt x="0" y="329582"/>
                  </a:lnTo>
                  <a:lnTo>
                    <a:pt x="0" y="0"/>
                  </a:lnTo>
                  <a:close/>
                </a:path>
              </a:pathLst>
            </a:custGeom>
            <a:ln w="238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74246" y="8354295"/>
              <a:ext cx="544195" cy="506095"/>
            </a:xfrm>
            <a:custGeom>
              <a:avLst/>
              <a:gdLst/>
              <a:ahLst/>
              <a:cxnLst/>
              <a:rect l="l" t="t" r="r" b="b"/>
              <a:pathLst>
                <a:path w="544195" h="506095">
                  <a:moveTo>
                    <a:pt x="543939" y="0"/>
                  </a:moveTo>
                  <a:lnTo>
                    <a:pt x="0" y="176029"/>
                  </a:lnTo>
                  <a:lnTo>
                    <a:pt x="0" y="505604"/>
                  </a:lnTo>
                  <a:lnTo>
                    <a:pt x="543939" y="329573"/>
                  </a:lnTo>
                  <a:lnTo>
                    <a:pt x="543939" y="0"/>
                  </a:lnTo>
                  <a:close/>
                </a:path>
              </a:pathLst>
            </a:custGeom>
            <a:solidFill>
              <a:srgbClr val="7FFF2A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74246" y="8354294"/>
              <a:ext cx="544195" cy="506095"/>
            </a:xfrm>
            <a:custGeom>
              <a:avLst/>
              <a:gdLst/>
              <a:ahLst/>
              <a:cxnLst/>
              <a:rect l="l" t="t" r="r" b="b"/>
              <a:pathLst>
                <a:path w="544195" h="506095">
                  <a:moveTo>
                    <a:pt x="0" y="176030"/>
                  </a:moveTo>
                  <a:lnTo>
                    <a:pt x="543939" y="0"/>
                  </a:lnTo>
                  <a:lnTo>
                    <a:pt x="543939" y="329574"/>
                  </a:lnTo>
                  <a:lnTo>
                    <a:pt x="0" y="505604"/>
                  </a:lnTo>
                  <a:lnTo>
                    <a:pt x="0" y="176030"/>
                  </a:lnTo>
                  <a:close/>
                </a:path>
              </a:pathLst>
            </a:custGeom>
            <a:ln w="23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6871" y="8181938"/>
              <a:ext cx="1047750" cy="337185"/>
            </a:xfrm>
            <a:custGeom>
              <a:avLst/>
              <a:gdLst/>
              <a:ahLst/>
              <a:cxnLst/>
              <a:rect l="l" t="t" r="r" b="b"/>
              <a:pathLst>
                <a:path w="1047750" h="337184">
                  <a:moveTo>
                    <a:pt x="534766" y="0"/>
                  </a:moveTo>
                  <a:lnTo>
                    <a:pt x="0" y="163130"/>
                  </a:lnTo>
                  <a:lnTo>
                    <a:pt x="528012" y="337023"/>
                  </a:lnTo>
                  <a:lnTo>
                    <a:pt x="1047593" y="159550"/>
                  </a:lnTo>
                  <a:lnTo>
                    <a:pt x="534766" y="0"/>
                  </a:lnTo>
                  <a:close/>
                </a:path>
              </a:pathLst>
            </a:custGeom>
            <a:solidFill>
              <a:srgbClr val="7FFF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46871" y="8181939"/>
              <a:ext cx="1047750" cy="337185"/>
            </a:xfrm>
            <a:custGeom>
              <a:avLst/>
              <a:gdLst/>
              <a:ahLst/>
              <a:cxnLst/>
              <a:rect l="l" t="t" r="r" b="b"/>
              <a:pathLst>
                <a:path w="1047750" h="337184">
                  <a:moveTo>
                    <a:pt x="0" y="163129"/>
                  </a:moveTo>
                  <a:lnTo>
                    <a:pt x="528013" y="337022"/>
                  </a:lnTo>
                  <a:lnTo>
                    <a:pt x="1047594" y="159549"/>
                  </a:lnTo>
                  <a:lnTo>
                    <a:pt x="534767" y="0"/>
                  </a:lnTo>
                  <a:lnTo>
                    <a:pt x="0" y="163129"/>
                  </a:lnTo>
                  <a:close/>
                </a:path>
              </a:pathLst>
            </a:custGeom>
            <a:ln w="23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960000">
            <a:off x="4637925" y="8570888"/>
            <a:ext cx="319528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spc="-25" dirty="0">
                <a:latin typeface="Arial Black"/>
                <a:cs typeface="Arial Black"/>
              </a:rPr>
              <a:t>$28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 rot="20400000">
            <a:off x="5136460" y="8547091"/>
            <a:ext cx="370140" cy="135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0"/>
              </a:lnSpc>
            </a:pPr>
            <a:r>
              <a:rPr sz="1050" spc="60" dirty="0">
                <a:latin typeface="Arial Black"/>
                <a:cs typeface="Arial Black"/>
              </a:rPr>
              <a:t>7</a:t>
            </a:r>
            <a:r>
              <a:rPr sz="1050" spc="20" dirty="0">
                <a:latin typeface="Arial Black"/>
                <a:cs typeface="Arial Black"/>
              </a:rPr>
              <a:t> </a:t>
            </a:r>
            <a:r>
              <a:rPr sz="1050" spc="35" dirty="0">
                <a:latin typeface="Arial Black"/>
                <a:cs typeface="Arial Black"/>
              </a:rPr>
              <a:t>kg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09078" y="6345068"/>
            <a:ext cx="985519" cy="663575"/>
            <a:chOff x="4609078" y="6345068"/>
            <a:chExt cx="985519" cy="663575"/>
          </a:xfrm>
        </p:grpSpPr>
        <p:sp>
          <p:nvSpPr>
            <p:cNvPr id="35" name="object 35"/>
            <p:cNvSpPr/>
            <p:nvPr/>
          </p:nvSpPr>
          <p:spPr>
            <a:xfrm>
              <a:off x="4621143" y="6524077"/>
              <a:ext cx="478155" cy="472440"/>
            </a:xfrm>
            <a:custGeom>
              <a:avLst/>
              <a:gdLst/>
              <a:ahLst/>
              <a:cxnLst/>
              <a:rect l="l" t="t" r="r" b="b"/>
              <a:pathLst>
                <a:path w="478154" h="472440">
                  <a:moveTo>
                    <a:pt x="0" y="0"/>
                  </a:moveTo>
                  <a:lnTo>
                    <a:pt x="0" y="310862"/>
                  </a:lnTo>
                  <a:lnTo>
                    <a:pt x="477892" y="472315"/>
                  </a:lnTo>
                  <a:lnTo>
                    <a:pt x="477892" y="16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DDFF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1143" y="6524077"/>
              <a:ext cx="478155" cy="472440"/>
            </a:xfrm>
            <a:custGeom>
              <a:avLst/>
              <a:gdLst/>
              <a:ahLst/>
              <a:cxnLst/>
              <a:rect l="l" t="t" r="r" b="b"/>
              <a:pathLst>
                <a:path w="478154" h="472440">
                  <a:moveTo>
                    <a:pt x="0" y="0"/>
                  </a:moveTo>
                  <a:lnTo>
                    <a:pt x="477892" y="161452"/>
                  </a:lnTo>
                  <a:lnTo>
                    <a:pt x="477892" y="472315"/>
                  </a:lnTo>
                  <a:lnTo>
                    <a:pt x="0" y="310862"/>
                  </a:lnTo>
                  <a:lnTo>
                    <a:pt x="0" y="0"/>
                  </a:lnTo>
                  <a:close/>
                </a:path>
              </a:pathLst>
            </a:custGeom>
            <a:ln w="238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04493" y="6519378"/>
              <a:ext cx="478155" cy="477520"/>
            </a:xfrm>
            <a:custGeom>
              <a:avLst/>
              <a:gdLst/>
              <a:ahLst/>
              <a:cxnLst/>
              <a:rect l="l" t="t" r="r" b="b"/>
              <a:pathLst>
                <a:path w="478154" h="477520">
                  <a:moveTo>
                    <a:pt x="477892" y="0"/>
                  </a:moveTo>
                  <a:lnTo>
                    <a:pt x="0" y="166038"/>
                  </a:lnTo>
                  <a:lnTo>
                    <a:pt x="0" y="476893"/>
                  </a:lnTo>
                  <a:lnTo>
                    <a:pt x="477892" y="310862"/>
                  </a:lnTo>
                  <a:lnTo>
                    <a:pt x="477892" y="0"/>
                  </a:lnTo>
                  <a:close/>
                </a:path>
              </a:pathLst>
            </a:custGeom>
            <a:solidFill>
              <a:srgbClr val="55DDFF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04493" y="6519378"/>
              <a:ext cx="478155" cy="477520"/>
            </a:xfrm>
            <a:custGeom>
              <a:avLst/>
              <a:gdLst/>
              <a:ahLst/>
              <a:cxnLst/>
              <a:rect l="l" t="t" r="r" b="b"/>
              <a:pathLst>
                <a:path w="478154" h="477520">
                  <a:moveTo>
                    <a:pt x="0" y="166038"/>
                  </a:moveTo>
                  <a:lnTo>
                    <a:pt x="477892" y="0"/>
                  </a:lnTo>
                  <a:lnTo>
                    <a:pt x="477892" y="310862"/>
                  </a:lnTo>
                  <a:lnTo>
                    <a:pt x="0" y="476894"/>
                  </a:lnTo>
                  <a:lnTo>
                    <a:pt x="0" y="166038"/>
                  </a:lnTo>
                  <a:close/>
                </a:path>
              </a:pathLst>
            </a:custGeom>
            <a:ln w="23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41152" y="6356816"/>
              <a:ext cx="920750" cy="318135"/>
            </a:xfrm>
            <a:custGeom>
              <a:avLst/>
              <a:gdLst/>
              <a:ahLst/>
              <a:cxnLst/>
              <a:rect l="l" t="t" r="r" b="b"/>
              <a:pathLst>
                <a:path w="920750" h="318134">
                  <a:moveTo>
                    <a:pt x="469827" y="0"/>
                  </a:moveTo>
                  <a:lnTo>
                    <a:pt x="0" y="153871"/>
                  </a:lnTo>
                  <a:lnTo>
                    <a:pt x="463908" y="317882"/>
                  </a:lnTo>
                  <a:lnTo>
                    <a:pt x="920398" y="150486"/>
                  </a:lnTo>
                  <a:lnTo>
                    <a:pt x="469827" y="0"/>
                  </a:lnTo>
                  <a:close/>
                </a:path>
              </a:pathLst>
            </a:custGeom>
            <a:solidFill>
              <a:srgbClr val="55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41152" y="6356816"/>
              <a:ext cx="920750" cy="318135"/>
            </a:xfrm>
            <a:custGeom>
              <a:avLst/>
              <a:gdLst/>
              <a:ahLst/>
              <a:cxnLst/>
              <a:rect l="l" t="t" r="r" b="b"/>
              <a:pathLst>
                <a:path w="920750" h="318134">
                  <a:moveTo>
                    <a:pt x="0" y="153871"/>
                  </a:moveTo>
                  <a:lnTo>
                    <a:pt x="463907" y="317882"/>
                  </a:lnTo>
                  <a:lnTo>
                    <a:pt x="920398" y="150486"/>
                  </a:lnTo>
                  <a:lnTo>
                    <a:pt x="469827" y="0"/>
                  </a:lnTo>
                  <a:lnTo>
                    <a:pt x="0" y="153871"/>
                  </a:lnTo>
                  <a:close/>
                </a:path>
              </a:pathLst>
            </a:custGeom>
            <a:ln w="23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960000">
            <a:off x="4704684" y="6715751"/>
            <a:ext cx="319528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spc="-25" dirty="0">
                <a:latin typeface="Arial Black"/>
                <a:cs typeface="Arial Black"/>
              </a:rPr>
              <a:t>$22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 rot="20400000">
            <a:off x="5147923" y="6713793"/>
            <a:ext cx="370140" cy="135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0"/>
              </a:lnSpc>
            </a:pPr>
            <a:r>
              <a:rPr sz="1050" spc="60" dirty="0">
                <a:latin typeface="Arial Black"/>
                <a:cs typeface="Arial Black"/>
              </a:rPr>
              <a:t>6</a:t>
            </a:r>
            <a:r>
              <a:rPr sz="1050" spc="20" dirty="0">
                <a:latin typeface="Arial Black"/>
                <a:cs typeface="Arial Black"/>
              </a:rPr>
              <a:t> </a:t>
            </a:r>
            <a:r>
              <a:rPr sz="1050" spc="35" dirty="0">
                <a:latin typeface="Arial Black"/>
                <a:cs typeface="Arial Black"/>
              </a:rPr>
              <a:t>kg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216185" y="7506963"/>
            <a:ext cx="738505" cy="515620"/>
            <a:chOff x="2216185" y="7506963"/>
            <a:chExt cx="738505" cy="515620"/>
          </a:xfrm>
        </p:grpSpPr>
        <p:sp>
          <p:nvSpPr>
            <p:cNvPr id="44" name="object 44"/>
            <p:cNvSpPr/>
            <p:nvPr/>
          </p:nvSpPr>
          <p:spPr>
            <a:xfrm>
              <a:off x="2228134" y="7647219"/>
              <a:ext cx="355600" cy="363220"/>
            </a:xfrm>
            <a:custGeom>
              <a:avLst/>
              <a:gdLst/>
              <a:ahLst/>
              <a:cxnLst/>
              <a:rect l="l" t="t" r="r" b="b"/>
              <a:pathLst>
                <a:path w="355600" h="363220">
                  <a:moveTo>
                    <a:pt x="0" y="0"/>
                  </a:moveTo>
                  <a:lnTo>
                    <a:pt x="0" y="238935"/>
                  </a:lnTo>
                  <a:lnTo>
                    <a:pt x="355111" y="363034"/>
                  </a:lnTo>
                  <a:lnTo>
                    <a:pt x="355111" y="124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55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28134" y="7647219"/>
              <a:ext cx="355600" cy="363220"/>
            </a:xfrm>
            <a:custGeom>
              <a:avLst/>
              <a:gdLst/>
              <a:ahLst/>
              <a:cxnLst/>
              <a:rect l="l" t="t" r="r" b="b"/>
              <a:pathLst>
                <a:path w="355600" h="363220">
                  <a:moveTo>
                    <a:pt x="0" y="0"/>
                  </a:moveTo>
                  <a:lnTo>
                    <a:pt x="355110" y="124100"/>
                  </a:lnTo>
                  <a:lnTo>
                    <a:pt x="355110" y="363034"/>
                  </a:lnTo>
                  <a:lnTo>
                    <a:pt x="0" y="238934"/>
                  </a:lnTo>
                  <a:lnTo>
                    <a:pt x="0" y="0"/>
                  </a:lnTo>
                  <a:close/>
                </a:path>
              </a:pathLst>
            </a:custGeom>
            <a:ln w="238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87297" y="7643611"/>
              <a:ext cx="355600" cy="367030"/>
            </a:xfrm>
            <a:custGeom>
              <a:avLst/>
              <a:gdLst/>
              <a:ahLst/>
              <a:cxnLst/>
              <a:rect l="l" t="t" r="r" b="b"/>
              <a:pathLst>
                <a:path w="355600" h="367029">
                  <a:moveTo>
                    <a:pt x="355109" y="0"/>
                  </a:moveTo>
                  <a:lnTo>
                    <a:pt x="0" y="127618"/>
                  </a:lnTo>
                  <a:lnTo>
                    <a:pt x="0" y="366552"/>
                  </a:lnTo>
                  <a:lnTo>
                    <a:pt x="355109" y="238926"/>
                  </a:lnTo>
                  <a:lnTo>
                    <a:pt x="355109" y="0"/>
                  </a:lnTo>
                  <a:close/>
                </a:path>
              </a:pathLst>
            </a:custGeom>
            <a:solidFill>
              <a:srgbClr val="FF9955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87297" y="7643612"/>
              <a:ext cx="355600" cy="367030"/>
            </a:xfrm>
            <a:custGeom>
              <a:avLst/>
              <a:gdLst/>
              <a:ahLst/>
              <a:cxnLst/>
              <a:rect l="l" t="t" r="r" b="b"/>
              <a:pathLst>
                <a:path w="355600" h="367029">
                  <a:moveTo>
                    <a:pt x="0" y="127617"/>
                  </a:moveTo>
                  <a:lnTo>
                    <a:pt x="355110" y="0"/>
                  </a:lnTo>
                  <a:lnTo>
                    <a:pt x="355110" y="238926"/>
                  </a:lnTo>
                  <a:lnTo>
                    <a:pt x="0" y="366552"/>
                  </a:lnTo>
                  <a:lnTo>
                    <a:pt x="0" y="127617"/>
                  </a:lnTo>
                  <a:close/>
                </a:path>
              </a:pathLst>
            </a:custGeom>
            <a:ln w="23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43004" y="7518662"/>
              <a:ext cx="684530" cy="244475"/>
            </a:xfrm>
            <a:custGeom>
              <a:avLst/>
              <a:gdLst/>
              <a:ahLst/>
              <a:cxnLst/>
              <a:rect l="l" t="t" r="r" b="b"/>
              <a:pathLst>
                <a:path w="684530" h="244475">
                  <a:moveTo>
                    <a:pt x="349111" y="0"/>
                  </a:moveTo>
                  <a:lnTo>
                    <a:pt x="0" y="118266"/>
                  </a:lnTo>
                  <a:lnTo>
                    <a:pt x="344713" y="244323"/>
                  </a:lnTo>
                  <a:lnTo>
                    <a:pt x="683920" y="115669"/>
                  </a:lnTo>
                  <a:lnTo>
                    <a:pt x="349111" y="0"/>
                  </a:lnTo>
                  <a:close/>
                </a:path>
              </a:pathLst>
            </a:custGeom>
            <a:solidFill>
              <a:srgbClr val="FF99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43004" y="7518662"/>
              <a:ext cx="684530" cy="244475"/>
            </a:xfrm>
            <a:custGeom>
              <a:avLst/>
              <a:gdLst/>
              <a:ahLst/>
              <a:cxnLst/>
              <a:rect l="l" t="t" r="r" b="b"/>
              <a:pathLst>
                <a:path w="684530" h="244475">
                  <a:moveTo>
                    <a:pt x="0" y="118266"/>
                  </a:moveTo>
                  <a:lnTo>
                    <a:pt x="344713" y="244324"/>
                  </a:lnTo>
                  <a:lnTo>
                    <a:pt x="683920" y="115668"/>
                  </a:lnTo>
                  <a:lnTo>
                    <a:pt x="349112" y="0"/>
                  </a:lnTo>
                  <a:lnTo>
                    <a:pt x="0" y="118266"/>
                  </a:lnTo>
                  <a:close/>
                </a:path>
              </a:pathLst>
            </a:custGeom>
            <a:ln w="23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 rot="960000">
            <a:off x="2292734" y="7787444"/>
            <a:ext cx="236658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60"/>
              </a:lnSpc>
            </a:pPr>
            <a:r>
              <a:rPr sz="1050" spc="-25" dirty="0">
                <a:latin typeface="Arial Black"/>
                <a:cs typeface="Arial Black"/>
              </a:rPr>
              <a:t>$6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 rot="20400000">
            <a:off x="2584670" y="7782943"/>
            <a:ext cx="339128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</a:pPr>
            <a:r>
              <a:rPr sz="950" spc="60" dirty="0">
                <a:latin typeface="Arial Black"/>
                <a:cs typeface="Arial Black"/>
              </a:rPr>
              <a:t>2</a:t>
            </a:r>
            <a:r>
              <a:rPr sz="950" spc="20" dirty="0">
                <a:latin typeface="Arial Black"/>
                <a:cs typeface="Arial Black"/>
              </a:rPr>
              <a:t> </a:t>
            </a:r>
            <a:r>
              <a:rPr sz="950" spc="35" dirty="0">
                <a:latin typeface="Arial Black"/>
                <a:cs typeface="Arial Black"/>
              </a:rPr>
              <a:t>kg</a:t>
            </a:r>
            <a:endParaRPr sz="950">
              <a:latin typeface="Arial Black"/>
              <a:cs typeface="Arial Black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888756" y="8541401"/>
            <a:ext cx="738505" cy="440690"/>
            <a:chOff x="2888756" y="8541401"/>
            <a:chExt cx="738505" cy="440690"/>
          </a:xfrm>
        </p:grpSpPr>
        <p:sp>
          <p:nvSpPr>
            <p:cNvPr id="53" name="object 53"/>
            <p:cNvSpPr/>
            <p:nvPr/>
          </p:nvSpPr>
          <p:spPr>
            <a:xfrm>
              <a:off x="2900821" y="8662095"/>
              <a:ext cx="355600" cy="307975"/>
            </a:xfrm>
            <a:custGeom>
              <a:avLst/>
              <a:gdLst/>
              <a:ahLst/>
              <a:cxnLst/>
              <a:rect l="l" t="t" r="r" b="b"/>
              <a:pathLst>
                <a:path w="355600" h="307975">
                  <a:moveTo>
                    <a:pt x="0" y="0"/>
                  </a:moveTo>
                  <a:lnTo>
                    <a:pt x="0" y="202471"/>
                  </a:lnTo>
                  <a:lnTo>
                    <a:pt x="355109" y="307633"/>
                  </a:lnTo>
                  <a:lnTo>
                    <a:pt x="355109" y="105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4B7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900821" y="8662095"/>
              <a:ext cx="355600" cy="307975"/>
            </a:xfrm>
            <a:custGeom>
              <a:avLst/>
              <a:gdLst/>
              <a:ahLst/>
              <a:cxnLst/>
              <a:rect l="l" t="t" r="r" b="b"/>
              <a:pathLst>
                <a:path w="355600" h="307975">
                  <a:moveTo>
                    <a:pt x="0" y="0"/>
                  </a:moveTo>
                  <a:lnTo>
                    <a:pt x="355110" y="105154"/>
                  </a:lnTo>
                  <a:lnTo>
                    <a:pt x="355110" y="307633"/>
                  </a:lnTo>
                  <a:lnTo>
                    <a:pt x="0" y="202471"/>
                  </a:lnTo>
                  <a:lnTo>
                    <a:pt x="0" y="0"/>
                  </a:lnTo>
                  <a:close/>
                </a:path>
              </a:pathLst>
            </a:custGeom>
            <a:ln w="238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59982" y="8659035"/>
              <a:ext cx="355600" cy="311150"/>
            </a:xfrm>
            <a:custGeom>
              <a:avLst/>
              <a:gdLst/>
              <a:ahLst/>
              <a:cxnLst/>
              <a:rect l="l" t="t" r="r" b="b"/>
              <a:pathLst>
                <a:path w="355600" h="311150">
                  <a:moveTo>
                    <a:pt x="355111" y="0"/>
                  </a:moveTo>
                  <a:lnTo>
                    <a:pt x="0" y="108142"/>
                  </a:lnTo>
                  <a:lnTo>
                    <a:pt x="0" y="310621"/>
                  </a:lnTo>
                  <a:lnTo>
                    <a:pt x="355111" y="202478"/>
                  </a:lnTo>
                  <a:lnTo>
                    <a:pt x="355111" y="0"/>
                  </a:lnTo>
                  <a:close/>
                </a:path>
              </a:pathLst>
            </a:custGeom>
            <a:solidFill>
              <a:srgbClr val="C8C4B7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59982" y="8659035"/>
              <a:ext cx="355600" cy="311150"/>
            </a:xfrm>
            <a:custGeom>
              <a:avLst/>
              <a:gdLst/>
              <a:ahLst/>
              <a:cxnLst/>
              <a:rect l="l" t="t" r="r" b="b"/>
              <a:pathLst>
                <a:path w="355600" h="311150">
                  <a:moveTo>
                    <a:pt x="0" y="108142"/>
                  </a:moveTo>
                  <a:lnTo>
                    <a:pt x="355110" y="0"/>
                  </a:lnTo>
                  <a:lnTo>
                    <a:pt x="355110" y="202478"/>
                  </a:lnTo>
                  <a:lnTo>
                    <a:pt x="0" y="310621"/>
                  </a:lnTo>
                  <a:lnTo>
                    <a:pt x="0" y="108142"/>
                  </a:lnTo>
                  <a:close/>
                </a:path>
              </a:pathLst>
            </a:custGeom>
            <a:ln w="23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915688" y="8553149"/>
              <a:ext cx="684530" cy="207645"/>
            </a:xfrm>
            <a:custGeom>
              <a:avLst/>
              <a:gdLst/>
              <a:ahLst/>
              <a:cxnLst/>
              <a:rect l="l" t="t" r="r" b="b"/>
              <a:pathLst>
                <a:path w="684529" h="207645">
                  <a:moveTo>
                    <a:pt x="349120" y="0"/>
                  </a:moveTo>
                  <a:lnTo>
                    <a:pt x="0" y="100225"/>
                  </a:lnTo>
                  <a:lnTo>
                    <a:pt x="344713" y="207049"/>
                  </a:lnTo>
                  <a:lnTo>
                    <a:pt x="683920" y="98025"/>
                  </a:lnTo>
                  <a:lnTo>
                    <a:pt x="349120" y="0"/>
                  </a:lnTo>
                  <a:close/>
                </a:path>
              </a:pathLst>
            </a:custGeom>
            <a:solidFill>
              <a:srgbClr val="C8C4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15688" y="8553149"/>
              <a:ext cx="684530" cy="207645"/>
            </a:xfrm>
            <a:custGeom>
              <a:avLst/>
              <a:gdLst/>
              <a:ahLst/>
              <a:cxnLst/>
              <a:rect l="l" t="t" r="r" b="b"/>
              <a:pathLst>
                <a:path w="684529" h="207645">
                  <a:moveTo>
                    <a:pt x="0" y="100225"/>
                  </a:moveTo>
                  <a:lnTo>
                    <a:pt x="344713" y="207049"/>
                  </a:lnTo>
                  <a:lnTo>
                    <a:pt x="683920" y="98026"/>
                  </a:lnTo>
                  <a:lnTo>
                    <a:pt x="349120" y="0"/>
                  </a:lnTo>
                  <a:lnTo>
                    <a:pt x="0" y="100225"/>
                  </a:lnTo>
                  <a:close/>
                </a:path>
              </a:pathLst>
            </a:custGeom>
            <a:ln w="23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 rot="960000">
            <a:off x="2953943" y="8758623"/>
            <a:ext cx="236658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60"/>
              </a:lnSpc>
            </a:pPr>
            <a:r>
              <a:rPr sz="1050" spc="-25" dirty="0">
                <a:latin typeface="Arial Black"/>
                <a:cs typeface="Arial Black"/>
              </a:rPr>
              <a:t>$1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60" name="object 60"/>
          <p:cNvSpPr txBox="1"/>
          <p:nvPr/>
        </p:nvSpPr>
        <p:spPr>
          <a:xfrm rot="20400000">
            <a:off x="3245579" y="8758066"/>
            <a:ext cx="339128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</a:pPr>
            <a:r>
              <a:rPr sz="950" spc="60" dirty="0">
                <a:latin typeface="Arial Black"/>
                <a:cs typeface="Arial Black"/>
              </a:rPr>
              <a:t>1</a:t>
            </a:r>
            <a:r>
              <a:rPr sz="950" spc="20" dirty="0">
                <a:latin typeface="Arial Black"/>
                <a:cs typeface="Arial Black"/>
              </a:rPr>
              <a:t> </a:t>
            </a:r>
            <a:r>
              <a:rPr sz="950" spc="35" dirty="0">
                <a:latin typeface="Arial Black"/>
                <a:cs typeface="Arial Black"/>
              </a:rPr>
              <a:t>kg</a:t>
            </a:r>
            <a:endParaRPr sz="950">
              <a:latin typeface="Arial Black"/>
              <a:cs typeface="Arial Black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393743" y="6235589"/>
            <a:ext cx="895350" cy="600075"/>
            <a:chOff x="2393743" y="6235589"/>
            <a:chExt cx="895350" cy="600075"/>
          </a:xfrm>
        </p:grpSpPr>
        <p:sp>
          <p:nvSpPr>
            <p:cNvPr id="62" name="object 62"/>
            <p:cNvSpPr/>
            <p:nvPr/>
          </p:nvSpPr>
          <p:spPr>
            <a:xfrm>
              <a:off x="2405692" y="6397961"/>
              <a:ext cx="433705" cy="426084"/>
            </a:xfrm>
            <a:custGeom>
              <a:avLst/>
              <a:gdLst/>
              <a:ahLst/>
              <a:cxnLst/>
              <a:rect l="l" t="t" r="r" b="b"/>
              <a:pathLst>
                <a:path w="433705" h="426084">
                  <a:moveTo>
                    <a:pt x="0" y="0"/>
                  </a:moveTo>
                  <a:lnTo>
                    <a:pt x="0" y="280038"/>
                  </a:lnTo>
                  <a:lnTo>
                    <a:pt x="433246" y="425486"/>
                  </a:lnTo>
                  <a:lnTo>
                    <a:pt x="433246" y="145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2A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405692" y="6397961"/>
              <a:ext cx="433705" cy="426084"/>
            </a:xfrm>
            <a:custGeom>
              <a:avLst/>
              <a:gdLst/>
              <a:ahLst/>
              <a:cxnLst/>
              <a:rect l="l" t="t" r="r" b="b"/>
              <a:pathLst>
                <a:path w="433705" h="426084">
                  <a:moveTo>
                    <a:pt x="0" y="0"/>
                  </a:moveTo>
                  <a:lnTo>
                    <a:pt x="433247" y="145447"/>
                  </a:lnTo>
                  <a:lnTo>
                    <a:pt x="433247" y="425486"/>
                  </a:lnTo>
                  <a:lnTo>
                    <a:pt x="0" y="280038"/>
                  </a:lnTo>
                  <a:lnTo>
                    <a:pt x="0" y="0"/>
                  </a:lnTo>
                  <a:close/>
                </a:path>
              </a:pathLst>
            </a:custGeom>
            <a:ln w="238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43881" y="6393732"/>
              <a:ext cx="433705" cy="429895"/>
            </a:xfrm>
            <a:custGeom>
              <a:avLst/>
              <a:gdLst/>
              <a:ahLst/>
              <a:cxnLst/>
              <a:rect l="l" t="t" r="r" b="b"/>
              <a:pathLst>
                <a:path w="433704" h="429895">
                  <a:moveTo>
                    <a:pt x="433246" y="0"/>
                  </a:moveTo>
                  <a:lnTo>
                    <a:pt x="0" y="149574"/>
                  </a:lnTo>
                  <a:lnTo>
                    <a:pt x="0" y="429613"/>
                  </a:lnTo>
                  <a:lnTo>
                    <a:pt x="433246" y="280038"/>
                  </a:lnTo>
                  <a:lnTo>
                    <a:pt x="433246" y="0"/>
                  </a:lnTo>
                  <a:close/>
                </a:path>
              </a:pathLst>
            </a:custGeom>
            <a:solidFill>
              <a:srgbClr val="FFD42A">
                <a:alpha val="585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43881" y="6393732"/>
              <a:ext cx="433705" cy="429895"/>
            </a:xfrm>
            <a:custGeom>
              <a:avLst/>
              <a:gdLst/>
              <a:ahLst/>
              <a:cxnLst/>
              <a:rect l="l" t="t" r="r" b="b"/>
              <a:pathLst>
                <a:path w="433704" h="429895">
                  <a:moveTo>
                    <a:pt x="0" y="149573"/>
                  </a:moveTo>
                  <a:lnTo>
                    <a:pt x="433247" y="0"/>
                  </a:lnTo>
                  <a:lnTo>
                    <a:pt x="433247" y="280038"/>
                  </a:lnTo>
                  <a:lnTo>
                    <a:pt x="0" y="429612"/>
                  </a:lnTo>
                  <a:lnTo>
                    <a:pt x="0" y="149573"/>
                  </a:lnTo>
                  <a:close/>
                </a:path>
              </a:pathLst>
            </a:custGeom>
            <a:ln w="23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23828" y="6247288"/>
              <a:ext cx="835025" cy="286385"/>
            </a:xfrm>
            <a:custGeom>
              <a:avLst/>
              <a:gdLst/>
              <a:ahLst/>
              <a:cxnLst/>
              <a:rect l="l" t="t" r="r" b="b"/>
              <a:pathLst>
                <a:path w="835025" h="286384">
                  <a:moveTo>
                    <a:pt x="425938" y="0"/>
                  </a:moveTo>
                  <a:lnTo>
                    <a:pt x="0" y="138607"/>
                  </a:lnTo>
                  <a:lnTo>
                    <a:pt x="420564" y="286355"/>
                  </a:lnTo>
                  <a:lnTo>
                    <a:pt x="834406" y="135557"/>
                  </a:lnTo>
                  <a:lnTo>
                    <a:pt x="425938" y="0"/>
                  </a:lnTo>
                  <a:close/>
                </a:path>
              </a:pathLst>
            </a:custGeom>
            <a:solidFill>
              <a:srgbClr val="FFD4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423828" y="6247289"/>
              <a:ext cx="835025" cy="286385"/>
            </a:xfrm>
            <a:custGeom>
              <a:avLst/>
              <a:gdLst/>
              <a:ahLst/>
              <a:cxnLst/>
              <a:rect l="l" t="t" r="r" b="b"/>
              <a:pathLst>
                <a:path w="835025" h="286384">
                  <a:moveTo>
                    <a:pt x="0" y="138607"/>
                  </a:moveTo>
                  <a:lnTo>
                    <a:pt x="420565" y="286356"/>
                  </a:lnTo>
                  <a:lnTo>
                    <a:pt x="834406" y="135557"/>
                  </a:lnTo>
                  <a:lnTo>
                    <a:pt x="425939" y="0"/>
                  </a:lnTo>
                  <a:lnTo>
                    <a:pt x="0" y="138607"/>
                  </a:lnTo>
                  <a:close/>
                </a:path>
              </a:pathLst>
            </a:custGeom>
            <a:ln w="23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 rot="960000">
            <a:off x="2460532" y="6564226"/>
            <a:ext cx="319528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spc="-25" dirty="0">
                <a:latin typeface="Arial Black"/>
                <a:cs typeface="Arial Black"/>
              </a:rPr>
              <a:t>$18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68184" y="8841670"/>
            <a:ext cx="224536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knapsack</a:t>
            </a:r>
            <a:r>
              <a:rPr sz="1600" b="1" spc="204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(weight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limit</a:t>
            </a:r>
            <a:r>
              <a:rPr sz="1600" b="1" spc="25" dirty="0">
                <a:latin typeface="Tahoma"/>
                <a:cs typeface="Tahoma"/>
              </a:rPr>
              <a:t> </a:t>
            </a:r>
            <a:r>
              <a:rPr sz="1600" b="1" spc="-220" dirty="0">
                <a:latin typeface="Tahoma"/>
                <a:cs typeface="Tahoma"/>
              </a:rPr>
              <a:t>W</a:t>
            </a:r>
            <a:r>
              <a:rPr sz="1600" b="1" spc="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2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11)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557034" y="9150419"/>
            <a:ext cx="2878455" cy="3549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dirty="0">
                <a:solidFill>
                  <a:srgbClr val="606060"/>
                </a:solidFill>
                <a:latin typeface="Lucida Sans Unicode"/>
                <a:cs typeface="Lucida Sans Unicode"/>
              </a:rPr>
              <a:t>Creative</a:t>
            </a:r>
            <a:r>
              <a:rPr sz="10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606060"/>
                </a:solidFill>
                <a:latin typeface="Lucida Sans Unicode"/>
                <a:cs typeface="Lucida Sans Unicode"/>
              </a:rPr>
              <a:t>Commons</a:t>
            </a:r>
            <a:r>
              <a:rPr sz="10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Attribution-</a:t>
            </a:r>
            <a:r>
              <a:rPr sz="10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Share </a:t>
            </a:r>
            <a:r>
              <a:rPr sz="1000" dirty="0">
                <a:solidFill>
                  <a:srgbClr val="606060"/>
                </a:solidFill>
                <a:latin typeface="Lucida Sans Unicode"/>
                <a:cs typeface="Lucida Sans Unicode"/>
              </a:rPr>
              <a:t>Alike</a:t>
            </a:r>
            <a:r>
              <a:rPr sz="10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2.5</a:t>
            </a:r>
            <a:endParaRPr sz="10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000" dirty="0">
                <a:solidFill>
                  <a:srgbClr val="606060"/>
                </a:solidFill>
                <a:latin typeface="Lucida Sans Unicode"/>
                <a:cs typeface="Lucida Sans Unicode"/>
              </a:rPr>
              <a:t>by</a:t>
            </a:r>
            <a:r>
              <a:rPr sz="1000" spc="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606060"/>
                </a:solidFill>
                <a:latin typeface="Lucida Sans Unicode"/>
                <a:cs typeface="Lucida Sans Unicode"/>
              </a:rPr>
              <a:t>Dake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32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69" name="object 69"/>
          <p:cNvSpPr txBox="1"/>
          <p:nvPr/>
        </p:nvSpPr>
        <p:spPr>
          <a:xfrm rot="20400000">
            <a:off x="2877855" y="6565279"/>
            <a:ext cx="339128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</a:pPr>
            <a:r>
              <a:rPr sz="950" spc="60" dirty="0">
                <a:latin typeface="Arial Black"/>
                <a:cs typeface="Arial Black"/>
              </a:rPr>
              <a:t>5</a:t>
            </a:r>
            <a:r>
              <a:rPr sz="950" spc="20" dirty="0">
                <a:latin typeface="Arial Black"/>
                <a:cs typeface="Arial Black"/>
              </a:rPr>
              <a:t> </a:t>
            </a:r>
            <a:r>
              <a:rPr sz="950" spc="35" dirty="0">
                <a:latin typeface="Arial Black"/>
                <a:cs typeface="Arial Black"/>
              </a:rPr>
              <a:t>kg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70" name="object 70"/>
          <p:cNvSpPr txBox="1"/>
          <p:nvPr/>
        </p:nvSpPr>
        <p:spPr>
          <a:xfrm rot="20940000">
            <a:off x="3544480" y="6926942"/>
            <a:ext cx="771028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80" dirty="0">
                <a:latin typeface="Arial Black"/>
                <a:cs typeface="Arial Black"/>
              </a:rPr>
              <a:t>11</a:t>
            </a:r>
            <a:r>
              <a:rPr sz="1800" spc="35" dirty="0">
                <a:latin typeface="Arial Black"/>
                <a:cs typeface="Arial Black"/>
              </a:rPr>
              <a:t> </a:t>
            </a:r>
            <a:r>
              <a:rPr sz="1800" spc="55" dirty="0">
                <a:latin typeface="Arial Black"/>
                <a:cs typeface="Arial Black"/>
              </a:rPr>
              <a:t>kg</a:t>
            </a:r>
            <a:endParaRPr sz="1800">
              <a:latin typeface="Arial Black"/>
              <a:cs typeface="Arial Black"/>
            </a:endParaRPr>
          </a:p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7272583" y="5624032"/>
          <a:ext cx="3252470" cy="302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8390"/>
                <a:gridCol w="1075690"/>
                <a:gridCol w="1088390"/>
              </a:tblGrid>
              <a:tr h="5124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200" i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200" i="1" spc="-2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175" i="1" spc="-37" baseline="-766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7662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200" i="1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175" i="1" spc="-37" baseline="-766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7662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$22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$28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194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2725" algn="l"/>
              </a:tabLst>
            </a:pPr>
            <a:r>
              <a:rPr dirty="0"/>
              <a:t>Dynamic</a:t>
            </a:r>
            <a:r>
              <a:rPr spc="135" dirty="0"/>
              <a:t> </a:t>
            </a:r>
            <a:r>
              <a:rPr spc="-10" dirty="0"/>
              <a:t>programming:</a:t>
            </a:r>
            <a:r>
              <a:rPr dirty="0"/>
              <a:t>	</a:t>
            </a:r>
            <a:r>
              <a:rPr spc="55" dirty="0"/>
              <a:t>two</a:t>
            </a:r>
            <a:r>
              <a:rPr spc="9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4716779"/>
            <a:ext cx="466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7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016500"/>
            <a:ext cx="285051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Collect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400" y="5499100"/>
            <a:ext cx="10524490" cy="2021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New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=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2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524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spc="8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selects best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1,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 …, </a:t>
            </a:r>
            <a:r>
              <a:rPr sz="2400" i="1" dirty="0">
                <a:latin typeface="Times New Roman"/>
                <a:cs typeface="Times New Roman"/>
              </a:rPr>
              <a:t>i </a:t>
            </a:r>
            <a:r>
              <a:rPr sz="2400" dirty="0">
                <a:latin typeface="Times New Roman"/>
                <a:cs typeface="Times New Roman"/>
              </a:rPr>
              <a:t>– 1</a:t>
            </a:r>
            <a:r>
              <a:rPr sz="2400" spc="50" dirty="0">
                <a:latin typeface="Times New Roman"/>
                <a:cs typeface="Times New Roman"/>
              </a:rPr>
              <a:t> } </a:t>
            </a:r>
            <a:r>
              <a:rPr sz="2400" dirty="0">
                <a:latin typeface="Lucida Sans Unicode"/>
                <a:cs typeface="Lucida Sans Unicode"/>
              </a:rPr>
              <a:t>subject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 new weight </a:t>
            </a:r>
            <a:r>
              <a:rPr sz="2400" spc="-10" dirty="0">
                <a:latin typeface="Lucida Sans Unicode"/>
                <a:cs typeface="Lucida Sans Unicode"/>
              </a:rPr>
              <a:t>limit.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Bellman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equation.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6206" y="4717396"/>
            <a:ext cx="3072765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">
              <a:lnSpc>
                <a:spcPct val="1139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substructure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property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(proof via exchange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argument)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93100" y="4610100"/>
            <a:ext cx="420370" cy="387985"/>
            <a:chOff x="8293100" y="4610100"/>
            <a:chExt cx="420370" cy="387985"/>
          </a:xfrm>
        </p:grpSpPr>
        <p:sp>
          <p:nvSpPr>
            <p:cNvPr id="9" name="object 9"/>
            <p:cNvSpPr/>
            <p:nvPr/>
          </p:nvSpPr>
          <p:spPr>
            <a:xfrm>
              <a:off x="8351027" y="466343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0"/>
                  </a:moveTo>
                  <a:lnTo>
                    <a:pt x="9343" y="8602"/>
                  </a:lnTo>
                  <a:lnTo>
                    <a:pt x="349249" y="321555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93100" y="4610100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0" y="0"/>
                  </a:moveTo>
                  <a:lnTo>
                    <a:pt x="48403" y="127427"/>
                  </a:lnTo>
                  <a:lnTo>
                    <a:pt x="67269" y="61935"/>
                  </a:lnTo>
                  <a:lnTo>
                    <a:pt x="130983" y="37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303543" y="5114898"/>
            <a:ext cx="420370" cy="387985"/>
            <a:chOff x="8303543" y="5114898"/>
            <a:chExt cx="420370" cy="387985"/>
          </a:xfrm>
        </p:grpSpPr>
        <p:sp>
          <p:nvSpPr>
            <p:cNvPr id="12" name="object 12"/>
            <p:cNvSpPr/>
            <p:nvPr/>
          </p:nvSpPr>
          <p:spPr>
            <a:xfrm>
              <a:off x="8361469" y="5127598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321555"/>
                  </a:moveTo>
                  <a:lnTo>
                    <a:pt x="9343" y="312953"/>
                  </a:lnTo>
                  <a:lnTo>
                    <a:pt x="349249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03543" y="5375059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48402" y="0"/>
                  </a:moveTo>
                  <a:lnTo>
                    <a:pt x="0" y="127427"/>
                  </a:lnTo>
                  <a:lnTo>
                    <a:pt x="130982" y="89693"/>
                  </a:lnTo>
                  <a:lnTo>
                    <a:pt x="67269" y="65492"/>
                  </a:lnTo>
                  <a:lnTo>
                    <a:pt x="4840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4700" y="1221740"/>
            <a:ext cx="1035177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8362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subject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919"/>
              </a:spcBef>
              <a:tabLst>
                <a:tab pos="9906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473190">
              <a:lnSpc>
                <a:spcPct val="100000"/>
              </a:lnSpc>
              <a:spcBef>
                <a:spcPts val="164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possibly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because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800" i="1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24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&gt;</a:t>
            </a:r>
            <a:r>
              <a:rPr sz="1800" spc="1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ts val="2615"/>
              </a:lnSpc>
              <a:spcBef>
                <a:spcPts val="919"/>
              </a:spcBef>
              <a:tabLst>
                <a:tab pos="13201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35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spc="7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5" dirty="0">
                <a:latin typeface="Times New Roman"/>
                <a:cs typeface="Times New Roman"/>
              </a:rPr>
              <a:t> …,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45" dirty="0">
                <a:latin typeface="Times New Roman"/>
                <a:cs typeface="Times New Roman"/>
              </a:rPr>
              <a:t> } </a:t>
            </a:r>
            <a:r>
              <a:rPr sz="2400" dirty="0">
                <a:latin typeface="Lucida Sans Unicode"/>
                <a:cs typeface="Lucida Sans Unicode"/>
              </a:rPr>
              <a:t>subject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33655" y="3085965"/>
            <a:ext cx="414020" cy="248285"/>
            <a:chOff x="6733655" y="3085965"/>
            <a:chExt cx="414020" cy="248285"/>
          </a:xfrm>
        </p:grpSpPr>
        <p:sp>
          <p:nvSpPr>
            <p:cNvPr id="16" name="object 16"/>
            <p:cNvSpPr/>
            <p:nvPr/>
          </p:nvSpPr>
          <p:spPr>
            <a:xfrm>
              <a:off x="6801596" y="3098665"/>
              <a:ext cx="333375" cy="195580"/>
            </a:xfrm>
            <a:custGeom>
              <a:avLst/>
              <a:gdLst/>
              <a:ahLst/>
              <a:cxnLst/>
              <a:rect l="l" t="t" r="r" b="b"/>
              <a:pathLst>
                <a:path w="333375" h="195579">
                  <a:moveTo>
                    <a:pt x="0" y="195273"/>
                  </a:moveTo>
                  <a:lnTo>
                    <a:pt x="10958" y="188854"/>
                  </a:lnTo>
                  <a:lnTo>
                    <a:pt x="33333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33655" y="3219514"/>
              <a:ext cx="136525" cy="114300"/>
            </a:xfrm>
            <a:custGeom>
              <a:avLst/>
              <a:gdLst/>
              <a:ahLst/>
              <a:cxnLst/>
              <a:rect l="l" t="t" r="r" b="b"/>
              <a:pathLst>
                <a:path w="136525" h="114300">
                  <a:moveTo>
                    <a:pt x="74385" y="0"/>
                  </a:moveTo>
                  <a:lnTo>
                    <a:pt x="0" y="114226"/>
                  </a:lnTo>
                  <a:lnTo>
                    <a:pt x="136011" y="105197"/>
                  </a:lnTo>
                  <a:lnTo>
                    <a:pt x="78898" y="68005"/>
                  </a:lnTo>
                  <a:lnTo>
                    <a:pt x="7438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29765" y="7505677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90083" y="7675794"/>
            <a:ext cx="1206500" cy="16008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250" dirty="0">
                <a:latin typeface="Trebuchet MS"/>
                <a:cs typeface="Trebuchet MS"/>
              </a:rPr>
              <a:t>if</a:t>
            </a:r>
            <a:r>
              <a:rPr sz="2250" spc="10" dirty="0">
                <a:latin typeface="Trebuchet MS"/>
                <a:cs typeface="Trebuchet MS"/>
              </a:rPr>
              <a:t> </a:t>
            </a:r>
            <a:r>
              <a:rPr sz="2250" i="1" spc="260" dirty="0">
                <a:latin typeface="Calibri"/>
                <a:cs typeface="Calibri"/>
              </a:rPr>
              <a:t>i</a:t>
            </a:r>
            <a:r>
              <a:rPr sz="2250" i="1" spc="65" dirty="0">
                <a:latin typeface="Calibri"/>
                <a:cs typeface="Calibri"/>
              </a:rPr>
              <a:t> </a:t>
            </a:r>
            <a:r>
              <a:rPr sz="2250" spc="615" dirty="0">
                <a:latin typeface="Calibri"/>
                <a:cs typeface="Calibri"/>
              </a:rPr>
              <a:t>=</a:t>
            </a:r>
            <a:r>
              <a:rPr sz="2250" spc="65" dirty="0">
                <a:latin typeface="Calibri"/>
                <a:cs typeface="Calibri"/>
              </a:rPr>
              <a:t> </a:t>
            </a:r>
            <a:r>
              <a:rPr sz="2250" spc="-50" dirty="0">
                <a:latin typeface="Calibri"/>
                <a:cs typeface="Calibri"/>
              </a:rPr>
              <a:t>0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250" dirty="0">
                <a:latin typeface="Trebuchet MS"/>
                <a:cs typeface="Trebuchet MS"/>
              </a:rPr>
              <a:t>if</a:t>
            </a:r>
            <a:r>
              <a:rPr sz="2250" spc="15" dirty="0">
                <a:latin typeface="Trebuchet MS"/>
                <a:cs typeface="Trebuchet MS"/>
              </a:rPr>
              <a:t> </a:t>
            </a:r>
            <a:r>
              <a:rPr sz="2250" i="1" spc="140" dirty="0">
                <a:latin typeface="Calibri"/>
                <a:cs typeface="Calibri"/>
              </a:rPr>
              <a:t>w</a:t>
            </a:r>
            <a:r>
              <a:rPr sz="2325" i="1" spc="209" baseline="-12544" dirty="0">
                <a:latin typeface="Calibri"/>
                <a:cs typeface="Calibri"/>
              </a:rPr>
              <a:t>i</a:t>
            </a:r>
            <a:r>
              <a:rPr sz="2325" i="1" spc="494" baseline="-12544" dirty="0">
                <a:latin typeface="Calibri"/>
                <a:cs typeface="Calibri"/>
              </a:rPr>
              <a:t> </a:t>
            </a:r>
            <a:r>
              <a:rPr sz="2250" i="1" spc="615" dirty="0">
                <a:latin typeface="Calibri"/>
                <a:cs typeface="Calibri"/>
              </a:rPr>
              <a:t>&gt;</a:t>
            </a:r>
            <a:r>
              <a:rPr sz="2250" i="1" spc="75" dirty="0">
                <a:latin typeface="Calibri"/>
                <a:cs typeface="Calibri"/>
              </a:rPr>
              <a:t> </a:t>
            </a:r>
            <a:r>
              <a:rPr sz="2250" i="1" spc="-50" dirty="0">
                <a:latin typeface="Calibri"/>
                <a:cs typeface="Calibri"/>
              </a:rPr>
              <a:t>w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250" spc="-65" dirty="0">
                <a:latin typeface="Trebuchet MS"/>
                <a:cs typeface="Trebuchet MS"/>
              </a:rPr>
              <a:t>otherwise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4064" y="7783852"/>
            <a:ext cx="16891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spc="-50" dirty="0">
                <a:latin typeface="Calibri"/>
                <a:cs typeface="Calibri"/>
              </a:rPr>
              <a:t>0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9765" y="7849758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29765" y="7935777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29765" y="8021510"/>
            <a:ext cx="280035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sz="2250" dirty="0">
                <a:latin typeface="Trebuchet MS"/>
                <a:cs typeface="Trebuchet MS"/>
              </a:rPr>
              <a:t> 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8682" y="8357511"/>
            <a:ext cx="134493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85" dirty="0">
                <a:latin typeface="Calibri"/>
                <a:cs typeface="Calibri"/>
              </a:rPr>
              <a:t> </a:t>
            </a:r>
            <a:r>
              <a:rPr sz="2250" spc="165" dirty="0">
                <a:latin typeface="Calibri"/>
                <a:cs typeface="Calibri"/>
              </a:rPr>
              <a:t>(</a:t>
            </a:r>
            <a:r>
              <a:rPr sz="2250" i="1" spc="165" dirty="0">
                <a:latin typeface="Calibri"/>
                <a:cs typeface="Calibri"/>
              </a:rPr>
              <a:t>i,</a:t>
            </a:r>
            <a:r>
              <a:rPr sz="2250" i="1" spc="-125" dirty="0">
                <a:latin typeface="Calibri"/>
                <a:cs typeface="Calibri"/>
              </a:rPr>
              <a:t> </a:t>
            </a:r>
            <a:r>
              <a:rPr sz="2250" i="1" spc="95" dirty="0">
                <a:latin typeface="Calibri"/>
                <a:cs typeface="Calibri"/>
              </a:rPr>
              <a:t>w</a:t>
            </a:r>
            <a:r>
              <a:rPr sz="2250" spc="95" dirty="0">
                <a:latin typeface="Calibri"/>
                <a:cs typeface="Calibri"/>
              </a:rPr>
              <a:t>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47538" y="8357511"/>
            <a:ext cx="248285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spc="565" dirty="0">
                <a:latin typeface="Calibri"/>
                <a:cs typeface="Calibri"/>
              </a:rPr>
              <a:t>=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64064" y="8361278"/>
            <a:ext cx="1838325" cy="523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00"/>
              </a:lnSpc>
            </a:pP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85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25" dirty="0">
                <a:latin typeface="Georgia"/>
                <a:cs typeface="Georgia"/>
              </a:rPr>
              <a:t> 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i="1" dirty="0">
                <a:latin typeface="Calibri"/>
                <a:cs typeface="Calibri"/>
              </a:rPr>
              <a:t>,</a:t>
            </a:r>
            <a:r>
              <a:rPr sz="2250" i="1" spc="-114" dirty="0">
                <a:latin typeface="Calibri"/>
                <a:cs typeface="Calibri"/>
              </a:rPr>
              <a:t> </a:t>
            </a:r>
            <a:r>
              <a:rPr sz="2250" i="1" spc="85" dirty="0">
                <a:latin typeface="Calibri"/>
                <a:cs typeface="Calibri"/>
              </a:rPr>
              <a:t>w</a:t>
            </a:r>
            <a:r>
              <a:rPr sz="2250" spc="85" dirty="0">
                <a:latin typeface="Calibri"/>
                <a:cs typeface="Calibri"/>
              </a:rPr>
              <a:t>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29765" y="8709383"/>
            <a:ext cx="3056890" cy="109537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3375" spc="1754" baseline="45679" dirty="0">
                <a:latin typeface="Trebuchet MS"/>
                <a:cs typeface="Trebuchet MS"/>
              </a:rPr>
              <a:t>,</a:t>
            </a:r>
            <a:r>
              <a:rPr sz="3375" spc="-52" baseline="45679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Calibri"/>
                <a:cs typeface="Calibri"/>
              </a:rPr>
              <a:t>max</a:t>
            </a:r>
            <a:r>
              <a:rPr sz="2250" spc="-125" dirty="0">
                <a:latin typeface="Calibri"/>
                <a:cs typeface="Calibri"/>
              </a:rPr>
              <a:t> </a:t>
            </a:r>
            <a:r>
              <a:rPr sz="2250" i="1" spc="160" dirty="0">
                <a:latin typeface="Georgia"/>
                <a:cs typeface="Georgia"/>
              </a:rPr>
              <a:t>{</a:t>
            </a:r>
            <a:r>
              <a:rPr sz="2250" i="1" spc="95" dirty="0">
                <a:latin typeface="Georgia"/>
                <a:cs typeface="Georgia"/>
              </a:rPr>
              <a:t> </a:t>
            </a: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90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30" dirty="0">
                <a:latin typeface="Georgia"/>
                <a:cs typeface="Georgia"/>
              </a:rPr>
              <a:t> 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i="1" dirty="0">
                <a:latin typeface="Calibri"/>
                <a:cs typeface="Calibri"/>
              </a:rPr>
              <a:t>,</a:t>
            </a:r>
            <a:r>
              <a:rPr sz="2250" i="1" spc="-125" dirty="0">
                <a:latin typeface="Calibri"/>
                <a:cs typeface="Calibri"/>
              </a:rPr>
              <a:t> </a:t>
            </a:r>
            <a:r>
              <a:rPr sz="2250" i="1" spc="75" dirty="0">
                <a:latin typeface="Calibri"/>
                <a:cs typeface="Calibri"/>
              </a:rPr>
              <a:t>w</a:t>
            </a:r>
            <a:r>
              <a:rPr sz="2250" spc="75" dirty="0">
                <a:latin typeface="Calibri"/>
                <a:cs typeface="Calibri"/>
              </a:rPr>
              <a:t>)</a:t>
            </a:r>
            <a:r>
              <a:rPr sz="2250" i="1" spc="75" dirty="0">
                <a:latin typeface="Calibri"/>
                <a:cs typeface="Calibri"/>
              </a:rPr>
              <a:t>,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36246" y="8945869"/>
            <a:ext cx="3297554" cy="523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00"/>
              </a:lnSpc>
            </a:pPr>
            <a:r>
              <a:rPr sz="2250" i="1" spc="185" dirty="0">
                <a:latin typeface="Calibri"/>
                <a:cs typeface="Calibri"/>
              </a:rPr>
              <a:t>v</a:t>
            </a:r>
            <a:r>
              <a:rPr sz="2325" i="1" spc="277" baseline="-12544" dirty="0">
                <a:latin typeface="Calibri"/>
                <a:cs typeface="Calibri"/>
              </a:rPr>
              <a:t>i</a:t>
            </a:r>
            <a:r>
              <a:rPr sz="2325" i="1" spc="412" baseline="-12544" dirty="0">
                <a:latin typeface="Calibri"/>
                <a:cs typeface="Calibri"/>
              </a:rPr>
              <a:t> </a:t>
            </a:r>
            <a:r>
              <a:rPr sz="2250" spc="615" dirty="0">
                <a:latin typeface="Calibri"/>
                <a:cs typeface="Calibri"/>
              </a:rPr>
              <a:t>+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90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40" dirty="0">
                <a:latin typeface="Georgia"/>
                <a:cs typeface="Georgia"/>
              </a:rPr>
              <a:t> </a:t>
            </a:r>
            <a:r>
              <a:rPr sz="2250" spc="130" dirty="0">
                <a:latin typeface="Calibri"/>
                <a:cs typeface="Calibri"/>
              </a:rPr>
              <a:t>1</a:t>
            </a:r>
            <a:r>
              <a:rPr sz="2250" i="1" spc="130" dirty="0">
                <a:latin typeface="Calibri"/>
                <a:cs typeface="Calibri"/>
              </a:rPr>
              <a:t>,w</a:t>
            </a:r>
            <a:r>
              <a:rPr sz="2250" i="1" spc="6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35" dirty="0">
                <a:latin typeface="Georgia"/>
                <a:cs typeface="Georgia"/>
              </a:rPr>
              <a:t> </a:t>
            </a:r>
            <a:r>
              <a:rPr sz="2250" i="1" spc="190" dirty="0">
                <a:latin typeface="Calibri"/>
                <a:cs typeface="Calibri"/>
              </a:rPr>
              <a:t>w</a:t>
            </a:r>
            <a:r>
              <a:rPr sz="2325" i="1" spc="284" baseline="-12544" dirty="0">
                <a:latin typeface="Calibri"/>
                <a:cs typeface="Calibri"/>
              </a:rPr>
              <a:t>i</a:t>
            </a:r>
            <a:r>
              <a:rPr sz="2250" spc="190" dirty="0">
                <a:latin typeface="Calibri"/>
                <a:cs typeface="Calibri"/>
              </a:rPr>
              <a:t>)</a:t>
            </a:r>
            <a:r>
              <a:rPr sz="2250" spc="125" dirty="0">
                <a:latin typeface="Calibri"/>
                <a:cs typeface="Calibri"/>
              </a:rPr>
              <a:t> </a:t>
            </a:r>
            <a:r>
              <a:rPr sz="2250" i="1" spc="110" dirty="0">
                <a:latin typeface="Georgia"/>
                <a:cs typeface="Georgia"/>
              </a:rPr>
              <a:t>}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8722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</a:t>
            </a:r>
            <a:r>
              <a:rPr spc="-25" dirty="0"/>
              <a:t>bottom-</a:t>
            </a:r>
            <a:r>
              <a:rPr dirty="0"/>
              <a:t>up</a:t>
            </a:r>
            <a:r>
              <a:rPr spc="210" dirty="0"/>
              <a:t> </a:t>
            </a:r>
            <a:r>
              <a:rPr dirty="0"/>
              <a:t>dynamic</a:t>
            </a:r>
            <a:r>
              <a:rPr spc="215" dirty="0"/>
              <a:t> </a:t>
            </a:r>
            <a:r>
              <a:rPr spc="-10" dirty="0"/>
              <a:t>programming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89050" y="1511300"/>
            <a:ext cx="10426700" cy="5715000"/>
            <a:chOff x="1289050" y="1511300"/>
            <a:chExt cx="10426700" cy="5715000"/>
          </a:xfrm>
        </p:grpSpPr>
        <p:sp>
          <p:nvSpPr>
            <p:cNvPr id="5" name="object 5"/>
            <p:cNvSpPr/>
            <p:nvPr/>
          </p:nvSpPr>
          <p:spPr>
            <a:xfrm>
              <a:off x="1289050" y="1511300"/>
              <a:ext cx="10426700" cy="5715000"/>
            </a:xfrm>
            <a:custGeom>
              <a:avLst/>
              <a:gdLst/>
              <a:ahLst/>
              <a:cxnLst/>
              <a:rect l="l" t="t" r="r" b="b"/>
              <a:pathLst>
                <a:path w="10426700" h="5715000">
                  <a:moveTo>
                    <a:pt x="10426700" y="0"/>
                  </a:moveTo>
                  <a:lnTo>
                    <a:pt x="0" y="0"/>
                  </a:lnTo>
                  <a:lnTo>
                    <a:pt x="0" y="5715000"/>
                  </a:lnTo>
                  <a:lnTo>
                    <a:pt x="10426700" y="5715000"/>
                  </a:lnTo>
                  <a:lnTo>
                    <a:pt x="1042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1150" y="2334901"/>
              <a:ext cx="9410700" cy="0"/>
            </a:xfrm>
            <a:custGeom>
              <a:avLst/>
              <a:gdLst/>
              <a:ahLst/>
              <a:cxnLst/>
              <a:rect l="l" t="t" r="r" b="b"/>
              <a:pathLst>
                <a:path w="9410700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3050" y="1778000"/>
            <a:ext cx="4893310" cy="159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K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NAPSACK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i="1" spc="300" baseline="-694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81000" marR="2765425" indent="-342900">
              <a:lnSpc>
                <a:spcPct val="142400"/>
              </a:lnSpc>
              <a:spcBef>
                <a:spcPts val="1295"/>
              </a:spcBef>
              <a:tabLst>
                <a:tab pos="698500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W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1150" y="3733443"/>
            <a:ext cx="2423795" cy="10668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20"/>
              </a:spcBef>
              <a:tabLst>
                <a:tab pos="6604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1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1220"/>
              </a:spcBef>
              <a:tabLst>
                <a:tab pos="10033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0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16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8450" y="4759959"/>
            <a:ext cx="9196070" cy="200088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435"/>
              </a:spcBef>
              <a:tabLst>
                <a:tab pos="1087755" algn="l"/>
                <a:tab pos="2306320" algn="l"/>
                <a:tab pos="3447415" algn="l"/>
                <a:tab pos="3900804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284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1340"/>
              </a:spcBef>
              <a:tabLst>
                <a:tab pos="2308225" algn="l"/>
                <a:tab pos="3449320" algn="l"/>
                <a:tab pos="3902710" algn="l"/>
                <a:tab pos="6350000" algn="l"/>
              </a:tabLst>
            </a:pPr>
            <a:r>
              <a:rPr sz="2400" spc="-2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spc="-2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max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],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135" baseline="-694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 </a:t>
            </a:r>
            <a:r>
              <a:rPr sz="2400" spc="-25" dirty="0">
                <a:latin typeface="Times New Roman"/>
                <a:cs typeface="Times New Roman"/>
              </a:rPr>
              <a:t>}.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8046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81150" y="4240479"/>
            <a:ext cx="9410700" cy="2686050"/>
            <a:chOff x="1581150" y="4240479"/>
            <a:chExt cx="9410700" cy="2686050"/>
          </a:xfrm>
        </p:grpSpPr>
        <p:sp>
          <p:nvSpPr>
            <p:cNvPr id="11" name="object 11"/>
            <p:cNvSpPr/>
            <p:nvPr/>
          </p:nvSpPr>
          <p:spPr>
            <a:xfrm>
              <a:off x="1581150" y="6926149"/>
              <a:ext cx="9410700" cy="0"/>
            </a:xfrm>
            <a:custGeom>
              <a:avLst/>
              <a:gdLst/>
              <a:ahLst/>
              <a:cxnLst/>
              <a:rect l="l" t="t" r="r" b="b"/>
              <a:pathLst>
                <a:path w="9410700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53690" y="4259781"/>
              <a:ext cx="1087120" cy="957580"/>
            </a:xfrm>
            <a:custGeom>
              <a:avLst/>
              <a:gdLst/>
              <a:ahLst/>
              <a:cxnLst/>
              <a:rect l="l" t="t" r="r" b="b"/>
              <a:pathLst>
                <a:path w="1087120" h="957579">
                  <a:moveTo>
                    <a:pt x="1087121" y="957087"/>
                  </a:moveTo>
                  <a:lnTo>
                    <a:pt x="1077589" y="948695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68120" y="5142581"/>
              <a:ext cx="132080" cy="126364"/>
            </a:xfrm>
            <a:custGeom>
              <a:avLst/>
              <a:gdLst/>
              <a:ahLst/>
              <a:cxnLst/>
              <a:rect l="l" t="t" r="r" b="b"/>
              <a:pathLst>
                <a:path w="132079" h="126364">
                  <a:moveTo>
                    <a:pt x="80563" y="0"/>
                  </a:moveTo>
                  <a:lnTo>
                    <a:pt x="63159" y="65895"/>
                  </a:lnTo>
                  <a:lnTo>
                    <a:pt x="0" y="91508"/>
                  </a:lnTo>
                  <a:lnTo>
                    <a:pt x="131791" y="126318"/>
                  </a:lnTo>
                  <a:lnTo>
                    <a:pt x="80563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45555" y="4257596"/>
              <a:ext cx="31115" cy="995680"/>
            </a:xfrm>
            <a:custGeom>
              <a:avLst/>
              <a:gdLst/>
              <a:ahLst/>
              <a:cxnLst/>
              <a:rect l="l" t="t" r="r" b="b"/>
              <a:pathLst>
                <a:path w="31115" h="995679">
                  <a:moveTo>
                    <a:pt x="0" y="995523"/>
                  </a:moveTo>
                  <a:lnTo>
                    <a:pt x="394" y="982829"/>
                  </a:lnTo>
                  <a:lnTo>
                    <a:pt x="30910" y="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85965" y="5208069"/>
              <a:ext cx="121920" cy="123825"/>
            </a:xfrm>
            <a:custGeom>
              <a:avLst/>
              <a:gdLst/>
              <a:ahLst/>
              <a:cxnLst/>
              <a:rect l="l" t="t" r="r" b="b"/>
              <a:pathLst>
                <a:path w="121920" h="123825">
                  <a:moveTo>
                    <a:pt x="0" y="0"/>
                  </a:moveTo>
                  <a:lnTo>
                    <a:pt x="57146" y="123752"/>
                  </a:lnTo>
                  <a:lnTo>
                    <a:pt x="121860" y="3783"/>
                  </a:lnTo>
                  <a:lnTo>
                    <a:pt x="59984" y="3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27337" y="4253179"/>
              <a:ext cx="501650" cy="484505"/>
            </a:xfrm>
            <a:custGeom>
              <a:avLst/>
              <a:gdLst/>
              <a:ahLst/>
              <a:cxnLst/>
              <a:rect l="l" t="t" r="r" b="b"/>
              <a:pathLst>
                <a:path w="501650" h="484504">
                  <a:moveTo>
                    <a:pt x="0" y="484339"/>
                  </a:moveTo>
                  <a:lnTo>
                    <a:pt x="9132" y="475514"/>
                  </a:lnTo>
                  <a:lnTo>
                    <a:pt x="501227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0714" y="4663674"/>
              <a:ext cx="130175" cy="128905"/>
            </a:xfrm>
            <a:custGeom>
              <a:avLst/>
              <a:gdLst/>
              <a:ahLst/>
              <a:cxnLst/>
              <a:rect l="l" t="t" r="r" b="b"/>
              <a:pathLst>
                <a:path w="130175" h="128904">
                  <a:moveTo>
                    <a:pt x="45313" y="0"/>
                  </a:moveTo>
                  <a:lnTo>
                    <a:pt x="0" y="128558"/>
                  </a:lnTo>
                  <a:lnTo>
                    <a:pt x="130034" y="87675"/>
                  </a:lnTo>
                  <a:lnTo>
                    <a:pt x="65755" y="65017"/>
                  </a:lnTo>
                  <a:lnTo>
                    <a:pt x="45313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6427" y="3761789"/>
            <a:ext cx="27901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previously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computed</a:t>
            </a:r>
            <a:r>
              <a:rPr sz="1600" spc="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values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9765" y="7505677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90083" y="7675794"/>
            <a:ext cx="1206500" cy="16008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250" dirty="0">
                <a:latin typeface="Trebuchet MS"/>
                <a:cs typeface="Trebuchet MS"/>
              </a:rPr>
              <a:t>if</a:t>
            </a:r>
            <a:r>
              <a:rPr sz="2250" spc="10" dirty="0">
                <a:latin typeface="Trebuchet MS"/>
                <a:cs typeface="Trebuchet MS"/>
              </a:rPr>
              <a:t> </a:t>
            </a:r>
            <a:r>
              <a:rPr sz="2250" i="1" spc="260" dirty="0">
                <a:latin typeface="Calibri"/>
                <a:cs typeface="Calibri"/>
              </a:rPr>
              <a:t>i</a:t>
            </a:r>
            <a:r>
              <a:rPr sz="2250" i="1" spc="65" dirty="0">
                <a:latin typeface="Calibri"/>
                <a:cs typeface="Calibri"/>
              </a:rPr>
              <a:t> </a:t>
            </a:r>
            <a:r>
              <a:rPr sz="2250" spc="615" dirty="0">
                <a:latin typeface="Calibri"/>
                <a:cs typeface="Calibri"/>
              </a:rPr>
              <a:t>=</a:t>
            </a:r>
            <a:r>
              <a:rPr sz="2250" spc="65" dirty="0">
                <a:latin typeface="Calibri"/>
                <a:cs typeface="Calibri"/>
              </a:rPr>
              <a:t> </a:t>
            </a:r>
            <a:r>
              <a:rPr sz="2250" spc="-50" dirty="0">
                <a:latin typeface="Calibri"/>
                <a:cs typeface="Calibri"/>
              </a:rPr>
              <a:t>0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250" dirty="0">
                <a:latin typeface="Trebuchet MS"/>
                <a:cs typeface="Trebuchet MS"/>
              </a:rPr>
              <a:t>if</a:t>
            </a:r>
            <a:r>
              <a:rPr sz="2250" spc="15" dirty="0">
                <a:latin typeface="Trebuchet MS"/>
                <a:cs typeface="Trebuchet MS"/>
              </a:rPr>
              <a:t> </a:t>
            </a:r>
            <a:r>
              <a:rPr sz="2250" i="1" spc="140" dirty="0">
                <a:latin typeface="Calibri"/>
                <a:cs typeface="Calibri"/>
              </a:rPr>
              <a:t>w</a:t>
            </a:r>
            <a:r>
              <a:rPr sz="2325" i="1" spc="209" baseline="-12544" dirty="0">
                <a:latin typeface="Calibri"/>
                <a:cs typeface="Calibri"/>
              </a:rPr>
              <a:t>i</a:t>
            </a:r>
            <a:r>
              <a:rPr sz="2325" i="1" spc="494" baseline="-12544" dirty="0">
                <a:latin typeface="Calibri"/>
                <a:cs typeface="Calibri"/>
              </a:rPr>
              <a:t> </a:t>
            </a:r>
            <a:r>
              <a:rPr sz="2250" i="1" spc="615" dirty="0">
                <a:latin typeface="Calibri"/>
                <a:cs typeface="Calibri"/>
              </a:rPr>
              <a:t>&gt;</a:t>
            </a:r>
            <a:r>
              <a:rPr sz="2250" i="1" spc="75" dirty="0">
                <a:latin typeface="Calibri"/>
                <a:cs typeface="Calibri"/>
              </a:rPr>
              <a:t> </a:t>
            </a:r>
            <a:r>
              <a:rPr sz="2250" i="1" spc="-50" dirty="0">
                <a:latin typeface="Calibri"/>
                <a:cs typeface="Calibri"/>
              </a:rPr>
              <a:t>w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250" spc="-65" dirty="0">
                <a:latin typeface="Trebuchet MS"/>
                <a:cs typeface="Trebuchet MS"/>
              </a:rPr>
              <a:t>otherwise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4064" y="7783852"/>
            <a:ext cx="16891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spc="-50" dirty="0">
                <a:latin typeface="Calibri"/>
                <a:cs typeface="Calibri"/>
              </a:rPr>
              <a:t>0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29765" y="7849758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29765" y="7935777"/>
            <a:ext cx="25400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90"/>
              </a:lnSpc>
            </a:pPr>
            <a:r>
              <a:rPr sz="2250" spc="-825" dirty="0">
                <a:latin typeface="Trebuchet MS"/>
                <a:cs typeface="Trebuchet MS"/>
              </a:rPr>
              <a:t>,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9765" y="8021510"/>
            <a:ext cx="280035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sz="2250" dirty="0">
                <a:latin typeface="Trebuchet MS"/>
                <a:cs typeface="Trebuchet MS"/>
              </a:rPr>
              <a:t> 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8682" y="8357511"/>
            <a:ext cx="134493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85" dirty="0">
                <a:latin typeface="Calibri"/>
                <a:cs typeface="Calibri"/>
              </a:rPr>
              <a:t> </a:t>
            </a:r>
            <a:r>
              <a:rPr sz="2250" spc="165" dirty="0">
                <a:latin typeface="Calibri"/>
                <a:cs typeface="Calibri"/>
              </a:rPr>
              <a:t>(</a:t>
            </a:r>
            <a:r>
              <a:rPr sz="2250" i="1" spc="165" dirty="0">
                <a:latin typeface="Calibri"/>
                <a:cs typeface="Calibri"/>
              </a:rPr>
              <a:t>i,</a:t>
            </a:r>
            <a:r>
              <a:rPr sz="2250" i="1" spc="-125" dirty="0">
                <a:latin typeface="Calibri"/>
                <a:cs typeface="Calibri"/>
              </a:rPr>
              <a:t> </a:t>
            </a:r>
            <a:r>
              <a:rPr sz="2250" i="1" spc="95" dirty="0">
                <a:latin typeface="Calibri"/>
                <a:cs typeface="Calibri"/>
              </a:rPr>
              <a:t>w</a:t>
            </a:r>
            <a:r>
              <a:rPr sz="2250" spc="95" dirty="0">
                <a:latin typeface="Calibri"/>
                <a:cs typeface="Calibri"/>
              </a:rPr>
              <a:t>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47538" y="8357511"/>
            <a:ext cx="248285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45"/>
              </a:lnSpc>
            </a:pPr>
            <a:r>
              <a:rPr sz="2250" spc="565" dirty="0">
                <a:latin typeface="Calibri"/>
                <a:cs typeface="Calibri"/>
              </a:rPr>
              <a:t>=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4064" y="8361278"/>
            <a:ext cx="1838325" cy="523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00"/>
              </a:lnSpc>
            </a:pP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85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25" dirty="0">
                <a:latin typeface="Georgia"/>
                <a:cs typeface="Georgia"/>
              </a:rPr>
              <a:t> 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i="1" dirty="0">
                <a:latin typeface="Calibri"/>
                <a:cs typeface="Calibri"/>
              </a:rPr>
              <a:t>,</a:t>
            </a:r>
            <a:r>
              <a:rPr sz="2250" i="1" spc="-114" dirty="0">
                <a:latin typeface="Calibri"/>
                <a:cs typeface="Calibri"/>
              </a:rPr>
              <a:t> </a:t>
            </a:r>
            <a:r>
              <a:rPr sz="2250" i="1" spc="85" dirty="0">
                <a:latin typeface="Calibri"/>
                <a:cs typeface="Calibri"/>
              </a:rPr>
              <a:t>w</a:t>
            </a:r>
            <a:r>
              <a:rPr sz="2250" spc="85" dirty="0">
                <a:latin typeface="Calibri"/>
                <a:cs typeface="Calibri"/>
              </a:rPr>
              <a:t>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9765" y="8709383"/>
            <a:ext cx="3056890" cy="109537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3375" spc="1754" baseline="45679" dirty="0">
                <a:latin typeface="Trebuchet MS"/>
                <a:cs typeface="Trebuchet MS"/>
              </a:rPr>
              <a:t>,</a:t>
            </a:r>
            <a:r>
              <a:rPr sz="3375" spc="-52" baseline="45679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Calibri"/>
                <a:cs typeface="Calibri"/>
              </a:rPr>
              <a:t>max</a:t>
            </a:r>
            <a:r>
              <a:rPr sz="2250" spc="-125" dirty="0">
                <a:latin typeface="Calibri"/>
                <a:cs typeface="Calibri"/>
              </a:rPr>
              <a:t> </a:t>
            </a:r>
            <a:r>
              <a:rPr sz="2250" i="1" spc="160" dirty="0">
                <a:latin typeface="Georgia"/>
                <a:cs typeface="Georgia"/>
              </a:rPr>
              <a:t>{</a:t>
            </a:r>
            <a:r>
              <a:rPr sz="2250" i="1" spc="95" dirty="0">
                <a:latin typeface="Georgia"/>
                <a:cs typeface="Georgia"/>
              </a:rPr>
              <a:t> </a:t>
            </a: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90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30" dirty="0">
                <a:latin typeface="Georgia"/>
                <a:cs typeface="Georgia"/>
              </a:rPr>
              <a:t> 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i="1" dirty="0">
                <a:latin typeface="Calibri"/>
                <a:cs typeface="Calibri"/>
              </a:rPr>
              <a:t>,</a:t>
            </a:r>
            <a:r>
              <a:rPr sz="2250" i="1" spc="-125" dirty="0">
                <a:latin typeface="Calibri"/>
                <a:cs typeface="Calibri"/>
              </a:rPr>
              <a:t> </a:t>
            </a:r>
            <a:r>
              <a:rPr sz="2250" i="1" spc="75" dirty="0">
                <a:latin typeface="Calibri"/>
                <a:cs typeface="Calibri"/>
              </a:rPr>
              <a:t>w</a:t>
            </a:r>
            <a:r>
              <a:rPr sz="2250" spc="75" dirty="0">
                <a:latin typeface="Calibri"/>
                <a:cs typeface="Calibri"/>
              </a:rPr>
              <a:t>)</a:t>
            </a:r>
            <a:r>
              <a:rPr sz="2250" i="1" spc="75" dirty="0">
                <a:latin typeface="Calibri"/>
                <a:cs typeface="Calibri"/>
              </a:rPr>
              <a:t>,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36246" y="8945869"/>
            <a:ext cx="3297554" cy="523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00"/>
              </a:lnSpc>
            </a:pPr>
            <a:r>
              <a:rPr sz="2250" i="1" spc="185" dirty="0">
                <a:latin typeface="Calibri"/>
                <a:cs typeface="Calibri"/>
              </a:rPr>
              <a:t>v</a:t>
            </a:r>
            <a:r>
              <a:rPr sz="2325" i="1" spc="277" baseline="-12544" dirty="0">
                <a:latin typeface="Calibri"/>
                <a:cs typeface="Calibri"/>
              </a:rPr>
              <a:t>i</a:t>
            </a:r>
            <a:r>
              <a:rPr sz="2325" i="1" spc="412" baseline="-12544" dirty="0">
                <a:latin typeface="Calibri"/>
                <a:cs typeface="Calibri"/>
              </a:rPr>
              <a:t> </a:t>
            </a:r>
            <a:r>
              <a:rPr sz="2250" spc="615" dirty="0">
                <a:latin typeface="Calibri"/>
                <a:cs typeface="Calibri"/>
              </a:rPr>
              <a:t>+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i="1" spc="365" dirty="0">
                <a:latin typeface="Calibri"/>
                <a:cs typeface="Calibri"/>
              </a:rPr>
              <a:t>OPT</a:t>
            </a:r>
            <a:r>
              <a:rPr sz="2250" i="1" spc="-190" dirty="0">
                <a:latin typeface="Calibri"/>
                <a:cs typeface="Calibri"/>
              </a:rPr>
              <a:t> </a:t>
            </a:r>
            <a:r>
              <a:rPr sz="2250" spc="220" dirty="0">
                <a:latin typeface="Calibri"/>
                <a:cs typeface="Calibri"/>
              </a:rPr>
              <a:t>(</a:t>
            </a:r>
            <a:r>
              <a:rPr sz="2250" i="1" spc="220" dirty="0">
                <a:latin typeface="Calibri"/>
                <a:cs typeface="Calibri"/>
              </a:rPr>
              <a:t>i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40" dirty="0">
                <a:latin typeface="Georgia"/>
                <a:cs typeface="Georgia"/>
              </a:rPr>
              <a:t> </a:t>
            </a:r>
            <a:r>
              <a:rPr sz="2250" spc="130" dirty="0">
                <a:latin typeface="Calibri"/>
                <a:cs typeface="Calibri"/>
              </a:rPr>
              <a:t>1</a:t>
            </a:r>
            <a:r>
              <a:rPr sz="2250" i="1" spc="130" dirty="0">
                <a:latin typeface="Calibri"/>
                <a:cs typeface="Calibri"/>
              </a:rPr>
              <a:t>,w</a:t>
            </a:r>
            <a:r>
              <a:rPr sz="2250" i="1" spc="65" dirty="0">
                <a:latin typeface="Calibri"/>
                <a:cs typeface="Calibri"/>
              </a:rPr>
              <a:t> </a:t>
            </a:r>
            <a:r>
              <a:rPr sz="2250" i="1" spc="-180" dirty="0">
                <a:latin typeface="Georgia"/>
                <a:cs typeface="Georgia"/>
              </a:rPr>
              <a:t>—</a:t>
            </a:r>
            <a:r>
              <a:rPr sz="2250" i="1" spc="-35" dirty="0">
                <a:latin typeface="Georgia"/>
                <a:cs typeface="Georgia"/>
              </a:rPr>
              <a:t> </a:t>
            </a:r>
            <a:r>
              <a:rPr sz="2250" i="1" spc="190" dirty="0">
                <a:latin typeface="Calibri"/>
                <a:cs typeface="Calibri"/>
              </a:rPr>
              <a:t>w</a:t>
            </a:r>
            <a:r>
              <a:rPr sz="2325" i="1" spc="284" baseline="-12544" dirty="0">
                <a:latin typeface="Calibri"/>
                <a:cs typeface="Calibri"/>
              </a:rPr>
              <a:t>i</a:t>
            </a:r>
            <a:r>
              <a:rPr sz="2250" spc="190" dirty="0">
                <a:latin typeface="Calibri"/>
                <a:cs typeface="Calibri"/>
              </a:rPr>
              <a:t>)</a:t>
            </a:r>
            <a:r>
              <a:rPr sz="2250" spc="125" dirty="0">
                <a:latin typeface="Calibri"/>
                <a:cs typeface="Calibri"/>
              </a:rPr>
              <a:t> </a:t>
            </a:r>
            <a:r>
              <a:rPr sz="2250" i="1" spc="110" dirty="0">
                <a:latin typeface="Georgia"/>
                <a:cs typeface="Georgia"/>
              </a:rPr>
              <a:t>}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9737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</a:t>
            </a:r>
            <a:r>
              <a:rPr spc="-25" dirty="0"/>
              <a:t>bottom-</a:t>
            </a:r>
            <a:r>
              <a:rPr dirty="0"/>
              <a:t>up</a:t>
            </a:r>
            <a:r>
              <a:rPr spc="330" dirty="0"/>
              <a:t> </a:t>
            </a:r>
            <a:r>
              <a:rPr dirty="0"/>
              <a:t>dynamic</a:t>
            </a:r>
            <a:r>
              <a:rPr spc="330" dirty="0"/>
              <a:t> </a:t>
            </a:r>
            <a:r>
              <a:rPr dirty="0"/>
              <a:t>programming</a:t>
            </a:r>
            <a:r>
              <a:rPr spc="330" dirty="0"/>
              <a:t> </a:t>
            </a:r>
            <a:r>
              <a:rPr spc="-20" dirty="0"/>
              <a:t>demo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4796" y="6513286"/>
            <a:ext cx="9146540" cy="1802130"/>
            <a:chOff x="3204796" y="6513286"/>
            <a:chExt cx="9146540" cy="1802130"/>
          </a:xfrm>
        </p:grpSpPr>
        <p:sp>
          <p:nvSpPr>
            <p:cNvPr id="5" name="object 5"/>
            <p:cNvSpPr/>
            <p:nvPr/>
          </p:nvSpPr>
          <p:spPr>
            <a:xfrm>
              <a:off x="3211144" y="6513296"/>
              <a:ext cx="9121140" cy="1802130"/>
            </a:xfrm>
            <a:custGeom>
              <a:avLst/>
              <a:gdLst/>
              <a:ahLst/>
              <a:cxnLst/>
              <a:rect l="l" t="t" r="r" b="b"/>
              <a:pathLst>
                <a:path w="9121140" h="1802129">
                  <a:moveTo>
                    <a:pt x="9120556" y="0"/>
                  </a:moveTo>
                  <a:lnTo>
                    <a:pt x="8360499" y="0"/>
                  </a:lnTo>
                  <a:lnTo>
                    <a:pt x="8360499" y="600519"/>
                  </a:lnTo>
                  <a:lnTo>
                    <a:pt x="7600455" y="600519"/>
                  </a:lnTo>
                  <a:lnTo>
                    <a:pt x="6840410" y="600519"/>
                  </a:lnTo>
                  <a:lnTo>
                    <a:pt x="6080366" y="600519"/>
                  </a:lnTo>
                  <a:lnTo>
                    <a:pt x="5320322" y="600519"/>
                  </a:lnTo>
                  <a:lnTo>
                    <a:pt x="4560278" y="600519"/>
                  </a:lnTo>
                  <a:lnTo>
                    <a:pt x="4560278" y="0"/>
                  </a:lnTo>
                  <a:lnTo>
                    <a:pt x="0" y="0"/>
                  </a:lnTo>
                  <a:lnTo>
                    <a:pt x="0" y="600519"/>
                  </a:lnTo>
                  <a:lnTo>
                    <a:pt x="0" y="1201051"/>
                  </a:lnTo>
                  <a:lnTo>
                    <a:pt x="760044" y="1201051"/>
                  </a:lnTo>
                  <a:lnTo>
                    <a:pt x="1520088" y="1201051"/>
                  </a:lnTo>
                  <a:lnTo>
                    <a:pt x="2280132" y="1201051"/>
                  </a:lnTo>
                  <a:lnTo>
                    <a:pt x="3040176" y="1201051"/>
                  </a:lnTo>
                  <a:lnTo>
                    <a:pt x="3800233" y="1201051"/>
                  </a:lnTo>
                  <a:lnTo>
                    <a:pt x="3800233" y="1801583"/>
                  </a:lnTo>
                  <a:lnTo>
                    <a:pt x="9120556" y="1801583"/>
                  </a:lnTo>
                  <a:lnTo>
                    <a:pt x="9120556" y="1201051"/>
                  </a:lnTo>
                  <a:lnTo>
                    <a:pt x="9120556" y="600519"/>
                  </a:lnTo>
                  <a:lnTo>
                    <a:pt x="91205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11146" y="7113814"/>
              <a:ext cx="9133840" cy="0"/>
            </a:xfrm>
            <a:custGeom>
              <a:avLst/>
              <a:gdLst/>
              <a:ahLst/>
              <a:cxnLst/>
              <a:rect l="l" t="t" r="r" b="b"/>
              <a:pathLst>
                <a:path w="9133840">
                  <a:moveTo>
                    <a:pt x="0" y="0"/>
                  </a:moveTo>
                  <a:lnTo>
                    <a:pt x="9133254" y="0"/>
                  </a:lnTo>
                </a:path>
              </a:pathLst>
            </a:custGeom>
            <a:ln w="12700">
              <a:solidFill>
                <a:srgbClr val="E7E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7746" y="4711700"/>
          <a:ext cx="11944349" cy="420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0615"/>
                <a:gridCol w="1712595"/>
                <a:gridCol w="760095"/>
                <a:gridCol w="760095"/>
                <a:gridCol w="760095"/>
                <a:gridCol w="760095"/>
                <a:gridCol w="760094"/>
                <a:gridCol w="760095"/>
                <a:gridCol w="760095"/>
                <a:gridCol w="760095"/>
                <a:gridCol w="760095"/>
                <a:gridCol w="760095"/>
                <a:gridCol w="760095"/>
                <a:gridCol w="760095"/>
              </a:tblGrid>
              <a:tr h="6000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6000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10"/>
                        </a:spcBef>
                        <a:tabLst>
                          <a:tab pos="216535" algn="l"/>
                        </a:tabLst>
                      </a:pP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63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spc="-4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spc="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600" b="1" spc="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63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600" b="1" spc="-10" dirty="0">
                          <a:latin typeface="Tahoma"/>
                          <a:cs typeface="Tahoma"/>
                        </a:rPr>
                        <a:t>subset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7462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spc="-4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1,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600" b="1" spc="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63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7512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1600" b="1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10" dirty="0">
                          <a:latin typeface="Tahoma"/>
                          <a:cs typeface="Tahoma"/>
                        </a:rPr>
                        <a:t>items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1,</a:t>
                      </a:r>
                      <a:r>
                        <a:rPr sz="16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latin typeface="Tahoma"/>
                          <a:cs typeface="Tahoma"/>
                        </a:rPr>
                        <a:t>…,</a:t>
                      </a:r>
                      <a:r>
                        <a:rPr sz="16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0" dirty="0">
                          <a:latin typeface="Tahoma"/>
                          <a:cs typeface="Tahoma"/>
                        </a:rPr>
                        <a:t>i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4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1,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2,</a:t>
                      </a:r>
                      <a:r>
                        <a:rPr sz="16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6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19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spc="-4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1,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2,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3,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63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40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spc="-4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{</a:t>
                      </a:r>
                      <a:r>
                        <a:rPr sz="1600" b="1" spc="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1,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2,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3,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4,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45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}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63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29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34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35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40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485900" y="7113814"/>
            <a:ext cx="1725295" cy="0"/>
          </a:xfrm>
          <a:custGeom>
            <a:avLst/>
            <a:gdLst/>
            <a:ahLst/>
            <a:cxnLst/>
            <a:rect l="l" t="t" r="r" b="b"/>
            <a:pathLst>
              <a:path w="1725295">
                <a:moveTo>
                  <a:pt x="0" y="0"/>
                </a:moveTo>
                <a:lnTo>
                  <a:pt x="1725246" y="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37680" y="9088437"/>
            <a:ext cx="95554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OPT(i,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30" dirty="0">
                <a:latin typeface="Tahoma"/>
                <a:cs typeface="Tahoma"/>
              </a:rPr>
              <a:t>w)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optimal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value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knapsack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problem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with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items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1,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…,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i,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subject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to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weight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limit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w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89740" y="8145247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60959" y="0"/>
                </a:moveTo>
                <a:lnTo>
                  <a:pt x="0" y="121919"/>
                </a:lnTo>
                <a:lnTo>
                  <a:pt x="60959" y="91439"/>
                </a:lnTo>
                <a:lnTo>
                  <a:pt x="121919" y="121919"/>
                </a:lnTo>
                <a:lnTo>
                  <a:pt x="60959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19305" y="7384553"/>
            <a:ext cx="128905" cy="121285"/>
          </a:xfrm>
          <a:custGeom>
            <a:avLst/>
            <a:gdLst/>
            <a:ahLst/>
            <a:cxnLst/>
            <a:rect l="l" t="t" r="r" b="b"/>
            <a:pathLst>
              <a:path w="128904" h="121284">
                <a:moveTo>
                  <a:pt x="128723" y="0"/>
                </a:moveTo>
                <a:lnTo>
                  <a:pt x="0" y="44842"/>
                </a:lnTo>
                <a:lnTo>
                  <a:pt x="113108" y="120916"/>
                </a:lnTo>
                <a:lnTo>
                  <a:pt x="90686" y="56554"/>
                </a:lnTo>
                <a:lnTo>
                  <a:pt x="128723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71900" y="6742783"/>
            <a:ext cx="130810" cy="120650"/>
          </a:xfrm>
          <a:custGeom>
            <a:avLst/>
            <a:gdLst/>
            <a:ahLst/>
            <a:cxnLst/>
            <a:rect l="l" t="t" r="r" b="b"/>
            <a:pathLst>
              <a:path w="130810" h="120650">
                <a:moveTo>
                  <a:pt x="130606" y="0"/>
                </a:moveTo>
                <a:lnTo>
                  <a:pt x="0" y="39019"/>
                </a:lnTo>
                <a:lnTo>
                  <a:pt x="109579" y="120092"/>
                </a:lnTo>
                <a:lnTo>
                  <a:pt x="90069" y="54789"/>
                </a:lnTo>
                <a:lnTo>
                  <a:pt x="130606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68700" y="5857239"/>
            <a:ext cx="0" cy="196215"/>
          </a:xfrm>
          <a:custGeom>
            <a:avLst/>
            <a:gdLst/>
            <a:ahLst/>
            <a:cxnLst/>
            <a:rect l="l" t="t" r="r" b="b"/>
            <a:pathLst>
              <a:path h="196214">
                <a:moveTo>
                  <a:pt x="0" y="196112"/>
                </a:moveTo>
                <a:lnTo>
                  <a:pt x="0" y="12700"/>
                </a:lnTo>
                <a:lnTo>
                  <a:pt x="0" y="0"/>
                </a:lnTo>
              </a:path>
            </a:pathLst>
          </a:custGeom>
          <a:ln w="25400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7740" y="5778500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60960" y="0"/>
                </a:moveTo>
                <a:lnTo>
                  <a:pt x="0" y="121920"/>
                </a:lnTo>
                <a:lnTo>
                  <a:pt x="60960" y="91439"/>
                </a:lnTo>
                <a:lnTo>
                  <a:pt x="121920" y="121920"/>
                </a:lnTo>
                <a:lnTo>
                  <a:pt x="60960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556000" y="6466839"/>
            <a:ext cx="8407400" cy="1953260"/>
            <a:chOff x="3556000" y="6466839"/>
            <a:chExt cx="8407400" cy="1953260"/>
          </a:xfrm>
        </p:grpSpPr>
        <p:sp>
          <p:nvSpPr>
            <p:cNvPr id="16" name="object 16"/>
            <p:cNvSpPr/>
            <p:nvPr/>
          </p:nvSpPr>
          <p:spPr>
            <a:xfrm>
              <a:off x="11950700" y="8223987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5">
                  <a:moveTo>
                    <a:pt x="0" y="196112"/>
                  </a:moveTo>
                  <a:lnTo>
                    <a:pt x="0" y="127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97396" y="7439480"/>
              <a:ext cx="4074795" cy="526415"/>
            </a:xfrm>
            <a:custGeom>
              <a:avLst/>
              <a:gdLst/>
              <a:ahLst/>
              <a:cxnLst/>
              <a:rect l="l" t="t" r="r" b="b"/>
              <a:pathLst>
                <a:path w="4074795" h="526415">
                  <a:moveTo>
                    <a:pt x="4074560" y="526244"/>
                  </a:moveTo>
                  <a:lnTo>
                    <a:pt x="12599" y="1628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9460" y="6795382"/>
              <a:ext cx="3326129" cy="582930"/>
            </a:xfrm>
            <a:custGeom>
              <a:avLst/>
              <a:gdLst/>
              <a:ahLst/>
              <a:cxnLst/>
              <a:rect l="l" t="t" r="r" b="b"/>
              <a:pathLst>
                <a:path w="3326129" h="582929">
                  <a:moveTo>
                    <a:pt x="3326041" y="582400"/>
                  </a:moveTo>
                  <a:lnTo>
                    <a:pt x="12517" y="2192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68700" y="6466839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5">
                  <a:moveTo>
                    <a:pt x="0" y="196112"/>
                  </a:moveTo>
                  <a:lnTo>
                    <a:pt x="0" y="12699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3507740" y="6388100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60960" y="0"/>
                </a:moveTo>
                <a:lnTo>
                  <a:pt x="0" y="121919"/>
                </a:lnTo>
                <a:lnTo>
                  <a:pt x="60960" y="91439"/>
                </a:lnTo>
                <a:lnTo>
                  <a:pt x="121920" y="121919"/>
                </a:lnTo>
                <a:lnTo>
                  <a:pt x="60960" y="0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60200" y="8432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3523" y="52076"/>
                </a:moveTo>
                <a:lnTo>
                  <a:pt x="332455" y="89989"/>
                </a:lnTo>
                <a:lnTo>
                  <a:pt x="349813" y="132696"/>
                </a:lnTo>
                <a:lnTo>
                  <a:pt x="355600" y="177800"/>
                </a:lnTo>
                <a:lnTo>
                  <a:pt x="349813" y="222903"/>
                </a:lnTo>
                <a:lnTo>
                  <a:pt x="332455" y="265610"/>
                </a:lnTo>
                <a:lnTo>
                  <a:pt x="303523" y="303523"/>
                </a:lnTo>
                <a:lnTo>
                  <a:pt x="265610" y="332455"/>
                </a:lnTo>
                <a:lnTo>
                  <a:pt x="222903" y="349813"/>
                </a:lnTo>
                <a:lnTo>
                  <a:pt x="177800" y="355600"/>
                </a:lnTo>
                <a:lnTo>
                  <a:pt x="132696" y="349813"/>
                </a:lnTo>
                <a:lnTo>
                  <a:pt x="89989" y="332455"/>
                </a:lnTo>
                <a:lnTo>
                  <a:pt x="52076" y="303523"/>
                </a:lnTo>
                <a:lnTo>
                  <a:pt x="23145" y="265610"/>
                </a:lnTo>
                <a:lnTo>
                  <a:pt x="5786" y="222903"/>
                </a:lnTo>
                <a:lnTo>
                  <a:pt x="0" y="177800"/>
                </a:lnTo>
                <a:lnTo>
                  <a:pt x="5786" y="132696"/>
                </a:lnTo>
                <a:lnTo>
                  <a:pt x="23145" y="89989"/>
                </a:lnTo>
                <a:lnTo>
                  <a:pt x="52076" y="52076"/>
                </a:lnTo>
                <a:lnTo>
                  <a:pt x="89989" y="23145"/>
                </a:lnTo>
                <a:lnTo>
                  <a:pt x="132696" y="5786"/>
                </a:lnTo>
                <a:lnTo>
                  <a:pt x="177800" y="0"/>
                </a:lnTo>
                <a:lnTo>
                  <a:pt x="222903" y="5786"/>
                </a:lnTo>
                <a:lnTo>
                  <a:pt x="265610" y="23145"/>
                </a:lnTo>
                <a:lnTo>
                  <a:pt x="303523" y="52076"/>
                </a:lnTo>
              </a:path>
            </a:pathLst>
          </a:custGeom>
          <a:ln w="25400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75767" y="2443564"/>
            <a:ext cx="1524635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15085" algn="l"/>
              </a:tabLst>
            </a:pPr>
            <a:r>
              <a:rPr sz="1950" i="1" spc="345" dirty="0">
                <a:latin typeface="Calibri"/>
                <a:cs typeface="Calibri"/>
              </a:rPr>
              <a:t>OPT</a:t>
            </a:r>
            <a:r>
              <a:rPr sz="1950" i="1" spc="-160" dirty="0">
                <a:latin typeface="Calibri"/>
                <a:cs typeface="Calibri"/>
              </a:rPr>
              <a:t> </a:t>
            </a:r>
            <a:r>
              <a:rPr sz="1950" spc="155" dirty="0">
                <a:latin typeface="Calibri"/>
                <a:cs typeface="Calibri"/>
              </a:rPr>
              <a:t>(</a:t>
            </a:r>
            <a:r>
              <a:rPr sz="1950" i="1" spc="155" dirty="0">
                <a:latin typeface="Calibri"/>
                <a:cs typeface="Calibri"/>
              </a:rPr>
              <a:t>i,</a:t>
            </a:r>
            <a:r>
              <a:rPr sz="1950" i="1" spc="-100" dirty="0">
                <a:latin typeface="Calibri"/>
                <a:cs typeface="Calibri"/>
              </a:rPr>
              <a:t> </a:t>
            </a:r>
            <a:r>
              <a:rPr sz="1950" i="1" spc="100" dirty="0">
                <a:latin typeface="Calibri"/>
                <a:cs typeface="Calibri"/>
              </a:rPr>
              <a:t>w</a:t>
            </a:r>
            <a:r>
              <a:rPr sz="1950" spc="100" dirty="0">
                <a:latin typeface="Calibri"/>
                <a:cs typeface="Calibri"/>
              </a:rPr>
              <a:t>)</a:t>
            </a:r>
            <a:r>
              <a:rPr sz="1950" dirty="0">
                <a:latin typeface="Calibri"/>
                <a:cs typeface="Calibri"/>
              </a:rPr>
              <a:t>	</a:t>
            </a:r>
            <a:r>
              <a:rPr sz="1950" spc="515" dirty="0">
                <a:latin typeface="Calibri"/>
                <a:cs typeface="Calibri"/>
              </a:rPr>
              <a:t>=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5715377" y="1698656"/>
            <a:ext cx="23749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715" dirty="0">
                <a:latin typeface="Trebuchet MS"/>
                <a:cs typeface="Trebuchet MS"/>
              </a:rPr>
              <a:t>,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15377" y="2001790"/>
            <a:ext cx="23749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715" dirty="0">
                <a:latin typeface="Trebuchet MS"/>
                <a:cs typeface="Trebuchet MS"/>
              </a:rPr>
              <a:t>,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15377" y="2077573"/>
            <a:ext cx="23749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715" dirty="0">
                <a:latin typeface="Trebuchet MS"/>
                <a:cs typeface="Trebuchet MS"/>
              </a:rPr>
              <a:t>,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5377" y="2153103"/>
            <a:ext cx="25019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dirty="0">
                <a:latin typeface="Trebuchet MS"/>
                <a:cs typeface="Trebuchet MS"/>
              </a:rPr>
              <a:t> 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09893" y="1938172"/>
            <a:ext cx="151765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alibri"/>
                <a:cs typeface="Calibri"/>
              </a:rPr>
              <a:t>0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09893" y="2453195"/>
            <a:ext cx="162306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i="1" spc="345" dirty="0">
                <a:latin typeface="Calibri"/>
                <a:cs typeface="Calibri"/>
              </a:rPr>
              <a:t>OPT</a:t>
            </a:r>
            <a:r>
              <a:rPr sz="1950" i="1" spc="-155" dirty="0">
                <a:latin typeface="Calibri"/>
                <a:cs typeface="Calibri"/>
              </a:rPr>
              <a:t> </a:t>
            </a:r>
            <a:r>
              <a:rPr sz="1950" spc="204" dirty="0">
                <a:latin typeface="Calibri"/>
                <a:cs typeface="Calibri"/>
              </a:rPr>
              <a:t>(</a:t>
            </a:r>
            <a:r>
              <a:rPr sz="1950" i="1" spc="204" dirty="0">
                <a:latin typeface="Calibri"/>
                <a:cs typeface="Calibri"/>
              </a:rPr>
              <a:t>i</a:t>
            </a:r>
            <a:r>
              <a:rPr sz="1950" i="1" spc="20" dirty="0">
                <a:latin typeface="Calibri"/>
                <a:cs typeface="Calibri"/>
              </a:rPr>
              <a:t> </a:t>
            </a:r>
            <a:r>
              <a:rPr sz="1950" i="1" spc="-140" dirty="0">
                <a:latin typeface="Georgia"/>
                <a:cs typeface="Georgia"/>
              </a:rPr>
              <a:t>—</a:t>
            </a:r>
            <a:r>
              <a:rPr sz="1950" i="1" spc="-15" dirty="0">
                <a:latin typeface="Georgia"/>
                <a:cs typeface="Georgia"/>
              </a:rPr>
              <a:t> </a:t>
            </a:r>
            <a:r>
              <a:rPr sz="1950" dirty="0">
                <a:latin typeface="Calibri"/>
                <a:cs typeface="Calibri"/>
              </a:rPr>
              <a:t>1</a:t>
            </a:r>
            <a:r>
              <a:rPr sz="1950" i="1" dirty="0">
                <a:latin typeface="Calibri"/>
                <a:cs typeface="Calibri"/>
              </a:rPr>
              <a:t>,</a:t>
            </a:r>
            <a:r>
              <a:rPr sz="1950" i="1" spc="-95" dirty="0">
                <a:latin typeface="Calibri"/>
                <a:cs typeface="Calibri"/>
              </a:rPr>
              <a:t> </a:t>
            </a:r>
            <a:r>
              <a:rPr sz="1950" i="1" spc="100" dirty="0">
                <a:latin typeface="Calibri"/>
                <a:cs typeface="Calibri"/>
              </a:rPr>
              <a:t>w</a:t>
            </a:r>
            <a:r>
              <a:rPr sz="1950" spc="100" dirty="0">
                <a:latin typeface="Calibri"/>
                <a:cs typeface="Calibri"/>
              </a:rPr>
              <a:t>)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89977" y="2968219"/>
            <a:ext cx="5475605" cy="16021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925" spc="1567" baseline="47008" dirty="0">
                <a:latin typeface="Trebuchet MS"/>
                <a:cs typeface="Trebuchet MS"/>
              </a:rPr>
              <a:t>,</a:t>
            </a:r>
            <a:r>
              <a:rPr sz="2925" spc="-37" baseline="47008" dirty="0">
                <a:latin typeface="Trebuchet MS"/>
                <a:cs typeface="Trebuchet MS"/>
              </a:rPr>
              <a:t> </a:t>
            </a:r>
            <a:r>
              <a:rPr sz="1950" spc="110" dirty="0">
                <a:latin typeface="Calibri"/>
                <a:cs typeface="Calibri"/>
              </a:rPr>
              <a:t>max</a:t>
            </a:r>
            <a:r>
              <a:rPr sz="1950" spc="-105" dirty="0">
                <a:latin typeface="Calibri"/>
                <a:cs typeface="Calibri"/>
              </a:rPr>
              <a:t> </a:t>
            </a:r>
            <a:r>
              <a:rPr sz="1950" i="1" spc="295" dirty="0">
                <a:latin typeface="Georgia"/>
                <a:cs typeface="Georgia"/>
              </a:rPr>
              <a:t>{</a:t>
            </a:r>
            <a:r>
              <a:rPr sz="1950" i="1" spc="295" dirty="0">
                <a:latin typeface="Calibri"/>
                <a:cs typeface="Calibri"/>
              </a:rPr>
              <a:t>OPT</a:t>
            </a:r>
            <a:r>
              <a:rPr sz="1950" i="1" spc="-155" dirty="0">
                <a:latin typeface="Calibri"/>
                <a:cs typeface="Calibri"/>
              </a:rPr>
              <a:t> </a:t>
            </a:r>
            <a:r>
              <a:rPr sz="1950" spc="204" dirty="0">
                <a:latin typeface="Calibri"/>
                <a:cs typeface="Calibri"/>
              </a:rPr>
              <a:t>(</a:t>
            </a:r>
            <a:r>
              <a:rPr sz="1950" i="1" spc="204" dirty="0">
                <a:latin typeface="Calibri"/>
                <a:cs typeface="Calibri"/>
              </a:rPr>
              <a:t>i</a:t>
            </a:r>
            <a:r>
              <a:rPr sz="1950" i="1" spc="5" dirty="0">
                <a:latin typeface="Calibri"/>
                <a:cs typeface="Calibri"/>
              </a:rPr>
              <a:t> </a:t>
            </a:r>
            <a:r>
              <a:rPr sz="1950" i="1" spc="-140" dirty="0">
                <a:latin typeface="Georgia"/>
                <a:cs typeface="Georgia"/>
              </a:rPr>
              <a:t>—</a:t>
            </a:r>
            <a:r>
              <a:rPr sz="1950" i="1" spc="-20" dirty="0">
                <a:latin typeface="Georgia"/>
                <a:cs typeface="Georgia"/>
              </a:rPr>
              <a:t> </a:t>
            </a:r>
            <a:r>
              <a:rPr sz="1950" dirty="0">
                <a:latin typeface="Calibri"/>
                <a:cs typeface="Calibri"/>
              </a:rPr>
              <a:t>1</a:t>
            </a:r>
            <a:r>
              <a:rPr sz="1950" i="1" dirty="0">
                <a:latin typeface="Calibri"/>
                <a:cs typeface="Calibri"/>
              </a:rPr>
              <a:t>,</a:t>
            </a:r>
            <a:r>
              <a:rPr sz="1950" i="1" spc="-100" dirty="0">
                <a:latin typeface="Calibri"/>
                <a:cs typeface="Calibri"/>
              </a:rPr>
              <a:t> </a:t>
            </a:r>
            <a:r>
              <a:rPr sz="1950" i="1" spc="100" dirty="0">
                <a:latin typeface="Calibri"/>
                <a:cs typeface="Calibri"/>
              </a:rPr>
              <a:t>w</a:t>
            </a:r>
            <a:r>
              <a:rPr sz="1950" spc="100" dirty="0">
                <a:latin typeface="Calibri"/>
                <a:cs typeface="Calibri"/>
              </a:rPr>
              <a:t>)</a:t>
            </a:r>
            <a:r>
              <a:rPr sz="1950" i="1" spc="100" dirty="0">
                <a:latin typeface="Calibri"/>
                <a:cs typeface="Calibri"/>
              </a:rPr>
              <a:t>,</a:t>
            </a:r>
            <a:r>
              <a:rPr sz="1950" i="1" spc="229" dirty="0">
                <a:latin typeface="Calibri"/>
                <a:cs typeface="Calibri"/>
              </a:rPr>
              <a:t> </a:t>
            </a:r>
            <a:r>
              <a:rPr sz="1950" i="1" spc="155" dirty="0">
                <a:latin typeface="Calibri"/>
                <a:cs typeface="Calibri"/>
              </a:rPr>
              <a:t>v</a:t>
            </a:r>
            <a:r>
              <a:rPr sz="2100" i="1" spc="232" baseline="-11904" dirty="0">
                <a:latin typeface="Calibri"/>
                <a:cs typeface="Calibri"/>
              </a:rPr>
              <a:t>i</a:t>
            </a:r>
            <a:r>
              <a:rPr sz="2100" i="1" spc="337" baseline="-11904" dirty="0">
                <a:latin typeface="Calibri"/>
                <a:cs typeface="Calibri"/>
              </a:rPr>
              <a:t> </a:t>
            </a:r>
            <a:r>
              <a:rPr sz="1950" spc="565" dirty="0">
                <a:latin typeface="Calibri"/>
                <a:cs typeface="Calibri"/>
              </a:rPr>
              <a:t>+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i="1" spc="345" dirty="0">
                <a:latin typeface="Calibri"/>
                <a:cs typeface="Calibri"/>
              </a:rPr>
              <a:t>OPT</a:t>
            </a:r>
            <a:r>
              <a:rPr sz="1950" i="1" spc="-160" dirty="0">
                <a:latin typeface="Calibri"/>
                <a:cs typeface="Calibri"/>
              </a:rPr>
              <a:t> </a:t>
            </a:r>
            <a:r>
              <a:rPr sz="1950" spc="204" dirty="0">
                <a:latin typeface="Calibri"/>
                <a:cs typeface="Calibri"/>
              </a:rPr>
              <a:t>(</a:t>
            </a:r>
            <a:r>
              <a:rPr sz="1950" i="1" spc="204" dirty="0">
                <a:latin typeface="Calibri"/>
                <a:cs typeface="Calibri"/>
              </a:rPr>
              <a:t>i</a:t>
            </a:r>
            <a:r>
              <a:rPr sz="1950" i="1" spc="10" dirty="0">
                <a:latin typeface="Calibri"/>
                <a:cs typeface="Calibri"/>
              </a:rPr>
              <a:t> </a:t>
            </a:r>
            <a:r>
              <a:rPr sz="1950" i="1" spc="-140" dirty="0">
                <a:latin typeface="Georgia"/>
                <a:cs typeface="Georgia"/>
              </a:rPr>
              <a:t>—</a:t>
            </a:r>
            <a:r>
              <a:rPr sz="1950" i="1" spc="-20" dirty="0">
                <a:latin typeface="Georgia"/>
                <a:cs typeface="Georgia"/>
              </a:rPr>
              <a:t> </a:t>
            </a:r>
            <a:r>
              <a:rPr sz="1950" spc="130" dirty="0">
                <a:latin typeface="Calibri"/>
                <a:cs typeface="Calibri"/>
              </a:rPr>
              <a:t>1</a:t>
            </a:r>
            <a:r>
              <a:rPr sz="1950" i="1" spc="130" dirty="0">
                <a:latin typeface="Calibri"/>
                <a:cs typeface="Calibri"/>
              </a:rPr>
              <a:t>,w</a:t>
            </a:r>
            <a:r>
              <a:rPr sz="1950" i="1" spc="65" dirty="0">
                <a:latin typeface="Calibri"/>
                <a:cs typeface="Calibri"/>
              </a:rPr>
              <a:t> </a:t>
            </a:r>
            <a:r>
              <a:rPr sz="1950" i="1" spc="-140" dirty="0">
                <a:latin typeface="Georgia"/>
                <a:cs typeface="Georgia"/>
              </a:rPr>
              <a:t>—</a:t>
            </a:r>
            <a:r>
              <a:rPr sz="1950" i="1" spc="-20" dirty="0">
                <a:latin typeface="Georgia"/>
                <a:cs typeface="Georgia"/>
              </a:rPr>
              <a:t> </a:t>
            </a:r>
            <a:r>
              <a:rPr sz="1950" i="1" spc="140" dirty="0">
                <a:latin typeface="Calibri"/>
                <a:cs typeface="Calibri"/>
              </a:rPr>
              <a:t>w</a:t>
            </a:r>
            <a:r>
              <a:rPr sz="2100" i="1" spc="209" baseline="-11904" dirty="0">
                <a:latin typeface="Calibri"/>
                <a:cs typeface="Calibri"/>
              </a:rPr>
              <a:t>i</a:t>
            </a:r>
            <a:r>
              <a:rPr sz="1950" i="1" spc="140" dirty="0">
                <a:latin typeface="Georgia"/>
                <a:cs typeface="Georgia"/>
              </a:rPr>
              <a:t>}</a:t>
            </a:r>
            <a:endParaRPr sz="195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95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9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950">
              <a:latin typeface="Georgia"/>
              <a:cs typeface="Georgia"/>
            </a:endParaRPr>
          </a:p>
          <a:p>
            <a:pPr marL="1486535"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weight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limit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w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25442" y="1938172"/>
            <a:ext cx="1116330" cy="13589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950" dirty="0">
                <a:latin typeface="Trebuchet MS"/>
                <a:cs typeface="Trebuchet MS"/>
              </a:rPr>
              <a:t>if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i="1" spc="225" dirty="0">
                <a:latin typeface="Calibri"/>
                <a:cs typeface="Calibri"/>
              </a:rPr>
              <a:t>i</a:t>
            </a:r>
            <a:r>
              <a:rPr sz="1950" i="1" spc="75" dirty="0">
                <a:latin typeface="Calibri"/>
                <a:cs typeface="Calibri"/>
              </a:rPr>
              <a:t> </a:t>
            </a:r>
            <a:r>
              <a:rPr sz="1950" spc="565" dirty="0">
                <a:latin typeface="Calibri"/>
                <a:cs typeface="Calibri"/>
              </a:rPr>
              <a:t>=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0</a:t>
            </a:r>
            <a:endParaRPr sz="19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714"/>
              </a:spcBef>
            </a:pPr>
            <a:r>
              <a:rPr sz="1950" dirty="0">
                <a:latin typeface="Trebuchet MS"/>
                <a:cs typeface="Trebuchet MS"/>
              </a:rPr>
              <a:t>if</a:t>
            </a:r>
            <a:r>
              <a:rPr sz="1950" spc="25" dirty="0">
                <a:latin typeface="Trebuchet MS"/>
                <a:cs typeface="Trebuchet MS"/>
              </a:rPr>
              <a:t> </a:t>
            </a:r>
            <a:r>
              <a:rPr sz="1950" i="1" spc="125" dirty="0">
                <a:latin typeface="Calibri"/>
                <a:cs typeface="Calibri"/>
              </a:rPr>
              <a:t>w</a:t>
            </a:r>
            <a:r>
              <a:rPr sz="2100" i="1" spc="187" baseline="-11904" dirty="0">
                <a:latin typeface="Calibri"/>
                <a:cs typeface="Calibri"/>
              </a:rPr>
              <a:t>i</a:t>
            </a:r>
            <a:r>
              <a:rPr sz="2100" i="1" spc="434" baseline="-11904" dirty="0">
                <a:latin typeface="Calibri"/>
                <a:cs typeface="Calibri"/>
              </a:rPr>
              <a:t> </a:t>
            </a:r>
            <a:r>
              <a:rPr sz="1950" i="1" spc="565" dirty="0">
                <a:latin typeface="Calibri"/>
                <a:cs typeface="Calibri"/>
              </a:rPr>
              <a:t>&gt;</a:t>
            </a:r>
            <a:r>
              <a:rPr sz="1950" i="1" spc="75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Calibri"/>
                <a:cs typeface="Calibri"/>
              </a:rPr>
              <a:t>w</a:t>
            </a:r>
            <a:endParaRPr sz="19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714"/>
              </a:spcBef>
            </a:pPr>
            <a:r>
              <a:rPr sz="1950" spc="-20" dirty="0">
                <a:latin typeface="Trebuchet MS"/>
                <a:cs typeface="Trebuchet MS"/>
              </a:rPr>
              <a:t>otherwise</a:t>
            </a:r>
            <a:endParaRPr sz="1950">
              <a:latin typeface="Trebuchet MS"/>
              <a:cs typeface="Trebuchet MS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787400" y="1335568"/>
          <a:ext cx="2976245" cy="287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315"/>
                <a:gridCol w="983615"/>
                <a:gridCol w="996315"/>
              </a:tblGrid>
              <a:tr h="4883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i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i="1" spc="-2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175" i="1" spc="-37" baseline="-766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7662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i="1" spc="-2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175" i="1" spc="-37" baseline="-766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7662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$22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$28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kg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5363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running</a:t>
            </a:r>
            <a:r>
              <a:rPr spc="245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52195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6192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DP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items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Θ(</a:t>
            </a:r>
            <a:r>
              <a:rPr sz="2400" i="1" spc="80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65" dirty="0">
                <a:latin typeface="Lucida Sans Unicode"/>
                <a:cs typeface="Lucida Sans Unicode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Θ(</a:t>
            </a:r>
            <a:r>
              <a:rPr sz="2400" i="1" spc="80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space.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2303780"/>
            <a:ext cx="530415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39700">
              <a:lnSpc>
                <a:spcPts val="435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table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entry.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086100"/>
            <a:ext cx="10039350" cy="1539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Θ(</a:t>
            </a:r>
            <a:r>
              <a:rPr sz="2400" i="1" spc="80" dirty="0">
                <a:latin typeface="Times New Roman"/>
                <a:cs typeface="Times New Roman"/>
              </a:rPr>
              <a:t>n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table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entries.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After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trace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back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solution:</a:t>
            </a:r>
            <a:endParaRPr sz="2400">
              <a:latin typeface="Lucida Sans Unicode"/>
              <a:cs typeface="Lucida Sans Unicode"/>
            </a:endParaRPr>
          </a:p>
          <a:p>
            <a:pPr marL="495300">
              <a:lnSpc>
                <a:spcPct val="100000"/>
              </a:lnSpc>
              <a:spcBef>
                <a:spcPts val="630"/>
              </a:spcBef>
              <a:tabLst>
                <a:tab pos="5140325" algn="l"/>
                <a:tab pos="5464810" algn="l"/>
                <a:tab pos="7280275" algn="l"/>
              </a:tabLst>
            </a:pP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Times New Roman"/>
                <a:cs typeface="Times New Roman"/>
              </a:rPr>
              <a:t>]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700" y="6164579"/>
            <a:ext cx="1098296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depends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critically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assumption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integral.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Assumption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integral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used.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4712" y="2476500"/>
            <a:ext cx="203771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ts val="2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weights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integers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between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r>
              <a:rPr sz="1800" spc="6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13700" y="2273300"/>
            <a:ext cx="427355" cy="268605"/>
            <a:chOff x="8013700" y="2273300"/>
            <a:chExt cx="427355" cy="268605"/>
          </a:xfrm>
        </p:grpSpPr>
        <p:sp>
          <p:nvSpPr>
            <p:cNvPr id="10" name="object 10"/>
            <p:cNvSpPr/>
            <p:nvPr/>
          </p:nvSpPr>
          <p:spPr>
            <a:xfrm>
              <a:off x="8080697" y="2314667"/>
              <a:ext cx="347980" cy="214629"/>
            </a:xfrm>
            <a:custGeom>
              <a:avLst/>
              <a:gdLst/>
              <a:ahLst/>
              <a:cxnLst/>
              <a:rect l="l" t="t" r="r" b="b"/>
              <a:pathLst>
                <a:path w="347979" h="214630">
                  <a:moveTo>
                    <a:pt x="0" y="0"/>
                  </a:moveTo>
                  <a:lnTo>
                    <a:pt x="10806" y="6672"/>
                  </a:lnTo>
                  <a:lnTo>
                    <a:pt x="347432" y="214526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13700" y="2273300"/>
              <a:ext cx="135890" cy="116205"/>
            </a:xfrm>
            <a:custGeom>
              <a:avLst/>
              <a:gdLst/>
              <a:ahLst/>
              <a:cxnLst/>
              <a:rect l="l" t="t" r="r" b="b"/>
              <a:pathLst>
                <a:path w="135890" h="116205">
                  <a:moveTo>
                    <a:pt x="0" y="0"/>
                  </a:moveTo>
                  <a:lnTo>
                    <a:pt x="71711" y="115923"/>
                  </a:lnTo>
                  <a:lnTo>
                    <a:pt x="77804" y="48040"/>
                  </a:lnTo>
                  <a:lnTo>
                    <a:pt x="135765" y="12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2041</Words>
  <Application>Microsoft Office PowerPoint</Application>
  <PresentationFormat>Custom</PresentationFormat>
  <Paragraphs>858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 Dynamic Programming I</vt:lpstr>
      <vt:lpstr>Algorithmic paradigms</vt:lpstr>
      <vt:lpstr>Dynamic programming history</vt:lpstr>
      <vt:lpstr>Dynamic programming applications</vt:lpstr>
      <vt:lpstr>Dynamic programming books</vt:lpstr>
      <vt:lpstr>6. Dynamic Programming I</vt:lpstr>
      <vt:lpstr>Weighted interval scheduling</vt:lpstr>
      <vt:lpstr>Earliest-finish-time first algorithm</vt:lpstr>
      <vt:lpstr>Weighted interval scheduling</vt:lpstr>
      <vt:lpstr>Dynamic programming: binary choice</vt:lpstr>
      <vt:lpstr>Weighted interval scheduling: brute force</vt:lpstr>
      <vt:lpstr>Dynamic programming: quiz 1</vt:lpstr>
      <vt:lpstr>Weighted interval scheduling: brute force</vt:lpstr>
      <vt:lpstr>Weighted interval scheduling: memoization</vt:lpstr>
      <vt:lpstr>Weighted interval scheduling: running time</vt:lpstr>
      <vt:lpstr>PowerPoint Presentation</vt:lpstr>
      <vt:lpstr>Weighted interval scheduling: finding a solution</vt:lpstr>
      <vt:lpstr>Weighted interval scheduling: bottom-up dynamic programming</vt:lpstr>
      <vt:lpstr>Maximum subarray problem</vt:lpstr>
      <vt:lpstr>Maximum subarray problem</vt:lpstr>
      <vt:lpstr>Kadane’s algorithm</vt:lpstr>
      <vt:lpstr>Maximum rectangle problem</vt:lpstr>
      <vt:lpstr>Bentley’s algorithm</vt:lpstr>
      <vt:lpstr>6. Dynamic Programming I</vt:lpstr>
      <vt:lpstr>Least squares</vt:lpstr>
      <vt:lpstr>Segmented least squares</vt:lpstr>
      <vt:lpstr>Segmented least squares</vt:lpstr>
      <vt:lpstr>Dynamic programming: multiway choice</vt:lpstr>
      <vt:lpstr>Segmented least squares algorithm</vt:lpstr>
      <vt:lpstr>Segmented least squares analysis</vt:lpstr>
      <vt:lpstr>6. Dynamic Programming I</vt:lpstr>
      <vt:lpstr>Knapsack problem</vt:lpstr>
      <vt:lpstr>Dynamic programming: two variables</vt:lpstr>
      <vt:lpstr>Knapsack problem: bottom-up dynamic programming</vt:lpstr>
      <vt:lpstr>Knapsack problem: bottom-up dynamic programming demo</vt:lpstr>
      <vt:lpstr>Knapsack problem: running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06DynamicProgrammingI</dc:title>
  <dc:creator>Administrator</dc:creator>
  <cp:lastModifiedBy>Admin</cp:lastModifiedBy>
  <cp:revision>1</cp:revision>
  <dcterms:created xsi:type="dcterms:W3CDTF">2025-05-22T09:44:02Z</dcterms:created>
  <dcterms:modified xsi:type="dcterms:W3CDTF">2025-05-22T09:08:19Z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2021-02-10T00:00:00Z</vt:filetime>
  </property>
  <property fmtid="{D5CDD505-2E9C-101B-9397-08002B2CF9AE}" pid="3" name="Creator">
    <vt:lpwstr>Keynote</vt:lpwstr>
  </property>
  <property fmtid="{D5CDD505-2E9C-101B-9397-08002B2CF9AE}" pid="4" name="LastSaved">
    <vt:filetime>2025-05-22T00:00:00Z</vt:filetime>
  </property>
  <property fmtid="{D5CDD505-2E9C-101B-9397-08002B2CF9AE}" pid="5" name="Producer">
    <vt:lpwstr>macOS Version 10.15.7 (Build 19H512) Quartz PDFContext</vt:lpwstr>
  </property>
</Properties>
</file>