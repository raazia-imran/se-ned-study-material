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media/image39.jpg" ContentType="image/jpg"/>
  <Override PartName="/ppt/media/image40.jpg" ContentType="image/jpg"/>
  <Override PartName="/ppt/media/image48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8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894" y="-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/>
          <p:cNvSpPr>
            <a:spLocks/>
          </p:cNvSpPr>
          <p:nvPr/>
        </p:nvSpPr>
        <p:spPr bwMode="auto">
          <a:xfrm>
            <a:off x="-45155" y="6145671"/>
            <a:ext cx="1984587" cy="1110827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105298818 h 10000"/>
              <a:gd name="T12" fmla="*/ 2147483646 w 8042"/>
              <a:gd name="T13" fmla="*/ 76236572 h 10000"/>
              <a:gd name="T14" fmla="*/ 2147483646 w 8042"/>
              <a:gd name="T15" fmla="*/ 19533436 h 10000"/>
              <a:gd name="T16" fmla="*/ 94026232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2548" y="3576322"/>
            <a:ext cx="9387308" cy="3218177"/>
          </a:xfrm>
        </p:spPr>
        <p:txBody>
          <a:bodyPr anchor="b">
            <a:normAutofit/>
          </a:bodyPr>
          <a:lstStyle>
            <a:lvl1pPr>
              <a:defRPr sz="7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2548" y="6794497"/>
            <a:ext cx="9387308" cy="160182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827" y="6441441"/>
            <a:ext cx="830862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2854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9" y="887623"/>
            <a:ext cx="9371305" cy="18217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546" y="3034453"/>
            <a:ext cx="9375268" cy="537261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30580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450426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2950488"/>
            <a:ext cx="9375268" cy="2088960"/>
          </a:xfrm>
        </p:spPr>
        <p:txBody>
          <a:bodyPr anchor="b"/>
          <a:lstStyle>
            <a:lvl1pPr algn="l">
              <a:defRPr sz="57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5093547"/>
            <a:ext cx="9375268" cy="122368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04" y="4614898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4910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2548" y="3038871"/>
            <a:ext cx="4547600" cy="53580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0837" y="3038871"/>
            <a:ext cx="4546977" cy="53580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078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1834" y="3166757"/>
            <a:ext cx="4088314" cy="819573"/>
          </a:xfrm>
        </p:spPr>
        <p:txBody>
          <a:bodyPr anchor="b">
            <a:noAutofit/>
          </a:bodyPr>
          <a:lstStyle>
            <a:lvl1pPr marL="0" indent="0">
              <a:buNone/>
              <a:defRPr sz="3400" b="0"/>
            </a:lvl1pPr>
            <a:lvl2pPr marL="650230" indent="0">
              <a:buNone/>
              <a:defRPr sz="2800" b="1"/>
            </a:lvl2pPr>
            <a:lvl3pPr marL="1300460" indent="0">
              <a:buNone/>
              <a:defRPr sz="2600" b="1"/>
            </a:lvl3pPr>
            <a:lvl4pPr marL="1950690" indent="0">
              <a:buNone/>
              <a:defRPr sz="2300" b="1"/>
            </a:lvl4pPr>
            <a:lvl5pPr marL="2600919" indent="0">
              <a:buNone/>
              <a:defRPr sz="2300" b="1"/>
            </a:lvl5pPr>
            <a:lvl6pPr marL="3251149" indent="0">
              <a:buNone/>
              <a:defRPr sz="2300" b="1"/>
            </a:lvl6pPr>
            <a:lvl7pPr marL="3901379" indent="0">
              <a:buNone/>
              <a:defRPr sz="2300" b="1"/>
            </a:lvl7pPr>
            <a:lvl8pPr marL="4551609" indent="0">
              <a:buNone/>
              <a:defRPr sz="2300" b="1"/>
            </a:lvl8pPr>
            <a:lvl9pPr marL="5201839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62546" y="3986330"/>
            <a:ext cx="4547601" cy="44170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4309" y="3162166"/>
            <a:ext cx="4086384" cy="819573"/>
          </a:xfrm>
        </p:spPr>
        <p:txBody>
          <a:bodyPr anchor="b">
            <a:noAutofit/>
          </a:bodyPr>
          <a:lstStyle>
            <a:lvl1pPr marL="0" indent="0">
              <a:buNone/>
              <a:defRPr sz="3400" b="0"/>
            </a:lvl1pPr>
            <a:lvl2pPr marL="650230" indent="0">
              <a:buNone/>
              <a:defRPr sz="2800" b="1"/>
            </a:lvl2pPr>
            <a:lvl3pPr marL="1300460" indent="0">
              <a:buNone/>
              <a:defRPr sz="2600" b="1"/>
            </a:lvl3pPr>
            <a:lvl4pPr marL="1950690" indent="0">
              <a:buNone/>
              <a:defRPr sz="2300" b="1"/>
            </a:lvl4pPr>
            <a:lvl5pPr marL="2600919" indent="0">
              <a:buNone/>
              <a:defRPr sz="2300" b="1"/>
            </a:lvl5pPr>
            <a:lvl6pPr marL="3251149" indent="0">
              <a:buNone/>
              <a:defRPr sz="2300" b="1"/>
            </a:lvl6pPr>
            <a:lvl7pPr marL="3901379" indent="0">
              <a:buNone/>
              <a:defRPr sz="2300" b="1"/>
            </a:lvl7pPr>
            <a:lvl8pPr marL="4551609" indent="0">
              <a:buNone/>
              <a:defRPr sz="2300" b="1"/>
            </a:lvl8pPr>
            <a:lvl9pPr marL="5201839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5728" y="3981739"/>
            <a:ext cx="4544967" cy="44170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4066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67000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723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34436"/>
            <a:ext cx="3739853" cy="1388533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302" y="634438"/>
            <a:ext cx="5391511" cy="7701281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2273583"/>
            <a:ext cx="3739853" cy="6062131"/>
          </a:xfrm>
        </p:spPr>
        <p:txBody>
          <a:bodyPr/>
          <a:lstStyle>
            <a:lvl1pPr marL="0" indent="0">
              <a:buNone/>
              <a:defRPr sz="2000"/>
            </a:lvl1pPr>
            <a:lvl2pPr marL="650230" indent="0">
              <a:buNone/>
              <a:defRPr sz="1700"/>
            </a:lvl2pPr>
            <a:lvl3pPr marL="1300460" indent="0">
              <a:buNone/>
              <a:defRPr sz="1400"/>
            </a:lvl3pPr>
            <a:lvl4pPr marL="1950690" indent="0">
              <a:buNone/>
              <a:defRPr sz="1300"/>
            </a:lvl4pPr>
            <a:lvl5pPr marL="2600919" indent="0">
              <a:buNone/>
              <a:defRPr sz="1300"/>
            </a:lvl5pPr>
            <a:lvl6pPr marL="3251149" indent="0">
              <a:buNone/>
              <a:defRPr sz="1300"/>
            </a:lvl6pPr>
            <a:lvl7pPr marL="3901379" indent="0">
              <a:buNone/>
              <a:defRPr sz="1300"/>
            </a:lvl7pPr>
            <a:lvl8pPr marL="4551609" indent="0">
              <a:buNone/>
              <a:defRPr sz="1300"/>
            </a:lvl8pPr>
            <a:lvl9pPr marL="5201839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66392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698330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827520"/>
            <a:ext cx="9375268" cy="806027"/>
          </a:xfrm>
        </p:spPr>
        <p:txBody>
          <a:bodyPr anchor="b">
            <a:normAutofit/>
          </a:bodyPr>
          <a:lstStyle>
            <a:lvl1pPr algn="l">
              <a:defRPr sz="3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2546" y="903061"/>
            <a:ext cx="9375268" cy="5482624"/>
          </a:xfrm>
        </p:spPr>
        <p:txBody>
          <a:bodyPr rtlCol="0">
            <a:normAutofit/>
          </a:bodyPr>
          <a:lstStyle>
            <a:lvl1pPr marL="0" indent="0" algn="ctr">
              <a:buNone/>
              <a:defRPr sz="2300"/>
            </a:lvl1pPr>
            <a:lvl2pPr marL="650230" indent="0">
              <a:buNone/>
              <a:defRPr sz="2300"/>
            </a:lvl2pPr>
            <a:lvl3pPr marL="1300460" indent="0">
              <a:buNone/>
              <a:defRPr sz="2300"/>
            </a:lvl3pPr>
            <a:lvl4pPr marL="1950690" indent="0">
              <a:buNone/>
              <a:defRPr sz="2300"/>
            </a:lvl4pPr>
            <a:lvl5pPr marL="2600919" indent="0">
              <a:buNone/>
              <a:defRPr sz="2300"/>
            </a:lvl5pPr>
            <a:lvl6pPr marL="3251149" indent="0">
              <a:buNone/>
              <a:defRPr sz="2300"/>
            </a:lvl6pPr>
            <a:lvl7pPr marL="3901379" indent="0">
              <a:buNone/>
              <a:defRPr sz="2300"/>
            </a:lvl7pPr>
            <a:lvl8pPr marL="4551609" indent="0">
              <a:buNone/>
              <a:defRPr sz="2300"/>
            </a:lvl8pPr>
            <a:lvl9pPr marL="5201839" indent="0">
              <a:buNone/>
              <a:defRPr sz="23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633547"/>
            <a:ext cx="9375268" cy="702168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  <a:lvl2pPr marL="650230" indent="0">
              <a:buNone/>
              <a:defRPr sz="1700"/>
            </a:lvl2pPr>
            <a:lvl3pPr marL="1300460" indent="0">
              <a:buNone/>
              <a:defRPr sz="1400"/>
            </a:lvl3pPr>
            <a:lvl4pPr marL="1950690" indent="0">
              <a:buNone/>
              <a:defRPr sz="1300"/>
            </a:lvl4pPr>
            <a:lvl5pPr marL="2600919" indent="0">
              <a:buNone/>
              <a:defRPr sz="1300"/>
            </a:lvl5pPr>
            <a:lvl6pPr marL="3251149" indent="0">
              <a:buNone/>
              <a:defRPr sz="1300"/>
            </a:lvl6pPr>
            <a:lvl7pPr marL="3901379" indent="0">
              <a:buNone/>
              <a:defRPr sz="1300"/>
            </a:lvl7pPr>
            <a:lvl8pPr marL="4551609" indent="0">
              <a:buNone/>
              <a:defRPr sz="1300"/>
            </a:lvl8pPr>
            <a:lvl9pPr marL="5201839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04" y="7087166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3301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450426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866986"/>
            <a:ext cx="9375268" cy="4433124"/>
          </a:xfrm>
        </p:spPr>
        <p:txBody>
          <a:bodyPr anchor="ctr">
            <a:normAutofit/>
          </a:bodyPr>
          <a:lstStyle>
            <a:lvl1pPr algn="l">
              <a:defRPr sz="6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04" y="4614898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0928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50426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571610" y="921173"/>
            <a:ext cx="650240" cy="833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4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11618524" y="4131733"/>
            <a:ext cx="650240" cy="83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4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049" y="4985173"/>
            <a:ext cx="8041085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727004" y="4614898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87598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698330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3467949"/>
            <a:ext cx="9375268" cy="3875335"/>
          </a:xfrm>
        </p:spPr>
        <p:txBody>
          <a:bodyPr anchor="b">
            <a:normAutofit/>
          </a:bodyPr>
          <a:lstStyle>
            <a:lvl1pPr algn="l">
              <a:defRPr sz="6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04" y="7087166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06803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698330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571610" y="921173"/>
            <a:ext cx="650240" cy="833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4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11618524" y="4131733"/>
            <a:ext cx="650240" cy="83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046" tIns="65023" rIns="130046" bIns="65023"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4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51223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00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512238" cy="1037685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727004" y="7087166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196326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6983307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7" y="892312"/>
            <a:ext cx="9375266" cy="4096028"/>
          </a:xfrm>
        </p:spPr>
        <p:txBody>
          <a:bodyPr anchor="ctr">
            <a:normAutofit/>
          </a:bodyPr>
          <a:lstStyle>
            <a:lvl1pPr algn="l">
              <a:defRPr sz="6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37526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00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727004" y="7087166"/>
            <a:ext cx="833121" cy="519289"/>
          </a:xfrm>
        </p:spPr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32513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480708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1011484"/>
            <a:ext cx="1932658" cy="722489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30046" tIns="65023" rIns="130046" bIns="65023"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2805" y="892311"/>
            <a:ext cx="2355388" cy="7514762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2547" y="892311"/>
            <a:ext cx="6707695" cy="7514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6664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/>
          <p:cNvGrpSpPr>
            <a:grpSpLocks/>
          </p:cNvGrpSpPr>
          <p:nvPr/>
        </p:nvGrpSpPr>
        <p:grpSpPr bwMode="auto">
          <a:xfrm>
            <a:off x="0" y="325121"/>
            <a:ext cx="2817707" cy="9442027"/>
            <a:chOff x="2487613" y="285750"/>
            <a:chExt cx="2428875" cy="5654676"/>
          </a:xfrm>
        </p:grpSpPr>
        <p:sp>
          <p:nvSpPr>
            <p:cNvPr id="1046" name="Freeform 11"/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/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/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/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/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/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/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/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/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/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/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/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48"/>
          <p:cNvGrpSpPr>
            <a:grpSpLocks/>
          </p:cNvGrpSpPr>
          <p:nvPr/>
        </p:nvGrpSpPr>
        <p:grpSpPr bwMode="auto">
          <a:xfrm>
            <a:off x="29352" y="0"/>
            <a:ext cx="2777067" cy="9746827"/>
            <a:chOff x="6627813" y="195717"/>
            <a:chExt cx="1952625" cy="5678034"/>
          </a:xfrm>
        </p:grpSpPr>
        <p:sp>
          <p:nvSpPr>
            <p:cNvPr id="1034" name="Freeform 27"/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/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/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/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/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/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/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/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/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/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/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/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1" y="0"/>
            <a:ext cx="259645" cy="9753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2765778" y="887307"/>
            <a:ext cx="9372035" cy="182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763520" y="3034453"/>
            <a:ext cx="9374293" cy="55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4081" y="8726312"/>
            <a:ext cx="1090507" cy="526062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r" eaLnBrk="1" hangingPunct="1">
              <a:defRPr sz="13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3520" y="8726312"/>
            <a:ext cx="8130258" cy="519289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l" eaLnBrk="1" hangingPunct="1">
              <a:defRPr sz="13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27004" y="1119858"/>
            <a:ext cx="833121" cy="519289"/>
          </a:xfrm>
          <a:prstGeom prst="rect">
            <a:avLst/>
          </a:prstGeom>
        </p:spPr>
        <p:txBody>
          <a:bodyPr vert="horz" wrap="square" lIns="130046" tIns="65023" rIns="130046" bIns="65023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800">
                <a:solidFill>
                  <a:srgbClr val="FEFFFF"/>
                </a:solidFill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l" defTabSz="650230" rtl="0" eaLnBrk="1" fontAlgn="base" hangingPunct="1">
        <a:spcBef>
          <a:spcPct val="0"/>
        </a:spcBef>
        <a:spcAft>
          <a:spcPct val="0"/>
        </a:spcAft>
        <a:defRPr sz="51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650230" rtl="0" eaLnBrk="1" fontAlgn="base" hangingPunct="1">
        <a:spcBef>
          <a:spcPct val="0"/>
        </a:spcBef>
        <a:spcAft>
          <a:spcPct val="0"/>
        </a:spcAft>
        <a:defRPr sz="5100">
          <a:solidFill>
            <a:srgbClr val="262626"/>
          </a:solidFill>
          <a:latin typeface="Century Gothic" panose="020B0502020202020204" pitchFamily="34" charset="0"/>
        </a:defRPr>
      </a:lvl2pPr>
      <a:lvl3pPr algn="l" defTabSz="650230" rtl="0" eaLnBrk="1" fontAlgn="base" hangingPunct="1">
        <a:spcBef>
          <a:spcPct val="0"/>
        </a:spcBef>
        <a:spcAft>
          <a:spcPct val="0"/>
        </a:spcAft>
        <a:defRPr sz="5100">
          <a:solidFill>
            <a:srgbClr val="262626"/>
          </a:solidFill>
          <a:latin typeface="Century Gothic" panose="020B0502020202020204" pitchFamily="34" charset="0"/>
        </a:defRPr>
      </a:lvl3pPr>
      <a:lvl4pPr algn="l" defTabSz="650230" rtl="0" eaLnBrk="1" fontAlgn="base" hangingPunct="1">
        <a:spcBef>
          <a:spcPct val="0"/>
        </a:spcBef>
        <a:spcAft>
          <a:spcPct val="0"/>
        </a:spcAft>
        <a:defRPr sz="5100">
          <a:solidFill>
            <a:srgbClr val="262626"/>
          </a:solidFill>
          <a:latin typeface="Century Gothic" panose="020B0502020202020204" pitchFamily="34" charset="0"/>
        </a:defRPr>
      </a:lvl4pPr>
      <a:lvl5pPr algn="l" defTabSz="650230" rtl="0" eaLnBrk="1" fontAlgn="base" hangingPunct="1">
        <a:spcBef>
          <a:spcPct val="0"/>
        </a:spcBef>
        <a:spcAft>
          <a:spcPct val="0"/>
        </a:spcAft>
        <a:defRPr sz="51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fontAlgn="base" hangingPunct="1">
        <a:spcBef>
          <a:spcPts val="1422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1056623" indent="-406394" algn="l" defTabSz="650230" rtl="0" eaLnBrk="1" fontAlgn="base" hangingPunct="1">
        <a:spcBef>
          <a:spcPts val="1422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2300" kern="1200">
          <a:solidFill>
            <a:srgbClr val="404040"/>
          </a:solidFill>
          <a:latin typeface="+mn-lt"/>
          <a:ea typeface="+mn-ea"/>
          <a:cs typeface="+mn-cs"/>
        </a:defRPr>
      </a:lvl2pPr>
      <a:lvl3pPr marL="1625575" indent="-325115" algn="l" defTabSz="650230" rtl="0" eaLnBrk="1" fontAlgn="base" hangingPunct="1">
        <a:spcBef>
          <a:spcPts val="1422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2000" kern="1200">
          <a:solidFill>
            <a:srgbClr val="404040"/>
          </a:solidFill>
          <a:latin typeface="+mn-lt"/>
          <a:ea typeface="+mn-ea"/>
          <a:cs typeface="+mn-cs"/>
        </a:defRPr>
      </a:lvl3pPr>
      <a:lvl4pPr marL="2275804" indent="-325115" algn="l" defTabSz="650230" rtl="0" eaLnBrk="1" fontAlgn="base" hangingPunct="1">
        <a:spcBef>
          <a:spcPts val="1422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700" kern="1200">
          <a:solidFill>
            <a:srgbClr val="404040"/>
          </a:solidFill>
          <a:latin typeface="+mn-lt"/>
          <a:ea typeface="+mn-ea"/>
          <a:cs typeface="+mn-cs"/>
        </a:defRPr>
      </a:lvl4pPr>
      <a:lvl5pPr marL="2926034" indent="-325115" algn="l" defTabSz="650230" rtl="0" eaLnBrk="1" fontAlgn="base" hangingPunct="1">
        <a:spcBef>
          <a:spcPts val="1422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700" kern="1200">
          <a:solidFill>
            <a:srgbClr val="404040"/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8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7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hyperlink" Target="mailto:ramesh@cs.umass.edu" TargetMode="External"/><Relationship Id="rId7" Type="http://schemas.openxmlformats.org/officeDocument/2006/relationships/image" Target="../media/image45.png"/><Relationship Id="rId2" Type="http://schemas.openxmlformats.org/officeDocument/2006/relationships/hyperlink" Target="mailto:bmm@cs.duke.ed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jp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3576322"/>
            <a:ext cx="8229600" cy="3218177"/>
          </a:xfrm>
        </p:spPr>
        <p:txBody>
          <a:bodyPr/>
          <a:lstStyle/>
          <a:p>
            <a:r>
              <a:rPr lang="en-US" dirty="0" smtClean="0"/>
              <a:t>DAA Lecture #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400" y="6781800"/>
            <a:ext cx="9387308" cy="1601825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4400" dirty="0" smtClean="0"/>
              <a:t>Instructor: Engr. </a:t>
            </a:r>
            <a:r>
              <a:rPr lang="en-US" sz="4400" dirty="0" err="1" smtClean="0"/>
              <a:t>Naveera</a:t>
            </a:r>
            <a:r>
              <a:rPr lang="en-US" sz="4400" dirty="0" smtClean="0"/>
              <a:t> Sami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800" y="304800"/>
            <a:ext cx="3048000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000" y="0"/>
            <a:ext cx="12750799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Matching</a:t>
            </a:r>
            <a:r>
              <a:rPr spc="40" dirty="0"/>
              <a:t> </a:t>
            </a:r>
            <a:r>
              <a:rPr spc="-105" dirty="0"/>
              <a:t>med-</a:t>
            </a:r>
            <a:r>
              <a:rPr dirty="0"/>
              <a:t>school</a:t>
            </a:r>
            <a:r>
              <a:rPr spc="45" dirty="0"/>
              <a:t> </a:t>
            </a:r>
            <a:r>
              <a:rPr spc="-45" dirty="0"/>
              <a:t>students</a:t>
            </a:r>
            <a:r>
              <a:rPr spc="45" dirty="0"/>
              <a:t> </a:t>
            </a:r>
            <a:r>
              <a:rPr spc="50" dirty="0"/>
              <a:t>to</a:t>
            </a:r>
            <a:r>
              <a:rPr spc="45" dirty="0"/>
              <a:t> </a:t>
            </a:r>
            <a:r>
              <a:rPr spc="-10" dirty="0"/>
              <a:t>hospitals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727005" y="1162776"/>
            <a:ext cx="746196" cy="433452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635000" y="1906270"/>
            <a:ext cx="11395075" cy="488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30480">
              <a:lnSpc>
                <a:spcPct val="131900"/>
              </a:lnSpc>
              <a:spcBef>
                <a:spcPts val="100"/>
              </a:spcBef>
              <a:tabLst>
                <a:tab pos="10160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among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med-</a:t>
            </a:r>
            <a:r>
              <a:rPr sz="2400" spc="-40" dirty="0">
                <a:latin typeface="Lucida Sans Unicode"/>
                <a:cs typeface="Lucida Sans Unicode"/>
              </a:rPr>
              <a:t>school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students, </a:t>
            </a:r>
            <a:r>
              <a:rPr sz="2400" dirty="0">
                <a:latin typeface="Lucida Sans Unicode"/>
                <a:cs typeface="Lucida Sans Unicode"/>
              </a:rPr>
              <a:t>design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self-</a:t>
            </a:r>
            <a:r>
              <a:rPr sz="24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reinforcing</a:t>
            </a:r>
            <a:r>
              <a:rPr sz="2400" spc="-8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admissions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process.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63500">
              <a:lnSpc>
                <a:spcPts val="2615"/>
              </a:lnSpc>
              <a:tabLst>
                <a:tab pos="23094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Unstable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pair.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unstable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pair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both: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</a:pPr>
            <a:r>
              <a:rPr sz="5775" spc="2175" baseline="-5772" dirty="0">
                <a:latin typeface="Microsoft JhengHei UI"/>
                <a:cs typeface="Microsoft JhengHei UI"/>
              </a:rPr>
              <a:t>·</a:t>
            </a:r>
            <a:r>
              <a:rPr sz="2400" i="1" spc="1450" dirty="0">
                <a:latin typeface="Times New Roman"/>
                <a:cs typeface="Times New Roman"/>
              </a:rPr>
              <a:t>h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admitted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students.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</a:pPr>
            <a:r>
              <a:rPr sz="5775" spc="2167" baseline="-5772" dirty="0">
                <a:latin typeface="Microsoft JhengHei UI"/>
                <a:cs typeface="Microsoft JhengHei UI"/>
              </a:rPr>
              <a:t>·</a:t>
            </a:r>
            <a:r>
              <a:rPr sz="2400" i="1" spc="1445" dirty="0">
                <a:latin typeface="Times New Roman"/>
                <a:cs typeface="Times New Roman"/>
              </a:rPr>
              <a:t>s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63500">
              <a:lnSpc>
                <a:spcPts val="2615"/>
              </a:lnSpc>
              <a:tabLst>
                <a:tab pos="30486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Stable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assignment.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Assignment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pairs.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</a:pPr>
            <a:r>
              <a:rPr sz="5775" spc="525" baseline="-7215" dirty="0">
                <a:latin typeface="Microsoft JhengHei UI"/>
                <a:cs typeface="Microsoft JhengHei UI"/>
              </a:rPr>
              <a:t>·</a:t>
            </a:r>
            <a:r>
              <a:rPr sz="2400" spc="350" dirty="0">
                <a:latin typeface="Lucida Sans Unicode"/>
                <a:cs typeface="Lucida Sans Unicode"/>
              </a:rPr>
              <a:t>Natural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desirable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condition.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</a:pPr>
            <a:r>
              <a:rPr sz="5775" spc="405" baseline="-7215" dirty="0">
                <a:latin typeface="Microsoft JhengHei UI"/>
                <a:cs typeface="Microsoft JhengHei UI"/>
              </a:rPr>
              <a:t>·</a:t>
            </a:r>
            <a:r>
              <a:rPr sz="2400" spc="270" dirty="0">
                <a:latin typeface="Lucida Sans Unicode"/>
                <a:cs typeface="Lucida Sans Unicode"/>
              </a:rPr>
              <a:t>Individual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self-</a:t>
            </a:r>
            <a:r>
              <a:rPr sz="2400" spc="-40" dirty="0">
                <a:latin typeface="Lucida Sans Unicode"/>
                <a:cs typeface="Lucida Sans Unicode"/>
              </a:rPr>
              <a:t>interest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prevents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hospital–student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side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deal.</a:t>
            </a:r>
            <a:endParaRPr sz="24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787" y="6794500"/>
            <a:ext cx="3936824" cy="26669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2485" y="6794585"/>
            <a:ext cx="3581314" cy="2666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1200" y="67232"/>
            <a:ext cx="10595597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Stable</a:t>
            </a:r>
            <a:r>
              <a:rPr spc="130" dirty="0"/>
              <a:t> </a:t>
            </a:r>
            <a:r>
              <a:rPr dirty="0"/>
              <a:t>matching</a:t>
            </a:r>
            <a:r>
              <a:rPr spc="130" dirty="0"/>
              <a:t> </a:t>
            </a:r>
            <a:r>
              <a:rPr spc="45" dirty="0"/>
              <a:t>problem:</a:t>
            </a:r>
            <a:r>
              <a:rPr spc="130" dirty="0"/>
              <a:t> </a:t>
            </a:r>
            <a:r>
              <a:rPr spc="-10" dirty="0"/>
              <a:t>input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234440" y="1555793"/>
            <a:ext cx="8016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31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Input.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9917" y="3876221"/>
            <a:ext cx="5719445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Each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students.</a:t>
            </a:r>
            <a:endParaRPr sz="2400" dirty="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Each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9500" y="5511800"/>
            <a:ext cx="784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44139" y="5905500"/>
            <a:ext cx="121920" cy="368300"/>
            <a:chOff x="2644139" y="5905500"/>
            <a:chExt cx="121920" cy="368300"/>
          </a:xfrm>
        </p:grpSpPr>
        <p:sp>
          <p:nvSpPr>
            <p:cNvPr id="8" name="object 8"/>
            <p:cNvSpPr/>
            <p:nvPr/>
          </p:nvSpPr>
          <p:spPr>
            <a:xfrm>
              <a:off x="2705099" y="590550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560"/>
                  </a:moveTo>
                  <a:lnTo>
                    <a:pt x="0" y="27686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4139" y="6151879"/>
              <a:ext cx="121920" cy="121920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636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Atlanta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Boston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Chicago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476500" y="8940800"/>
            <a:ext cx="3075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hospitals’</a:t>
            </a:r>
            <a:r>
              <a:rPr sz="1800" b="1" spc="25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preference</a:t>
            </a:r>
            <a:r>
              <a:rPr sz="1800" b="1" spc="254" dirty="0">
                <a:latin typeface="Tahoma"/>
                <a:cs typeface="Tahoma"/>
              </a:rPr>
              <a:t> </a:t>
            </a:r>
            <a:r>
              <a:rPr sz="1800" b="1" spc="30" dirty="0">
                <a:latin typeface="Tahoma"/>
                <a:cs typeface="Tahoma"/>
              </a:rPr>
              <a:t>lists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9300" y="5511800"/>
            <a:ext cx="1312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20640" y="5905500"/>
            <a:ext cx="121920" cy="368300"/>
            <a:chOff x="5120640" y="5905500"/>
            <a:chExt cx="121920" cy="368300"/>
          </a:xfrm>
        </p:grpSpPr>
        <p:sp>
          <p:nvSpPr>
            <p:cNvPr id="14" name="object 14"/>
            <p:cNvSpPr/>
            <p:nvPr/>
          </p:nvSpPr>
          <p:spPr>
            <a:xfrm>
              <a:off x="5181600" y="5905500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560"/>
                  </a:moveTo>
                  <a:lnTo>
                    <a:pt x="0" y="27686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40" y="6151879"/>
              <a:ext cx="121920" cy="12192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242300" y="5511800"/>
            <a:ext cx="784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549640" y="5905500"/>
            <a:ext cx="121920" cy="431800"/>
            <a:chOff x="8549640" y="5905500"/>
            <a:chExt cx="121920" cy="431800"/>
          </a:xfrm>
        </p:grpSpPr>
        <p:sp>
          <p:nvSpPr>
            <p:cNvPr id="18" name="object 18"/>
            <p:cNvSpPr/>
            <p:nvPr/>
          </p:nvSpPr>
          <p:spPr>
            <a:xfrm>
              <a:off x="8610600" y="5905500"/>
              <a:ext cx="0" cy="353060"/>
            </a:xfrm>
            <a:custGeom>
              <a:avLst/>
              <a:gdLst/>
              <a:ahLst/>
              <a:cxnLst/>
              <a:rect l="l" t="t" r="r" b="b"/>
              <a:pathLst>
                <a:path h="353060">
                  <a:moveTo>
                    <a:pt x="0" y="353060"/>
                  </a:moveTo>
                  <a:lnTo>
                    <a:pt x="0" y="34036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9640" y="6215379"/>
              <a:ext cx="121919" cy="121920"/>
            </a:xfrm>
            <a:prstGeom prst="rect">
              <a:avLst/>
            </a:prstGeom>
          </p:spPr>
        </p:pic>
      </p:grp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7691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Xavier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Yolanda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Zeus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8407400" y="8940800"/>
            <a:ext cx="3023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students’</a:t>
            </a:r>
            <a:r>
              <a:rPr sz="1800" b="1" spc="15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preference</a:t>
            </a:r>
            <a:r>
              <a:rPr sz="1800" b="1" spc="155" dirty="0">
                <a:latin typeface="Tahoma"/>
                <a:cs typeface="Tahoma"/>
              </a:rPr>
              <a:t> </a:t>
            </a:r>
            <a:r>
              <a:rPr sz="1800" b="1" spc="40" dirty="0">
                <a:latin typeface="Tahoma"/>
                <a:cs typeface="Tahoma"/>
              </a:rPr>
              <a:t>lists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452100" y="5511800"/>
            <a:ext cx="1312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favorite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026140" y="5905500"/>
            <a:ext cx="121920" cy="431800"/>
            <a:chOff x="11026140" y="5905500"/>
            <a:chExt cx="121920" cy="431800"/>
          </a:xfrm>
        </p:grpSpPr>
        <p:sp>
          <p:nvSpPr>
            <p:cNvPr id="24" name="object 24"/>
            <p:cNvSpPr/>
            <p:nvPr/>
          </p:nvSpPr>
          <p:spPr>
            <a:xfrm>
              <a:off x="11087100" y="5905500"/>
              <a:ext cx="0" cy="353060"/>
            </a:xfrm>
            <a:custGeom>
              <a:avLst/>
              <a:gdLst/>
              <a:ahLst/>
              <a:cxnLst/>
              <a:rect l="l" t="t" r="r" b="b"/>
              <a:pathLst>
                <a:path h="353060">
                  <a:moveTo>
                    <a:pt x="0" y="353060"/>
                  </a:moveTo>
                  <a:lnTo>
                    <a:pt x="0" y="34036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6140" y="6215379"/>
              <a:ext cx="121919" cy="12192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467600" y="2082800"/>
            <a:ext cx="34080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per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hospital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(for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now)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90346" y="1762688"/>
            <a:ext cx="325755" cy="325755"/>
            <a:chOff x="7090346" y="1762688"/>
            <a:chExt cx="325755" cy="325755"/>
          </a:xfrm>
        </p:grpSpPr>
        <p:sp>
          <p:nvSpPr>
            <p:cNvPr id="28" name="object 28"/>
            <p:cNvSpPr/>
            <p:nvPr/>
          </p:nvSpPr>
          <p:spPr>
            <a:xfrm>
              <a:off x="7146023" y="1818366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0" y="0"/>
                  </a:moveTo>
                  <a:lnTo>
                    <a:pt x="8980" y="8980"/>
                  </a:lnTo>
                  <a:lnTo>
                    <a:pt x="257158" y="257158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90346" y="1762688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0" y="0"/>
                  </a:moveTo>
                  <a:lnTo>
                    <a:pt x="43105" y="129316"/>
                  </a:lnTo>
                  <a:lnTo>
                    <a:pt x="64658" y="64658"/>
                  </a:lnTo>
                  <a:lnTo>
                    <a:pt x="129316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0909" y="161909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Perfect</a:t>
            </a:r>
            <a:r>
              <a:rPr spc="-18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333500"/>
            <a:ext cx="10673715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848994" algn="l"/>
                <a:tab pos="1252220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A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matching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s.t.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Each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appears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Each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appears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8489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perfect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 = |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|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 = </a:t>
            </a:r>
            <a:r>
              <a:rPr sz="2400" i="1" spc="-25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36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Atlanta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Boston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Chicago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691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Xavier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Yolanda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Zeus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962400" y="8940800"/>
            <a:ext cx="4776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a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perfect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matching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A–Z,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spc="-515" dirty="0">
                <a:latin typeface="Tahoma"/>
                <a:cs typeface="Tahoma"/>
              </a:rPr>
              <a:t>}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000" y="0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Unstable</a:t>
            </a:r>
            <a:r>
              <a:rPr spc="100" dirty="0"/>
              <a:t> </a:t>
            </a:r>
            <a:r>
              <a:rPr spc="75" dirty="0"/>
              <a:t>pair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96471" y="2209800"/>
            <a:ext cx="10058400" cy="292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69545">
              <a:lnSpc>
                <a:spcPct val="131900"/>
              </a:lnSpc>
              <a:spcBef>
                <a:spcPts val="100"/>
              </a:spcBef>
              <a:tabLst>
                <a:tab pos="8489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perfect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</a:t>
            </a:r>
            <a:r>
              <a:rPr sz="2400" spc="-25" dirty="0">
                <a:latin typeface="Lucida Sans Unicode"/>
                <a:cs typeface="Lucida Sans Unicode"/>
              </a:rPr>
              <a:t> an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unstable</a:t>
            </a:r>
            <a:r>
              <a:rPr sz="24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pair</a:t>
            </a:r>
            <a:r>
              <a:rPr sz="24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both: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2175" baseline="-5772" dirty="0">
                <a:latin typeface="Microsoft JhengHei UI"/>
                <a:cs typeface="Microsoft JhengHei UI"/>
              </a:rPr>
              <a:t>·</a:t>
            </a:r>
            <a:r>
              <a:rPr sz="2400" i="1" spc="1450" dirty="0">
                <a:latin typeface="Times New Roman"/>
                <a:cs typeface="Times New Roman"/>
              </a:rPr>
              <a:t>h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2167" baseline="-5772" dirty="0">
                <a:latin typeface="Microsoft JhengHei UI"/>
                <a:cs typeface="Microsoft JhengHei UI"/>
              </a:rPr>
              <a:t>·</a:t>
            </a:r>
            <a:r>
              <a:rPr sz="2400" i="1" spc="1445" dirty="0">
                <a:latin typeface="Times New Roman"/>
                <a:cs typeface="Times New Roman"/>
              </a:rPr>
              <a:t>s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74815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Key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point.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h–s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improve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joint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action.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36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Atlanta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Boston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Chicago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691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Xavier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Yolanda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Zeus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895600" y="8940800"/>
            <a:ext cx="689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15" dirty="0">
                <a:latin typeface="Tahoma"/>
                <a:cs typeface="Tahoma"/>
              </a:rPr>
              <a:t>A-</a:t>
            </a:r>
            <a:r>
              <a:rPr sz="1800" b="1" dirty="0">
                <a:latin typeface="Tahoma"/>
                <a:cs typeface="Tahoma"/>
              </a:rPr>
              <a:t>Y</a:t>
            </a:r>
            <a:r>
              <a:rPr sz="1800" b="1" spc="75" dirty="0">
                <a:latin typeface="Tahoma"/>
                <a:cs typeface="Tahoma"/>
              </a:rPr>
              <a:t> </a:t>
            </a:r>
            <a:r>
              <a:rPr sz="1800" b="1" spc="60" dirty="0">
                <a:latin typeface="Tahoma"/>
                <a:cs typeface="Tahoma"/>
              </a:rPr>
              <a:t>is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an</a:t>
            </a:r>
            <a:r>
              <a:rPr sz="1800" b="1" spc="7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unstable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pair</a:t>
            </a:r>
            <a:r>
              <a:rPr sz="1800" b="1" spc="7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for</a:t>
            </a:r>
            <a:r>
              <a:rPr sz="1800" b="1" spc="7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matching</a:t>
            </a:r>
            <a:r>
              <a:rPr sz="1800" b="1" spc="7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7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A–Z,</a:t>
            </a:r>
            <a:r>
              <a:rPr sz="1800" b="1" spc="75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80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spc="75" dirty="0">
                <a:latin typeface="Tahoma"/>
                <a:cs typeface="Tahoma"/>
              </a:rPr>
              <a:t> </a:t>
            </a:r>
            <a:r>
              <a:rPr sz="1800" b="1" spc="-515" dirty="0">
                <a:latin typeface="Tahoma"/>
                <a:cs typeface="Tahoma"/>
              </a:rPr>
              <a:t>}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58600" y="228597"/>
            <a:ext cx="491490" cy="584200"/>
            <a:chOff x="11658600" y="228597"/>
            <a:chExt cx="491490" cy="584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2113" y="466634"/>
              <a:ext cx="98027" cy="98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0" y="228597"/>
              <a:ext cx="491106" cy="58407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3600" y="1333500"/>
            <a:ext cx="8904605" cy="374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Which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pair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80" dirty="0">
                <a:latin typeface="Tahoma"/>
                <a:cs typeface="Tahoma"/>
              </a:rPr>
              <a:t>is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unstable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matching</a:t>
            </a:r>
            <a:r>
              <a:rPr sz="2400" b="1" spc="75" dirty="0">
                <a:latin typeface="Tahoma"/>
                <a:cs typeface="Tahoma"/>
              </a:rPr>
              <a:t> </a:t>
            </a:r>
            <a:r>
              <a:rPr sz="2400" b="1" spc="-615" dirty="0">
                <a:latin typeface="Tahoma"/>
                <a:cs typeface="Tahoma"/>
              </a:rPr>
              <a:t>{</a:t>
            </a:r>
            <a:r>
              <a:rPr sz="2400" b="1" spc="85" dirty="0">
                <a:latin typeface="Tahoma"/>
                <a:cs typeface="Tahoma"/>
              </a:rPr>
              <a:t> </a:t>
            </a:r>
            <a:r>
              <a:rPr sz="2400" b="1" spc="-65" dirty="0">
                <a:latin typeface="Tahoma"/>
                <a:cs typeface="Tahoma"/>
              </a:rPr>
              <a:t>A–X,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-125" dirty="0">
                <a:latin typeface="Tahoma"/>
                <a:cs typeface="Tahoma"/>
              </a:rPr>
              <a:t>B–Z,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C–Y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-615" dirty="0">
                <a:latin typeface="Tahoma"/>
                <a:cs typeface="Tahoma"/>
              </a:rPr>
              <a:t>}</a:t>
            </a:r>
            <a:r>
              <a:rPr sz="2400" b="1" spc="85" dirty="0">
                <a:latin typeface="Tahoma"/>
                <a:cs typeface="Tahoma"/>
              </a:rPr>
              <a:t> </a:t>
            </a:r>
            <a:r>
              <a:rPr sz="2400" b="1" spc="-50" dirty="0">
                <a:latin typeface="Tahoma"/>
                <a:cs typeface="Tahoma"/>
              </a:rPr>
              <a:t>?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 dirty="0">
              <a:latin typeface="Tahoma"/>
              <a:cs typeface="Tahoma"/>
            </a:endParaRPr>
          </a:p>
          <a:p>
            <a:pPr marL="1116330" indent="-748030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1116330" algn="l"/>
              </a:tabLst>
            </a:pPr>
            <a:r>
              <a:rPr sz="2400" spc="-20" dirty="0">
                <a:latin typeface="Lucida Sans Unicode"/>
                <a:cs typeface="Lucida Sans Unicode"/>
              </a:rPr>
              <a:t>A–Y.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1116330" indent="-748030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1116330" algn="l"/>
              </a:tabLst>
            </a:pPr>
            <a:r>
              <a:rPr sz="2400" spc="-20" dirty="0">
                <a:latin typeface="Lucida Sans Unicode"/>
                <a:cs typeface="Lucida Sans Unicode"/>
              </a:rPr>
              <a:t>B–X.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1116330" indent="-748030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1116330" algn="l"/>
              </a:tabLst>
            </a:pPr>
            <a:r>
              <a:rPr sz="2400" spc="-20" dirty="0">
                <a:latin typeface="Lucida Sans Unicode"/>
                <a:cs typeface="Lucida Sans Unicode"/>
              </a:rPr>
              <a:t>B–Z.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1111885" indent="-743585">
              <a:lnSpc>
                <a:spcPct val="100000"/>
              </a:lnSpc>
              <a:spcBef>
                <a:spcPts val="5"/>
              </a:spcBef>
              <a:buClr>
                <a:srgbClr val="005493"/>
              </a:buClr>
              <a:buFont typeface="Tahoma"/>
              <a:buAutoNum type="alphaUcPeriod"/>
              <a:tabLst>
                <a:tab pos="1111885" algn="l"/>
              </a:tabLst>
            </a:pPr>
            <a:r>
              <a:rPr sz="2400" dirty="0">
                <a:latin typeface="Lucida Sans Unicode"/>
                <a:cs typeface="Lucida Sans Unicode"/>
              </a:rPr>
              <a:t>None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above.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12700" y="9407753"/>
            <a:ext cx="12192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50" dirty="0">
                <a:latin typeface="Lucida Sans Unicode"/>
                <a:cs typeface="Lucida Sans Unicode"/>
              </a:rPr>
              <a:t>7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62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08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08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500" y="7183090"/>
            <a:ext cx="8477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Atlanta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5700" y="7164730"/>
            <a:ext cx="68707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Xavier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1400" y="7164730"/>
            <a:ext cx="88709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Yolanda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9200" y="7164730"/>
            <a:ext cx="524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20" dirty="0">
                <a:latin typeface="Lucida Sans Unicode"/>
                <a:cs typeface="Lucida Sans Unicode"/>
              </a:rPr>
              <a:t>Zeus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2200" y="7754590"/>
            <a:ext cx="80835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Boston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24100" y="7736230"/>
            <a:ext cx="88709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Yolanda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3000" y="7736230"/>
            <a:ext cx="68707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Xavier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9200" y="7736230"/>
            <a:ext cx="524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20" dirty="0">
                <a:latin typeface="Lucida Sans Unicode"/>
                <a:cs typeface="Lucida Sans Unicode"/>
              </a:rPr>
              <a:t>Zeus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8700" y="8313390"/>
            <a:ext cx="94043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Chicago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5700" y="8295030"/>
            <a:ext cx="68707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Xavier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1400" y="8295030"/>
            <a:ext cx="88709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Yolanda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9200" y="8295030"/>
            <a:ext cx="524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20" dirty="0">
                <a:latin typeface="Lucida Sans Unicode"/>
                <a:cs typeface="Lucida Sans Unicode"/>
              </a:rPr>
              <a:t>Zeus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217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663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0363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35800" y="7183090"/>
            <a:ext cx="73533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Xavier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93100" y="7164730"/>
            <a:ext cx="75628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Boston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37700" y="7164730"/>
            <a:ext cx="78930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Atlanta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756900" y="7164730"/>
            <a:ext cx="89344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Chicago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34200" y="7754590"/>
            <a:ext cx="947419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Yolanda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80400" y="7736230"/>
            <a:ext cx="78930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Atlanta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63100" y="7736230"/>
            <a:ext cx="75628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Boston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56900" y="7736230"/>
            <a:ext cx="89344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Chicago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24700" y="8313390"/>
            <a:ext cx="56007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Zeus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80400" y="8295030"/>
            <a:ext cx="78930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Atlanta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63100" y="8295030"/>
            <a:ext cx="75628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Boston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756900" y="8295030"/>
            <a:ext cx="893444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10" dirty="0">
                <a:latin typeface="Lucida Sans Unicode"/>
                <a:cs typeface="Lucida Sans Unicode"/>
              </a:rPr>
              <a:t>Chicago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863599" y="355600"/>
            <a:ext cx="9455785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8145" algn="l"/>
              </a:tabLst>
            </a:pPr>
            <a:r>
              <a:rPr dirty="0"/>
              <a:t>Stable</a:t>
            </a:r>
            <a:r>
              <a:rPr spc="145" dirty="0"/>
              <a:t> </a:t>
            </a:r>
            <a:r>
              <a:rPr spc="-10" dirty="0"/>
              <a:t>matching: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1</a:t>
            </a: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8636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Atlanta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Boston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Chicago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67691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Xavier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Yolanda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Zeus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Stable</a:t>
            </a:r>
            <a:r>
              <a:rPr spc="140" dirty="0"/>
              <a:t> </a:t>
            </a:r>
            <a:r>
              <a:rPr dirty="0"/>
              <a:t>matching</a:t>
            </a:r>
            <a:r>
              <a:rPr spc="14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0900" y="2895600"/>
            <a:ext cx="10529570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stable</a:t>
            </a:r>
            <a:r>
              <a:rPr sz="24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matching</a:t>
            </a:r>
            <a:r>
              <a:rPr sz="24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perfect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10" dirty="0">
                <a:latin typeface="Lucida Sans Unicode"/>
                <a:cs typeface="Lucida Sans Unicode"/>
              </a:rPr>
              <a:t> pairs.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400939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Stable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matching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and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(if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exists).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36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Atlanta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Boston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Chicago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Xavier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Yolanda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Zeus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69100" y="6451600"/>
          <a:ext cx="50673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/>
                <a:gridCol w="1266825"/>
                <a:gridCol w="1266825"/>
                <a:gridCol w="12668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Xavier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Yolanda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Zeus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Atlanta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Boston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Chicago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051300" y="8940800"/>
            <a:ext cx="459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a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stable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matching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-55" dirty="0">
                <a:latin typeface="Tahoma"/>
                <a:cs typeface="Tahoma"/>
              </a:rPr>
              <a:t>A–X,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90" dirty="0">
                <a:latin typeface="Tahoma"/>
                <a:cs typeface="Tahoma"/>
              </a:rPr>
              <a:t>B–Y,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C–Z</a:t>
            </a:r>
            <a:r>
              <a:rPr sz="1800" b="1" spc="35" dirty="0">
                <a:latin typeface="Tahoma"/>
                <a:cs typeface="Tahoma"/>
              </a:rPr>
              <a:t> </a:t>
            </a:r>
            <a:r>
              <a:rPr sz="1800" b="1" spc="-515" dirty="0">
                <a:latin typeface="Tahoma"/>
                <a:cs typeface="Tahoma"/>
              </a:rPr>
              <a:t>}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1800" y="0"/>
            <a:ext cx="10057105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Stable</a:t>
            </a:r>
            <a:r>
              <a:rPr spc="165" dirty="0"/>
              <a:t> </a:t>
            </a:r>
            <a:r>
              <a:rPr dirty="0"/>
              <a:t>roommate</a:t>
            </a:r>
            <a:r>
              <a:rPr spc="16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8558530" cy="295783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Do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matchings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always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exist?</a:t>
            </a:r>
            <a:endParaRPr sz="2400" dirty="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obvious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priori.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Stable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roommate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2175" baseline="-5772" dirty="0">
                <a:latin typeface="Microsoft JhengHei UI"/>
                <a:cs typeface="Microsoft JhengHei UI"/>
              </a:rPr>
              <a:t>·</a:t>
            </a:r>
            <a:r>
              <a:rPr sz="2400" spc="1450" dirty="0">
                <a:latin typeface="Times New Roman"/>
                <a:cs typeface="Times New Roman"/>
              </a:rPr>
              <a:t>2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people;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person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others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600" baseline="-7215" dirty="0">
                <a:latin typeface="Microsoft JhengHei UI"/>
                <a:cs typeface="Microsoft JhengHei UI"/>
              </a:rPr>
              <a:t>·</a:t>
            </a:r>
            <a:r>
              <a:rPr sz="2400" spc="400" dirty="0">
                <a:latin typeface="Lucida Sans Unicode"/>
                <a:cs typeface="Lucida Sans Unicode"/>
              </a:rPr>
              <a:t>Assign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roommate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pairs.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8572500"/>
            <a:ext cx="6953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05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exist.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162300" y="4762500"/>
          <a:ext cx="3556000" cy="285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626350" y="5820155"/>
          <a:ext cx="3750945" cy="1315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755"/>
                <a:gridCol w="636905"/>
                <a:gridCol w="1772285"/>
              </a:tblGrid>
              <a:tr h="403860">
                <a:tc>
                  <a:txBody>
                    <a:bodyPr/>
                    <a:lstStyle/>
                    <a:p>
                      <a:pPr marL="31750">
                        <a:lnSpc>
                          <a:spcPts val="2270"/>
                        </a:lnSpc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dirty="0">
                          <a:latin typeface="Lucida Sans Unicode"/>
                          <a:cs typeface="Lucida Sans Unicode"/>
                        </a:rPr>
                        <a:t>,</a:t>
                      </a:r>
                      <a:r>
                        <a:rPr sz="2000" spc="-4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2270"/>
                        </a:lnSpc>
                      </a:pPr>
                      <a:r>
                        <a:rPr sz="2000" spc="40" dirty="0">
                          <a:latin typeface="Lucida Sans Unicode"/>
                          <a:cs typeface="Lucida Sans Unicode"/>
                        </a:rPr>
                        <a:t>⇒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70"/>
                        </a:lnSpc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i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Lucida Sans Unicode"/>
                          <a:cs typeface="Lucida Sans Unicode"/>
                        </a:rPr>
                        <a:t>unstable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</a:tr>
              <a:tr h="50165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dirty="0">
                          <a:latin typeface="Lucida Sans Unicode"/>
                          <a:cs typeface="Lucida Sans Unicode"/>
                        </a:rPr>
                        <a:t>,</a:t>
                      </a:r>
                      <a:r>
                        <a:rPr sz="2000" spc="-4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spc="40" dirty="0">
                          <a:latin typeface="Lucida Sans Unicode"/>
                          <a:cs typeface="Lucida Sans Unicode"/>
                        </a:rPr>
                        <a:t>⇒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i="1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Lucida Sans Unicode"/>
                          <a:cs typeface="Lucida Sans Unicode"/>
                        </a:rPr>
                        <a:t>unstable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/>
                </a:tc>
              </a:tr>
              <a:tr h="4102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000" dirty="0">
                          <a:latin typeface="Lucida Sans Unicode"/>
                          <a:cs typeface="Lucida Sans Unicode"/>
                        </a:rPr>
                        <a:t>,</a:t>
                      </a:r>
                      <a:r>
                        <a:rPr sz="2000" spc="-4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spc="40" dirty="0">
                          <a:latin typeface="Lucida Sans Unicode"/>
                          <a:cs typeface="Lucida Sans Unicode"/>
                        </a:rPr>
                        <a:t>⇒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000" i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Lucida Sans Unicode"/>
                          <a:cs typeface="Lucida Sans Unicode"/>
                        </a:rPr>
                        <a:t>unstable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645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785100" y="5308600"/>
            <a:ext cx="30880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no</a:t>
            </a:r>
            <a:r>
              <a:rPr sz="1600" b="1" spc="95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perfect</a:t>
            </a:r>
            <a:r>
              <a:rPr sz="1600" b="1" spc="95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matching</a:t>
            </a:r>
            <a:r>
              <a:rPr sz="1600" b="1" spc="95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8D3124"/>
                </a:solidFill>
                <a:latin typeface="Tahoma"/>
                <a:cs typeface="Tahoma"/>
              </a:rPr>
              <a:t>is</a:t>
            </a:r>
            <a:r>
              <a:rPr sz="1600" b="1" spc="95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8D3124"/>
                </a:solidFill>
                <a:latin typeface="Tahoma"/>
                <a:cs typeface="Tahoma"/>
              </a:rPr>
              <a:t>stable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0400" y="1739900"/>
            <a:ext cx="4445000" cy="5105400"/>
            <a:chOff x="660400" y="1739900"/>
            <a:chExt cx="4445000" cy="510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400" y="1739900"/>
              <a:ext cx="4445000" cy="5105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5600" y="1892300"/>
              <a:ext cx="736600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4248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186940" algn="l"/>
              </a:tabLst>
            </a:pPr>
            <a:r>
              <a:rPr sz="3600" b="1" cap="small" spc="-25" dirty="0">
                <a:latin typeface="Tahoma"/>
                <a:cs typeface="Tahoma"/>
              </a:rPr>
              <a:t>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65" dirty="0">
                <a:latin typeface="Tahoma"/>
                <a:cs typeface="Tahoma"/>
              </a:rPr>
              <a:t>Stable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65" dirty="0">
                <a:latin typeface="Tahoma"/>
                <a:cs typeface="Tahoma"/>
              </a:rPr>
              <a:t>Matching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291330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0" dirty="0">
                <a:solidFill>
                  <a:srgbClr val="D5D5D5"/>
                </a:solidFill>
                <a:latin typeface="Verdana"/>
                <a:cs typeface="Verdana"/>
              </a:rPr>
              <a:t>stable</a:t>
            </a:r>
            <a:r>
              <a:rPr sz="3000" i="1" spc="-1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D5D5D5"/>
                </a:solidFill>
                <a:latin typeface="Verdana"/>
                <a:cs typeface="Verdana"/>
              </a:rPr>
              <a:t>matching</a:t>
            </a:r>
            <a:r>
              <a:rPr sz="3000" i="1" spc="-17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60" dirty="0">
                <a:latin typeface="Verdana"/>
                <a:cs typeface="Verdana"/>
              </a:rPr>
              <a:t>Gale–Shapley</a:t>
            </a:r>
            <a:r>
              <a:rPr sz="3000" i="1" spc="-170" dirty="0">
                <a:latin typeface="Verdana"/>
                <a:cs typeface="Verdana"/>
              </a:rPr>
              <a:t> </a:t>
            </a:r>
            <a:r>
              <a:rPr sz="3000" i="1" spc="-285" dirty="0">
                <a:latin typeface="Verdana"/>
                <a:cs typeface="Verdana"/>
              </a:rPr>
              <a:t>algorithm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54" dirty="0">
                <a:solidFill>
                  <a:srgbClr val="D5D5D5"/>
                </a:solidFill>
                <a:latin typeface="Verdana"/>
                <a:cs typeface="Verdana"/>
              </a:rPr>
              <a:t>hospital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00" dirty="0">
                <a:solidFill>
                  <a:srgbClr val="D5D5D5"/>
                </a:solidFill>
                <a:latin typeface="Verdana"/>
                <a:cs typeface="Verdana"/>
              </a:rPr>
              <a:t>optimality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50" dirty="0">
                <a:solidFill>
                  <a:srgbClr val="D5D5D5"/>
                </a:solidFill>
                <a:latin typeface="Verdana"/>
                <a:cs typeface="Verdana"/>
              </a:rPr>
              <a:t>context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500" y="6921500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1.1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6400" y="131290"/>
            <a:ext cx="12420600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Gale–Shapley</a:t>
            </a:r>
            <a:r>
              <a:rPr spc="310" dirty="0"/>
              <a:t> </a:t>
            </a:r>
            <a:r>
              <a:rPr spc="55" dirty="0"/>
              <a:t>deferred</a:t>
            </a:r>
            <a:r>
              <a:rPr spc="310" dirty="0"/>
              <a:t> </a:t>
            </a:r>
            <a:r>
              <a:rPr dirty="0"/>
              <a:t>acceptance</a:t>
            </a:r>
            <a:r>
              <a:rPr spc="310" dirty="0"/>
              <a:t> </a:t>
            </a:r>
            <a:r>
              <a:rPr spc="40" dirty="0"/>
              <a:t>algorithm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140" y="1724660"/>
            <a:ext cx="928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intuitive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method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guarantees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matching.</a:t>
            </a:r>
            <a:endParaRPr sz="2400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0000" y="2120900"/>
            <a:ext cx="9990455" cy="6979284"/>
            <a:chOff x="1270000" y="2120900"/>
            <a:chExt cx="9990455" cy="6979284"/>
          </a:xfrm>
        </p:grpSpPr>
        <p:sp>
          <p:nvSpPr>
            <p:cNvPr id="6" name="object 6"/>
            <p:cNvSpPr/>
            <p:nvPr/>
          </p:nvSpPr>
          <p:spPr>
            <a:xfrm>
              <a:off x="1270000" y="2120900"/>
              <a:ext cx="9990455" cy="6979284"/>
            </a:xfrm>
            <a:custGeom>
              <a:avLst/>
              <a:gdLst/>
              <a:ahLst/>
              <a:cxnLst/>
              <a:rect l="l" t="t" r="r" b="b"/>
              <a:pathLst>
                <a:path w="9990455" h="6979284">
                  <a:moveTo>
                    <a:pt x="0" y="0"/>
                  </a:moveTo>
                  <a:lnTo>
                    <a:pt x="9989959" y="0"/>
                  </a:lnTo>
                  <a:lnTo>
                    <a:pt x="9989959" y="6978848"/>
                  </a:lnTo>
                  <a:lnTo>
                    <a:pt x="0" y="6978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62100" y="2947676"/>
              <a:ext cx="9093200" cy="0"/>
            </a:xfrm>
            <a:custGeom>
              <a:avLst/>
              <a:gdLst/>
              <a:ahLst/>
              <a:cxnLst/>
              <a:rect l="l" t="t" r="r" b="b"/>
              <a:pathLst>
                <a:path w="9093200">
                  <a:moveTo>
                    <a:pt x="0" y="0"/>
                  </a:moveTo>
                  <a:lnTo>
                    <a:pt x="90932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70000" y="2120900"/>
            <a:ext cx="10490200" cy="659411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92100" marR="2366645">
              <a:lnSpc>
                <a:spcPts val="5400"/>
              </a:lnSpc>
              <a:spcBef>
                <a:spcPts val="280"/>
              </a:spcBef>
              <a:tabLst>
                <a:tab pos="1737360" algn="l"/>
              </a:tabLst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G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ALE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–S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HAPLEY</a:t>
            </a:r>
            <a:r>
              <a:rPr sz="1900" spc="8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preference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lists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for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hospitals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students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NITIALIZE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 matching.</a:t>
            </a:r>
            <a:endParaRPr sz="24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620"/>
              </a:spcBef>
              <a:tabLst>
                <a:tab pos="1229360" algn="l"/>
              </a:tabLst>
            </a:pP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WHILE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(some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hospital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unmatched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hasn’t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student)</a:t>
            </a:r>
            <a:endParaRPr sz="2400" dirty="0">
              <a:latin typeface="Times New Roman"/>
              <a:cs typeface="Times New Roman"/>
            </a:endParaRPr>
          </a:p>
          <a:p>
            <a:pPr marL="596900">
              <a:lnSpc>
                <a:spcPct val="100000"/>
              </a:lnSpc>
              <a:spcBef>
                <a:spcPts val="1220"/>
              </a:spcBef>
              <a:tabLst>
                <a:tab pos="867410" algn="l"/>
              </a:tabLst>
            </a:pPr>
            <a:r>
              <a:rPr sz="2400" i="1" spc="-50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110" dirty="0">
                <a:latin typeface="Lucida Sans Unicode"/>
                <a:cs typeface="Lucida Sans Unicode"/>
              </a:rPr>
              <a:t>←</a:t>
            </a:r>
            <a:r>
              <a:rPr sz="2400" spc="-19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first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h</a:t>
            </a:r>
            <a:r>
              <a:rPr sz="2400" spc="-10" dirty="0">
                <a:latin typeface="Times New Roman"/>
                <a:cs typeface="Times New Roman"/>
              </a:rPr>
              <a:t>’s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proposed.</a:t>
            </a:r>
            <a:endParaRPr sz="2400" dirty="0">
              <a:latin typeface="Times New Roman"/>
              <a:cs typeface="Times New Roman"/>
            </a:endParaRPr>
          </a:p>
          <a:p>
            <a:pPr marL="596900">
              <a:lnSpc>
                <a:spcPct val="100000"/>
              </a:lnSpc>
              <a:spcBef>
                <a:spcPts val="1320"/>
              </a:spcBef>
              <a:tabLst>
                <a:tab pos="965835" algn="l"/>
              </a:tabLst>
            </a:pP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unmatched)</a:t>
            </a:r>
            <a:endParaRPr sz="2400" dirty="0">
              <a:latin typeface="Times New Roman"/>
              <a:cs typeface="Times New Roman"/>
            </a:endParaRPr>
          </a:p>
          <a:p>
            <a:pPr marL="9779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977900" marR="4351020" indent="-342900">
              <a:lnSpc>
                <a:spcPts val="4200"/>
              </a:lnSpc>
              <a:spcBef>
                <a:spcPts val="259"/>
              </a:spcBef>
              <a:tabLst>
                <a:tab pos="1662430" algn="l"/>
              </a:tabLst>
            </a:pP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r>
              <a:rPr sz="1900" spc="11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prefers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partner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ʹ</a:t>
            </a:r>
            <a:r>
              <a:rPr sz="2400" spc="-2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1060"/>
              </a:spcBef>
            </a:pPr>
            <a:r>
              <a:rPr sz="1900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1900" dirty="0">
              <a:latin typeface="Times New Roman"/>
              <a:cs typeface="Times New Roman"/>
            </a:endParaRPr>
          </a:p>
          <a:p>
            <a:pPr marL="977900">
              <a:lnSpc>
                <a:spcPct val="100000"/>
              </a:lnSpc>
              <a:spcBef>
                <a:spcPts val="122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rejects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62100" y="8802376"/>
            <a:ext cx="9093200" cy="0"/>
          </a:xfrm>
          <a:custGeom>
            <a:avLst/>
            <a:gdLst/>
            <a:ahLst/>
            <a:cxnLst/>
            <a:rect l="l" t="t" r="r" b="b"/>
            <a:pathLst>
              <a:path w="9093200">
                <a:moveTo>
                  <a:pt x="0" y="0"/>
                </a:moveTo>
                <a:lnTo>
                  <a:pt x="90932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4300" y="1536700"/>
            <a:ext cx="7493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111125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1235" algn="l"/>
              </a:tabLst>
            </a:pPr>
            <a:r>
              <a:rPr dirty="0"/>
              <a:t>Proof</a:t>
            </a:r>
            <a:r>
              <a:rPr spc="80" dirty="0"/>
              <a:t> of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termination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1372850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122045">
              <a:lnSpc>
                <a:spcPct val="131900"/>
              </a:lnSpc>
              <a:spcBef>
                <a:spcPts val="100"/>
              </a:spcBef>
              <a:tabLst>
                <a:tab pos="242824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decreasing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of </a:t>
            </a:r>
            <a:r>
              <a:rPr sz="2400" spc="-10" dirty="0">
                <a:latin typeface="Lucida Sans Unicode"/>
                <a:cs typeface="Lucida Sans Unicode"/>
              </a:rPr>
              <a:t>preference.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50800" marR="765175">
              <a:lnSpc>
                <a:spcPct val="131900"/>
              </a:lnSpc>
              <a:spcBef>
                <a:spcPts val="5"/>
              </a:spcBef>
              <a:tabLst>
                <a:tab pos="242824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Once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never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becomes </a:t>
            </a:r>
            <a:r>
              <a:rPr sz="2400" dirty="0">
                <a:latin typeface="Lucida Sans Unicode"/>
                <a:cs typeface="Lucida Sans Unicode"/>
              </a:rPr>
              <a:t>unmatched; only “trades </a:t>
            </a:r>
            <a:r>
              <a:rPr sz="2400" spc="-20" dirty="0">
                <a:latin typeface="Lucida Sans Unicode"/>
                <a:cs typeface="Lucida Sans Unicode"/>
              </a:rPr>
              <a:t>up.”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1791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terminates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after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baseline="19097" dirty="0">
                <a:latin typeface="Times New Roman"/>
                <a:cs typeface="Times New Roman"/>
              </a:rPr>
              <a:t>2</a:t>
            </a:r>
            <a:r>
              <a:rPr sz="2400" spc="457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iterations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loop.</a:t>
            </a:r>
            <a:endParaRPr sz="2400" dirty="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tabLst>
                <a:tab pos="619760" algn="l"/>
                <a:tab pos="707263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through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loop,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new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student. 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baseline="19097" dirty="0">
                <a:latin typeface="Times New Roman"/>
                <a:cs typeface="Times New Roman"/>
              </a:rPr>
              <a:t>2</a:t>
            </a:r>
            <a:r>
              <a:rPr sz="2400" spc="480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possible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proposals.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 dirty="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36737" y="6145424"/>
          <a:ext cx="4347207" cy="245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656589"/>
                <a:gridCol w="655955"/>
                <a:gridCol w="655955"/>
                <a:gridCol w="655954"/>
                <a:gridCol w="655954"/>
              </a:tblGrid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spc="1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V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V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V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V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20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V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94294" y="6145424"/>
          <a:ext cx="4345938" cy="245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165"/>
                <a:gridCol w="655954"/>
                <a:gridCol w="655955"/>
                <a:gridCol w="655955"/>
                <a:gridCol w="655955"/>
                <a:gridCol w="655954"/>
              </a:tblGrid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00" b="1" spc="-37" baseline="-11904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100" spc="-37" baseline="-11904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th</a:t>
                      </a:r>
                      <a:endParaRPr sz="900">
                        <a:latin typeface="Lucida Sans Unicode"/>
                        <a:cs typeface="Lucida Sans Unicode"/>
                      </a:endParaRPr>
                    </a:p>
                  </a:txBody>
                  <a:tcPr marL="0" marR="0" marT="317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39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marL="911225" indent="-647700">
                        <a:lnSpc>
                          <a:spcPct val="100000"/>
                        </a:lnSpc>
                        <a:spcBef>
                          <a:spcPts val="640"/>
                        </a:spcBef>
                        <a:buAutoNum type="alphaUcPeriod" startAt="3"/>
                        <a:tabLst>
                          <a:tab pos="911225" algn="l"/>
                          <a:tab pos="1597025" algn="l"/>
                          <a:tab pos="2232025" algn="l"/>
                        </a:tabLst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  <a:p>
                      <a:pPr marL="936625" indent="-673100">
                        <a:lnSpc>
                          <a:spcPct val="100000"/>
                        </a:lnSpc>
                        <a:spcBef>
                          <a:spcPts val="1520"/>
                        </a:spcBef>
                        <a:buAutoNum type="alphaUcPeriod" startAt="3"/>
                        <a:tabLst>
                          <a:tab pos="936625" algn="l"/>
                          <a:tab pos="1584325" algn="l"/>
                          <a:tab pos="2244725" algn="l"/>
                        </a:tabLst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  <a:p>
                      <a:pPr marL="923925" indent="-647700">
                        <a:lnSpc>
                          <a:spcPct val="100000"/>
                        </a:lnSpc>
                        <a:spcBef>
                          <a:spcPts val="1520"/>
                        </a:spcBef>
                        <a:buAutoNum type="alphaUcPeriod" startAt="3"/>
                        <a:tabLst>
                          <a:tab pos="923925" algn="l"/>
                          <a:tab pos="1584325" algn="l"/>
                          <a:tab pos="2232025" algn="l"/>
                        </a:tabLst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6625" indent="-673100">
                        <a:lnSpc>
                          <a:spcPct val="100000"/>
                        </a:lnSpc>
                        <a:buAutoNum type="alphaUcPeriod"/>
                        <a:tabLst>
                          <a:tab pos="936625" algn="l"/>
                          <a:tab pos="1584325" algn="l"/>
                          <a:tab pos="2232025" algn="l"/>
                        </a:tabLst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  <a:p>
                      <a:pPr marL="923925" indent="-647700">
                        <a:lnSpc>
                          <a:spcPct val="100000"/>
                        </a:lnSpc>
                        <a:spcBef>
                          <a:spcPts val="1520"/>
                        </a:spcBef>
                        <a:buAutoNum type="alphaUcPeriod"/>
                        <a:tabLst>
                          <a:tab pos="923925" algn="l"/>
                          <a:tab pos="1571625" algn="l"/>
                          <a:tab pos="2244725" algn="l"/>
                        </a:tabLst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r>
                        <a:rPr sz="14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08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810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95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96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42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957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920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562600" y="8864600"/>
            <a:ext cx="22396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n(n-1)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1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proposals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122047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1235" algn="l"/>
              </a:tabLst>
            </a:pPr>
            <a:r>
              <a:rPr dirty="0"/>
              <a:t>Proof</a:t>
            </a:r>
            <a:r>
              <a:rPr spc="80" dirty="0"/>
              <a:t> of </a:t>
            </a:r>
            <a:r>
              <a:rPr spc="-10" dirty="0"/>
              <a:t>correctness:</a:t>
            </a:r>
            <a:r>
              <a:rPr dirty="0"/>
              <a:t>	perfect</a:t>
            </a:r>
            <a:r>
              <a:rPr spc="34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16660"/>
            <a:ext cx="10227310" cy="1513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5720">
              <a:lnSpc>
                <a:spcPct val="131900"/>
              </a:lnSpc>
              <a:spcBef>
                <a:spcPts val="100"/>
              </a:spcBef>
              <a:tabLst>
                <a:tab pos="11664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Gale–Shapley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outputs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a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10000"/>
                </a:solidFill>
                <a:latin typeface="Lucida Sans Unicode"/>
                <a:cs typeface="Lucida Sans Unicode"/>
              </a:rPr>
              <a:t>matching.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 dirty="0">
              <a:latin typeface="Lucida Sans Unicode"/>
              <a:cs typeface="Lucida Sans Unicode"/>
            </a:endParaRPr>
          </a:p>
          <a:p>
            <a:pPr marL="165100">
              <a:lnSpc>
                <a:spcPts val="3679"/>
              </a:lnSpc>
            </a:pPr>
            <a:r>
              <a:rPr sz="5775" spc="465" baseline="-5772" dirty="0">
                <a:latin typeface="Microsoft JhengHei UI"/>
                <a:cs typeface="Microsoft JhengHei UI"/>
              </a:rPr>
              <a:t>·</a:t>
            </a:r>
            <a:r>
              <a:rPr sz="2400" spc="310" dirty="0">
                <a:latin typeface="Lucida Sans Unicode"/>
                <a:cs typeface="Lucida Sans Unicode"/>
              </a:rPr>
              <a:t>Hospital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unmatched.</a:t>
            </a:r>
            <a:endParaRPr sz="2400" dirty="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540" baseline="-5772" dirty="0">
                <a:latin typeface="Microsoft JhengHei UI"/>
                <a:cs typeface="Microsoft JhengHei UI"/>
              </a:rPr>
              <a:t>·</a:t>
            </a:r>
            <a:r>
              <a:rPr sz="2400" spc="360" dirty="0">
                <a:latin typeface="Lucida Sans Unicode"/>
                <a:cs typeface="Lucida Sans Unicode"/>
              </a:rPr>
              <a:t>Student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keeps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9388" y="2181860"/>
            <a:ext cx="4023360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19"/>
              </a:spcBef>
              <a:tabLst>
                <a:tab pos="51180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matched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1</a:t>
            </a:r>
            <a:r>
              <a:rPr sz="2400" spc="-10" dirty="0">
                <a:latin typeface="Lucida Sans Unicode"/>
                <a:cs typeface="Lucida Sans Unicode"/>
              </a:rPr>
              <a:t> student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matched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1</a:t>
            </a:r>
            <a:r>
              <a:rPr sz="2400" spc="-10" dirty="0">
                <a:latin typeface="Lucida Sans Unicode"/>
                <a:cs typeface="Lucida Sans Unicode"/>
              </a:rPr>
              <a:t> hospital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3629659"/>
            <a:ext cx="10240010" cy="585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249680">
              <a:lnSpc>
                <a:spcPct val="131900"/>
              </a:lnSpc>
              <a:spcBef>
                <a:spcPts val="100"/>
              </a:spcBef>
              <a:tabLst>
                <a:tab pos="619760" algn="l"/>
                <a:tab pos="11791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In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Gale–Shapley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matching,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all</a:t>
            </a:r>
            <a:r>
              <a:rPr sz="2400" spc="-3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hospitals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get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10000"/>
                </a:solidFill>
                <a:latin typeface="Lucida Sans Unicode"/>
                <a:cs typeface="Lucida Sans Unicode"/>
              </a:rPr>
              <a:t>matched.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[by</a:t>
            </a:r>
            <a:r>
              <a:rPr sz="2400" spc="10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contradiction]</a:t>
            </a:r>
            <a:endParaRPr sz="2400" dirty="0">
              <a:latin typeface="Lucida Sans Unicode"/>
              <a:cs typeface="Lucida Sans Unicode"/>
            </a:endParaRPr>
          </a:p>
          <a:p>
            <a:pPr marL="635000" marR="360680" indent="-457200">
              <a:lnSpc>
                <a:spcPts val="3800"/>
              </a:lnSpc>
              <a:spcBef>
                <a:spcPts val="280"/>
              </a:spcBef>
            </a:pPr>
            <a:r>
              <a:rPr sz="5775" spc="465" baseline="-5772" dirty="0">
                <a:solidFill>
                  <a:srgbClr val="010000"/>
                </a:solidFill>
                <a:latin typeface="Microsoft JhengHei UI"/>
                <a:cs typeface="Microsoft JhengHei UI"/>
              </a:rPr>
              <a:t>·</a:t>
            </a:r>
            <a:r>
              <a:rPr sz="2400" spc="310" dirty="0">
                <a:solidFill>
                  <a:srgbClr val="010000"/>
                </a:solidFill>
                <a:latin typeface="Lucida Sans Unicode"/>
                <a:cs typeface="Lucida Sans Unicode"/>
              </a:rPr>
              <a:t>Suppose,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for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sake</a:t>
            </a:r>
            <a:r>
              <a:rPr sz="2400" spc="-2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of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contradiction,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that</a:t>
            </a:r>
            <a:r>
              <a:rPr sz="2400" spc="-2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some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hospital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010000"/>
                </a:solidFill>
                <a:latin typeface="Times New Roman"/>
                <a:cs typeface="Times New Roman"/>
              </a:rPr>
              <a:t>h</a:t>
            </a:r>
            <a:r>
              <a:rPr sz="2400" i="1" spc="-15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400" spc="-220" dirty="0">
                <a:solidFill>
                  <a:srgbClr val="010000"/>
                </a:solidFill>
                <a:latin typeface="Lucida Sans Unicode"/>
                <a:cs typeface="Lucida Sans Unicode"/>
              </a:rPr>
              <a:t>∈</a:t>
            </a:r>
            <a:r>
              <a:rPr sz="2400" spc="-16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010000"/>
                </a:solidFill>
                <a:latin typeface="Times New Roman"/>
                <a:cs typeface="Times New Roman"/>
              </a:rPr>
              <a:t>H</a:t>
            </a:r>
            <a:r>
              <a:rPr sz="2400" i="1" spc="140" dirty="0">
                <a:solidFill>
                  <a:srgbClr val="01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10000"/>
                </a:solidFill>
                <a:latin typeface="Lucida Sans Unicode"/>
                <a:cs typeface="Lucida Sans Unicode"/>
              </a:rPr>
              <a:t>is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unmatched</a:t>
            </a:r>
            <a:r>
              <a:rPr sz="2400" spc="-5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upon</a:t>
            </a:r>
            <a:r>
              <a:rPr sz="2400" spc="-5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termination</a:t>
            </a:r>
            <a:r>
              <a:rPr sz="2400" spc="-5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of</a:t>
            </a:r>
            <a:r>
              <a:rPr sz="2400" spc="-4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Gale–Shapley</a:t>
            </a:r>
            <a:r>
              <a:rPr sz="2400" spc="-5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10000"/>
                </a:solidFill>
                <a:latin typeface="Lucida Sans Unicode"/>
                <a:cs typeface="Lucida Sans Unicode"/>
              </a:rPr>
              <a:t>algorithm.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3400"/>
              </a:lnSpc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220" dirty="0">
                <a:latin typeface="Lucida Sans Unicode"/>
                <a:cs typeface="Lucida Sans Unicode"/>
              </a:rPr>
              <a:t>∈</a:t>
            </a:r>
            <a:r>
              <a:rPr sz="2400" spc="-1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unmatched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termination.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1500" baseline="-5772" dirty="0">
                <a:latin typeface="Microsoft JhengHei UI"/>
                <a:cs typeface="Microsoft JhengHei UI"/>
              </a:rPr>
              <a:t>·</a:t>
            </a:r>
            <a:r>
              <a:rPr sz="2400" spc="1000" dirty="0">
                <a:latin typeface="Lucida Sans Unicode"/>
                <a:cs typeface="Lucida Sans Unicode"/>
              </a:rPr>
              <a:t>By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Observation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2,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was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never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to.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9968230" algn="l"/>
              </a:tabLst>
            </a:pPr>
            <a:r>
              <a:rPr sz="5775" spc="855" baseline="-5772" dirty="0">
                <a:latin typeface="Microsoft JhengHei UI"/>
                <a:cs typeface="Microsoft JhengHei UI"/>
              </a:rPr>
              <a:t>·</a:t>
            </a:r>
            <a:r>
              <a:rPr sz="2400" spc="570" dirty="0">
                <a:latin typeface="Lucida Sans Unicode"/>
                <a:cs typeface="Lucida Sans Unicode"/>
              </a:rPr>
              <a:t>But,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since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ends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unmatched.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※</a:t>
            </a:r>
            <a:endParaRPr sz="2400" dirty="0">
              <a:latin typeface="Lucida Sans Unicode"/>
              <a:cs typeface="Lucida Sans Unicode"/>
            </a:endParaRPr>
          </a:p>
          <a:p>
            <a:pPr marL="50800" marR="1308100">
              <a:lnSpc>
                <a:spcPct val="131900"/>
              </a:lnSpc>
              <a:spcBef>
                <a:spcPts val="3510"/>
              </a:spcBef>
              <a:tabLst>
                <a:tab pos="619760" algn="l"/>
                <a:tab pos="11791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In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Gale–Shapley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matching,</a:t>
            </a:r>
            <a:r>
              <a:rPr sz="2400" spc="-3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all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students</a:t>
            </a:r>
            <a:r>
              <a:rPr sz="2400" spc="-3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get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10000"/>
                </a:solidFill>
                <a:latin typeface="Lucida Sans Unicode"/>
                <a:cs typeface="Lucida Sans Unicode"/>
              </a:rPr>
              <a:t>matched.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[by</a:t>
            </a:r>
            <a:r>
              <a:rPr sz="2400" spc="10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counting]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1500" baseline="-4329" dirty="0">
                <a:latin typeface="Microsoft JhengHei UI"/>
                <a:cs typeface="Microsoft JhengHei UI"/>
              </a:rPr>
              <a:t>·</a:t>
            </a:r>
            <a:r>
              <a:rPr sz="2400" spc="1000" dirty="0">
                <a:latin typeface="Lucida Sans Unicode"/>
                <a:cs typeface="Lucida Sans Unicode"/>
              </a:rPr>
              <a:t>By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previous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claim,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n</a:t>
            </a:r>
            <a:r>
              <a:rPr sz="2600" i="1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get</a:t>
            </a:r>
            <a:r>
              <a:rPr sz="2400" spc="-10" dirty="0">
                <a:latin typeface="Lucida Sans Unicode"/>
                <a:cs typeface="Lucida Sans Unicode"/>
              </a:rPr>
              <a:t> matched.</a:t>
            </a:r>
            <a:endParaRPr sz="2400" dirty="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5776595" algn="l"/>
              </a:tabLst>
            </a:pPr>
            <a:r>
              <a:rPr sz="5775" spc="719" baseline="-4329" dirty="0">
                <a:latin typeface="Microsoft JhengHei UI"/>
                <a:cs typeface="Microsoft JhengHei UI"/>
              </a:rPr>
              <a:t>·</a:t>
            </a:r>
            <a:r>
              <a:rPr sz="2400" spc="480" dirty="0">
                <a:latin typeface="Lucida Sans Unicode"/>
                <a:cs typeface="Lucida Sans Unicode"/>
              </a:rPr>
              <a:t>Thus,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n</a:t>
            </a:r>
            <a:r>
              <a:rPr sz="26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matched.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113919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1235" algn="l"/>
              </a:tabLst>
            </a:pPr>
            <a:r>
              <a:rPr dirty="0"/>
              <a:t>Proof</a:t>
            </a:r>
            <a:r>
              <a:rPr spc="80" dirty="0"/>
              <a:t> of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stability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972502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581660" algn="l"/>
                <a:tab pos="11410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In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Gale–Shapley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matching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,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there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are</a:t>
            </a:r>
            <a:r>
              <a:rPr sz="2400" spc="-40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no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10000"/>
                </a:solidFill>
                <a:latin typeface="Lucida Sans Unicode"/>
                <a:cs typeface="Lucida Sans Unicode"/>
              </a:rPr>
              <a:t>unstable</a:t>
            </a:r>
            <a:r>
              <a:rPr sz="2400" spc="-35" dirty="0">
                <a:solidFill>
                  <a:srgbClr val="01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10000"/>
                </a:solidFill>
                <a:latin typeface="Lucida Sans Unicode"/>
                <a:cs typeface="Lucida Sans Unicode"/>
              </a:rPr>
              <a:t>pairs.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598420"/>
            <a:ext cx="164909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855" baseline="-5772" dirty="0">
                <a:latin typeface="Microsoft JhengHei UI"/>
                <a:cs typeface="Microsoft JhengHei UI"/>
              </a:rPr>
              <a:t>·</a:t>
            </a:r>
            <a:r>
              <a:rPr sz="2400" spc="570" dirty="0">
                <a:latin typeface="Lucida Sans Unicode"/>
                <a:cs typeface="Lucida Sans Unicode"/>
              </a:rPr>
              <a:t>Case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1: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2298" y="2781300"/>
            <a:ext cx="3307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283" y="3147060"/>
            <a:ext cx="6487160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unstable.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4528820"/>
            <a:ext cx="164909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855" baseline="-5772" dirty="0">
                <a:latin typeface="Microsoft JhengHei UI"/>
                <a:cs typeface="Microsoft JhengHei UI"/>
              </a:rPr>
              <a:t>·</a:t>
            </a:r>
            <a:r>
              <a:rPr sz="2400" spc="570" dirty="0">
                <a:latin typeface="Lucida Sans Unicode"/>
                <a:cs typeface="Lucida Sans Unicode"/>
              </a:rPr>
              <a:t>Case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2: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2298" y="4711700"/>
            <a:ext cx="238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0283" y="5077459"/>
            <a:ext cx="6156325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(either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right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away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later)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0283" y="6159500"/>
            <a:ext cx="3326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5459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unstable.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9000" y="6941819"/>
            <a:ext cx="713359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940550" algn="l"/>
              </a:tabLst>
            </a:pPr>
            <a:r>
              <a:rPr sz="5775" spc="1447" baseline="-5772" dirty="0">
                <a:latin typeface="Microsoft JhengHei UI"/>
                <a:cs typeface="Microsoft JhengHei UI"/>
              </a:rPr>
              <a:t>·</a:t>
            </a:r>
            <a:r>
              <a:rPr sz="2400" spc="965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unstable.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24900" y="3073400"/>
            <a:ext cx="2035810" cy="7899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hospitals</a:t>
            </a:r>
            <a:r>
              <a:rPr sz="1600" spc="-7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propose</a:t>
            </a:r>
            <a:r>
              <a:rPr sz="1600" spc="-7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in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decreasing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order</a:t>
            </a:r>
            <a:endParaRPr sz="1600">
              <a:latin typeface="Lucida Sans Unicode"/>
              <a:cs typeface="Lucida Sans Unicode"/>
            </a:endParaRPr>
          </a:p>
          <a:p>
            <a:pPr marL="17145" algn="ctr">
              <a:lnSpc>
                <a:spcPct val="100000"/>
              </a:lnSpc>
              <a:spcBef>
                <a:spcPts val="18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preference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07113" y="3439444"/>
            <a:ext cx="605790" cy="121920"/>
            <a:chOff x="8107113" y="3439444"/>
            <a:chExt cx="605790" cy="121920"/>
          </a:xfrm>
        </p:grpSpPr>
        <p:sp>
          <p:nvSpPr>
            <p:cNvPr id="15" name="object 15"/>
            <p:cNvSpPr/>
            <p:nvPr/>
          </p:nvSpPr>
          <p:spPr>
            <a:xfrm>
              <a:off x="8185853" y="3500404"/>
              <a:ext cx="527050" cy="0"/>
            </a:xfrm>
            <a:custGeom>
              <a:avLst/>
              <a:gdLst/>
              <a:ahLst/>
              <a:cxnLst/>
              <a:rect l="l" t="t" r="r" b="b"/>
              <a:pathLst>
                <a:path w="527050">
                  <a:moveTo>
                    <a:pt x="0" y="0"/>
                  </a:moveTo>
                  <a:lnTo>
                    <a:pt x="12699" y="0"/>
                  </a:lnTo>
                  <a:lnTo>
                    <a:pt x="526978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7113" y="343944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19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39000" y="6438900"/>
            <a:ext cx="22618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students only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trade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up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11206" y="6086717"/>
            <a:ext cx="363855" cy="363855"/>
            <a:chOff x="6811206" y="6086717"/>
            <a:chExt cx="363855" cy="363855"/>
          </a:xfrm>
        </p:grpSpPr>
        <p:sp>
          <p:nvSpPr>
            <p:cNvPr id="19" name="object 19"/>
            <p:cNvSpPr/>
            <p:nvPr/>
          </p:nvSpPr>
          <p:spPr>
            <a:xfrm>
              <a:off x="6866884" y="6142394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0"/>
                  </a:moveTo>
                  <a:lnTo>
                    <a:pt x="8980" y="8980"/>
                  </a:lnTo>
                  <a:lnTo>
                    <a:pt x="295227" y="295227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11206" y="6086717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0" y="0"/>
                  </a:moveTo>
                  <a:lnTo>
                    <a:pt x="43105" y="129315"/>
                  </a:lnTo>
                  <a:lnTo>
                    <a:pt x="64658" y="64656"/>
                  </a:lnTo>
                  <a:lnTo>
                    <a:pt x="129316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642600" y="6002337"/>
            <a:ext cx="1206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635"/>
              </a:spcBef>
            </a:pPr>
            <a:r>
              <a:rPr sz="2000" i="1" dirty="0">
                <a:latin typeface="Times New Roman"/>
                <a:cs typeface="Times New Roman"/>
              </a:rPr>
              <a:t>h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i="1" spc="-25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Lucida Sans Unicode"/>
                <a:cs typeface="Lucida Sans Unicode"/>
              </a:rPr>
              <a:t>ʹ</a:t>
            </a:r>
            <a:endParaRPr sz="2000">
              <a:latin typeface="Lucida Sans Unicode"/>
              <a:cs typeface="Lucida Sans Unicode"/>
            </a:endParaRPr>
          </a:p>
          <a:p>
            <a:pPr marL="330200">
              <a:lnSpc>
                <a:spcPct val="100000"/>
              </a:lnSpc>
              <a:spcBef>
                <a:spcPts val="1500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r>
              <a:rPr sz="2000" spc="-50" dirty="0">
                <a:latin typeface="Lucida Sans Unicode"/>
                <a:cs typeface="Lucida Sans Unicode"/>
              </a:rPr>
              <a:t>ʹ</a:t>
            </a:r>
            <a:r>
              <a:rPr sz="2000" spc="-1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  <a:spcBef>
                <a:spcPts val="1200"/>
              </a:spcBef>
            </a:pPr>
            <a:r>
              <a:rPr sz="2000" spc="-830" dirty="0">
                <a:latin typeface="Lucida Sans Unicode"/>
                <a:cs typeface="Lucida Sans Unicode"/>
              </a:rPr>
              <a:t>⋮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79000" y="8102600"/>
            <a:ext cx="27781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Gale–Shapley</a:t>
            </a:r>
            <a:r>
              <a:rPr sz="1600" b="1" spc="4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matching</a:t>
            </a:r>
            <a:r>
              <a:rPr sz="1600" b="1" spc="50" dirty="0">
                <a:latin typeface="Tahoma"/>
                <a:cs typeface="Tahoma"/>
              </a:rPr>
              <a:t> </a:t>
            </a:r>
            <a:r>
              <a:rPr sz="1600" b="1" spc="-40" dirty="0">
                <a:latin typeface="Tahoma"/>
                <a:cs typeface="Tahoma"/>
              </a:rPr>
              <a:t>M*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7165" y="2057400"/>
            <a:ext cx="10690860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5600">
              <a:lnSpc>
                <a:spcPct val="131900"/>
              </a:lnSpc>
              <a:spcBef>
                <a:spcPts val="100"/>
              </a:spcBef>
              <a:tabLst>
                <a:tab pos="400939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Stable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matching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their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lists,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exists.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  <a:tabLst>
                <a:tab pos="1619250" algn="l"/>
                <a:tab pos="482155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[Gale–Shapley</a:t>
            </a:r>
            <a:r>
              <a:rPr sz="24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1962]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guarantees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instance.</a:t>
            </a:r>
            <a:endParaRPr sz="2400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45680" y="5220110"/>
            <a:ext cx="6513830" cy="3994150"/>
            <a:chOff x="3245680" y="5220110"/>
            <a:chExt cx="6513830" cy="3994150"/>
          </a:xfrm>
        </p:grpSpPr>
        <p:sp>
          <p:nvSpPr>
            <p:cNvPr id="6" name="object 6"/>
            <p:cNvSpPr/>
            <p:nvPr/>
          </p:nvSpPr>
          <p:spPr>
            <a:xfrm>
              <a:off x="3245680" y="5220110"/>
              <a:ext cx="6513830" cy="3994150"/>
            </a:xfrm>
            <a:custGeom>
              <a:avLst/>
              <a:gdLst/>
              <a:ahLst/>
              <a:cxnLst/>
              <a:rect l="l" t="t" r="r" b="b"/>
              <a:pathLst>
                <a:path w="6513830" h="3994150">
                  <a:moveTo>
                    <a:pt x="0" y="0"/>
                  </a:moveTo>
                  <a:lnTo>
                    <a:pt x="6513440" y="0"/>
                  </a:lnTo>
                  <a:lnTo>
                    <a:pt x="6513440" y="3993765"/>
                  </a:lnTo>
                  <a:lnTo>
                    <a:pt x="0" y="3993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200" y="5364443"/>
              <a:ext cx="6133017" cy="36144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47918" y="-8890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58600" y="228597"/>
            <a:ext cx="491490" cy="584200"/>
            <a:chOff x="11658600" y="228597"/>
            <a:chExt cx="491490" cy="584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2113" y="466634"/>
              <a:ext cx="98027" cy="98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0" y="228597"/>
              <a:ext cx="491106" cy="58407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3600" y="1333500"/>
            <a:ext cx="10774045" cy="407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5" dirty="0">
                <a:latin typeface="Tahoma"/>
                <a:cs typeface="Tahoma"/>
              </a:rPr>
              <a:t>Do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all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executions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60" dirty="0">
                <a:latin typeface="Tahoma"/>
                <a:cs typeface="Tahoma"/>
              </a:rPr>
              <a:t>of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Gale–Shapley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lead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to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same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stable</a:t>
            </a:r>
            <a:r>
              <a:rPr sz="2400" b="1" spc="114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matching?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 dirty="0">
              <a:latin typeface="Tahoma"/>
              <a:cs typeface="Tahoma"/>
            </a:endParaRPr>
          </a:p>
          <a:p>
            <a:pPr marL="1015365" indent="-647065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1015365" algn="l"/>
              </a:tabLst>
            </a:pPr>
            <a:r>
              <a:rPr sz="2400" dirty="0">
                <a:latin typeface="Lucida Sans Unicode"/>
                <a:cs typeface="Lucida Sans Unicode"/>
              </a:rPr>
              <a:t>No,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because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nondeterministic.</a:t>
            </a:r>
            <a:endParaRPr sz="2400" dirty="0">
              <a:latin typeface="Lucida Sans Unicode"/>
              <a:cs typeface="Lucida Sans Unicode"/>
            </a:endParaRPr>
          </a:p>
          <a:p>
            <a:pPr marL="1015365" indent="-647065">
              <a:lnSpc>
                <a:spcPct val="100000"/>
              </a:lnSpc>
              <a:spcBef>
                <a:spcPts val="3320"/>
              </a:spcBef>
              <a:buClr>
                <a:srgbClr val="005493"/>
              </a:buClr>
              <a:buFont typeface="Tahoma"/>
              <a:buAutoNum type="alphaUcPeriod"/>
              <a:tabLst>
                <a:tab pos="1015365" algn="l"/>
              </a:tabLst>
            </a:pPr>
            <a:r>
              <a:rPr sz="2400" dirty="0">
                <a:latin typeface="Lucida Sans Unicode"/>
                <a:cs typeface="Lucida Sans Unicode"/>
              </a:rPr>
              <a:t>No, because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several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matchings.</a:t>
            </a:r>
            <a:endParaRPr sz="2400" dirty="0">
              <a:latin typeface="Lucida Sans Unicode"/>
              <a:cs typeface="Lucida Sans Unicode"/>
            </a:endParaRPr>
          </a:p>
          <a:p>
            <a:pPr marL="1015365" indent="-647065">
              <a:lnSpc>
                <a:spcPct val="100000"/>
              </a:lnSpc>
              <a:spcBef>
                <a:spcPts val="3320"/>
              </a:spcBef>
              <a:buClr>
                <a:srgbClr val="005493"/>
              </a:buClr>
              <a:buFont typeface="Tahoma"/>
              <a:buAutoNum type="alphaUcPeriod"/>
              <a:tabLst>
                <a:tab pos="1015365" algn="l"/>
              </a:tabLst>
            </a:pPr>
            <a:r>
              <a:rPr sz="2400" dirty="0">
                <a:latin typeface="Lucida Sans Unicode"/>
                <a:cs typeface="Lucida Sans Unicode"/>
              </a:rPr>
              <a:t>Yes,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because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unique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matching.</a:t>
            </a:r>
            <a:endParaRPr sz="2400" dirty="0">
              <a:latin typeface="Lucida Sans Unicode"/>
              <a:cs typeface="Lucida Sans Unicode"/>
            </a:endParaRPr>
          </a:p>
          <a:p>
            <a:pPr marL="1016000" marR="231775" indent="-647700">
              <a:lnSpc>
                <a:spcPct val="131900"/>
              </a:lnSpc>
              <a:spcBef>
                <a:spcPts val="2405"/>
              </a:spcBef>
              <a:buClr>
                <a:srgbClr val="005493"/>
              </a:buClr>
              <a:buFont typeface="Tahoma"/>
              <a:buAutoNum type="alphaUcPeriod"/>
              <a:tabLst>
                <a:tab pos="1016000" algn="l"/>
              </a:tabLst>
            </a:pPr>
            <a:r>
              <a:rPr sz="2400" dirty="0">
                <a:latin typeface="Lucida Sans Unicode"/>
                <a:cs typeface="Lucida Sans Unicode"/>
              </a:rPr>
              <a:t>Yes,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though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several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matchings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nondeterministic.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63600" y="355600"/>
            <a:ext cx="10858822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8145" algn="l"/>
              </a:tabLst>
            </a:pPr>
            <a:r>
              <a:rPr dirty="0"/>
              <a:t>Stable</a:t>
            </a:r>
            <a:r>
              <a:rPr spc="145" dirty="0"/>
              <a:t> </a:t>
            </a:r>
            <a:r>
              <a:rPr spc="-10" dirty="0"/>
              <a:t>matching: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2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016000" y="4445000"/>
            <a:ext cx="685800" cy="685800"/>
            <a:chOff x="1016000" y="4445000"/>
            <a:chExt cx="685800" cy="685800"/>
          </a:xfrm>
        </p:grpSpPr>
        <p:sp>
          <p:nvSpPr>
            <p:cNvPr id="10" name="object 10"/>
            <p:cNvSpPr/>
            <p:nvPr/>
          </p:nvSpPr>
          <p:spPr>
            <a:xfrm>
              <a:off x="1054100" y="4483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508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4100" y="44831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76200">
              <a:solidFill>
                <a:srgbClr val="FB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132206" y="8191507"/>
            <a:ext cx="187960" cy="1555115"/>
            <a:chOff x="6132206" y="8191507"/>
            <a:chExt cx="187960" cy="1555115"/>
          </a:xfrm>
        </p:grpSpPr>
        <p:sp>
          <p:nvSpPr>
            <p:cNvPr id="13" name="object 13"/>
            <p:cNvSpPr/>
            <p:nvPr/>
          </p:nvSpPr>
          <p:spPr>
            <a:xfrm>
              <a:off x="6132677" y="8191512"/>
              <a:ext cx="97155" cy="1555115"/>
            </a:xfrm>
            <a:custGeom>
              <a:avLst/>
              <a:gdLst/>
              <a:ahLst/>
              <a:cxnLst/>
              <a:rect l="l" t="t" r="r" b="b"/>
              <a:pathLst>
                <a:path w="97154" h="1555115">
                  <a:moveTo>
                    <a:pt x="62306" y="250113"/>
                  </a:moveTo>
                  <a:lnTo>
                    <a:pt x="0" y="250113"/>
                  </a:lnTo>
                  <a:lnTo>
                    <a:pt x="0" y="1554822"/>
                  </a:lnTo>
                  <a:lnTo>
                    <a:pt x="62306" y="1554822"/>
                  </a:lnTo>
                  <a:lnTo>
                    <a:pt x="62306" y="250113"/>
                  </a:lnTo>
                  <a:close/>
                </a:path>
                <a:path w="97154" h="155511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A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4993" y="8441626"/>
              <a:ext cx="62865" cy="1304925"/>
            </a:xfrm>
            <a:custGeom>
              <a:avLst/>
              <a:gdLst/>
              <a:ahLst/>
              <a:cxnLst/>
              <a:rect l="l" t="t" r="r" b="b"/>
              <a:pathLst>
                <a:path w="62864" h="1304925">
                  <a:moveTo>
                    <a:pt x="62297" y="0"/>
                  </a:moveTo>
                  <a:lnTo>
                    <a:pt x="0" y="0"/>
                  </a:lnTo>
                  <a:lnTo>
                    <a:pt x="0" y="1304704"/>
                  </a:lnTo>
                  <a:lnTo>
                    <a:pt x="62297" y="1304704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D4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57292" y="8441626"/>
              <a:ext cx="62865" cy="1304925"/>
            </a:xfrm>
            <a:custGeom>
              <a:avLst/>
              <a:gdLst/>
              <a:ahLst/>
              <a:cxnLst/>
              <a:rect l="l" t="t" r="r" b="b"/>
              <a:pathLst>
                <a:path w="62864" h="1304925">
                  <a:moveTo>
                    <a:pt x="62311" y="0"/>
                  </a:moveTo>
                  <a:lnTo>
                    <a:pt x="0" y="0"/>
                  </a:lnTo>
                  <a:lnTo>
                    <a:pt x="0" y="1304704"/>
                  </a:lnTo>
                  <a:lnTo>
                    <a:pt x="62311" y="1304704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FF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2206" y="8192555"/>
              <a:ext cx="186909" cy="25264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498357" y="8645849"/>
            <a:ext cx="187960" cy="1108075"/>
            <a:chOff x="7498357" y="8645849"/>
            <a:chExt cx="187960" cy="1108075"/>
          </a:xfrm>
        </p:grpSpPr>
        <p:sp>
          <p:nvSpPr>
            <p:cNvPr id="18" name="object 18"/>
            <p:cNvSpPr/>
            <p:nvPr/>
          </p:nvSpPr>
          <p:spPr>
            <a:xfrm>
              <a:off x="7498817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6112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2343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8357" y="8646898"/>
              <a:ext cx="186902" cy="252642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771572" y="8645849"/>
            <a:ext cx="187960" cy="1108075"/>
            <a:chOff x="7771572" y="8645849"/>
            <a:chExt cx="187960" cy="1108075"/>
          </a:xfrm>
        </p:grpSpPr>
        <p:sp>
          <p:nvSpPr>
            <p:cNvPr id="23" name="object 23"/>
            <p:cNvSpPr/>
            <p:nvPr/>
          </p:nvSpPr>
          <p:spPr>
            <a:xfrm>
              <a:off x="777204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3435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9665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1572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044801" y="8645849"/>
            <a:ext cx="187960" cy="1108075"/>
            <a:chOff x="8044801" y="8645849"/>
            <a:chExt cx="187960" cy="1108075"/>
          </a:xfrm>
        </p:grpSpPr>
        <p:sp>
          <p:nvSpPr>
            <p:cNvPr id="28" name="object 28"/>
            <p:cNvSpPr/>
            <p:nvPr/>
          </p:nvSpPr>
          <p:spPr>
            <a:xfrm>
              <a:off x="8045272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0757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69890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4801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8318024" y="8645849"/>
            <a:ext cx="187960" cy="1108075"/>
            <a:chOff x="8318024" y="8645849"/>
            <a:chExt cx="187960" cy="1108075"/>
          </a:xfrm>
        </p:grpSpPr>
        <p:sp>
          <p:nvSpPr>
            <p:cNvPr id="33" name="object 33"/>
            <p:cNvSpPr/>
            <p:nvPr/>
          </p:nvSpPr>
          <p:spPr>
            <a:xfrm>
              <a:off x="8318500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38081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4312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18024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8591260" y="8645849"/>
            <a:ext cx="187960" cy="1108075"/>
            <a:chOff x="8591260" y="8645849"/>
            <a:chExt cx="187960" cy="1108075"/>
          </a:xfrm>
        </p:grpSpPr>
        <p:sp>
          <p:nvSpPr>
            <p:cNvPr id="38" name="object 38"/>
            <p:cNvSpPr/>
            <p:nvPr/>
          </p:nvSpPr>
          <p:spPr>
            <a:xfrm>
              <a:off x="8591740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5404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1634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1260" y="8646898"/>
              <a:ext cx="186910" cy="252642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8864484" y="8645849"/>
            <a:ext cx="187960" cy="1108075"/>
            <a:chOff x="8864484" y="8645849"/>
            <a:chExt cx="187960" cy="1108075"/>
          </a:xfrm>
        </p:grpSpPr>
        <p:sp>
          <p:nvSpPr>
            <p:cNvPr id="43" name="object 43"/>
            <p:cNvSpPr/>
            <p:nvPr/>
          </p:nvSpPr>
          <p:spPr>
            <a:xfrm>
              <a:off x="8864956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92726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989580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4484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9137721" y="8645849"/>
            <a:ext cx="187960" cy="1108075"/>
            <a:chOff x="9137721" y="8645849"/>
            <a:chExt cx="187960" cy="1108075"/>
          </a:xfrm>
        </p:grpSpPr>
        <p:sp>
          <p:nvSpPr>
            <p:cNvPr id="48" name="object 48"/>
            <p:cNvSpPr/>
            <p:nvPr/>
          </p:nvSpPr>
          <p:spPr>
            <a:xfrm>
              <a:off x="913818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64" y="0"/>
                  </a:lnTo>
                  <a:lnTo>
                    <a:pt x="63792" y="84912"/>
                  </a:lnTo>
                  <a:lnTo>
                    <a:pt x="85039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20050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26280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37721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9410944" y="8645849"/>
            <a:ext cx="187960" cy="1108075"/>
            <a:chOff x="9410944" y="8645849"/>
            <a:chExt cx="187960" cy="1108075"/>
          </a:xfrm>
        </p:grpSpPr>
        <p:sp>
          <p:nvSpPr>
            <p:cNvPr id="53" name="object 53"/>
            <p:cNvSpPr/>
            <p:nvPr/>
          </p:nvSpPr>
          <p:spPr>
            <a:xfrm>
              <a:off x="941142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47373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53603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0944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9684166" y="8645849"/>
            <a:ext cx="187960" cy="1108075"/>
            <a:chOff x="9684166" y="8645849"/>
            <a:chExt cx="187960" cy="1108075"/>
          </a:xfrm>
        </p:grpSpPr>
        <p:sp>
          <p:nvSpPr>
            <p:cNvPr id="58" name="object 58"/>
            <p:cNvSpPr/>
            <p:nvPr/>
          </p:nvSpPr>
          <p:spPr>
            <a:xfrm>
              <a:off x="9684639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4695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80925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4166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5312517" y="8645849"/>
            <a:ext cx="187960" cy="1108075"/>
            <a:chOff x="5312517" y="8645849"/>
            <a:chExt cx="187960" cy="1108075"/>
          </a:xfrm>
        </p:grpSpPr>
        <p:sp>
          <p:nvSpPr>
            <p:cNvPr id="63" name="object 63"/>
            <p:cNvSpPr/>
            <p:nvPr/>
          </p:nvSpPr>
          <p:spPr>
            <a:xfrm>
              <a:off x="5312981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77" y="0"/>
                  </a:lnTo>
                  <a:lnTo>
                    <a:pt x="63792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7530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37602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12517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6405430" y="8645849"/>
            <a:ext cx="187960" cy="1108075"/>
            <a:chOff x="6405430" y="8645849"/>
            <a:chExt cx="187960" cy="1108075"/>
          </a:xfrm>
        </p:grpSpPr>
        <p:sp>
          <p:nvSpPr>
            <p:cNvPr id="68" name="object 68"/>
            <p:cNvSpPr/>
            <p:nvPr/>
          </p:nvSpPr>
          <p:spPr>
            <a:xfrm>
              <a:off x="6405905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46821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3052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5430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5858977" y="8645849"/>
            <a:ext cx="187960" cy="1108075"/>
            <a:chOff x="5858977" y="8645849"/>
            <a:chExt cx="187960" cy="1108075"/>
          </a:xfrm>
        </p:grpSpPr>
        <p:sp>
          <p:nvSpPr>
            <p:cNvPr id="73" name="object 73"/>
            <p:cNvSpPr/>
            <p:nvPr/>
          </p:nvSpPr>
          <p:spPr>
            <a:xfrm>
              <a:off x="5859437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89" y="0"/>
                  </a:lnTo>
                  <a:lnTo>
                    <a:pt x="63792" y="84912"/>
                  </a:lnTo>
                  <a:lnTo>
                    <a:pt x="85039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2175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8405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8977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585747" y="8645849"/>
            <a:ext cx="187960" cy="1108075"/>
            <a:chOff x="5585747" y="8645849"/>
            <a:chExt cx="187960" cy="1108075"/>
          </a:xfrm>
        </p:grpSpPr>
        <p:sp>
          <p:nvSpPr>
            <p:cNvPr id="78" name="object 78"/>
            <p:cNvSpPr/>
            <p:nvPr/>
          </p:nvSpPr>
          <p:spPr>
            <a:xfrm>
              <a:off x="5586222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4853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71083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85747" y="8646898"/>
              <a:ext cx="186909" cy="252642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6678660" y="8645849"/>
            <a:ext cx="187960" cy="1108075"/>
            <a:chOff x="6678660" y="8645849"/>
            <a:chExt cx="187960" cy="1108075"/>
          </a:xfrm>
        </p:grpSpPr>
        <p:sp>
          <p:nvSpPr>
            <p:cNvPr id="83" name="object 83"/>
            <p:cNvSpPr/>
            <p:nvPr/>
          </p:nvSpPr>
          <p:spPr>
            <a:xfrm>
              <a:off x="6679133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74144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80374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78660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6951889" y="8645849"/>
            <a:ext cx="187960" cy="1108075"/>
            <a:chOff x="6951889" y="8645849"/>
            <a:chExt cx="187960" cy="1108075"/>
          </a:xfrm>
        </p:grpSpPr>
        <p:sp>
          <p:nvSpPr>
            <p:cNvPr id="88" name="object 88"/>
            <p:cNvSpPr/>
            <p:nvPr/>
          </p:nvSpPr>
          <p:spPr>
            <a:xfrm>
              <a:off x="6952361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1466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07696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51889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7225120" y="8645849"/>
            <a:ext cx="187960" cy="1108075"/>
            <a:chOff x="7225120" y="8645849"/>
            <a:chExt cx="187960" cy="1108075"/>
          </a:xfrm>
        </p:grpSpPr>
        <p:sp>
          <p:nvSpPr>
            <p:cNvPr id="93" name="object 93"/>
            <p:cNvSpPr/>
            <p:nvPr/>
          </p:nvSpPr>
          <p:spPr>
            <a:xfrm>
              <a:off x="7225589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8790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35021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25120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2853462" y="8645849"/>
            <a:ext cx="187960" cy="1108075"/>
            <a:chOff x="2853462" y="8645849"/>
            <a:chExt cx="187960" cy="1108075"/>
          </a:xfrm>
        </p:grpSpPr>
        <p:sp>
          <p:nvSpPr>
            <p:cNvPr id="98" name="object 98"/>
            <p:cNvSpPr/>
            <p:nvPr/>
          </p:nvSpPr>
          <p:spPr>
            <a:xfrm>
              <a:off x="285394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91625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97854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3462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3126693" y="8645849"/>
            <a:ext cx="187960" cy="1108075"/>
            <a:chOff x="3126693" y="8645849"/>
            <a:chExt cx="187960" cy="1108075"/>
          </a:xfrm>
        </p:grpSpPr>
        <p:sp>
          <p:nvSpPr>
            <p:cNvPr id="103" name="object 103"/>
            <p:cNvSpPr/>
            <p:nvPr/>
          </p:nvSpPr>
          <p:spPr>
            <a:xfrm>
              <a:off x="3127172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18947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5176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26693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3399923" y="8645849"/>
            <a:ext cx="187960" cy="1108075"/>
            <a:chOff x="3399923" y="8645849"/>
            <a:chExt cx="187960" cy="1108075"/>
          </a:xfrm>
        </p:grpSpPr>
        <p:sp>
          <p:nvSpPr>
            <p:cNvPr id="108" name="object 108"/>
            <p:cNvSpPr/>
            <p:nvPr/>
          </p:nvSpPr>
          <p:spPr>
            <a:xfrm>
              <a:off x="3400399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46270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52501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9923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12" name="object 112"/>
          <p:cNvGrpSpPr/>
          <p:nvPr/>
        </p:nvGrpSpPr>
        <p:grpSpPr>
          <a:xfrm>
            <a:off x="3673159" y="8645849"/>
            <a:ext cx="187960" cy="1108075"/>
            <a:chOff x="3673159" y="8645849"/>
            <a:chExt cx="187960" cy="1108075"/>
          </a:xfrm>
        </p:grpSpPr>
        <p:sp>
          <p:nvSpPr>
            <p:cNvPr id="113" name="object 113"/>
            <p:cNvSpPr/>
            <p:nvPr/>
          </p:nvSpPr>
          <p:spPr>
            <a:xfrm>
              <a:off x="3673627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73592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79823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3159" y="8646898"/>
              <a:ext cx="186902" cy="252642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3946375" y="8645849"/>
            <a:ext cx="187960" cy="1108075"/>
            <a:chOff x="3946375" y="8645849"/>
            <a:chExt cx="187960" cy="1108075"/>
          </a:xfrm>
        </p:grpSpPr>
        <p:sp>
          <p:nvSpPr>
            <p:cNvPr id="118" name="object 118"/>
            <p:cNvSpPr/>
            <p:nvPr/>
          </p:nvSpPr>
          <p:spPr>
            <a:xfrm>
              <a:off x="3946855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00915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071472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6375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22" name="object 122"/>
          <p:cNvGrpSpPr/>
          <p:nvPr/>
        </p:nvGrpSpPr>
        <p:grpSpPr>
          <a:xfrm>
            <a:off x="4219605" y="8645849"/>
            <a:ext cx="187960" cy="1108075"/>
            <a:chOff x="4219605" y="8645849"/>
            <a:chExt cx="187960" cy="1108075"/>
          </a:xfrm>
        </p:grpSpPr>
        <p:sp>
          <p:nvSpPr>
            <p:cNvPr id="123" name="object 123"/>
            <p:cNvSpPr/>
            <p:nvPr/>
          </p:nvSpPr>
          <p:spPr>
            <a:xfrm>
              <a:off x="4220083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28239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344692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19605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4492835" y="8645849"/>
            <a:ext cx="187960" cy="1108075"/>
            <a:chOff x="4492835" y="8645849"/>
            <a:chExt cx="187960" cy="1108075"/>
          </a:xfrm>
        </p:grpSpPr>
        <p:sp>
          <p:nvSpPr>
            <p:cNvPr id="128" name="object 128"/>
            <p:cNvSpPr/>
            <p:nvPr/>
          </p:nvSpPr>
          <p:spPr>
            <a:xfrm>
              <a:off x="4493311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55561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61792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92835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4766063" y="8645849"/>
            <a:ext cx="187960" cy="1108075"/>
            <a:chOff x="4766063" y="8645849"/>
            <a:chExt cx="187960" cy="1108075"/>
          </a:xfrm>
        </p:grpSpPr>
        <p:sp>
          <p:nvSpPr>
            <p:cNvPr id="133" name="object 133"/>
            <p:cNvSpPr/>
            <p:nvPr/>
          </p:nvSpPr>
          <p:spPr>
            <a:xfrm>
              <a:off x="4766538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82883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89114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6063" y="8646898"/>
              <a:ext cx="186909" cy="252642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5039287" y="8645849"/>
            <a:ext cx="187960" cy="1108075"/>
            <a:chOff x="5039287" y="8645849"/>
            <a:chExt cx="187960" cy="1108075"/>
          </a:xfrm>
        </p:grpSpPr>
        <p:sp>
          <p:nvSpPr>
            <p:cNvPr id="138" name="object 138"/>
            <p:cNvSpPr/>
            <p:nvPr/>
          </p:nvSpPr>
          <p:spPr>
            <a:xfrm>
              <a:off x="5039766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0208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164382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9287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42" name="object 142"/>
          <p:cNvGrpSpPr/>
          <p:nvPr/>
        </p:nvGrpSpPr>
        <p:grpSpPr>
          <a:xfrm>
            <a:off x="667638" y="8645849"/>
            <a:ext cx="187960" cy="1108075"/>
            <a:chOff x="667638" y="8645849"/>
            <a:chExt cx="187960" cy="1108075"/>
          </a:xfrm>
        </p:grpSpPr>
        <p:sp>
          <p:nvSpPr>
            <p:cNvPr id="143" name="object 143"/>
            <p:cNvSpPr/>
            <p:nvPr/>
          </p:nvSpPr>
          <p:spPr>
            <a:xfrm>
              <a:off x="668108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3041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272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7638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47" name="object 147"/>
          <p:cNvGrpSpPr/>
          <p:nvPr/>
        </p:nvGrpSpPr>
        <p:grpSpPr>
          <a:xfrm>
            <a:off x="1760551" y="8645849"/>
            <a:ext cx="187960" cy="1108075"/>
            <a:chOff x="1760551" y="8645849"/>
            <a:chExt cx="187960" cy="1108075"/>
          </a:xfrm>
        </p:grpSpPr>
        <p:sp>
          <p:nvSpPr>
            <p:cNvPr id="148" name="object 148"/>
            <p:cNvSpPr/>
            <p:nvPr/>
          </p:nvSpPr>
          <p:spPr>
            <a:xfrm>
              <a:off x="1761032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82334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88563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0551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52" name="object 152"/>
          <p:cNvGrpSpPr/>
          <p:nvPr/>
        </p:nvGrpSpPr>
        <p:grpSpPr>
          <a:xfrm>
            <a:off x="1214104" y="8645849"/>
            <a:ext cx="187960" cy="1108075"/>
            <a:chOff x="1214104" y="8645849"/>
            <a:chExt cx="187960" cy="1108075"/>
          </a:xfrm>
        </p:grpSpPr>
        <p:sp>
          <p:nvSpPr>
            <p:cNvPr id="153" name="object 153"/>
            <p:cNvSpPr/>
            <p:nvPr/>
          </p:nvSpPr>
          <p:spPr>
            <a:xfrm>
              <a:off x="121456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27688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33918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4104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940868" y="8645849"/>
            <a:ext cx="187960" cy="1108075"/>
            <a:chOff x="940868" y="8645849"/>
            <a:chExt cx="187960" cy="1108075"/>
          </a:xfrm>
        </p:grpSpPr>
        <p:sp>
          <p:nvSpPr>
            <p:cNvPr id="158" name="object 158"/>
            <p:cNvSpPr/>
            <p:nvPr/>
          </p:nvSpPr>
          <p:spPr>
            <a:xfrm>
              <a:off x="941336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5" h="110807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00365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06594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0868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62" name="object 162"/>
          <p:cNvGrpSpPr/>
          <p:nvPr/>
        </p:nvGrpSpPr>
        <p:grpSpPr>
          <a:xfrm>
            <a:off x="1487321" y="8645849"/>
            <a:ext cx="187960" cy="1108075"/>
            <a:chOff x="1487321" y="8645849"/>
            <a:chExt cx="187960" cy="1108075"/>
          </a:xfrm>
        </p:grpSpPr>
        <p:sp>
          <p:nvSpPr>
            <p:cNvPr id="163" name="object 163"/>
            <p:cNvSpPr/>
            <p:nvPr/>
          </p:nvSpPr>
          <p:spPr>
            <a:xfrm>
              <a:off x="1487792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55010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61240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87321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67" name="object 167"/>
          <p:cNvGrpSpPr/>
          <p:nvPr/>
        </p:nvGrpSpPr>
        <p:grpSpPr>
          <a:xfrm>
            <a:off x="2033780" y="8645849"/>
            <a:ext cx="187960" cy="1108075"/>
            <a:chOff x="2033780" y="8645849"/>
            <a:chExt cx="187960" cy="1108075"/>
          </a:xfrm>
        </p:grpSpPr>
        <p:sp>
          <p:nvSpPr>
            <p:cNvPr id="168" name="object 168"/>
            <p:cNvSpPr/>
            <p:nvPr/>
          </p:nvSpPr>
          <p:spPr>
            <a:xfrm>
              <a:off x="2034247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5" h="1108075">
                  <a:moveTo>
                    <a:pt x="96710" y="1054"/>
                  </a:moveTo>
                  <a:lnTo>
                    <a:pt x="96177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09656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15885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33780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72" name="object 172"/>
          <p:cNvGrpSpPr/>
          <p:nvPr/>
        </p:nvGrpSpPr>
        <p:grpSpPr>
          <a:xfrm>
            <a:off x="2307009" y="8645849"/>
            <a:ext cx="187960" cy="1108075"/>
            <a:chOff x="2307009" y="8645849"/>
            <a:chExt cx="187960" cy="1108075"/>
          </a:xfrm>
        </p:grpSpPr>
        <p:sp>
          <p:nvSpPr>
            <p:cNvPr id="173" name="object 173"/>
            <p:cNvSpPr/>
            <p:nvPr/>
          </p:nvSpPr>
          <p:spPr>
            <a:xfrm>
              <a:off x="2307475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5" h="110807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36979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43209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07009" y="8646898"/>
              <a:ext cx="186909" cy="252642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2580233" y="8645849"/>
            <a:ext cx="187960" cy="1108075"/>
            <a:chOff x="2580233" y="8645849"/>
            <a:chExt cx="187960" cy="1108075"/>
          </a:xfrm>
        </p:grpSpPr>
        <p:sp>
          <p:nvSpPr>
            <p:cNvPr id="178" name="object 178"/>
            <p:cNvSpPr/>
            <p:nvPr/>
          </p:nvSpPr>
          <p:spPr>
            <a:xfrm>
              <a:off x="2580716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5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5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64301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70532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0233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82" name="object 182"/>
          <p:cNvGrpSpPr/>
          <p:nvPr/>
        </p:nvGrpSpPr>
        <p:grpSpPr>
          <a:xfrm>
            <a:off x="394408" y="8645849"/>
            <a:ext cx="187960" cy="1108075"/>
            <a:chOff x="394408" y="8645849"/>
            <a:chExt cx="187960" cy="1108075"/>
          </a:xfrm>
        </p:grpSpPr>
        <p:sp>
          <p:nvSpPr>
            <p:cNvPr id="183" name="object 183"/>
            <p:cNvSpPr/>
            <p:nvPr/>
          </p:nvSpPr>
          <p:spPr>
            <a:xfrm>
              <a:off x="394881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5719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1949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408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87" name="object 187"/>
          <p:cNvGrpSpPr/>
          <p:nvPr/>
        </p:nvGrpSpPr>
        <p:grpSpPr>
          <a:xfrm>
            <a:off x="121179" y="8645849"/>
            <a:ext cx="187960" cy="1108075"/>
            <a:chOff x="121179" y="8645849"/>
            <a:chExt cx="187960" cy="1108075"/>
          </a:xfrm>
        </p:grpSpPr>
        <p:sp>
          <p:nvSpPr>
            <p:cNvPr id="188" name="object 188"/>
            <p:cNvSpPr/>
            <p:nvPr/>
          </p:nvSpPr>
          <p:spPr>
            <a:xfrm>
              <a:off x="121653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18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18" y="1107744"/>
                  </a:lnTo>
                  <a:lnTo>
                    <a:pt x="62318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83976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24627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4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1179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192" name="object 192"/>
          <p:cNvGrpSpPr/>
          <p:nvPr/>
        </p:nvGrpSpPr>
        <p:grpSpPr>
          <a:xfrm>
            <a:off x="12143229" y="8645849"/>
            <a:ext cx="187960" cy="1108075"/>
            <a:chOff x="12143229" y="8645849"/>
            <a:chExt cx="187960" cy="1108075"/>
          </a:xfrm>
        </p:grpSpPr>
        <p:sp>
          <p:nvSpPr>
            <p:cNvPr id="193" name="object 193"/>
            <p:cNvSpPr/>
            <p:nvPr/>
          </p:nvSpPr>
          <p:spPr>
            <a:xfrm>
              <a:off x="12143689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64" y="0"/>
                  </a:lnTo>
                  <a:lnTo>
                    <a:pt x="63792" y="84912"/>
                  </a:lnTo>
                  <a:lnTo>
                    <a:pt x="85039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220599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226832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43229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12416450" y="8645849"/>
            <a:ext cx="187960" cy="1108075"/>
            <a:chOff x="12416450" y="8645849"/>
            <a:chExt cx="187960" cy="1108075"/>
          </a:xfrm>
        </p:grpSpPr>
        <p:sp>
          <p:nvSpPr>
            <p:cNvPr id="198" name="object 198"/>
            <p:cNvSpPr/>
            <p:nvPr/>
          </p:nvSpPr>
          <p:spPr>
            <a:xfrm>
              <a:off x="12416930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247924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254154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16450" y="8646898"/>
              <a:ext cx="186923" cy="252642"/>
            </a:xfrm>
            <a:prstGeom prst="rect">
              <a:avLst/>
            </a:prstGeom>
          </p:spPr>
        </p:pic>
      </p:grpSp>
      <p:sp>
        <p:nvSpPr>
          <p:cNvPr id="202" name="object 202"/>
          <p:cNvSpPr/>
          <p:nvPr/>
        </p:nvSpPr>
        <p:spPr>
          <a:xfrm>
            <a:off x="12753949" y="8645849"/>
            <a:ext cx="33020" cy="85090"/>
          </a:xfrm>
          <a:custGeom>
            <a:avLst/>
            <a:gdLst/>
            <a:ahLst/>
            <a:cxnLst/>
            <a:rect l="l" t="t" r="r" b="b"/>
            <a:pathLst>
              <a:path w="33020" h="85090">
                <a:moveTo>
                  <a:pt x="32372" y="0"/>
                </a:moveTo>
                <a:lnTo>
                  <a:pt x="0" y="84913"/>
                </a:lnTo>
                <a:lnTo>
                  <a:pt x="21234" y="84913"/>
                </a:lnTo>
                <a:lnTo>
                  <a:pt x="32918" y="1048"/>
                </a:lnTo>
                <a:lnTo>
                  <a:pt x="32372" y="0"/>
                </a:lnTo>
                <a:close/>
              </a:path>
            </a:pathLst>
          </a:custGeom>
          <a:solidFill>
            <a:srgbClr val="000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3" name="object 203"/>
          <p:cNvGrpSpPr/>
          <p:nvPr/>
        </p:nvGrpSpPr>
        <p:grpSpPr>
          <a:xfrm>
            <a:off x="12690154" y="8895968"/>
            <a:ext cx="187325" cy="857885"/>
            <a:chOff x="12690154" y="8895968"/>
            <a:chExt cx="187325" cy="857885"/>
          </a:xfrm>
        </p:grpSpPr>
        <p:sp>
          <p:nvSpPr>
            <p:cNvPr id="204" name="object 204"/>
            <p:cNvSpPr/>
            <p:nvPr/>
          </p:nvSpPr>
          <p:spPr>
            <a:xfrm>
              <a:off x="12690154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275246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281476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7" name="object 20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689687" y="8646897"/>
            <a:ext cx="186905" cy="252642"/>
          </a:xfrm>
          <a:prstGeom prst="rect">
            <a:avLst/>
          </a:prstGeom>
        </p:spPr>
      </p:pic>
      <p:grpSp>
        <p:nvGrpSpPr>
          <p:cNvPr id="208" name="object 208"/>
          <p:cNvGrpSpPr/>
          <p:nvPr/>
        </p:nvGrpSpPr>
        <p:grpSpPr>
          <a:xfrm>
            <a:off x="9957403" y="8645849"/>
            <a:ext cx="187960" cy="1108075"/>
            <a:chOff x="9957403" y="8645849"/>
            <a:chExt cx="187960" cy="1108075"/>
          </a:xfrm>
        </p:grpSpPr>
        <p:sp>
          <p:nvSpPr>
            <p:cNvPr id="209" name="object 209"/>
            <p:cNvSpPr/>
            <p:nvPr/>
          </p:nvSpPr>
          <p:spPr>
            <a:xfrm>
              <a:off x="9957879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002017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0082490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57403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213" name="object 213"/>
          <p:cNvGrpSpPr/>
          <p:nvPr/>
        </p:nvGrpSpPr>
        <p:grpSpPr>
          <a:xfrm>
            <a:off x="11050309" y="8645849"/>
            <a:ext cx="187960" cy="1108075"/>
            <a:chOff x="11050309" y="8645849"/>
            <a:chExt cx="187960" cy="1108075"/>
          </a:xfrm>
        </p:grpSpPr>
        <p:sp>
          <p:nvSpPr>
            <p:cNvPr id="214" name="object 214"/>
            <p:cNvSpPr/>
            <p:nvPr/>
          </p:nvSpPr>
          <p:spPr>
            <a:xfrm>
              <a:off x="11050791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111310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1175413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050309" y="8646898"/>
              <a:ext cx="186922" cy="252642"/>
            </a:xfrm>
            <a:prstGeom prst="rect">
              <a:avLst/>
            </a:prstGeom>
          </p:spPr>
        </p:pic>
      </p:grpSp>
      <p:grpSp>
        <p:nvGrpSpPr>
          <p:cNvPr id="218" name="object 218"/>
          <p:cNvGrpSpPr/>
          <p:nvPr/>
        </p:nvGrpSpPr>
        <p:grpSpPr>
          <a:xfrm>
            <a:off x="10503862" y="8645849"/>
            <a:ext cx="187960" cy="1108075"/>
            <a:chOff x="10503862" y="8645849"/>
            <a:chExt cx="187960" cy="1108075"/>
          </a:xfrm>
        </p:grpSpPr>
        <p:sp>
          <p:nvSpPr>
            <p:cNvPr id="219" name="object 219"/>
            <p:cNvSpPr/>
            <p:nvPr/>
          </p:nvSpPr>
          <p:spPr>
            <a:xfrm>
              <a:off x="10504335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056664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062894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03862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223" name="object 223"/>
          <p:cNvGrpSpPr/>
          <p:nvPr/>
        </p:nvGrpSpPr>
        <p:grpSpPr>
          <a:xfrm>
            <a:off x="10230627" y="8645849"/>
            <a:ext cx="187960" cy="1108075"/>
            <a:chOff x="10230627" y="8645849"/>
            <a:chExt cx="187960" cy="1108075"/>
          </a:xfrm>
        </p:grpSpPr>
        <p:sp>
          <p:nvSpPr>
            <p:cNvPr id="224" name="object 224"/>
            <p:cNvSpPr/>
            <p:nvPr/>
          </p:nvSpPr>
          <p:spPr>
            <a:xfrm>
              <a:off x="10231108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0293412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035572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30627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228" name="object 228"/>
          <p:cNvGrpSpPr/>
          <p:nvPr/>
        </p:nvGrpSpPr>
        <p:grpSpPr>
          <a:xfrm>
            <a:off x="10777086" y="8645849"/>
            <a:ext cx="187960" cy="1108075"/>
            <a:chOff x="10777086" y="8645849"/>
            <a:chExt cx="187960" cy="1108075"/>
          </a:xfrm>
        </p:grpSpPr>
        <p:sp>
          <p:nvSpPr>
            <p:cNvPr id="229" name="object 229"/>
            <p:cNvSpPr/>
            <p:nvPr/>
          </p:nvSpPr>
          <p:spPr>
            <a:xfrm>
              <a:off x="10777563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083986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0902178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77086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233" name="object 233"/>
          <p:cNvGrpSpPr/>
          <p:nvPr/>
        </p:nvGrpSpPr>
        <p:grpSpPr>
          <a:xfrm>
            <a:off x="11323544" y="8645849"/>
            <a:ext cx="187960" cy="1108075"/>
            <a:chOff x="11323544" y="8645849"/>
            <a:chExt cx="187960" cy="1108075"/>
          </a:xfrm>
        </p:grpSpPr>
        <p:sp>
          <p:nvSpPr>
            <p:cNvPr id="234" name="object 234"/>
            <p:cNvSpPr/>
            <p:nvPr/>
          </p:nvSpPr>
          <p:spPr>
            <a:xfrm>
              <a:off x="11324018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293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293" y="1107744"/>
                  </a:lnTo>
                  <a:lnTo>
                    <a:pt x="62293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51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138632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1448620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7" name="object 2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23544" y="8646898"/>
              <a:ext cx="186909" cy="252642"/>
            </a:xfrm>
            <a:prstGeom prst="rect">
              <a:avLst/>
            </a:prstGeom>
          </p:spPr>
        </p:pic>
      </p:grpSp>
      <p:grpSp>
        <p:nvGrpSpPr>
          <p:cNvPr id="238" name="object 238"/>
          <p:cNvGrpSpPr/>
          <p:nvPr/>
        </p:nvGrpSpPr>
        <p:grpSpPr>
          <a:xfrm>
            <a:off x="11596768" y="8645849"/>
            <a:ext cx="187960" cy="1108075"/>
            <a:chOff x="11596768" y="8645849"/>
            <a:chExt cx="187960" cy="1108075"/>
          </a:xfrm>
        </p:grpSpPr>
        <p:sp>
          <p:nvSpPr>
            <p:cNvPr id="239" name="object 239"/>
            <p:cNvSpPr/>
            <p:nvPr/>
          </p:nvSpPr>
          <p:spPr>
            <a:xfrm>
              <a:off x="1159723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710" y="1054"/>
                  </a:moveTo>
                  <a:lnTo>
                    <a:pt x="96164" y="0"/>
                  </a:lnTo>
                  <a:lnTo>
                    <a:pt x="63779" y="84912"/>
                  </a:lnTo>
                  <a:lnTo>
                    <a:pt x="85026" y="84912"/>
                  </a:lnTo>
                  <a:lnTo>
                    <a:pt x="96710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11659557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1721855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2" name="object 2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596768" y="8646898"/>
              <a:ext cx="186908" cy="252642"/>
            </a:xfrm>
            <a:prstGeom prst="rect">
              <a:avLst/>
            </a:prstGeom>
          </p:spPr>
        </p:pic>
      </p:grpSp>
      <p:grpSp>
        <p:nvGrpSpPr>
          <p:cNvPr id="243" name="object 243"/>
          <p:cNvGrpSpPr/>
          <p:nvPr/>
        </p:nvGrpSpPr>
        <p:grpSpPr>
          <a:xfrm>
            <a:off x="11870005" y="8645849"/>
            <a:ext cx="187960" cy="1108075"/>
            <a:chOff x="11870005" y="8645849"/>
            <a:chExt cx="187960" cy="1108075"/>
          </a:xfrm>
        </p:grpSpPr>
        <p:sp>
          <p:nvSpPr>
            <p:cNvPr id="244" name="object 244"/>
            <p:cNvSpPr/>
            <p:nvPr/>
          </p:nvSpPr>
          <p:spPr>
            <a:xfrm>
              <a:off x="11870474" y="8645855"/>
              <a:ext cx="97155" cy="1108075"/>
            </a:xfrm>
            <a:custGeom>
              <a:avLst/>
              <a:gdLst/>
              <a:ahLst/>
              <a:cxnLst/>
              <a:rect l="l" t="t" r="r" b="b"/>
              <a:pathLst>
                <a:path w="97154" h="1108075">
                  <a:moveTo>
                    <a:pt x="62306" y="250113"/>
                  </a:moveTo>
                  <a:lnTo>
                    <a:pt x="0" y="250113"/>
                  </a:lnTo>
                  <a:lnTo>
                    <a:pt x="0" y="1107744"/>
                  </a:lnTo>
                  <a:lnTo>
                    <a:pt x="62306" y="1107744"/>
                  </a:lnTo>
                  <a:lnTo>
                    <a:pt x="62306" y="250113"/>
                  </a:lnTo>
                  <a:close/>
                </a:path>
                <a:path w="97154" h="1108075">
                  <a:moveTo>
                    <a:pt x="96697" y="1054"/>
                  </a:moveTo>
                  <a:lnTo>
                    <a:pt x="96164" y="0"/>
                  </a:lnTo>
                  <a:lnTo>
                    <a:pt x="63766" y="84912"/>
                  </a:lnTo>
                  <a:lnTo>
                    <a:pt x="85013" y="84912"/>
                  </a:lnTo>
                  <a:lnTo>
                    <a:pt x="96697" y="1054"/>
                  </a:lnTo>
                  <a:close/>
                </a:path>
              </a:pathLst>
            </a:custGeom>
            <a:solidFill>
              <a:srgbClr val="00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1932791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297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297" y="857631"/>
                  </a:lnTo>
                  <a:lnTo>
                    <a:pt x="6229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1995089" y="8895968"/>
              <a:ext cx="62865" cy="857885"/>
            </a:xfrm>
            <a:custGeom>
              <a:avLst/>
              <a:gdLst/>
              <a:ahLst/>
              <a:cxnLst/>
              <a:rect l="l" t="t" r="r" b="b"/>
              <a:pathLst>
                <a:path w="62865" h="857884">
                  <a:moveTo>
                    <a:pt x="62311" y="0"/>
                  </a:moveTo>
                  <a:lnTo>
                    <a:pt x="0" y="0"/>
                  </a:lnTo>
                  <a:lnTo>
                    <a:pt x="0" y="857631"/>
                  </a:lnTo>
                  <a:lnTo>
                    <a:pt x="62311" y="857631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2A2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870005" y="8646898"/>
              <a:ext cx="186908" cy="252642"/>
            </a:xfrm>
            <a:prstGeom prst="rect">
              <a:avLst/>
            </a:prstGeom>
          </p:spPr>
        </p:pic>
      </p:grpSp>
      <p:sp>
        <p:nvSpPr>
          <p:cNvPr id="248" name="object 248"/>
          <p:cNvSpPr txBox="1"/>
          <p:nvPr/>
        </p:nvSpPr>
        <p:spPr>
          <a:xfrm>
            <a:off x="12661900" y="9407753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17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0400" y="1739900"/>
            <a:ext cx="4445000" cy="5105400"/>
            <a:chOff x="660400" y="1739900"/>
            <a:chExt cx="4445000" cy="510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400" y="1739900"/>
              <a:ext cx="4445000" cy="5105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5600" y="1892300"/>
              <a:ext cx="736600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4248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186940" algn="l"/>
              </a:tabLst>
            </a:pPr>
            <a:r>
              <a:rPr sz="3600" b="1" cap="small" spc="-25" dirty="0">
                <a:latin typeface="Tahoma"/>
                <a:cs typeface="Tahoma"/>
              </a:rPr>
              <a:t>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65" dirty="0">
                <a:latin typeface="Tahoma"/>
                <a:cs typeface="Tahoma"/>
              </a:rPr>
              <a:t>Stable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65" dirty="0">
                <a:latin typeface="Tahoma"/>
                <a:cs typeface="Tahoma"/>
              </a:rPr>
              <a:t>Matching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291330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0" dirty="0">
                <a:solidFill>
                  <a:srgbClr val="D5D5D5"/>
                </a:solidFill>
                <a:latin typeface="Verdana"/>
                <a:cs typeface="Verdana"/>
              </a:rPr>
              <a:t>stable</a:t>
            </a:r>
            <a:r>
              <a:rPr sz="3000" i="1" spc="-1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D5D5D5"/>
                </a:solidFill>
                <a:latin typeface="Verdana"/>
                <a:cs typeface="Verdana"/>
              </a:rPr>
              <a:t>matching</a:t>
            </a:r>
            <a:r>
              <a:rPr sz="3000" i="1" spc="-17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60" dirty="0">
                <a:solidFill>
                  <a:srgbClr val="D5D5D5"/>
                </a:solidFill>
                <a:latin typeface="Verdana"/>
                <a:cs typeface="Verdana"/>
              </a:rPr>
              <a:t>Gale–Shapley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algorithm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54" dirty="0">
                <a:latin typeface="Verdana"/>
                <a:cs typeface="Verdana"/>
              </a:rPr>
              <a:t>hospital</a:t>
            </a:r>
            <a:r>
              <a:rPr sz="3000" i="1" spc="-160" dirty="0">
                <a:latin typeface="Verdana"/>
                <a:cs typeface="Verdana"/>
              </a:rPr>
              <a:t> </a:t>
            </a:r>
            <a:r>
              <a:rPr sz="3000" i="1" spc="-300" dirty="0">
                <a:latin typeface="Verdana"/>
                <a:cs typeface="Verdana"/>
              </a:rPr>
              <a:t>optimality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50" dirty="0">
                <a:solidFill>
                  <a:srgbClr val="D5D5D5"/>
                </a:solidFill>
                <a:latin typeface="Verdana"/>
                <a:cs typeface="Verdana"/>
              </a:rPr>
              <a:t>context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500" y="6921500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1.1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33500"/>
            <a:ext cx="10335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10" dirty="0">
                <a:latin typeface="Lucida Sans Unicode"/>
                <a:cs typeface="Lucida Sans Unicode"/>
              </a:rPr>
              <a:t> matchings.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67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03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3900" y="7183090"/>
            <a:ext cx="1689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2900" y="71647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1900" y="71647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0900" y="71647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6600" y="7754590"/>
            <a:ext cx="14414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6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82900" y="77362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1900" y="77362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0900" y="77362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3900" y="8313390"/>
            <a:ext cx="16319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2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2900" y="82950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1900" y="82950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0900" y="82950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122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758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775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99400" y="7183090"/>
            <a:ext cx="15303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90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01100" y="71647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77400" y="71647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53700" y="71647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99400" y="7754590"/>
            <a:ext cx="15748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88400" y="77362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690100" y="77362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53700" y="77362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12100" y="8313390"/>
            <a:ext cx="14795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88400" y="82950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90100" y="82950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53700" y="82950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067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703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20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93900" y="7183090"/>
            <a:ext cx="1689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3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82900" y="71647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1900" y="71647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60900" y="71647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06600" y="7754590"/>
            <a:ext cx="14414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16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82900" y="77362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1900" y="77362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60900" y="77362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93900" y="8313390"/>
            <a:ext cx="16319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2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82900" y="8295030"/>
            <a:ext cx="14351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X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71900" y="8295030"/>
            <a:ext cx="14287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Y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60900" y="8295030"/>
            <a:ext cx="13843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Z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12200" y="6598890"/>
            <a:ext cx="29908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75800" y="6598890"/>
            <a:ext cx="35242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477500" y="6598890"/>
            <a:ext cx="32131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4"/>
              </a:lnSpc>
            </a:pPr>
            <a:r>
              <a:rPr sz="2700" b="1" spc="-37" baseline="-13888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25" dirty="0">
                <a:solidFill>
                  <a:srgbClr val="FFFFFF"/>
                </a:solidFill>
                <a:latin typeface="Tahoma"/>
                <a:cs typeface="Tahoma"/>
              </a:rPr>
              <a:t>rd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99400" y="7183090"/>
            <a:ext cx="15303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90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801100" y="71647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77400" y="71647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553700" y="71647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99400" y="7754590"/>
            <a:ext cx="15748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788400" y="77362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690100" y="77362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53700" y="77362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12100" y="8313390"/>
            <a:ext cx="147955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88400" y="8295030"/>
            <a:ext cx="15811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690100" y="8295030"/>
            <a:ext cx="131445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6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553700" y="8295030"/>
            <a:ext cx="158750" cy="271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45"/>
              </a:lnSpc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1625600" y="6451600"/>
          <a:ext cx="3556000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17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17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0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7531100" y="6451600"/>
          <a:ext cx="3556000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17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17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lnB w="1905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06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905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object 65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1463791" y="76173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Understanding</a:t>
            </a:r>
            <a:r>
              <a:rPr spc="215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1206500" y="8948390"/>
            <a:ext cx="10272395" cy="2946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4758690" algn="l"/>
              </a:tabLst>
            </a:pPr>
            <a:r>
              <a:rPr sz="1800" b="1" dirty="0">
                <a:latin typeface="Tahoma"/>
                <a:cs typeface="Tahoma"/>
              </a:rPr>
              <a:t>an</a:t>
            </a:r>
            <a:r>
              <a:rPr sz="1800" b="1" spc="9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instance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with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two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stable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matchings:</a:t>
            </a:r>
            <a:r>
              <a:rPr sz="1800" b="1" dirty="0">
                <a:latin typeface="Tahoma"/>
                <a:cs typeface="Tahoma"/>
              </a:rPr>
              <a:t>	S</a:t>
            </a:r>
            <a:r>
              <a:rPr sz="1800" b="1" spc="-1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225" dirty="0">
                <a:latin typeface="Tahoma"/>
                <a:cs typeface="Tahoma"/>
              </a:rPr>
              <a:t>A-</a:t>
            </a:r>
            <a:r>
              <a:rPr sz="1800" b="1" dirty="0">
                <a:latin typeface="Tahoma"/>
                <a:cs typeface="Tahoma"/>
              </a:rPr>
              <a:t>X,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Z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}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and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S′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225" dirty="0">
                <a:latin typeface="Tahoma"/>
                <a:cs typeface="Tahoma"/>
              </a:rPr>
              <a:t>A-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X,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Z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515" dirty="0">
                <a:latin typeface="Tahoma"/>
                <a:cs typeface="Tahoma"/>
              </a:rPr>
              <a:t>}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216660"/>
            <a:ext cx="1054481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valid</a:t>
            </a:r>
            <a:r>
              <a:rPr sz="24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partner</a:t>
            </a:r>
            <a:r>
              <a:rPr sz="24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stable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matched.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4700" y="3263900"/>
            <a:ext cx="6193790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869" baseline="-7215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Both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X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869" baseline="-7215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Both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X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2175" baseline="-7215" dirty="0">
                <a:latin typeface="Microsoft JhengHei UI"/>
                <a:cs typeface="Microsoft JhengHei UI"/>
              </a:rPr>
              <a:t>·</a:t>
            </a:r>
            <a:r>
              <a:rPr sz="2400" spc="1450" dirty="0">
                <a:latin typeface="Lucida Sans Unicode"/>
                <a:cs typeface="Lucida Sans Unicode"/>
              </a:rPr>
              <a:t>Z</a:t>
            </a:r>
            <a:r>
              <a:rPr sz="2400" dirty="0">
                <a:latin typeface="Lucida Sans Unicode"/>
                <a:cs typeface="Lucida Sans Unicode"/>
              </a:rPr>
              <a:t> is the only valid partner for </a:t>
            </a:r>
            <a:r>
              <a:rPr sz="2400" spc="-25" dirty="0">
                <a:latin typeface="Lucida Sans Unicode"/>
                <a:cs typeface="Lucida Sans Unicode"/>
              </a:rPr>
              <a:t>C.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700" y="79718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Understanding</a:t>
            </a:r>
            <a:r>
              <a:rPr spc="215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774700" y="731563"/>
            <a:ext cx="833121" cy="51928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06500" y="8948390"/>
            <a:ext cx="10272395" cy="2946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4758690" algn="l"/>
              </a:tabLst>
            </a:pPr>
            <a:r>
              <a:rPr sz="1800" b="1" dirty="0">
                <a:latin typeface="Tahoma"/>
                <a:cs typeface="Tahoma"/>
              </a:rPr>
              <a:t>an</a:t>
            </a:r>
            <a:r>
              <a:rPr sz="1800" b="1" spc="9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instance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with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two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stable</a:t>
            </a:r>
            <a:r>
              <a:rPr sz="1800" b="1" spc="10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matchings:</a:t>
            </a:r>
            <a:r>
              <a:rPr sz="1800" b="1" dirty="0">
                <a:latin typeface="Tahoma"/>
                <a:cs typeface="Tahoma"/>
              </a:rPr>
              <a:t>	S</a:t>
            </a:r>
            <a:r>
              <a:rPr sz="1800" b="1" spc="-1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225" dirty="0">
                <a:latin typeface="Tahoma"/>
                <a:cs typeface="Tahoma"/>
              </a:rPr>
              <a:t>A-</a:t>
            </a:r>
            <a:r>
              <a:rPr sz="1800" b="1" dirty="0">
                <a:latin typeface="Tahoma"/>
                <a:cs typeface="Tahoma"/>
              </a:rPr>
              <a:t>X,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Z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}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and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S′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-465" dirty="0">
                <a:latin typeface="Tahoma"/>
                <a:cs typeface="Tahoma"/>
              </a:rPr>
              <a:t>{</a:t>
            </a:r>
            <a:r>
              <a:rPr sz="1800" b="1" spc="65" dirty="0">
                <a:latin typeface="Tahoma"/>
                <a:cs typeface="Tahoma"/>
              </a:rPr>
              <a:t> </a:t>
            </a:r>
            <a:r>
              <a:rPr sz="1800" b="1" spc="225" dirty="0">
                <a:latin typeface="Tahoma"/>
                <a:cs typeface="Tahoma"/>
              </a:rPr>
              <a:t>A-</a:t>
            </a:r>
            <a:r>
              <a:rPr sz="1800" b="1" dirty="0">
                <a:latin typeface="Tahoma"/>
                <a:cs typeface="Tahoma"/>
              </a:rPr>
              <a:t>Y,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130" dirty="0">
                <a:latin typeface="Tahoma"/>
                <a:cs typeface="Tahoma"/>
              </a:rPr>
              <a:t>B-</a:t>
            </a:r>
            <a:r>
              <a:rPr sz="1800" b="1" dirty="0">
                <a:latin typeface="Tahoma"/>
                <a:cs typeface="Tahoma"/>
              </a:rPr>
              <a:t>X,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220" dirty="0">
                <a:latin typeface="Tahoma"/>
                <a:cs typeface="Tahoma"/>
              </a:rPr>
              <a:t>C-</a:t>
            </a:r>
            <a:r>
              <a:rPr sz="1800" b="1" dirty="0">
                <a:latin typeface="Tahoma"/>
                <a:cs typeface="Tahoma"/>
              </a:rPr>
              <a:t>Z</a:t>
            </a:r>
            <a:r>
              <a:rPr sz="1800" b="1" spc="20" dirty="0">
                <a:latin typeface="Tahoma"/>
                <a:cs typeface="Tahoma"/>
              </a:rPr>
              <a:t> </a:t>
            </a:r>
            <a:r>
              <a:rPr sz="1800" b="1" spc="-515" dirty="0">
                <a:latin typeface="Tahoma"/>
                <a:cs typeface="Tahoma"/>
              </a:rPr>
              <a:t>}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25600" y="6451600"/>
          <a:ext cx="35560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31100" y="6451600"/>
          <a:ext cx="35560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524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58600" y="228597"/>
            <a:ext cx="491490" cy="584200"/>
            <a:chOff x="11658600" y="228597"/>
            <a:chExt cx="491490" cy="584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2113" y="466634"/>
              <a:ext cx="98027" cy="98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0" y="228597"/>
              <a:ext cx="491106" cy="58407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3600" y="1333500"/>
            <a:ext cx="9653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Who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spc="75" dirty="0">
                <a:latin typeface="Tahoma"/>
                <a:cs typeface="Tahoma"/>
              </a:rPr>
              <a:t>is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best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valid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partner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spc="55" dirty="0">
                <a:latin typeface="Tahoma"/>
                <a:cs typeface="Tahoma"/>
              </a:rPr>
              <a:t>for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spc="-300" dirty="0">
                <a:latin typeface="Tahoma"/>
                <a:cs typeface="Tahoma"/>
              </a:rPr>
              <a:t>W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following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instance?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61900" y="9407753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21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2654300"/>
            <a:ext cx="325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A.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200" y="3492500"/>
            <a:ext cx="342900" cy="206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B.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C.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solidFill>
                  <a:srgbClr val="005493"/>
                </a:solidFill>
                <a:latin typeface="Tahoma"/>
                <a:cs typeface="Tahoma"/>
              </a:rPr>
              <a:t>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63600" y="355600"/>
            <a:ext cx="39738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8145" algn="l"/>
              </a:tabLst>
            </a:pPr>
            <a:r>
              <a:rPr dirty="0"/>
              <a:t>Stable</a:t>
            </a:r>
            <a:r>
              <a:rPr spc="145" dirty="0"/>
              <a:t> </a:t>
            </a:r>
            <a:r>
              <a:rPr spc="-10" dirty="0"/>
              <a:t>matching: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05400" y="2514600"/>
            <a:ext cx="2517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6</a:t>
            </a:r>
            <a:r>
              <a:rPr sz="2000" b="1" spc="14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stable</a:t>
            </a:r>
            <a:r>
              <a:rPr sz="2000" b="1" spc="14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matchings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86300" y="2943246"/>
          <a:ext cx="3359148" cy="306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40"/>
                <a:gridCol w="738504"/>
                <a:gridCol w="728980"/>
                <a:gridCol w="778510"/>
                <a:gridCol w="666114"/>
                <a:gridCol w="215900"/>
              </a:tblGrid>
              <a:tr h="52260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B–X,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D–Z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A–X,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D–Z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</a:tr>
              <a:tr h="5334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A–X,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D–Z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</a:tr>
              <a:tr h="5334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A–Z,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D–X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</a:tr>
              <a:tr h="52705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A–Z,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D–X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14935" marB="0"/>
                </a:tc>
              </a:tr>
              <a:tr h="415925">
                <a:tc>
                  <a:txBody>
                    <a:bodyPr/>
                    <a:lstStyle/>
                    <a:p>
                      <a:pPr marL="15240" algn="ctr">
                        <a:lnSpc>
                          <a:spcPts val="2320"/>
                        </a:lnSpc>
                        <a:spcBef>
                          <a:spcPts val="85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{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A–Y,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9588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B–Z,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95885" marB="0"/>
                </a:tc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20" dirty="0">
                          <a:latin typeface="Tahoma"/>
                          <a:cs typeface="Tahoma"/>
                        </a:rPr>
                        <a:t>C–W,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95885" marB="0"/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25" dirty="0">
                          <a:latin typeface="Tahoma"/>
                          <a:cs typeface="Tahoma"/>
                        </a:rPr>
                        <a:t>D–X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9588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000" b="1" spc="-565" dirty="0">
                          <a:latin typeface="Tahoma"/>
                          <a:cs typeface="Tahoma"/>
                        </a:rPr>
                        <a:t>}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95885" marB="0"/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77900" y="6832600"/>
          <a:ext cx="4445000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9000"/>
                <a:gridCol w="889000"/>
                <a:gridCol w="889000"/>
                <a:gridCol w="889000"/>
              </a:tblGrid>
              <a:tr h="513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858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1049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X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Z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W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642100" y="6832600"/>
          <a:ext cx="4442456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888364"/>
                <a:gridCol w="888364"/>
                <a:gridCol w="888364"/>
                <a:gridCol w="888364"/>
              </a:tblGrid>
              <a:tr h="513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rd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700" b="1" spc="-37" baseline="-13888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th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858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X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1557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1049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Z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04775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D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A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Understanding</a:t>
            </a:r>
            <a:r>
              <a:rPr spc="215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216660"/>
            <a:ext cx="10946130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354965">
              <a:lnSpc>
                <a:spcPct val="131900"/>
              </a:lnSpc>
              <a:spcBef>
                <a:spcPts val="100"/>
              </a:spcBef>
              <a:tabLst>
                <a:tab pos="8616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valid</a:t>
            </a:r>
            <a:r>
              <a:rPr sz="24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partner</a:t>
            </a:r>
            <a:r>
              <a:rPr sz="24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stable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matched.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ts val="2615"/>
              </a:lnSpc>
              <a:tabLst>
                <a:tab pos="4590415" algn="l"/>
              </a:tabLst>
            </a:pPr>
            <a:r>
              <a:rPr sz="24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Hospital-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optimal</a:t>
            </a:r>
            <a:r>
              <a:rPr sz="2400" spc="-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assignment.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receives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partner.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3945"/>
              </a:lnSpc>
            </a:pPr>
            <a:r>
              <a:rPr sz="5775" spc="1447" baseline="-7215" dirty="0">
                <a:latin typeface="Microsoft JhengHei UI"/>
                <a:cs typeface="Microsoft JhengHei UI"/>
              </a:rPr>
              <a:t>·</a:t>
            </a:r>
            <a:r>
              <a:rPr sz="2400" spc="965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perfect</a:t>
            </a:r>
            <a:r>
              <a:rPr sz="2400" spc="-10" dirty="0">
                <a:latin typeface="Lucida Sans Unicode"/>
                <a:cs typeface="Lucida Sans Unicode"/>
              </a:rPr>
              <a:t> matching?</a:t>
            </a:r>
            <a:endParaRPr sz="240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</a:pPr>
            <a:r>
              <a:rPr sz="5775" spc="1447" baseline="-7215" dirty="0">
                <a:latin typeface="Microsoft JhengHei UI"/>
                <a:cs typeface="Microsoft JhengHei UI"/>
              </a:rPr>
              <a:t>·</a:t>
            </a:r>
            <a:r>
              <a:rPr sz="2400" spc="965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stable?</a:t>
            </a:r>
            <a:endParaRPr sz="2400">
              <a:latin typeface="Lucida Sans Unicode"/>
              <a:cs typeface="Lucida Sans Unicode"/>
            </a:endParaRPr>
          </a:p>
          <a:p>
            <a:pPr marL="63500" marR="17780">
              <a:lnSpc>
                <a:spcPct val="131900"/>
              </a:lnSpc>
              <a:spcBef>
                <a:spcPts val="3515"/>
              </a:spcBef>
              <a:tabLst>
                <a:tab pos="1191895" algn="l"/>
                <a:tab pos="1704339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executions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yield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hospital-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24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assignment.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Corollary.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30" dirty="0">
                <a:latin typeface="Lucida Sans Unicode"/>
                <a:cs typeface="Lucida Sans Unicode"/>
              </a:rPr>
              <a:t>Hospital-</a:t>
            </a:r>
            <a:r>
              <a:rPr sz="2400" spc="-80" dirty="0">
                <a:latin typeface="Lucida Sans Unicode"/>
                <a:cs typeface="Lucida Sans Unicode"/>
              </a:rPr>
              <a:t>optimal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assignment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matching!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0"/>
            <a:ext cx="108585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Hospital</a:t>
            </a:r>
            <a:r>
              <a:rPr spc="305" dirty="0"/>
              <a:t> </a:t>
            </a:r>
            <a:r>
              <a:rPr spc="35" dirty="0"/>
              <a:t>optimality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1216660"/>
            <a:ext cx="1165098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3591560">
              <a:lnSpc>
                <a:spcPct val="131900"/>
              </a:lnSpc>
              <a:spcBef>
                <a:spcPts val="100"/>
              </a:spcBef>
              <a:tabLst>
                <a:tab pos="632460" algn="l"/>
                <a:tab pos="11918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Gale–Shapley matching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 </a:t>
            </a:r>
            <a:r>
              <a:rPr sz="2400" spc="-55" dirty="0">
                <a:latin typeface="Lucida Sans Unicode"/>
                <a:cs typeface="Lucida Sans Unicode"/>
              </a:rPr>
              <a:t>hospital-</a:t>
            </a:r>
            <a:r>
              <a:rPr sz="2400" spc="-20" dirty="0">
                <a:latin typeface="Lucida Sans Unicode"/>
                <a:cs typeface="Lucida Sans Unicode"/>
              </a:rPr>
              <a:t>optimal.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[by</a:t>
            </a:r>
            <a:r>
              <a:rPr sz="2400" spc="10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contradiction]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3679"/>
              </a:lnSpc>
            </a:pPr>
            <a:r>
              <a:rPr sz="5775" spc="540" baseline="-7215" dirty="0">
                <a:latin typeface="Microsoft JhengHei UI"/>
                <a:cs typeface="Microsoft JhengHei UI"/>
              </a:rPr>
              <a:t>·</a:t>
            </a:r>
            <a:r>
              <a:rPr sz="2400" spc="360" dirty="0">
                <a:latin typeface="Lucida Sans Unicode"/>
                <a:cs typeface="Lucida Sans Unicode"/>
              </a:rPr>
              <a:t>Suppose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other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10" dirty="0">
                <a:latin typeface="Lucida Sans Unicode"/>
                <a:cs typeface="Lucida Sans Unicode"/>
              </a:rPr>
              <a:t> partner.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4210"/>
              </a:lnSpc>
            </a:pPr>
            <a:r>
              <a:rPr sz="5775" spc="412" baseline="-7215" dirty="0">
                <a:latin typeface="Microsoft JhengHei UI"/>
                <a:cs typeface="Microsoft JhengHei UI"/>
              </a:rPr>
              <a:t>·</a:t>
            </a:r>
            <a:r>
              <a:rPr sz="2400" spc="275" dirty="0">
                <a:latin typeface="Lucida Sans Unicode"/>
                <a:cs typeface="Lucida Sans Unicode"/>
              </a:rPr>
              <a:t>Hospitals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decreasing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preference.</a:t>
            </a:r>
            <a:endParaRPr sz="2400" dirty="0">
              <a:latin typeface="Lucida Sans Unicode"/>
              <a:cs typeface="Lucida Sans Unicode"/>
            </a:endParaRPr>
          </a:p>
          <a:p>
            <a:pPr marL="676910">
              <a:lnSpc>
                <a:spcPts val="2615"/>
              </a:lnSpc>
              <a:spcBef>
                <a:spcPts val="630"/>
              </a:spcBef>
              <a:tabLst>
                <a:tab pos="1130300" algn="l"/>
              </a:tabLst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r>
              <a:rPr sz="2400" dirty="0">
                <a:latin typeface="Lucida Sans Unicode"/>
                <a:cs typeface="Lucida Sans Unicode"/>
              </a:rPr>
              <a:t>	some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during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Gale–Shapley</a:t>
            </a:r>
            <a:endParaRPr sz="2400" dirty="0">
              <a:latin typeface="Lucida Sans Unicode"/>
              <a:cs typeface="Lucida Sans Unicode"/>
            </a:endParaRPr>
          </a:p>
          <a:p>
            <a:pPr marL="190500">
              <a:lnSpc>
                <a:spcPts val="4355"/>
              </a:lnSpc>
            </a:pPr>
            <a:r>
              <a:rPr sz="5775" spc="1087" baseline="-5772" dirty="0">
                <a:latin typeface="Microsoft JhengHei UI"/>
                <a:cs typeface="Microsoft JhengHei UI"/>
              </a:rPr>
              <a:t>·</a:t>
            </a:r>
            <a:r>
              <a:rPr sz="2400" spc="725" dirty="0">
                <a:latin typeface="Lucida Sans Unicode"/>
                <a:cs typeface="Lucida Sans Unicode"/>
              </a:rPr>
              <a:t>Let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valid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229100"/>
            <a:ext cx="8736965" cy="183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3945"/>
              </a:lnSpc>
            </a:pPr>
            <a:r>
              <a:rPr sz="5775" spc="1087" baseline="-5772" dirty="0">
                <a:latin typeface="Microsoft JhengHei UI"/>
                <a:cs typeface="Microsoft JhengHei UI"/>
              </a:rPr>
              <a:t>·</a:t>
            </a:r>
            <a:r>
              <a:rPr sz="2400" spc="725" dirty="0">
                <a:latin typeface="Lucida Sans Unicode"/>
                <a:cs typeface="Lucida Sans Unicode"/>
              </a:rPr>
              <a:t>Let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where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0" dirty="0">
                <a:latin typeface="Lucida Sans Unicode"/>
                <a:cs typeface="Lucida Sans Unicode"/>
              </a:rPr>
              <a:t> matched.</a:t>
            </a:r>
            <a:endParaRPr sz="2400">
              <a:latin typeface="Lucida Sans Unicode"/>
              <a:cs typeface="Lucida Sans Unicode"/>
            </a:endParaRPr>
          </a:p>
          <a:p>
            <a:pPr marL="495300" marR="30480" indent="-457200">
              <a:lnSpc>
                <a:spcPts val="3800"/>
              </a:lnSpc>
              <a:spcBef>
                <a:spcPts val="219"/>
              </a:spcBef>
            </a:pPr>
            <a:r>
              <a:rPr sz="5775" spc="869" baseline="-5772" dirty="0">
                <a:latin typeface="Microsoft JhengHei UI"/>
                <a:cs typeface="Microsoft JhengHei UI"/>
              </a:rPr>
              <a:t>·</a:t>
            </a:r>
            <a:r>
              <a:rPr sz="2400" spc="580" dirty="0">
                <a:latin typeface="Lucida Sans Unicode"/>
                <a:cs typeface="Lucida Sans Unicode"/>
              </a:rPr>
              <a:t>When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re-</a:t>
            </a:r>
            <a:r>
              <a:rPr sz="2400" spc="-35" dirty="0">
                <a:latin typeface="Lucida Sans Unicode"/>
                <a:cs typeface="Lucida Sans Unicode"/>
              </a:rPr>
              <a:t>affirms) </a:t>
            </a:r>
            <a:r>
              <a:rPr sz="2400" dirty="0">
                <a:latin typeface="Lucida Sans Unicode"/>
                <a:cs typeface="Lucida Sans Unicode"/>
              </a:rPr>
              <a:t>commitment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ʹ.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3967" y="6159500"/>
            <a:ext cx="32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300" y="6172200"/>
            <a:ext cx="2641600" cy="444500"/>
          </a:xfrm>
          <a:prstGeom prst="rect">
            <a:avLst/>
          </a:prstGeom>
          <a:solidFill>
            <a:srgbClr val="E6ECF7"/>
          </a:solidFill>
          <a:ln w="25400">
            <a:solidFill>
              <a:srgbClr val="00549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305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6459220"/>
            <a:ext cx="7196455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1087" baseline="-5772" dirty="0">
                <a:latin typeface="Microsoft JhengHei UI"/>
                <a:cs typeface="Microsoft JhengHei UI"/>
              </a:rPr>
              <a:t>·</a:t>
            </a:r>
            <a:r>
              <a:rPr sz="2400" spc="725" dirty="0">
                <a:latin typeface="Lucida Sans Unicode"/>
                <a:cs typeface="Lucida Sans Unicode"/>
              </a:rPr>
              <a:t>Let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1395" baseline="-5772" dirty="0">
                <a:latin typeface="Microsoft JhengHei UI"/>
                <a:cs typeface="Microsoft JhengHei UI"/>
              </a:rPr>
              <a:t>·</a:t>
            </a:r>
            <a:r>
              <a:rPr sz="2400" i="1" spc="930" dirty="0">
                <a:latin typeface="Times New Roman"/>
                <a:cs typeface="Times New Roman"/>
              </a:rPr>
              <a:t>h</a:t>
            </a:r>
            <a:r>
              <a:rPr sz="2400" spc="930" dirty="0">
                <a:latin typeface="Lucida Sans Unicode"/>
                <a:cs typeface="Lucida Sans Unicode"/>
              </a:rPr>
              <a:t>ʹ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been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rejected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partner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4300" y="7607300"/>
            <a:ext cx="7247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(including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ʹ)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rejected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7907019"/>
            <a:ext cx="910463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719" baseline="-5772" dirty="0">
                <a:latin typeface="Microsoft JhengHei UI"/>
                <a:cs typeface="Microsoft JhengHei UI"/>
              </a:rPr>
              <a:t>·</a:t>
            </a:r>
            <a:r>
              <a:rPr sz="2400" spc="480" dirty="0">
                <a:latin typeface="Lucida Sans Unicode"/>
                <a:cs typeface="Lucida Sans Unicode"/>
              </a:rPr>
              <a:t>Thus,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proposed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3967" y="8572500"/>
            <a:ext cx="32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5300" y="8547100"/>
            <a:ext cx="2641600" cy="444500"/>
          </a:xfrm>
          <a:prstGeom prst="rect">
            <a:avLst/>
          </a:prstGeom>
          <a:solidFill>
            <a:srgbClr val="E6ECF7"/>
          </a:solidFill>
          <a:ln w="25400">
            <a:solidFill>
              <a:srgbClr val="005493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ʹ.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9000" y="8872219"/>
            <a:ext cx="727202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078980" algn="l"/>
              </a:tabLst>
            </a:pPr>
            <a:r>
              <a:rPr sz="5775" spc="719" baseline="-5772" dirty="0">
                <a:latin typeface="Microsoft JhengHei UI"/>
                <a:cs typeface="Microsoft JhengHei UI"/>
              </a:rPr>
              <a:t>·</a:t>
            </a:r>
            <a:r>
              <a:rPr sz="2400" spc="480" dirty="0">
                <a:latin typeface="Lucida Sans Unicode"/>
                <a:cs typeface="Lucida Sans Unicode"/>
              </a:rPr>
              <a:t>Thus,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contradiction.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04400" y="7543800"/>
            <a:ext cx="2321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because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this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first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13900" y="7810500"/>
            <a:ext cx="2695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rejection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by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valid</a:t>
            </a:r>
            <a:r>
              <a:rPr sz="16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partner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24662" y="7789333"/>
            <a:ext cx="649605" cy="121920"/>
            <a:chOff x="8824662" y="7789333"/>
            <a:chExt cx="649605" cy="121920"/>
          </a:xfrm>
        </p:grpSpPr>
        <p:sp>
          <p:nvSpPr>
            <p:cNvPr id="17" name="object 17"/>
            <p:cNvSpPr/>
            <p:nvPr/>
          </p:nvSpPr>
          <p:spPr>
            <a:xfrm>
              <a:off x="8903402" y="7850293"/>
              <a:ext cx="570865" cy="0"/>
            </a:xfrm>
            <a:custGeom>
              <a:avLst/>
              <a:gdLst/>
              <a:ahLst/>
              <a:cxnLst/>
              <a:rect l="l" t="t" r="r" b="b"/>
              <a:pathLst>
                <a:path w="570865">
                  <a:moveTo>
                    <a:pt x="0" y="0"/>
                  </a:moveTo>
                  <a:lnTo>
                    <a:pt x="12699" y="0"/>
                  </a:lnTo>
                  <a:lnTo>
                    <a:pt x="570797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24662" y="7789333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414000" y="6134100"/>
            <a:ext cx="19545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stable</a:t>
            </a:r>
            <a:r>
              <a:rPr sz="1600" b="1" spc="114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matching</a:t>
            </a:r>
            <a:r>
              <a:rPr sz="1600" b="1" spc="114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64019" y="4040187"/>
            <a:ext cx="120650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324485" marR="268605" indent="-49530" algn="ctr">
              <a:lnSpc>
                <a:spcPts val="3300"/>
              </a:lnSpc>
              <a:spcBef>
                <a:spcPts val="45"/>
              </a:spcBef>
            </a:pPr>
            <a:r>
              <a:rPr sz="2000" i="1" dirty="0">
                <a:latin typeface="Times New Roman"/>
                <a:cs typeface="Times New Roman"/>
              </a:rPr>
              <a:t>h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i="1" spc="-50" dirty="0">
                <a:latin typeface="Times New Roman"/>
                <a:cs typeface="Times New Roman"/>
              </a:rPr>
              <a:t>s h</a:t>
            </a:r>
            <a:r>
              <a:rPr sz="2000" spc="-50" dirty="0">
                <a:latin typeface="Lucida Sans Unicode"/>
                <a:cs typeface="Lucida Sans Unicode"/>
              </a:rPr>
              <a:t>ʹ</a:t>
            </a:r>
            <a:r>
              <a:rPr sz="2000" spc="-1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s</a:t>
            </a:r>
            <a:r>
              <a:rPr sz="2000" spc="-65" dirty="0">
                <a:latin typeface="Lucida Sans Unicode"/>
                <a:cs typeface="Lucida Sans Unicode"/>
              </a:rPr>
              <a:t>ʹ</a:t>
            </a:r>
            <a:endParaRPr sz="2000">
              <a:latin typeface="Lucida Sans Unicode"/>
              <a:cs typeface="Lucida Sans Unicode"/>
            </a:endParaRPr>
          </a:p>
          <a:p>
            <a:pPr marL="3810" algn="ctr">
              <a:lnSpc>
                <a:spcPct val="100000"/>
              </a:lnSpc>
              <a:spcBef>
                <a:spcPts val="1340"/>
              </a:spcBef>
            </a:pPr>
            <a:r>
              <a:rPr sz="2000" spc="-830" dirty="0">
                <a:latin typeface="Lucida Sans Unicode"/>
                <a:cs typeface="Lucida Sans Unicode"/>
              </a:rPr>
              <a:t>⋮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3097" y="79718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150" dirty="0"/>
              <a:t> </a:t>
            </a:r>
            <a:r>
              <a:rPr spc="-10" dirty="0"/>
              <a:t>pessimality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0919460" cy="48514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45" dirty="0">
                <a:latin typeface="Lucida Sans Unicode"/>
                <a:cs typeface="Lucida Sans Unicode"/>
              </a:rPr>
              <a:t> hospital-</a:t>
            </a:r>
            <a:r>
              <a:rPr sz="2400" spc="-25" dirty="0">
                <a:latin typeface="Lucida Sans Unicode"/>
                <a:cs typeface="Lucida Sans Unicode"/>
              </a:rPr>
              <a:t>optimality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expense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students?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latin typeface="Lucida Sans Unicode"/>
                <a:cs typeface="Lucida Sans Unicode"/>
              </a:rPr>
              <a:t>Yes.</a:t>
            </a:r>
            <a:endParaRPr sz="2400">
              <a:latin typeface="Lucida Sans Unicode"/>
              <a:cs typeface="Lucida Sans Unicode"/>
            </a:endParaRPr>
          </a:p>
          <a:p>
            <a:pPr marL="50800" marR="17780">
              <a:lnSpc>
                <a:spcPct val="263900"/>
              </a:lnSpc>
              <a:tabLst>
                <a:tab pos="1179195" algn="l"/>
                <a:tab pos="4672330" algn="l"/>
              </a:tabLst>
            </a:pP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Student-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pessimal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assignment.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receives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partner.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student-</a:t>
            </a:r>
            <a:r>
              <a:rPr sz="24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pessimal</a:t>
            </a:r>
            <a:r>
              <a:rPr sz="24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  <a:spcBef>
                <a:spcPts val="920"/>
              </a:spcBef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[by</a:t>
            </a:r>
            <a:r>
              <a:rPr sz="2400" spc="10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contradiction]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540" baseline="-5772" dirty="0">
                <a:latin typeface="Microsoft JhengHei UI"/>
                <a:cs typeface="Microsoft JhengHei UI"/>
              </a:rPr>
              <a:t>·</a:t>
            </a:r>
            <a:r>
              <a:rPr sz="2400" spc="360" dirty="0">
                <a:latin typeface="Lucida Sans Unicode"/>
                <a:cs typeface="Lucida Sans Unicode"/>
              </a:rPr>
              <a:t>Suppose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worst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0" marR="309880" indent="-457200">
              <a:lnSpc>
                <a:spcPts val="3800"/>
              </a:lnSpc>
              <a:spcBef>
                <a:spcPts val="219"/>
              </a:spcBef>
            </a:pPr>
            <a:r>
              <a:rPr sz="5775" spc="705" baseline="-5772" dirty="0">
                <a:latin typeface="Microsoft JhengHei UI"/>
                <a:cs typeface="Microsoft JhengHei UI"/>
              </a:rPr>
              <a:t>·</a:t>
            </a:r>
            <a:r>
              <a:rPr sz="2400" spc="470" dirty="0">
                <a:latin typeface="Lucida Sans Unicode"/>
                <a:cs typeface="Lucida Sans Unicode"/>
              </a:rPr>
              <a:t>There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hospital, </a:t>
            </a:r>
            <a:r>
              <a:rPr sz="2400" dirty="0">
                <a:latin typeface="Lucida Sans Unicode"/>
                <a:cs typeface="Lucida Sans Unicode"/>
              </a:rPr>
              <a:t>say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Lucida Sans Unicode"/>
                <a:cs typeface="Lucida Sans Unicode"/>
              </a:rPr>
              <a:t>ʹ,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less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3967" y="6159500"/>
            <a:ext cx="32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5300" y="6172200"/>
            <a:ext cx="2641600" cy="444500"/>
          </a:xfrm>
          <a:prstGeom prst="rect">
            <a:avLst/>
          </a:prstGeom>
          <a:solidFill>
            <a:srgbClr val="E6ECF7"/>
          </a:solidFill>
          <a:ln w="25400">
            <a:solidFill>
              <a:srgbClr val="00549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305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ʹ.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459220"/>
            <a:ext cx="8580755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1087" baseline="-5772" dirty="0">
                <a:latin typeface="Microsoft JhengHei UI"/>
                <a:cs typeface="Microsoft JhengHei UI"/>
              </a:rPr>
              <a:t>·</a:t>
            </a:r>
            <a:r>
              <a:rPr sz="2400" spc="725" dirty="0">
                <a:latin typeface="Lucida Sans Unicode"/>
                <a:cs typeface="Lucida Sans Unicode"/>
              </a:rPr>
              <a:t>Let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ʹ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1500" baseline="-5772" dirty="0">
                <a:latin typeface="Microsoft JhengHei UI"/>
                <a:cs typeface="Microsoft JhengHei UI"/>
              </a:rPr>
              <a:t>·</a:t>
            </a:r>
            <a:r>
              <a:rPr sz="2400" spc="1000" dirty="0">
                <a:latin typeface="Lucida Sans Unicode"/>
                <a:cs typeface="Lucida Sans Unicode"/>
              </a:rPr>
              <a:t>By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hospital-</a:t>
            </a:r>
            <a:r>
              <a:rPr sz="2400" spc="-25" dirty="0">
                <a:latin typeface="Lucida Sans Unicode"/>
                <a:cs typeface="Lucida Sans Unicode"/>
              </a:rPr>
              <a:t>optimality,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valid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partner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h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3967" y="7607300"/>
            <a:ext cx="326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Lucida Sans Unicode"/>
                <a:cs typeface="Lucida Sans Unicode"/>
              </a:rPr>
              <a:t>⇒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300" y="7594600"/>
            <a:ext cx="2641600" cy="444500"/>
          </a:xfrm>
          <a:prstGeom prst="rect">
            <a:avLst/>
          </a:prstGeom>
          <a:solidFill>
            <a:srgbClr val="E6ECF7"/>
          </a:solidFill>
          <a:ln w="25400">
            <a:solidFill>
              <a:srgbClr val="005493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2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ʹ.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9000" y="7907019"/>
            <a:ext cx="831977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126730" algn="l"/>
              </a:tabLst>
            </a:pPr>
            <a:r>
              <a:rPr sz="5775" spc="719" baseline="-5772" dirty="0">
                <a:latin typeface="Microsoft JhengHei UI"/>
                <a:cs typeface="Microsoft JhengHei UI"/>
              </a:rPr>
              <a:t>·</a:t>
            </a:r>
            <a:r>
              <a:rPr sz="2400" spc="480" dirty="0">
                <a:latin typeface="Lucida Sans Unicode"/>
                <a:cs typeface="Lucida Sans Unicode"/>
              </a:rPr>
              <a:t>Thus,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unstable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contradiction.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36200" y="8394700"/>
            <a:ext cx="19545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stable</a:t>
            </a:r>
            <a:r>
              <a:rPr sz="1600" b="1" spc="114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matching</a:t>
            </a:r>
            <a:r>
              <a:rPr sz="1600" b="1" spc="114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M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3400" y="6294437"/>
            <a:ext cx="12065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635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r>
              <a:rPr sz="2000" spc="-50" dirty="0">
                <a:latin typeface="Lucida Sans Unicode"/>
                <a:cs typeface="Lucida Sans Unicode"/>
              </a:rPr>
              <a:t>ʹ</a:t>
            </a:r>
            <a:r>
              <a:rPr sz="2000" spc="-1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1300"/>
              </a:spcBef>
            </a:pPr>
            <a:r>
              <a:rPr sz="2000" i="1" dirty="0">
                <a:latin typeface="Times New Roman"/>
                <a:cs typeface="Times New Roman"/>
              </a:rPr>
              <a:t>h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i="1" spc="-25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Lucida Sans Unicode"/>
                <a:cs typeface="Lucida Sans Unicode"/>
              </a:rPr>
              <a:t>ʹ</a:t>
            </a:r>
            <a:endParaRPr sz="2000">
              <a:latin typeface="Lucida Sans Unicode"/>
              <a:cs typeface="Lucida Sans Unicode"/>
            </a:endParaRPr>
          </a:p>
          <a:p>
            <a:pPr marR="1905" algn="ctr">
              <a:lnSpc>
                <a:spcPct val="100000"/>
              </a:lnSpc>
              <a:spcBef>
                <a:spcPts val="1300"/>
              </a:spcBef>
            </a:pPr>
            <a:r>
              <a:rPr sz="2000" spc="-830" dirty="0">
                <a:latin typeface="Lucida Sans Unicode"/>
                <a:cs typeface="Lucida Sans Unicode"/>
              </a:rPr>
              <a:t>⋮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58600" y="228597"/>
            <a:ext cx="491490" cy="584200"/>
            <a:chOff x="11658600" y="228597"/>
            <a:chExt cx="491490" cy="584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2113" y="466634"/>
              <a:ext cx="98027" cy="989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0" y="228597"/>
              <a:ext cx="491106" cy="58407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3600" y="1216660"/>
            <a:ext cx="10723880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Suppose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each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agent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knows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preference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spc="55" dirty="0">
                <a:latin typeface="Tahoma"/>
                <a:cs typeface="Tahoma"/>
              </a:rPr>
              <a:t>lists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spc="60" dirty="0">
                <a:latin typeface="Tahoma"/>
                <a:cs typeface="Tahoma"/>
              </a:rPr>
              <a:t>of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every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other</a:t>
            </a:r>
            <a:r>
              <a:rPr sz="2400" b="1" spc="13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agent </a:t>
            </a:r>
            <a:r>
              <a:rPr sz="2400" b="1" dirty="0">
                <a:latin typeface="Tahoma"/>
                <a:cs typeface="Tahoma"/>
              </a:rPr>
              <a:t>before</a:t>
            </a:r>
            <a:r>
              <a:rPr sz="2400" b="1" spc="18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8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hospital</a:t>
            </a:r>
            <a:r>
              <a:rPr sz="2400" b="1" spc="185" dirty="0">
                <a:latin typeface="Tahoma"/>
                <a:cs typeface="Tahoma"/>
              </a:rPr>
              <a:t> </a:t>
            </a:r>
            <a:r>
              <a:rPr sz="2400" b="1" spc="105" dirty="0">
                <a:latin typeface="Tahoma"/>
                <a:cs typeface="Tahoma"/>
              </a:rPr>
              <a:t>propose-</a:t>
            </a:r>
            <a:r>
              <a:rPr sz="2400" b="1" spc="140" dirty="0">
                <a:latin typeface="Tahoma"/>
                <a:cs typeface="Tahoma"/>
              </a:rPr>
              <a:t>and-</a:t>
            </a:r>
            <a:r>
              <a:rPr sz="2400" b="1" dirty="0">
                <a:latin typeface="Tahoma"/>
                <a:cs typeface="Tahoma"/>
              </a:rPr>
              <a:t>reject</a:t>
            </a:r>
            <a:r>
              <a:rPr sz="2400" b="1" spc="18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algorithm</a:t>
            </a:r>
            <a:r>
              <a:rPr sz="2400" b="1" spc="185" dirty="0">
                <a:latin typeface="Tahoma"/>
                <a:cs typeface="Tahoma"/>
              </a:rPr>
              <a:t> </a:t>
            </a:r>
            <a:r>
              <a:rPr sz="2400" b="1" spc="80" dirty="0">
                <a:latin typeface="Tahoma"/>
                <a:cs typeface="Tahoma"/>
              </a:rPr>
              <a:t>is</a:t>
            </a:r>
            <a:r>
              <a:rPr sz="2400" b="1" spc="18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executed.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b="1" dirty="0">
                <a:latin typeface="Tahoma"/>
                <a:cs typeface="Tahoma"/>
              </a:rPr>
              <a:t>Which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b="1" spc="75" dirty="0">
                <a:latin typeface="Tahoma"/>
                <a:cs typeface="Tahoma"/>
              </a:rPr>
              <a:t>is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true?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3975100"/>
            <a:ext cx="9205595" cy="290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 indent="-647065">
              <a:lnSpc>
                <a:spcPct val="100000"/>
              </a:lnSpc>
              <a:spcBef>
                <a:spcPts val="100"/>
              </a:spcBef>
              <a:buClr>
                <a:srgbClr val="005493"/>
              </a:buClr>
              <a:buFont typeface="Tahoma"/>
              <a:buAutoNum type="alphaUcPeriod"/>
              <a:tabLst>
                <a:tab pos="659765" algn="l"/>
              </a:tabLst>
            </a:pP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improve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by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falsifying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list.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659765" indent="-647065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659765" algn="l"/>
              </a:tabLst>
            </a:pP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improve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by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falsifying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their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preference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list.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659765" indent="-647065">
              <a:lnSpc>
                <a:spcPct val="100000"/>
              </a:lnSpc>
              <a:spcBef>
                <a:spcPts val="5"/>
              </a:spcBef>
              <a:buClr>
                <a:srgbClr val="005493"/>
              </a:buClr>
              <a:buFont typeface="Tahoma"/>
              <a:buAutoNum type="alphaUcPeriod"/>
              <a:tabLst>
                <a:tab pos="659765" algn="l"/>
              </a:tabLst>
            </a:pP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5493"/>
              </a:buClr>
              <a:buFont typeface="Tahoma"/>
              <a:buAutoNum type="alphaUcPeriod"/>
            </a:pPr>
            <a:endParaRPr sz="2400" dirty="0">
              <a:latin typeface="Lucida Sans Unicode"/>
              <a:cs typeface="Lucida Sans Unicode"/>
            </a:endParaRPr>
          </a:p>
          <a:p>
            <a:pPr marL="659765" indent="-647065">
              <a:lnSpc>
                <a:spcPct val="100000"/>
              </a:lnSpc>
              <a:buClr>
                <a:srgbClr val="005493"/>
              </a:buClr>
              <a:buFont typeface="Tahoma"/>
              <a:buAutoNum type="alphaUcPeriod"/>
              <a:tabLst>
                <a:tab pos="659765" algn="l"/>
              </a:tabLst>
            </a:pP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63600" y="355600"/>
            <a:ext cx="96774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8145" algn="l"/>
              </a:tabLst>
            </a:pPr>
            <a:r>
              <a:rPr dirty="0"/>
              <a:t>Stable</a:t>
            </a:r>
            <a:r>
              <a:rPr spc="145" dirty="0"/>
              <a:t> </a:t>
            </a:r>
            <a:r>
              <a:rPr spc="-10" dirty="0"/>
              <a:t>matching: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4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016000" y="3848100"/>
            <a:ext cx="685800" cy="685800"/>
            <a:chOff x="1016000" y="3848100"/>
            <a:chExt cx="685800" cy="685800"/>
          </a:xfrm>
        </p:grpSpPr>
        <p:sp>
          <p:nvSpPr>
            <p:cNvPr id="11" name="object 11"/>
            <p:cNvSpPr/>
            <p:nvPr/>
          </p:nvSpPr>
          <p:spPr>
            <a:xfrm>
              <a:off x="1054100" y="3886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508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4100" y="38862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76200">
              <a:solidFill>
                <a:srgbClr val="FB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61900" y="9407753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26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0400" y="1739900"/>
            <a:ext cx="4445000" cy="5105400"/>
            <a:chOff x="660400" y="1739900"/>
            <a:chExt cx="4445000" cy="5105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400" y="1739900"/>
              <a:ext cx="4445000" cy="5105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5600" y="1892300"/>
              <a:ext cx="736600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4248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2186940" algn="l"/>
              </a:tabLst>
            </a:pPr>
            <a:r>
              <a:rPr sz="3600" b="1" cap="small" spc="-25" dirty="0">
                <a:latin typeface="Tahoma"/>
                <a:cs typeface="Tahoma"/>
              </a:rPr>
              <a:t>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65" dirty="0">
                <a:latin typeface="Tahoma"/>
                <a:cs typeface="Tahoma"/>
              </a:rPr>
              <a:t>Stable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65" dirty="0">
                <a:latin typeface="Tahoma"/>
                <a:cs typeface="Tahoma"/>
              </a:rPr>
              <a:t>Matching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16600" y="2527300"/>
            <a:ext cx="4291330" cy="2565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90" dirty="0">
                <a:solidFill>
                  <a:srgbClr val="D5D5D5"/>
                </a:solidFill>
                <a:latin typeface="Verdana"/>
                <a:cs typeface="Verdana"/>
              </a:rPr>
              <a:t>stable</a:t>
            </a:r>
            <a:r>
              <a:rPr sz="3000" i="1" spc="-1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15" dirty="0">
                <a:solidFill>
                  <a:srgbClr val="D5D5D5"/>
                </a:solidFill>
                <a:latin typeface="Verdana"/>
                <a:cs typeface="Verdana"/>
              </a:rPr>
              <a:t>matching</a:t>
            </a:r>
            <a:r>
              <a:rPr sz="3000" i="1" spc="-17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95" dirty="0">
                <a:solidFill>
                  <a:srgbClr val="D5D5D5"/>
                </a:solidFill>
                <a:latin typeface="Verdana"/>
                <a:cs typeface="Verdana"/>
              </a:rPr>
              <a:t>problem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60" dirty="0">
                <a:solidFill>
                  <a:srgbClr val="D5D5D5"/>
                </a:solidFill>
                <a:latin typeface="Verdana"/>
                <a:cs typeface="Verdana"/>
              </a:rPr>
              <a:t>Gale–Shapley</a:t>
            </a:r>
            <a:r>
              <a:rPr sz="3000" i="1" spc="-17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285" dirty="0">
                <a:solidFill>
                  <a:srgbClr val="D5D5D5"/>
                </a:solidFill>
                <a:latin typeface="Verdana"/>
                <a:cs typeface="Verdana"/>
              </a:rPr>
              <a:t>algorithm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254" dirty="0">
                <a:solidFill>
                  <a:srgbClr val="D5D5D5"/>
                </a:solidFill>
                <a:latin typeface="Verdana"/>
                <a:cs typeface="Verdana"/>
              </a:rPr>
              <a:t>hospital</a:t>
            </a:r>
            <a:r>
              <a:rPr sz="3000" i="1" spc="-16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3000" i="1" spc="-300" dirty="0">
                <a:solidFill>
                  <a:srgbClr val="D5D5D5"/>
                </a:solidFill>
                <a:latin typeface="Verdana"/>
                <a:cs typeface="Verdana"/>
              </a:rPr>
              <a:t>optimality</a:t>
            </a:r>
            <a:endParaRPr sz="3000">
              <a:latin typeface="Verdana"/>
              <a:cs typeface="Verdana"/>
            </a:endParaRPr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i="1" spc="-350" dirty="0">
                <a:latin typeface="Verdana"/>
                <a:cs typeface="Verdana"/>
              </a:rPr>
              <a:t>context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500" y="6921500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1.1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9400" y="79718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Extensions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848994" algn="l"/>
              </a:tabLst>
            </a:pPr>
            <a:r>
              <a:rPr spc="-20" dirty="0">
                <a:solidFill>
                  <a:srgbClr val="0048AA"/>
                </a:solidFill>
              </a:rPr>
              <a:t>Def.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Matching</a:t>
            </a:r>
            <a:r>
              <a:rPr spc="-40" dirty="0"/>
              <a:t> </a:t>
            </a:r>
            <a:r>
              <a:rPr i="1" dirty="0">
                <a:latin typeface="Times New Roman"/>
                <a:cs typeface="Times New Roman"/>
              </a:rPr>
              <a:t>M</a:t>
            </a:r>
            <a:r>
              <a:rPr i="1" spc="12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>
                <a:solidFill>
                  <a:srgbClr val="8D3124"/>
                </a:solidFill>
              </a:rPr>
              <a:t>unstable</a:t>
            </a:r>
            <a:r>
              <a:rPr spc="-40" dirty="0">
                <a:solidFill>
                  <a:srgbClr val="8D3124"/>
                </a:solidFill>
              </a:rPr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dirty="0"/>
              <a:t>there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hospital</a:t>
            </a:r>
            <a:r>
              <a:rPr spc="-35" dirty="0"/>
              <a:t> </a:t>
            </a:r>
            <a:r>
              <a:rPr i="1" dirty="0">
                <a:latin typeface="Times New Roman"/>
                <a:cs typeface="Times New Roman"/>
              </a:rPr>
              <a:t>h</a:t>
            </a:r>
            <a:r>
              <a:rPr i="1" spc="12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student</a:t>
            </a:r>
            <a:r>
              <a:rPr spc="-40" dirty="0"/>
              <a:t> </a:t>
            </a:r>
            <a:r>
              <a:rPr i="1" dirty="0">
                <a:latin typeface="Times New Roman"/>
                <a:cs typeface="Times New Roman"/>
              </a:rPr>
              <a:t>s</a:t>
            </a:r>
            <a:r>
              <a:rPr i="1" spc="125" dirty="0">
                <a:latin typeface="Times New Roman"/>
                <a:cs typeface="Times New Roman"/>
              </a:rPr>
              <a:t> </a:t>
            </a:r>
            <a:r>
              <a:rPr dirty="0"/>
              <a:t>such</a:t>
            </a:r>
            <a:r>
              <a:rPr spc="-35" dirty="0"/>
              <a:t> </a:t>
            </a:r>
            <a:r>
              <a:rPr spc="-10" dirty="0"/>
              <a:t>that:</a:t>
            </a:r>
          </a:p>
          <a:p>
            <a:pPr marL="177800">
              <a:lnSpc>
                <a:spcPts val="3945"/>
              </a:lnSpc>
            </a:pPr>
            <a:r>
              <a:rPr sz="5775" spc="2175" baseline="-5772" dirty="0">
                <a:latin typeface="Microsoft JhengHei UI"/>
                <a:cs typeface="Microsoft JhengHei UI"/>
              </a:rPr>
              <a:t>·</a:t>
            </a:r>
            <a:r>
              <a:rPr sz="2400" i="1" spc="1450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/>
              <a:t>and</a:t>
            </a:r>
            <a:r>
              <a:rPr sz="2400" spc="-20" dirty="0"/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/>
              <a:t>are</a:t>
            </a:r>
            <a:r>
              <a:rPr sz="2400" spc="-25" dirty="0"/>
              <a:t> </a:t>
            </a:r>
            <a:r>
              <a:rPr sz="2400" dirty="0"/>
              <a:t>acceptable</a:t>
            </a:r>
            <a:r>
              <a:rPr sz="2400" spc="-20" dirty="0"/>
              <a:t> </a:t>
            </a:r>
            <a:r>
              <a:rPr sz="2400" dirty="0"/>
              <a:t>to</a:t>
            </a:r>
            <a:r>
              <a:rPr sz="2400" spc="-20" dirty="0"/>
              <a:t> </a:t>
            </a:r>
            <a:r>
              <a:rPr sz="2400" dirty="0"/>
              <a:t>each</a:t>
            </a:r>
            <a:r>
              <a:rPr sz="2400" spc="-25" dirty="0"/>
              <a:t> </a:t>
            </a:r>
            <a:r>
              <a:rPr sz="2400" dirty="0"/>
              <a:t>other;</a:t>
            </a:r>
            <a:r>
              <a:rPr sz="2400" spc="-20" dirty="0"/>
              <a:t> </a:t>
            </a:r>
            <a:r>
              <a:rPr sz="2400" spc="-25" dirty="0"/>
              <a:t>and</a:t>
            </a:r>
            <a:endParaRPr sz="2400">
              <a:latin typeface="Times New Roman"/>
              <a:cs typeface="Times New Roman"/>
            </a:endParaRPr>
          </a:p>
          <a:p>
            <a:pPr marL="177800">
              <a:lnSpc>
                <a:spcPts val="3800"/>
              </a:lnSpc>
            </a:pPr>
            <a:r>
              <a:rPr sz="5775" spc="607" baseline="-5772" dirty="0">
                <a:latin typeface="Microsoft JhengHei UI"/>
                <a:cs typeface="Microsoft JhengHei UI"/>
              </a:rPr>
              <a:t>·</a:t>
            </a:r>
            <a:r>
              <a:rPr sz="2400" spc="405" dirty="0"/>
              <a:t>Either</a:t>
            </a:r>
            <a:r>
              <a:rPr sz="2400" spc="-40" dirty="0"/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/>
              <a:t>is</a:t>
            </a:r>
            <a:r>
              <a:rPr sz="2400" spc="-40" dirty="0"/>
              <a:t> </a:t>
            </a:r>
            <a:r>
              <a:rPr sz="2400" dirty="0"/>
              <a:t>unmatched,</a:t>
            </a:r>
            <a:r>
              <a:rPr sz="2400" spc="-35" dirty="0"/>
              <a:t> </a:t>
            </a:r>
            <a:r>
              <a:rPr sz="2400" dirty="0"/>
              <a:t>or</a:t>
            </a:r>
            <a:r>
              <a:rPr sz="2400" spc="-40" dirty="0"/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/>
              <a:t>prefers</a:t>
            </a:r>
            <a:r>
              <a:rPr sz="2400" spc="-35" dirty="0"/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/>
              <a:t>to</a:t>
            </a:r>
            <a:r>
              <a:rPr sz="2400" spc="-40" dirty="0"/>
              <a:t> </a:t>
            </a:r>
            <a:r>
              <a:rPr sz="2400" dirty="0"/>
              <a:t>assigned</a:t>
            </a:r>
            <a:r>
              <a:rPr sz="2400" spc="-40" dirty="0"/>
              <a:t> </a:t>
            </a:r>
            <a:r>
              <a:rPr sz="2400" dirty="0"/>
              <a:t>hospital;</a:t>
            </a:r>
            <a:r>
              <a:rPr sz="2400" spc="-35" dirty="0"/>
              <a:t> </a:t>
            </a:r>
            <a:r>
              <a:rPr sz="2400" spc="-25" dirty="0"/>
              <a:t>and</a:t>
            </a:r>
            <a:endParaRPr sz="2400">
              <a:latin typeface="Times New Roman"/>
              <a:cs typeface="Times New Roman"/>
            </a:endParaRPr>
          </a:p>
          <a:p>
            <a:pPr marL="635000" marR="857885" indent="-457200">
              <a:lnSpc>
                <a:spcPts val="3800"/>
              </a:lnSpc>
              <a:spcBef>
                <a:spcPts val="400"/>
              </a:spcBef>
            </a:pPr>
            <a:r>
              <a:rPr sz="5775" spc="607" baseline="-5772" dirty="0">
                <a:latin typeface="Microsoft JhengHei UI"/>
                <a:cs typeface="Microsoft JhengHei UI"/>
              </a:rPr>
              <a:t>·</a:t>
            </a:r>
            <a:r>
              <a:rPr sz="2400" spc="405" dirty="0"/>
              <a:t>Either</a:t>
            </a:r>
            <a:r>
              <a:rPr sz="2400" spc="-25" dirty="0"/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/>
              <a:t>does</a:t>
            </a:r>
            <a:r>
              <a:rPr sz="2400" spc="-20" dirty="0"/>
              <a:t> </a:t>
            </a:r>
            <a:r>
              <a:rPr sz="2400" dirty="0"/>
              <a:t>not</a:t>
            </a:r>
            <a:r>
              <a:rPr sz="2400" spc="-25" dirty="0"/>
              <a:t> </a:t>
            </a:r>
            <a:r>
              <a:rPr sz="2400" dirty="0"/>
              <a:t>have</a:t>
            </a:r>
            <a:r>
              <a:rPr sz="2400" spc="-20" dirty="0"/>
              <a:t> </a:t>
            </a:r>
            <a:r>
              <a:rPr sz="2400" dirty="0"/>
              <a:t>all</a:t>
            </a:r>
            <a:r>
              <a:rPr sz="2400" spc="-25" dirty="0"/>
              <a:t> </a:t>
            </a:r>
            <a:r>
              <a:rPr sz="2400" dirty="0"/>
              <a:t>its</a:t>
            </a:r>
            <a:r>
              <a:rPr sz="2400" spc="-20" dirty="0"/>
              <a:t> </a:t>
            </a:r>
            <a:r>
              <a:rPr sz="2400" dirty="0"/>
              <a:t>places</a:t>
            </a:r>
            <a:r>
              <a:rPr sz="2400" spc="-25" dirty="0"/>
              <a:t> </a:t>
            </a:r>
            <a:r>
              <a:rPr sz="2400" dirty="0"/>
              <a:t>filled,</a:t>
            </a:r>
            <a:r>
              <a:rPr sz="2400" spc="-20" dirty="0"/>
              <a:t> </a:t>
            </a:r>
            <a:r>
              <a:rPr sz="2400" dirty="0"/>
              <a:t>or</a:t>
            </a:r>
            <a:r>
              <a:rPr sz="2400" spc="-25" dirty="0"/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/>
              <a:t>prefers</a:t>
            </a:r>
            <a:r>
              <a:rPr sz="2400" spc="-20" dirty="0"/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/>
              <a:t>to</a:t>
            </a:r>
            <a:r>
              <a:rPr sz="2400" spc="-20" dirty="0"/>
              <a:t> </a:t>
            </a:r>
            <a:r>
              <a:rPr sz="2400" dirty="0"/>
              <a:t>at</a:t>
            </a:r>
            <a:r>
              <a:rPr sz="2400" spc="-25" dirty="0"/>
              <a:t> </a:t>
            </a:r>
            <a:r>
              <a:rPr sz="2400" spc="-10" dirty="0"/>
              <a:t>least </a:t>
            </a:r>
            <a:r>
              <a:rPr sz="2400" dirty="0"/>
              <a:t>one</a:t>
            </a:r>
            <a:r>
              <a:rPr sz="2400" spc="-55" dirty="0"/>
              <a:t> </a:t>
            </a:r>
            <a:r>
              <a:rPr sz="2400" dirty="0"/>
              <a:t>of</a:t>
            </a:r>
            <a:r>
              <a:rPr sz="2400" spc="-55" dirty="0"/>
              <a:t> </a:t>
            </a:r>
            <a:r>
              <a:rPr sz="2400" dirty="0"/>
              <a:t>its</a:t>
            </a:r>
            <a:r>
              <a:rPr sz="2400" spc="-55" dirty="0"/>
              <a:t> </a:t>
            </a:r>
            <a:r>
              <a:rPr sz="2400" dirty="0"/>
              <a:t>assigned</a:t>
            </a:r>
            <a:r>
              <a:rPr sz="2400" spc="-55" dirty="0"/>
              <a:t> </a:t>
            </a:r>
            <a:r>
              <a:rPr sz="2400" spc="-10" dirty="0"/>
              <a:t>students.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tabLst>
                <a:tab pos="1657350" algn="l"/>
              </a:tabLst>
            </a:pPr>
            <a:r>
              <a:rPr spc="-10" dirty="0">
                <a:solidFill>
                  <a:srgbClr val="0048AA"/>
                </a:solidFill>
              </a:rPr>
              <a:t>Theorem.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There</a:t>
            </a:r>
            <a:r>
              <a:rPr spc="-45" dirty="0"/>
              <a:t> </a:t>
            </a:r>
            <a:r>
              <a:rPr dirty="0"/>
              <a:t>exists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stable</a:t>
            </a:r>
            <a:r>
              <a:rPr spc="-45" dirty="0"/>
              <a:t> </a:t>
            </a:r>
            <a:r>
              <a:rPr spc="-10" dirty="0"/>
              <a:t>matching.</a:t>
            </a: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619760" algn="l"/>
              </a:tabLst>
            </a:pPr>
            <a:r>
              <a:rPr spc="-25" dirty="0">
                <a:solidFill>
                  <a:srgbClr val="0048AA"/>
                </a:solidFill>
              </a:rPr>
              <a:t>Pf.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Straightforward</a:t>
            </a:r>
            <a:r>
              <a:rPr spc="-55" dirty="0"/>
              <a:t> </a:t>
            </a:r>
            <a:r>
              <a:rPr dirty="0"/>
              <a:t>generalization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Gale–Shapley</a:t>
            </a:r>
            <a:r>
              <a:rPr spc="-50" dirty="0"/>
              <a:t> </a:t>
            </a:r>
            <a:r>
              <a:rPr spc="-10" dirty="0"/>
              <a:t>algorithm.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29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874077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9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Extension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agents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declare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others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unacceptable.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Extension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hospitals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position.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Extension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3.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Unequal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positions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students.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36200" y="1854200"/>
            <a:ext cx="1978660" cy="777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algn="ctr">
              <a:lnSpc>
                <a:spcPct val="104200"/>
              </a:lnSpc>
              <a:spcBef>
                <a:spcPts val="20"/>
              </a:spcBef>
            </a:pPr>
            <a:r>
              <a:rPr sz="16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med-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school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unwilling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work</a:t>
            </a:r>
            <a:r>
              <a:rPr sz="1600" spc="50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Cleveland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631525" y="1654711"/>
            <a:ext cx="509270" cy="280035"/>
            <a:chOff x="9631525" y="1654711"/>
            <a:chExt cx="509270" cy="280035"/>
          </a:xfrm>
        </p:grpSpPr>
        <p:sp>
          <p:nvSpPr>
            <p:cNvPr id="8" name="object 8"/>
            <p:cNvSpPr/>
            <p:nvPr/>
          </p:nvSpPr>
          <p:spPr>
            <a:xfrm>
              <a:off x="9700856" y="1692036"/>
              <a:ext cx="427355" cy="230504"/>
            </a:xfrm>
            <a:custGeom>
              <a:avLst/>
              <a:gdLst/>
              <a:ahLst/>
              <a:cxnLst/>
              <a:rect l="l" t="t" r="r" b="b"/>
              <a:pathLst>
                <a:path w="427354" h="230505">
                  <a:moveTo>
                    <a:pt x="0" y="0"/>
                  </a:moveTo>
                  <a:lnTo>
                    <a:pt x="11182" y="6020"/>
                  </a:lnTo>
                  <a:lnTo>
                    <a:pt x="427083" y="229926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31525" y="1654711"/>
              <a:ext cx="136525" cy="111760"/>
            </a:xfrm>
            <a:custGeom>
              <a:avLst/>
              <a:gdLst/>
              <a:ahLst/>
              <a:cxnLst/>
              <a:rect l="l" t="t" r="r" b="b"/>
              <a:pathLst>
                <a:path w="136525" h="111760">
                  <a:moveTo>
                    <a:pt x="0" y="0"/>
                  </a:moveTo>
                  <a:lnTo>
                    <a:pt x="78454" y="111470"/>
                  </a:lnTo>
                  <a:lnTo>
                    <a:pt x="80514" y="43346"/>
                  </a:lnTo>
                  <a:lnTo>
                    <a:pt x="136248" y="4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83200" y="3139439"/>
            <a:ext cx="2827020" cy="58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5080" indent="-482600">
              <a:lnSpc>
                <a:spcPct val="114599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≥</a:t>
            </a: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43K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8D3124"/>
                </a:solidFill>
                <a:latin typeface="Lucida Sans Unicode"/>
                <a:cs typeface="Lucida Sans Unicode"/>
              </a:rPr>
              <a:t>med-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school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students;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only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31K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positions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92262" y="2768600"/>
            <a:ext cx="547370" cy="427355"/>
            <a:chOff x="4692262" y="2768600"/>
            <a:chExt cx="547370" cy="427355"/>
          </a:xfrm>
        </p:grpSpPr>
        <p:sp>
          <p:nvSpPr>
            <p:cNvPr id="12" name="object 12"/>
            <p:cNvSpPr/>
            <p:nvPr/>
          </p:nvSpPr>
          <p:spPr>
            <a:xfrm>
              <a:off x="4754479" y="2816859"/>
              <a:ext cx="472440" cy="366395"/>
            </a:xfrm>
            <a:custGeom>
              <a:avLst/>
              <a:gdLst/>
              <a:ahLst/>
              <a:cxnLst/>
              <a:rect l="l" t="t" r="r" b="b"/>
              <a:pathLst>
                <a:path w="472439" h="366394">
                  <a:moveTo>
                    <a:pt x="0" y="0"/>
                  </a:moveTo>
                  <a:lnTo>
                    <a:pt x="10035" y="7783"/>
                  </a:lnTo>
                  <a:lnTo>
                    <a:pt x="472131" y="366211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92262" y="2768600"/>
              <a:ext cx="133985" cy="123189"/>
            </a:xfrm>
            <a:custGeom>
              <a:avLst/>
              <a:gdLst/>
              <a:ahLst/>
              <a:cxnLst/>
              <a:rect l="l" t="t" r="r" b="b"/>
              <a:pathLst>
                <a:path w="133985" h="123189">
                  <a:moveTo>
                    <a:pt x="0" y="0"/>
                  </a:moveTo>
                  <a:lnTo>
                    <a:pt x="58974" y="122892"/>
                  </a:lnTo>
                  <a:lnTo>
                    <a:pt x="72252" y="56043"/>
                  </a:lnTo>
                  <a:lnTo>
                    <a:pt x="133699" y="26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6600" y="10886"/>
            <a:ext cx="9371305" cy="18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Historical</a:t>
            </a:r>
            <a:r>
              <a:rPr spc="330" dirty="0"/>
              <a:t> </a:t>
            </a:r>
            <a:r>
              <a:rPr spc="-10" dirty="0"/>
              <a:t>context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3500"/>
            <a:ext cx="1105408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National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resident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matching</a:t>
            </a:r>
            <a:r>
              <a:rPr sz="24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(NRMP).</a:t>
            </a:r>
            <a:endParaRPr sz="2400" dirty="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345" baseline="-7215" dirty="0">
                <a:latin typeface="Microsoft JhengHei UI"/>
                <a:cs typeface="Microsoft JhengHei UI"/>
              </a:rPr>
              <a:t>·</a:t>
            </a:r>
            <a:r>
              <a:rPr sz="2400" spc="229" dirty="0">
                <a:latin typeface="Lucida Sans Unicode"/>
                <a:cs typeface="Lucida Sans Unicode"/>
              </a:rPr>
              <a:t>Centralized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clearinghouse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med-</a:t>
            </a:r>
            <a:r>
              <a:rPr sz="2400" spc="-40" dirty="0">
                <a:latin typeface="Lucida Sans Unicode"/>
                <a:cs typeface="Lucida Sans Unicode"/>
              </a:rPr>
              <a:t>school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hospitals.</a:t>
            </a:r>
            <a:endParaRPr sz="2400" dirty="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705" baseline="-7215" dirty="0">
                <a:latin typeface="Microsoft JhengHei UI"/>
                <a:cs typeface="Microsoft JhengHei UI"/>
              </a:rPr>
              <a:t>·</a:t>
            </a:r>
            <a:r>
              <a:rPr sz="2400" spc="470" dirty="0">
                <a:latin typeface="Lucida Sans Unicode"/>
                <a:cs typeface="Lucida Sans Unicode"/>
              </a:rPr>
              <a:t>Began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1952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fix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unraveling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offer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dates.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598420"/>
            <a:ext cx="7050405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390" baseline="-7215" dirty="0">
                <a:latin typeface="Microsoft JhengHei UI"/>
                <a:cs typeface="Microsoft JhengHei UI"/>
              </a:rPr>
              <a:t>·</a:t>
            </a:r>
            <a:r>
              <a:rPr sz="2400" spc="260" dirty="0">
                <a:latin typeface="Lucida Sans Unicode"/>
                <a:cs typeface="Lucida Sans Unicode"/>
              </a:rPr>
              <a:t>Originally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“Boston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Pool”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4210"/>
              </a:lnSpc>
            </a:pPr>
            <a:r>
              <a:rPr sz="5775" spc="412" baseline="-7215" dirty="0">
                <a:latin typeface="Microsoft JhengHei UI"/>
                <a:cs typeface="Microsoft JhengHei UI"/>
              </a:rPr>
              <a:t>·</a:t>
            </a:r>
            <a:r>
              <a:rPr sz="2400" spc="275" dirty="0">
                <a:latin typeface="Lucida Sans Unicode"/>
                <a:cs typeface="Lucida Sans Unicode"/>
              </a:rPr>
              <a:t>Algorithm</a:t>
            </a:r>
            <a:r>
              <a:rPr sz="2400" dirty="0">
                <a:latin typeface="Lucida Sans Unicode"/>
                <a:cs typeface="Lucida Sans Unicode"/>
              </a:rPr>
              <a:t> overhauled in </a:t>
            </a:r>
            <a:r>
              <a:rPr sz="2400" spc="-10" dirty="0">
                <a:latin typeface="Lucida Sans Unicode"/>
                <a:cs typeface="Lucida Sans Unicode"/>
              </a:rPr>
              <a:t>1998.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0" y="3604259"/>
            <a:ext cx="12446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500" y="3629659"/>
            <a:ext cx="5754370" cy="14732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90" dirty="0">
                <a:latin typeface="Lucida Sans Unicode"/>
                <a:cs typeface="Lucida Sans Unicode"/>
              </a:rPr>
              <a:t>med-</a:t>
            </a:r>
            <a:r>
              <a:rPr sz="2400" spc="-40" dirty="0">
                <a:latin typeface="Lucida Sans Unicode"/>
                <a:cs typeface="Lucida Sans Unicode"/>
              </a:rPr>
              <a:t>school</a:t>
            </a:r>
            <a:r>
              <a:rPr sz="2400" spc="-10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optimal</a:t>
            </a: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</a:pPr>
            <a:r>
              <a:rPr sz="2400" dirty="0">
                <a:latin typeface="Lucida Sans Unicode"/>
                <a:cs typeface="Lucida Sans Unicode"/>
              </a:rPr>
              <a:t>deals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various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side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constraints </a:t>
            </a:r>
            <a:r>
              <a:rPr sz="2400" dirty="0">
                <a:latin typeface="Lucida Sans Unicode"/>
                <a:cs typeface="Lucida Sans Unicode"/>
              </a:rPr>
              <a:t>(e.g., allow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couples 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 </a:t>
            </a:r>
            <a:r>
              <a:rPr sz="2400" spc="-10" dirty="0">
                <a:latin typeface="Lucida Sans Unicode"/>
                <a:cs typeface="Lucida Sans Unicode"/>
              </a:rPr>
              <a:t>together)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5500" y="4612640"/>
            <a:ext cx="26136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 indent="-33020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stable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matching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longer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guaranteed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exist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66523" y="4881750"/>
            <a:ext cx="513715" cy="121920"/>
            <a:chOff x="7766523" y="4881750"/>
            <a:chExt cx="513715" cy="121920"/>
          </a:xfrm>
        </p:grpSpPr>
        <p:sp>
          <p:nvSpPr>
            <p:cNvPr id="10" name="object 10"/>
            <p:cNvSpPr/>
            <p:nvPr/>
          </p:nvSpPr>
          <p:spPr>
            <a:xfrm>
              <a:off x="7845263" y="4942710"/>
              <a:ext cx="434975" cy="0"/>
            </a:xfrm>
            <a:custGeom>
              <a:avLst/>
              <a:gdLst/>
              <a:ahLst/>
              <a:cxnLst/>
              <a:rect l="l" t="t" r="r" b="b"/>
              <a:pathLst>
                <a:path w="434975">
                  <a:moveTo>
                    <a:pt x="0" y="0"/>
                  </a:moveTo>
                  <a:lnTo>
                    <a:pt x="12699" y="0"/>
                  </a:lnTo>
                  <a:lnTo>
                    <a:pt x="434398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66523" y="488175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40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017000" y="2656839"/>
            <a:ext cx="2468245" cy="8382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50800" algn="just">
              <a:lnSpc>
                <a:spcPct val="112000"/>
              </a:lnSpc>
              <a:spcBef>
                <a:spcPts val="5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hospitals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began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making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offers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earlier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earlier,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up to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2 years in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advance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32800" y="2578100"/>
            <a:ext cx="501650" cy="314960"/>
            <a:chOff x="8432800" y="2578100"/>
            <a:chExt cx="501650" cy="314960"/>
          </a:xfrm>
        </p:grpSpPr>
        <p:sp>
          <p:nvSpPr>
            <p:cNvPr id="14" name="object 14"/>
            <p:cNvSpPr/>
            <p:nvPr/>
          </p:nvSpPr>
          <p:spPr>
            <a:xfrm>
              <a:off x="8499760" y="2619527"/>
              <a:ext cx="421640" cy="260985"/>
            </a:xfrm>
            <a:custGeom>
              <a:avLst/>
              <a:gdLst/>
              <a:ahLst/>
              <a:cxnLst/>
              <a:rect l="l" t="t" r="r" b="b"/>
              <a:pathLst>
                <a:path w="421640" h="260985">
                  <a:moveTo>
                    <a:pt x="0" y="0"/>
                  </a:moveTo>
                  <a:lnTo>
                    <a:pt x="10800" y="6681"/>
                  </a:lnTo>
                  <a:lnTo>
                    <a:pt x="421431" y="260734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32800" y="2578100"/>
              <a:ext cx="135890" cy="116205"/>
            </a:xfrm>
            <a:custGeom>
              <a:avLst/>
              <a:gdLst/>
              <a:ahLst/>
              <a:cxnLst/>
              <a:rect l="l" t="t" r="r" b="b"/>
              <a:pathLst>
                <a:path w="135890" h="116205">
                  <a:moveTo>
                    <a:pt x="0" y="0"/>
                  </a:moveTo>
                  <a:lnTo>
                    <a:pt x="71608" y="115986"/>
                  </a:lnTo>
                  <a:lnTo>
                    <a:pt x="77760" y="48108"/>
                  </a:lnTo>
                  <a:lnTo>
                    <a:pt x="135754" y="12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435101" y="5608914"/>
            <a:ext cx="6614795" cy="3804920"/>
          </a:xfrm>
          <a:custGeom>
            <a:avLst/>
            <a:gdLst/>
            <a:ahLst/>
            <a:cxnLst/>
            <a:rect l="l" t="t" r="r" b="b"/>
            <a:pathLst>
              <a:path w="6614795" h="3804920">
                <a:moveTo>
                  <a:pt x="0" y="0"/>
                </a:moveTo>
                <a:lnTo>
                  <a:pt x="6614430" y="0"/>
                </a:lnTo>
                <a:lnTo>
                  <a:pt x="6614430" y="3804853"/>
                </a:lnTo>
                <a:lnTo>
                  <a:pt x="0" y="3804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35101" y="5608914"/>
            <a:ext cx="6614795" cy="38049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650">
              <a:latin typeface="Times New Roman"/>
              <a:cs typeface="Times New Roman"/>
            </a:endParaRPr>
          </a:p>
          <a:p>
            <a:pPr marL="269875" marR="297815" algn="ctr">
              <a:lnSpc>
                <a:spcPct val="108100"/>
              </a:lnSpc>
            </a:pP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sz="1650" spc="1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Redesign</a:t>
            </a:r>
            <a:r>
              <a:rPr sz="1650" spc="1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of</a:t>
            </a:r>
            <a:r>
              <a:rPr sz="1650" spc="1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the</a:t>
            </a:r>
            <a:r>
              <a:rPr sz="1650" spc="1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Matching</a:t>
            </a:r>
            <a:r>
              <a:rPr sz="1650" spc="1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Market</a:t>
            </a:r>
            <a:r>
              <a:rPr sz="1650" spc="1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for</a:t>
            </a:r>
            <a:r>
              <a:rPr sz="1650" spc="1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American</a:t>
            </a:r>
            <a:r>
              <a:rPr sz="1650" spc="1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231F20"/>
                </a:solidFill>
                <a:latin typeface="Arial MT"/>
                <a:cs typeface="Arial MT"/>
              </a:rPr>
              <a:t>Physicians: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Some</a:t>
            </a:r>
            <a:r>
              <a:rPr sz="1650" spc="18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Engineering</a:t>
            </a:r>
            <a:r>
              <a:rPr sz="1650" spc="18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Aspects</a:t>
            </a:r>
            <a:r>
              <a:rPr sz="1650" spc="18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of</a:t>
            </a:r>
            <a:r>
              <a:rPr sz="1650" spc="18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1F20"/>
                </a:solidFill>
                <a:latin typeface="Arial MT"/>
                <a:cs typeface="Arial MT"/>
              </a:rPr>
              <a:t>Economic</a:t>
            </a:r>
            <a:r>
              <a:rPr sz="1650" spc="18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231F20"/>
                </a:solidFill>
                <a:latin typeface="Arial MT"/>
                <a:cs typeface="Arial MT"/>
              </a:rPr>
              <a:t>Design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Arial MT"/>
              <a:cs typeface="Arial MT"/>
            </a:endParaRPr>
          </a:p>
          <a:p>
            <a:pPr marR="27305" algn="ctr">
              <a:lnSpc>
                <a:spcPct val="100000"/>
              </a:lnSpc>
            </a:pPr>
            <a:r>
              <a:rPr sz="1300" i="1" dirty="0">
                <a:solidFill>
                  <a:srgbClr val="231F20"/>
                </a:solidFill>
                <a:latin typeface="Times New Roman"/>
                <a:cs typeface="Times New Roman"/>
              </a:rPr>
              <a:t>By</a:t>
            </a:r>
            <a:r>
              <a:rPr sz="1300" i="1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spc="-30" dirty="0">
                <a:solidFill>
                  <a:srgbClr val="231F20"/>
                </a:solidFill>
                <a:latin typeface="Times New Roman"/>
                <a:cs typeface="Times New Roman"/>
              </a:rPr>
              <a:t>Alvin</a:t>
            </a:r>
            <a:r>
              <a:rPr sz="1300" cap="small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dirty="0">
                <a:solidFill>
                  <a:srgbClr val="231F20"/>
                </a:solidFill>
                <a:latin typeface="Times New Roman"/>
                <a:cs typeface="Times New Roman"/>
              </a:rPr>
              <a:t>E.</a:t>
            </a:r>
            <a:r>
              <a:rPr sz="1300" cap="small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spc="-25" dirty="0">
                <a:solidFill>
                  <a:srgbClr val="231F20"/>
                </a:solidFill>
                <a:latin typeface="Times New Roman"/>
                <a:cs typeface="Times New Roman"/>
              </a:rPr>
              <a:t>Roth</a:t>
            </a:r>
            <a:r>
              <a:rPr sz="1300" cap="small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spc="-35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1300" cap="small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spc="-40" dirty="0">
                <a:solidFill>
                  <a:srgbClr val="231F20"/>
                </a:solidFill>
                <a:latin typeface="Times New Roman"/>
                <a:cs typeface="Times New Roman"/>
              </a:rPr>
              <a:t>Elliott</a:t>
            </a:r>
            <a:r>
              <a:rPr sz="1300" cap="small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300" cap="small" spc="-10" dirty="0">
                <a:solidFill>
                  <a:srgbClr val="231F20"/>
                </a:solidFill>
                <a:latin typeface="Times New Roman"/>
                <a:cs typeface="Times New Roman"/>
              </a:rPr>
              <a:t>Peranson*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50">
              <a:latin typeface="Times New Roman"/>
              <a:cs typeface="Times New Roman"/>
            </a:endParaRPr>
          </a:p>
          <a:p>
            <a:pPr marL="753110" marR="780415" algn="just">
              <a:lnSpc>
                <a:spcPts val="1310"/>
              </a:lnSpc>
              <a:spcBef>
                <a:spcPts val="5"/>
              </a:spcBef>
            </a:pP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1150" i="1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report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on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design</a:t>
            </a:r>
            <a:r>
              <a:rPr sz="1150" i="1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clearinghouse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adopted</a:t>
            </a:r>
            <a:r>
              <a:rPr sz="1150" i="1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by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National</a:t>
            </a:r>
            <a:r>
              <a:rPr sz="11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Resident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Program,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which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annually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fills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approximately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20,000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jobs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for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physi-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cians.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Because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market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has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complementarities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between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applicants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between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positions,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theory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simple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</a:t>
            </a:r>
            <a:r>
              <a:rPr sz="1150" i="1" spc="1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markets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does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not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apply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directly.</a:t>
            </a:r>
            <a:r>
              <a:rPr sz="11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However,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computational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experiments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show</a:t>
            </a:r>
            <a:r>
              <a:rPr sz="1150" i="1" spc="3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theory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provides</a:t>
            </a:r>
            <a:r>
              <a:rPr sz="1150" i="1" spc="3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good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approximations.</a:t>
            </a:r>
            <a:r>
              <a:rPr sz="1150" i="1" spc="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Fur-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thermore,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set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stable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matchings,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opportunities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for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strategic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manipu-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lation,</a:t>
            </a:r>
            <a:r>
              <a:rPr sz="11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surprisingly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small.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kind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“core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convergence”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result</a:t>
            </a:r>
            <a:r>
              <a:rPr sz="11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explains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this;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that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each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applicant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interviews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only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small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fraction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available</a:t>
            </a:r>
            <a:r>
              <a:rPr sz="1150" i="1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positions</a:t>
            </a:r>
            <a:r>
              <a:rPr sz="11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important.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also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describe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engineering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aspects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design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process.</a:t>
            </a:r>
            <a:r>
              <a:rPr sz="11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1150" i="1" dirty="0">
                <a:solidFill>
                  <a:srgbClr val="231F20"/>
                </a:solidFill>
                <a:latin typeface="Times New Roman"/>
                <a:cs typeface="Times New Roman"/>
              </a:rPr>
              <a:t>JEL</a:t>
            </a:r>
            <a:r>
              <a:rPr sz="11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Times New Roman"/>
                <a:cs typeface="Times New Roman"/>
              </a:rPr>
              <a:t>C78, </a:t>
            </a:r>
            <a:r>
              <a:rPr sz="1150" dirty="0">
                <a:solidFill>
                  <a:srgbClr val="231F20"/>
                </a:solidFill>
                <a:latin typeface="Times New Roman"/>
                <a:cs typeface="Times New Roman"/>
              </a:rPr>
              <a:t>B41,</a:t>
            </a:r>
            <a:r>
              <a:rPr sz="1150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231F20"/>
                </a:solidFill>
                <a:latin typeface="Times New Roman"/>
                <a:cs typeface="Times New Roman"/>
              </a:rPr>
              <a:t>J44)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5600" y="8915400"/>
            <a:ext cx="143434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33500"/>
            <a:ext cx="10097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505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Lloyd</a:t>
            </a:r>
            <a:r>
              <a:rPr sz="2400" spc="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Shapley.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Stable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theory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00" y="5077459"/>
            <a:ext cx="1081532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83070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Alvin</a:t>
            </a:r>
            <a:r>
              <a:rPr sz="2400" spc="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Roth.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Applied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Gale–Shapley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matching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Lucida Sans Unicode"/>
                <a:cs typeface="Lucida Sans Unicode"/>
              </a:rPr>
              <a:t>med-</a:t>
            </a:r>
            <a:r>
              <a:rPr sz="2400" spc="-40" dirty="0">
                <a:latin typeface="Lucida Sans Unicode"/>
                <a:cs typeface="Lucida Sans Unicode"/>
              </a:rPr>
              <a:t>school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with </a:t>
            </a:r>
            <a:r>
              <a:rPr sz="2400" dirty="0">
                <a:latin typeface="Lucida Sans Unicode"/>
                <a:cs typeface="Lucida Sans Unicode"/>
              </a:rPr>
              <a:t>hospitals,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schools,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organ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donors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patients.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3018" y="0"/>
            <a:ext cx="11268982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2012</a:t>
            </a:r>
            <a:r>
              <a:rPr spc="125" dirty="0"/>
              <a:t> </a:t>
            </a:r>
            <a:r>
              <a:rPr spc="120" dirty="0"/>
              <a:t>Nobel</a:t>
            </a:r>
            <a:r>
              <a:rPr spc="125" dirty="0"/>
              <a:t> </a:t>
            </a:r>
            <a:r>
              <a:rPr dirty="0"/>
              <a:t>Prize</a:t>
            </a:r>
            <a:r>
              <a:rPr spc="130" dirty="0"/>
              <a:t> </a:t>
            </a:r>
            <a:r>
              <a:rPr dirty="0"/>
              <a:t>in</a:t>
            </a:r>
            <a:r>
              <a:rPr spc="125" dirty="0"/>
              <a:t> </a:t>
            </a:r>
            <a:r>
              <a:rPr spc="-40" dirty="0"/>
              <a:t>Economics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71900" y="9144000"/>
            <a:ext cx="1466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Lloyd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Shapley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1809" y="7560577"/>
            <a:ext cx="1152092" cy="11516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0600" y="6606475"/>
            <a:ext cx="3848030" cy="24994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24479" y="2089363"/>
            <a:ext cx="6677659" cy="2298700"/>
            <a:chOff x="2324479" y="2089363"/>
            <a:chExt cx="6677659" cy="2298700"/>
          </a:xfrm>
        </p:grpSpPr>
        <p:sp>
          <p:nvSpPr>
            <p:cNvPr id="10" name="object 10"/>
            <p:cNvSpPr/>
            <p:nvPr/>
          </p:nvSpPr>
          <p:spPr>
            <a:xfrm>
              <a:off x="2324479" y="2089363"/>
              <a:ext cx="6193790" cy="2298700"/>
            </a:xfrm>
            <a:custGeom>
              <a:avLst/>
              <a:gdLst/>
              <a:ahLst/>
              <a:cxnLst/>
              <a:rect l="l" t="t" r="r" b="b"/>
              <a:pathLst>
                <a:path w="6193790" h="2298700">
                  <a:moveTo>
                    <a:pt x="0" y="0"/>
                  </a:moveTo>
                  <a:lnTo>
                    <a:pt x="6193548" y="0"/>
                  </a:lnTo>
                  <a:lnTo>
                    <a:pt x="6193548" y="2298301"/>
                  </a:lnTo>
                  <a:lnTo>
                    <a:pt x="0" y="2298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0800" y="2374900"/>
              <a:ext cx="5687557" cy="16830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60268" y="3287491"/>
              <a:ext cx="641985" cy="0"/>
            </a:xfrm>
            <a:custGeom>
              <a:avLst/>
              <a:gdLst/>
              <a:ahLst/>
              <a:cxnLst/>
              <a:rect l="l" t="t" r="r" b="b"/>
              <a:pathLst>
                <a:path w="641984">
                  <a:moveTo>
                    <a:pt x="0" y="0"/>
                  </a:moveTo>
                  <a:lnTo>
                    <a:pt x="12700" y="0"/>
                  </a:lnTo>
                  <a:lnTo>
                    <a:pt x="64164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81529" y="322653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40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80500" y="2870200"/>
            <a:ext cx="2329815" cy="777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-6350" algn="ctr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original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applications: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college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admissions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and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opposite-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sex</a:t>
            </a:r>
            <a:r>
              <a:rPr sz="16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marriage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7400" y="9144000"/>
            <a:ext cx="11150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Alvin</a:t>
            </a:r>
            <a:r>
              <a:rPr sz="1600" b="1" spc="21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Roth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4600" y="0"/>
            <a:ext cx="109474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New</a:t>
            </a:r>
            <a:r>
              <a:rPr spc="85" dirty="0"/>
              <a:t> </a:t>
            </a:r>
            <a:r>
              <a:rPr dirty="0"/>
              <a:t>York</a:t>
            </a:r>
            <a:r>
              <a:rPr spc="90" dirty="0"/>
              <a:t> </a:t>
            </a:r>
            <a:r>
              <a:rPr dirty="0"/>
              <a:t>City</a:t>
            </a:r>
            <a:r>
              <a:rPr spc="90" dirty="0"/>
              <a:t> </a:t>
            </a:r>
            <a:r>
              <a:rPr dirty="0"/>
              <a:t>high</a:t>
            </a:r>
            <a:r>
              <a:rPr spc="90" dirty="0"/>
              <a:t> </a:t>
            </a:r>
            <a:r>
              <a:rPr dirty="0"/>
              <a:t>school</a:t>
            </a:r>
            <a:r>
              <a:rPr spc="90" dirty="0"/>
              <a:t> </a:t>
            </a:r>
            <a:r>
              <a:rPr spc="-10" dirty="0"/>
              <a:t>match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1676400"/>
            <a:ext cx="8431530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1730">
              <a:lnSpc>
                <a:spcPct val="131900"/>
              </a:lnSpc>
              <a:spcBef>
                <a:spcPts val="100"/>
              </a:spcBef>
              <a:tabLst>
                <a:tab pos="1862455" algn="l"/>
                <a:tab pos="205295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8th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grader.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25" dirty="0">
                <a:latin typeface="Lucida Sans Unicode"/>
                <a:cs typeface="Lucida Sans Unicode"/>
              </a:rPr>
              <a:t>top-</a:t>
            </a:r>
            <a:r>
              <a:rPr sz="2400" dirty="0">
                <a:latin typeface="Lucida Sans Unicode"/>
                <a:cs typeface="Lucida Sans Unicode"/>
              </a:rPr>
              <a:t>5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high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schools.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High</a:t>
            </a:r>
            <a:r>
              <a:rPr sz="2400" spc="-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school.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	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(and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limit).</a:t>
            </a: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9652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Match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90K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500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high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school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programs.</a:t>
            </a:r>
            <a:endParaRPr sz="24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500" y="3987800"/>
            <a:ext cx="9067800" cy="4660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771" y="131550"/>
            <a:ext cx="12094029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Questbridge</a:t>
            </a:r>
            <a:r>
              <a:rPr spc="320" dirty="0"/>
              <a:t> </a:t>
            </a:r>
            <a:r>
              <a:rPr spc="45" dirty="0"/>
              <a:t>national</a:t>
            </a:r>
            <a:r>
              <a:rPr spc="325" dirty="0"/>
              <a:t> </a:t>
            </a:r>
            <a:r>
              <a:rPr dirty="0"/>
              <a:t>college</a:t>
            </a:r>
            <a:r>
              <a:rPr spc="320" dirty="0"/>
              <a:t> </a:t>
            </a:r>
            <a:r>
              <a:rPr spc="-10" dirty="0"/>
              <a:t>match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53129" y="1768203"/>
            <a:ext cx="7800975" cy="14732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3302000" algn="l"/>
              </a:tabLst>
            </a:pPr>
            <a:r>
              <a:rPr sz="2400" spc="-50" dirty="0">
                <a:solidFill>
                  <a:srgbClr val="0048AA"/>
                </a:solidFill>
                <a:latin typeface="Lucida Sans Unicode"/>
                <a:cs typeface="Lucida Sans Unicode"/>
              </a:rPr>
              <a:t>Low-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income</a:t>
            </a:r>
            <a:r>
              <a:rPr sz="2400" spc="-1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student.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colleges.</a:t>
            </a:r>
            <a:endParaRPr sz="2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tabLst>
                <a:tab pos="965200" algn="l"/>
                <a:tab pos="140525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College.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Ranks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willing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admit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limit).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Match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students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colleges.</a:t>
            </a:r>
            <a:endParaRPr sz="2400" dirty="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1500" y="3733800"/>
            <a:ext cx="9321800" cy="5245100"/>
            <a:chOff x="1841500" y="3733800"/>
            <a:chExt cx="9321800" cy="524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1500" y="3733800"/>
              <a:ext cx="9321800" cy="5245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1500" y="3733800"/>
              <a:ext cx="2692400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33500"/>
            <a:ext cx="10680065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11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Content</a:t>
            </a:r>
            <a:r>
              <a:rPr sz="2400" spc="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delivery</a:t>
            </a:r>
            <a:r>
              <a:rPr sz="2400" spc="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networks.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Distribute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much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world’s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content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web.</a:t>
            </a:r>
            <a:endParaRPr sz="2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9626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Preferences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based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latency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packet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loss.</a:t>
            </a:r>
            <a:endParaRPr sz="2400" dirty="0">
              <a:latin typeface="Lucida Sans Unicode"/>
              <a:cs typeface="Lucida Sans Unicode"/>
            </a:endParaRPr>
          </a:p>
          <a:p>
            <a:pPr marL="12700" marR="175260">
              <a:lnSpc>
                <a:spcPct val="131900"/>
              </a:lnSpc>
              <a:tabLst>
                <a:tab pos="965200" algn="l"/>
                <a:tab pos="193865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Web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server.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Preferences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based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costs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bandwidth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75" dirty="0">
                <a:latin typeface="Lucida Sans Unicode"/>
                <a:cs typeface="Lucida Sans Unicode"/>
              </a:rPr>
              <a:t>co-</a:t>
            </a:r>
            <a:r>
              <a:rPr sz="2400" spc="-20" dirty="0">
                <a:latin typeface="Lucida Sans Unicode"/>
                <a:cs typeface="Lucida Sans Unicode"/>
              </a:rPr>
              <a:t>location.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billions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users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servers,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10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seconds.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179449"/>
            <a:ext cx="11353800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</a:t>
            </a:r>
            <a:r>
              <a:rPr spc="165" dirty="0"/>
              <a:t> </a:t>
            </a:r>
            <a:r>
              <a:rPr dirty="0"/>
              <a:t>modern</a:t>
            </a:r>
            <a:r>
              <a:rPr spc="165" dirty="0"/>
              <a:t> </a:t>
            </a:r>
            <a:r>
              <a:rPr spc="45" dirty="0"/>
              <a:t>application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34</a:t>
            </a:r>
          </a:p>
        </p:txBody>
      </p:sp>
      <p:sp>
        <p:nvSpPr>
          <p:cNvPr id="5" name="object 5"/>
          <p:cNvSpPr/>
          <p:nvPr/>
        </p:nvSpPr>
        <p:spPr>
          <a:xfrm>
            <a:off x="2823500" y="4276448"/>
            <a:ext cx="7358380" cy="4902200"/>
          </a:xfrm>
          <a:custGeom>
            <a:avLst/>
            <a:gdLst/>
            <a:ahLst/>
            <a:cxnLst/>
            <a:rect l="l" t="t" r="r" b="b"/>
            <a:pathLst>
              <a:path w="7358380" h="4902200">
                <a:moveTo>
                  <a:pt x="0" y="0"/>
                </a:moveTo>
                <a:lnTo>
                  <a:pt x="7357798" y="0"/>
                </a:lnTo>
                <a:lnTo>
                  <a:pt x="7357798" y="4901660"/>
                </a:lnTo>
                <a:lnTo>
                  <a:pt x="0" y="4901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80407" y="4643540"/>
            <a:ext cx="4415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Algorithmic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Nuggets in Content </a:t>
            </a:r>
            <a:r>
              <a:rPr sz="1800" b="1" spc="-10" dirty="0">
                <a:latin typeface="Arial"/>
                <a:cs typeface="Arial"/>
              </a:rPr>
              <a:t>Delivery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8994" y="5281978"/>
            <a:ext cx="1322070" cy="494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R="5080" algn="ctr">
              <a:lnSpc>
                <a:spcPct val="85100"/>
              </a:lnSpc>
              <a:spcBef>
                <a:spcPts val="315"/>
              </a:spcBef>
            </a:pPr>
            <a:r>
              <a:rPr sz="1200" dirty="0">
                <a:latin typeface="Arial MT"/>
                <a:cs typeface="Arial MT"/>
              </a:rPr>
              <a:t>Bruce M. </a:t>
            </a:r>
            <a:r>
              <a:rPr sz="1200" spc="-10" dirty="0">
                <a:latin typeface="Arial MT"/>
                <a:cs typeface="Arial MT"/>
              </a:rPr>
              <a:t>Maggs </a:t>
            </a:r>
            <a:r>
              <a:rPr sz="1000" dirty="0">
                <a:latin typeface="Arial MT"/>
                <a:cs typeface="Arial MT"/>
              </a:rPr>
              <a:t>Duke and </a:t>
            </a:r>
            <a:r>
              <a:rPr sz="1000" spc="-10" dirty="0">
                <a:latin typeface="Arial MT"/>
                <a:cs typeface="Arial MT"/>
              </a:rPr>
              <a:t>Akamai </a:t>
            </a:r>
            <a:r>
              <a:rPr sz="1200" spc="-10" dirty="0">
                <a:latin typeface="Arial MT"/>
                <a:cs typeface="Arial MT"/>
                <a:hlinkClick r:id="rId2"/>
              </a:rPr>
              <a:t>bmm@cs.duke.edu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0891" y="5281978"/>
            <a:ext cx="1657350" cy="494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R="5080" indent="-635" algn="ctr">
              <a:lnSpc>
                <a:spcPct val="85100"/>
              </a:lnSpc>
              <a:spcBef>
                <a:spcPts val="315"/>
              </a:spcBef>
            </a:pPr>
            <a:r>
              <a:rPr sz="1200" dirty="0">
                <a:latin typeface="Arial MT"/>
                <a:cs typeface="Arial MT"/>
              </a:rPr>
              <a:t>Ramesh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K.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Sitaraman </a:t>
            </a:r>
            <a:r>
              <a:rPr sz="1000" dirty="0">
                <a:latin typeface="Arial MT"/>
                <a:cs typeface="Arial MT"/>
              </a:rPr>
              <a:t>UMass, Amherst and </a:t>
            </a:r>
            <a:r>
              <a:rPr sz="1000" spc="-10" dirty="0">
                <a:latin typeface="Arial MT"/>
                <a:cs typeface="Arial MT"/>
              </a:rPr>
              <a:t>Akamai </a:t>
            </a:r>
            <a:r>
              <a:rPr sz="1200" spc="-10" dirty="0">
                <a:latin typeface="Arial MT"/>
                <a:cs typeface="Arial MT"/>
                <a:hlinkClick r:id="rId3"/>
              </a:rPr>
              <a:t>ramesh@cs.umass.edu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7812" y="5872241"/>
            <a:ext cx="6120130" cy="29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" algn="ctr">
              <a:lnSpc>
                <a:spcPts val="1065"/>
              </a:lnSpc>
              <a:spcBef>
                <a:spcPts val="100"/>
              </a:spcBef>
            </a:pPr>
            <a:r>
              <a:rPr sz="900" spc="80" dirty="0">
                <a:latin typeface="Calibri"/>
                <a:cs typeface="Calibri"/>
              </a:rPr>
              <a:t>This</a:t>
            </a:r>
            <a:r>
              <a:rPr sz="900" spc="1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article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is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editorial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note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submitted</a:t>
            </a:r>
            <a:r>
              <a:rPr sz="900" spc="1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spc="150" dirty="0">
                <a:latin typeface="Calibri"/>
                <a:cs typeface="Calibri"/>
              </a:rPr>
              <a:t>CCR.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spc="80" dirty="0">
                <a:latin typeface="Calibri"/>
                <a:cs typeface="Calibri"/>
              </a:rPr>
              <a:t>It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has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spc="150" dirty="0">
                <a:latin typeface="Calibri"/>
                <a:cs typeface="Calibri"/>
              </a:rPr>
              <a:t>NOT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been</a:t>
            </a:r>
            <a:r>
              <a:rPr sz="900" spc="1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peer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reviewed.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ts val="1065"/>
              </a:lnSpc>
            </a:pPr>
            <a:r>
              <a:rPr sz="900" spc="75" dirty="0">
                <a:latin typeface="Calibri"/>
                <a:cs typeface="Calibri"/>
              </a:rPr>
              <a:t>The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authors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take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full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responsibility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for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this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article’s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technical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content.</a:t>
            </a:r>
            <a:r>
              <a:rPr sz="900" spc="34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Comments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can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be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posted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through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90" dirty="0">
                <a:latin typeface="Calibri"/>
                <a:cs typeface="Calibri"/>
              </a:rPr>
              <a:t>CCR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Online.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7383" y="6335689"/>
            <a:ext cx="3064510" cy="25711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r>
              <a:rPr sz="1200" b="1" spc="-10" dirty="0">
                <a:latin typeface="Times New Roman"/>
                <a:cs typeface="Times New Roman"/>
              </a:rPr>
              <a:t>ABSTRACT</a:t>
            </a:r>
            <a:endParaRPr sz="1200">
              <a:latin typeface="Times New Roman"/>
              <a:cs typeface="Times New Roman"/>
            </a:endParaRPr>
          </a:p>
          <a:p>
            <a:pPr marR="5080" algn="just">
              <a:lnSpc>
                <a:spcPts val="1050"/>
              </a:lnSpc>
              <a:spcBef>
                <a:spcPts val="370"/>
              </a:spcBef>
            </a:pPr>
            <a:r>
              <a:rPr sz="900" spc="80" dirty="0">
                <a:latin typeface="Calibri"/>
                <a:cs typeface="Calibri"/>
              </a:rPr>
              <a:t>This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paper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“peeks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under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covers”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at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subsystems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that</a:t>
            </a:r>
            <a:r>
              <a:rPr sz="900" spc="10" dirty="0">
                <a:latin typeface="Calibri"/>
                <a:cs typeface="Calibri"/>
              </a:rPr>
              <a:t> provide</a:t>
            </a:r>
            <a:r>
              <a:rPr sz="900" spc="29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basic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functionality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of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leading</a:t>
            </a:r>
            <a:r>
              <a:rPr sz="900" spc="29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content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deliv-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ery</a:t>
            </a:r>
            <a:r>
              <a:rPr sz="900" spc="29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network.</a:t>
            </a:r>
            <a:r>
              <a:rPr sz="900" spc="220" dirty="0">
                <a:latin typeface="Calibri"/>
                <a:cs typeface="Calibri"/>
              </a:rPr>
              <a:t>  </a:t>
            </a:r>
            <a:r>
              <a:rPr sz="900" dirty="0">
                <a:latin typeface="Calibri"/>
                <a:cs typeface="Calibri"/>
              </a:rPr>
              <a:t>Based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our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experiences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29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building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one</a:t>
            </a:r>
            <a:r>
              <a:rPr sz="900" spc="29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of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3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largest</a:t>
            </a:r>
            <a:r>
              <a:rPr sz="900" spc="3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distributed</a:t>
            </a:r>
            <a:r>
              <a:rPr sz="900" spc="3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systems</a:t>
            </a:r>
            <a:r>
              <a:rPr sz="900" spc="3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3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3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world,</a:t>
            </a:r>
            <a:r>
              <a:rPr sz="900" spc="36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we</a:t>
            </a:r>
            <a:r>
              <a:rPr sz="900" spc="3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illustrate</a:t>
            </a:r>
            <a:r>
              <a:rPr sz="900" spc="20" dirty="0">
                <a:latin typeface="Calibri"/>
                <a:cs typeface="Calibri"/>
              </a:rPr>
              <a:t> how</a:t>
            </a:r>
            <a:r>
              <a:rPr sz="900" spc="105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sophisticated</a:t>
            </a:r>
            <a:r>
              <a:rPr sz="900" spc="11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algorithmic</a:t>
            </a:r>
            <a:r>
              <a:rPr sz="900" spc="11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research</a:t>
            </a:r>
            <a:r>
              <a:rPr sz="900" spc="11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has</a:t>
            </a:r>
            <a:r>
              <a:rPr sz="900" spc="11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been</a:t>
            </a:r>
            <a:r>
              <a:rPr sz="900" spc="105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adapted</a:t>
            </a:r>
            <a:r>
              <a:rPr sz="900" spc="11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to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balance</a:t>
            </a:r>
            <a:r>
              <a:rPr sz="900" spc="2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load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between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within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server</a:t>
            </a:r>
            <a:r>
              <a:rPr sz="900" spc="2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clusters,</a:t>
            </a:r>
            <a:r>
              <a:rPr sz="900" spc="30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man-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age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5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caches</a:t>
            </a:r>
            <a:r>
              <a:rPr sz="900" spc="27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servers,</a:t>
            </a:r>
            <a:r>
              <a:rPr sz="900" spc="28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select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paths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through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</a:t>
            </a:r>
            <a:r>
              <a:rPr sz="900" spc="26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overlay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routing</a:t>
            </a:r>
            <a:r>
              <a:rPr sz="900" spc="3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network,</a:t>
            </a:r>
            <a:r>
              <a:rPr sz="900" spc="3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elect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leaders</a:t>
            </a:r>
            <a:r>
              <a:rPr sz="900" spc="3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various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contexts.</a:t>
            </a:r>
            <a:r>
              <a:rPr sz="900" spc="229" dirty="0">
                <a:latin typeface="Calibri"/>
                <a:cs typeface="Calibri"/>
              </a:rPr>
              <a:t>  </a:t>
            </a:r>
            <a:r>
              <a:rPr sz="900" spc="45" dirty="0">
                <a:latin typeface="Calibri"/>
                <a:cs typeface="Calibri"/>
              </a:rPr>
              <a:t>In </a:t>
            </a:r>
            <a:r>
              <a:rPr sz="900" dirty="0">
                <a:latin typeface="Calibri"/>
                <a:cs typeface="Calibri"/>
              </a:rPr>
              <a:t>each</a:t>
            </a:r>
            <a:r>
              <a:rPr sz="900" spc="39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instance,</a:t>
            </a:r>
            <a:r>
              <a:rPr sz="900" spc="4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we</a:t>
            </a:r>
            <a:r>
              <a:rPr sz="900" spc="3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first</a:t>
            </a:r>
            <a:r>
              <a:rPr sz="900" spc="3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explain</a:t>
            </a:r>
            <a:r>
              <a:rPr sz="900" spc="3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3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theory</a:t>
            </a:r>
            <a:r>
              <a:rPr sz="900" spc="3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underlying</a:t>
            </a:r>
            <a:r>
              <a:rPr sz="900" spc="39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the</a:t>
            </a:r>
            <a:r>
              <a:rPr sz="900" spc="20" dirty="0">
                <a:latin typeface="Calibri"/>
                <a:cs typeface="Calibri"/>
              </a:rPr>
              <a:t> algorithms,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then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introduce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practical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considerations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spc="20" dirty="0">
                <a:latin typeface="Calibri"/>
                <a:cs typeface="Calibri"/>
              </a:rPr>
              <a:t>not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cap-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tured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2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theoretical</a:t>
            </a:r>
            <a:r>
              <a:rPr sz="900" spc="2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models,</a:t>
            </a:r>
            <a:r>
              <a:rPr sz="900" spc="2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finally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describe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what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is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implemented</a:t>
            </a:r>
            <a:r>
              <a:rPr sz="900" spc="1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17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practice.</a:t>
            </a:r>
            <a:r>
              <a:rPr sz="900" spc="340" dirty="0">
                <a:latin typeface="Calibri"/>
                <a:cs typeface="Calibri"/>
              </a:rPr>
              <a:t> </a:t>
            </a:r>
            <a:r>
              <a:rPr sz="900" spc="55" dirty="0">
                <a:latin typeface="Calibri"/>
                <a:cs typeface="Calibri"/>
              </a:rPr>
              <a:t>Through</a:t>
            </a:r>
            <a:r>
              <a:rPr sz="900" spc="17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these</a:t>
            </a:r>
            <a:r>
              <a:rPr sz="900" spc="16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examples,</a:t>
            </a:r>
            <a:r>
              <a:rPr sz="900" spc="17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we</a:t>
            </a:r>
            <a:r>
              <a:rPr sz="900" spc="17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high-</a:t>
            </a:r>
            <a:r>
              <a:rPr sz="900" spc="10" dirty="0">
                <a:latin typeface="Calibri"/>
                <a:cs typeface="Calibri"/>
              </a:rPr>
              <a:t> light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role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of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algorithmic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research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in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design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of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com-</a:t>
            </a:r>
            <a:r>
              <a:rPr sz="900" spc="10" dirty="0">
                <a:latin typeface="Calibri"/>
                <a:cs typeface="Calibri"/>
              </a:rPr>
              <a:t> plex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networked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systems.</a:t>
            </a:r>
            <a:r>
              <a:rPr sz="900" spc="300" dirty="0">
                <a:latin typeface="Calibri"/>
                <a:cs typeface="Calibri"/>
              </a:rPr>
              <a:t> </a:t>
            </a:r>
            <a:r>
              <a:rPr sz="900" spc="75" dirty="0">
                <a:latin typeface="Calibri"/>
                <a:cs typeface="Calibri"/>
              </a:rPr>
              <a:t>The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paper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also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illustrates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10" dirty="0">
                <a:latin typeface="Calibri"/>
                <a:cs typeface="Calibri"/>
              </a:rPr>
              <a:t>the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close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synergy</a:t>
            </a:r>
            <a:r>
              <a:rPr sz="900" spc="4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that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exists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between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research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industry</a:t>
            </a:r>
            <a:r>
              <a:rPr sz="900" spc="42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where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research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ideas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cross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over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into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products</a:t>
            </a:r>
            <a:r>
              <a:rPr sz="900" spc="204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product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require-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ments</a:t>
            </a:r>
            <a:r>
              <a:rPr sz="900" spc="2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drive</a:t>
            </a:r>
            <a:r>
              <a:rPr sz="900" spc="2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future</a:t>
            </a:r>
            <a:r>
              <a:rPr sz="900" spc="2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research.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06484" y="6460167"/>
            <a:ext cx="1951989" cy="1452880"/>
            <a:chOff x="7206484" y="6460167"/>
            <a:chExt cx="1951989" cy="145288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6484" y="6774876"/>
              <a:ext cx="1695963" cy="11381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725816" y="7376709"/>
              <a:ext cx="427990" cy="2540"/>
            </a:xfrm>
            <a:custGeom>
              <a:avLst/>
              <a:gdLst/>
              <a:ahLst/>
              <a:cxnLst/>
              <a:rect l="l" t="t" r="r" b="b"/>
              <a:pathLst>
                <a:path w="427990" h="2540">
                  <a:moveTo>
                    <a:pt x="0" y="0"/>
                  </a:moveTo>
                  <a:lnTo>
                    <a:pt x="427378" y="2333"/>
                  </a:lnTo>
                </a:path>
              </a:pathLst>
            </a:custGeom>
            <a:ln w="9801">
              <a:solidFill>
                <a:srgbClr val="DFE6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53276" y="6462072"/>
              <a:ext cx="738505" cy="768985"/>
            </a:xfrm>
            <a:custGeom>
              <a:avLst/>
              <a:gdLst/>
              <a:ahLst/>
              <a:cxnLst/>
              <a:rect l="l" t="t" r="r" b="b"/>
              <a:pathLst>
                <a:path w="738504" h="768984">
                  <a:moveTo>
                    <a:pt x="738295" y="0"/>
                  </a:moveTo>
                  <a:lnTo>
                    <a:pt x="0" y="0"/>
                  </a:lnTo>
                  <a:lnTo>
                    <a:pt x="0" y="264974"/>
                  </a:lnTo>
                  <a:lnTo>
                    <a:pt x="430673" y="264974"/>
                  </a:lnTo>
                  <a:lnTo>
                    <a:pt x="465104" y="768631"/>
                  </a:lnTo>
                  <a:lnTo>
                    <a:pt x="615247" y="264974"/>
                  </a:lnTo>
                  <a:lnTo>
                    <a:pt x="738295" y="264974"/>
                  </a:lnTo>
                  <a:lnTo>
                    <a:pt x="738295" y="0"/>
                  </a:lnTo>
                  <a:close/>
                </a:path>
              </a:pathLst>
            </a:custGeom>
            <a:solidFill>
              <a:srgbClr val="FFA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53276" y="6462072"/>
              <a:ext cx="738505" cy="768985"/>
            </a:xfrm>
            <a:custGeom>
              <a:avLst/>
              <a:gdLst/>
              <a:ahLst/>
              <a:cxnLst/>
              <a:rect l="l" t="t" r="r" b="b"/>
              <a:pathLst>
                <a:path w="738504" h="768984">
                  <a:moveTo>
                    <a:pt x="0" y="0"/>
                  </a:moveTo>
                  <a:lnTo>
                    <a:pt x="430673" y="0"/>
                  </a:lnTo>
                  <a:lnTo>
                    <a:pt x="615247" y="0"/>
                  </a:lnTo>
                  <a:lnTo>
                    <a:pt x="738297" y="0"/>
                  </a:lnTo>
                  <a:lnTo>
                    <a:pt x="738297" y="154567"/>
                  </a:lnTo>
                  <a:lnTo>
                    <a:pt x="738297" y="220811"/>
                  </a:lnTo>
                  <a:lnTo>
                    <a:pt x="738297" y="264973"/>
                  </a:lnTo>
                  <a:lnTo>
                    <a:pt x="615247" y="264973"/>
                  </a:lnTo>
                  <a:lnTo>
                    <a:pt x="465105" y="768630"/>
                  </a:lnTo>
                  <a:lnTo>
                    <a:pt x="430673" y="264973"/>
                  </a:lnTo>
                  <a:lnTo>
                    <a:pt x="0" y="264973"/>
                  </a:lnTo>
                  <a:lnTo>
                    <a:pt x="0" y="220811"/>
                  </a:lnTo>
                  <a:lnTo>
                    <a:pt x="0" y="154567"/>
                  </a:lnTo>
                  <a:lnTo>
                    <a:pt x="0" y="0"/>
                  </a:lnTo>
                  <a:close/>
                </a:path>
              </a:pathLst>
            </a:custGeom>
            <a:ln w="32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66429" y="6519128"/>
            <a:ext cx="524510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800" b="1" dirty="0">
                <a:latin typeface="Calibri"/>
                <a:cs typeface="Calibri"/>
              </a:rPr>
              <a:t>Edge</a:t>
            </a:r>
            <a:r>
              <a:rPr sz="800" b="1" spc="35" dirty="0">
                <a:latin typeface="Calibri"/>
                <a:cs typeface="Calibri"/>
              </a:rPr>
              <a:t> </a:t>
            </a:r>
            <a:r>
              <a:rPr sz="800" b="1" spc="-10" dirty="0">
                <a:latin typeface="Calibri"/>
                <a:cs typeface="Calibri"/>
              </a:rPr>
              <a:t>Server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955322" y="6815660"/>
            <a:ext cx="723900" cy="372110"/>
            <a:chOff x="8955322" y="6815660"/>
            <a:chExt cx="723900" cy="372110"/>
          </a:xfrm>
        </p:grpSpPr>
        <p:sp>
          <p:nvSpPr>
            <p:cNvPr id="18" name="object 18"/>
            <p:cNvSpPr/>
            <p:nvPr/>
          </p:nvSpPr>
          <p:spPr>
            <a:xfrm>
              <a:off x="8957227" y="6817565"/>
              <a:ext cx="720090" cy="368300"/>
            </a:xfrm>
            <a:custGeom>
              <a:avLst/>
              <a:gdLst/>
              <a:ahLst/>
              <a:cxnLst/>
              <a:rect l="l" t="t" r="r" b="b"/>
              <a:pathLst>
                <a:path w="720090" h="368300">
                  <a:moveTo>
                    <a:pt x="719965" y="0"/>
                  </a:moveTo>
                  <a:lnTo>
                    <a:pt x="0" y="0"/>
                  </a:lnTo>
                  <a:lnTo>
                    <a:pt x="0" y="197158"/>
                  </a:lnTo>
                  <a:lnTo>
                    <a:pt x="119993" y="197158"/>
                  </a:lnTo>
                  <a:lnTo>
                    <a:pt x="288683" y="367701"/>
                  </a:lnTo>
                  <a:lnTo>
                    <a:pt x="299986" y="197158"/>
                  </a:lnTo>
                  <a:lnTo>
                    <a:pt x="719965" y="197158"/>
                  </a:lnTo>
                  <a:lnTo>
                    <a:pt x="719965" y="0"/>
                  </a:lnTo>
                  <a:close/>
                </a:path>
              </a:pathLst>
            </a:custGeom>
            <a:solidFill>
              <a:srgbClr val="FFA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57227" y="6817565"/>
              <a:ext cx="720090" cy="368300"/>
            </a:xfrm>
            <a:custGeom>
              <a:avLst/>
              <a:gdLst/>
              <a:ahLst/>
              <a:cxnLst/>
              <a:rect l="l" t="t" r="r" b="b"/>
              <a:pathLst>
                <a:path w="720090" h="368300">
                  <a:moveTo>
                    <a:pt x="0" y="0"/>
                  </a:moveTo>
                  <a:lnTo>
                    <a:pt x="119994" y="0"/>
                  </a:lnTo>
                  <a:lnTo>
                    <a:pt x="299985" y="0"/>
                  </a:lnTo>
                  <a:lnTo>
                    <a:pt x="719965" y="0"/>
                  </a:lnTo>
                  <a:lnTo>
                    <a:pt x="719965" y="115008"/>
                  </a:lnTo>
                  <a:lnTo>
                    <a:pt x="719965" y="164298"/>
                  </a:lnTo>
                  <a:lnTo>
                    <a:pt x="719965" y="197158"/>
                  </a:lnTo>
                  <a:lnTo>
                    <a:pt x="299985" y="197158"/>
                  </a:lnTo>
                  <a:lnTo>
                    <a:pt x="288684" y="367700"/>
                  </a:lnTo>
                  <a:lnTo>
                    <a:pt x="119994" y="197158"/>
                  </a:lnTo>
                  <a:lnTo>
                    <a:pt x="0" y="197158"/>
                  </a:lnTo>
                  <a:lnTo>
                    <a:pt x="0" y="164298"/>
                  </a:lnTo>
                  <a:lnTo>
                    <a:pt x="0" y="115008"/>
                  </a:lnTo>
                  <a:lnTo>
                    <a:pt x="0" y="0"/>
                  </a:lnTo>
                  <a:close/>
                </a:path>
              </a:pathLst>
            </a:custGeom>
            <a:ln w="32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191230" y="6840715"/>
            <a:ext cx="26479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800" b="1" spc="-10" dirty="0">
                <a:latin typeface="Calibri"/>
                <a:cs typeface="Calibri"/>
              </a:rPr>
              <a:t>Client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44388" y="7444872"/>
            <a:ext cx="2006600" cy="628015"/>
            <a:chOff x="7044388" y="7444872"/>
            <a:chExt cx="2006600" cy="62801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65350" y="7803963"/>
              <a:ext cx="185495" cy="26834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046293" y="7446778"/>
              <a:ext cx="474345" cy="400050"/>
            </a:xfrm>
            <a:custGeom>
              <a:avLst/>
              <a:gdLst/>
              <a:ahLst/>
              <a:cxnLst/>
              <a:rect l="l" t="t" r="r" b="b"/>
              <a:pathLst>
                <a:path w="474345" h="400050">
                  <a:moveTo>
                    <a:pt x="84759" y="0"/>
                  </a:moveTo>
                  <a:lnTo>
                    <a:pt x="79057" y="200087"/>
                  </a:lnTo>
                  <a:lnTo>
                    <a:pt x="0" y="200087"/>
                  </a:lnTo>
                  <a:lnTo>
                    <a:pt x="0" y="400032"/>
                  </a:lnTo>
                  <a:lnTo>
                    <a:pt x="474339" y="400032"/>
                  </a:lnTo>
                  <a:lnTo>
                    <a:pt x="474339" y="200087"/>
                  </a:lnTo>
                  <a:lnTo>
                    <a:pt x="197642" y="200087"/>
                  </a:lnTo>
                  <a:lnTo>
                    <a:pt x="84759" y="0"/>
                  </a:lnTo>
                  <a:close/>
                </a:path>
              </a:pathLst>
            </a:custGeom>
            <a:solidFill>
              <a:srgbClr val="FFA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6293" y="7446777"/>
              <a:ext cx="474345" cy="400050"/>
            </a:xfrm>
            <a:custGeom>
              <a:avLst/>
              <a:gdLst/>
              <a:ahLst/>
              <a:cxnLst/>
              <a:rect l="l" t="t" r="r" b="b"/>
              <a:pathLst>
                <a:path w="474345" h="400050">
                  <a:moveTo>
                    <a:pt x="0" y="200087"/>
                  </a:moveTo>
                  <a:lnTo>
                    <a:pt x="79056" y="200087"/>
                  </a:lnTo>
                  <a:lnTo>
                    <a:pt x="84759" y="0"/>
                  </a:lnTo>
                  <a:lnTo>
                    <a:pt x="197641" y="200087"/>
                  </a:lnTo>
                  <a:lnTo>
                    <a:pt x="474340" y="200087"/>
                  </a:lnTo>
                  <a:lnTo>
                    <a:pt x="474340" y="233412"/>
                  </a:lnTo>
                  <a:lnTo>
                    <a:pt x="474340" y="283398"/>
                  </a:lnTo>
                  <a:lnTo>
                    <a:pt x="474340" y="400033"/>
                  </a:lnTo>
                  <a:lnTo>
                    <a:pt x="197641" y="400033"/>
                  </a:lnTo>
                  <a:lnTo>
                    <a:pt x="79056" y="400033"/>
                  </a:lnTo>
                  <a:lnTo>
                    <a:pt x="0" y="400033"/>
                  </a:lnTo>
                  <a:lnTo>
                    <a:pt x="0" y="283398"/>
                  </a:lnTo>
                  <a:lnTo>
                    <a:pt x="0" y="233412"/>
                  </a:lnTo>
                  <a:lnTo>
                    <a:pt x="0" y="200087"/>
                  </a:lnTo>
                  <a:close/>
                </a:path>
              </a:pathLst>
            </a:custGeom>
            <a:ln w="32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150868" y="7671408"/>
            <a:ext cx="278130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800" b="1" spc="-10" dirty="0">
                <a:latin typeface="Calibri"/>
                <a:cs typeface="Calibri"/>
              </a:rPr>
              <a:t>Origin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409733" y="7630866"/>
            <a:ext cx="1713230" cy="848994"/>
            <a:chOff x="7409733" y="7630866"/>
            <a:chExt cx="1713230" cy="84899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48575" y="7630866"/>
              <a:ext cx="174231" cy="20197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11638" y="7998731"/>
              <a:ext cx="1416050" cy="479425"/>
            </a:xfrm>
            <a:custGeom>
              <a:avLst/>
              <a:gdLst/>
              <a:ahLst/>
              <a:cxnLst/>
              <a:rect l="l" t="t" r="r" b="b"/>
              <a:pathLst>
                <a:path w="1416050" h="479425">
                  <a:moveTo>
                    <a:pt x="1249517" y="0"/>
                  </a:moveTo>
                  <a:lnTo>
                    <a:pt x="0" y="0"/>
                  </a:lnTo>
                  <a:lnTo>
                    <a:pt x="0" y="479229"/>
                  </a:lnTo>
                  <a:lnTo>
                    <a:pt x="1249517" y="479229"/>
                  </a:lnTo>
                  <a:lnTo>
                    <a:pt x="1249517" y="199679"/>
                  </a:lnTo>
                  <a:lnTo>
                    <a:pt x="1416052" y="71514"/>
                  </a:lnTo>
                  <a:lnTo>
                    <a:pt x="1249517" y="79871"/>
                  </a:lnTo>
                  <a:lnTo>
                    <a:pt x="1249517" y="0"/>
                  </a:lnTo>
                  <a:close/>
                </a:path>
              </a:pathLst>
            </a:custGeom>
            <a:solidFill>
              <a:srgbClr val="FFA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11638" y="7998731"/>
              <a:ext cx="1416050" cy="479425"/>
            </a:xfrm>
            <a:custGeom>
              <a:avLst/>
              <a:gdLst/>
              <a:ahLst/>
              <a:cxnLst/>
              <a:rect l="l" t="t" r="r" b="b"/>
              <a:pathLst>
                <a:path w="1416050" h="479425">
                  <a:moveTo>
                    <a:pt x="0" y="0"/>
                  </a:moveTo>
                  <a:lnTo>
                    <a:pt x="728885" y="0"/>
                  </a:lnTo>
                  <a:lnTo>
                    <a:pt x="1041264" y="0"/>
                  </a:lnTo>
                  <a:lnTo>
                    <a:pt x="1249517" y="0"/>
                  </a:lnTo>
                  <a:lnTo>
                    <a:pt x="1249517" y="79871"/>
                  </a:lnTo>
                  <a:lnTo>
                    <a:pt x="1416052" y="71515"/>
                  </a:lnTo>
                  <a:lnTo>
                    <a:pt x="1249517" y="199678"/>
                  </a:lnTo>
                  <a:lnTo>
                    <a:pt x="1249517" y="479229"/>
                  </a:lnTo>
                  <a:lnTo>
                    <a:pt x="1041264" y="479229"/>
                  </a:lnTo>
                  <a:lnTo>
                    <a:pt x="728885" y="479229"/>
                  </a:lnTo>
                  <a:lnTo>
                    <a:pt x="0" y="479229"/>
                  </a:lnTo>
                  <a:lnTo>
                    <a:pt x="0" y="199678"/>
                  </a:lnTo>
                  <a:lnTo>
                    <a:pt x="0" y="79871"/>
                  </a:lnTo>
                  <a:lnTo>
                    <a:pt x="0" y="0"/>
                  </a:lnTo>
                  <a:close/>
                </a:path>
              </a:pathLst>
            </a:custGeom>
            <a:ln w="32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53714" y="8037455"/>
            <a:ext cx="1180465" cy="39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1800"/>
              </a:lnSpc>
              <a:spcBef>
                <a:spcPts val="105"/>
              </a:spcBef>
            </a:pPr>
            <a:r>
              <a:rPr sz="800" b="1" dirty="0">
                <a:latin typeface="Calibri"/>
                <a:cs typeface="Calibri"/>
              </a:rPr>
              <a:t>Authoritative</a:t>
            </a:r>
            <a:r>
              <a:rPr sz="800" b="1" spc="85" dirty="0">
                <a:latin typeface="Calibri"/>
                <a:cs typeface="Calibri"/>
              </a:rPr>
              <a:t> </a:t>
            </a:r>
            <a:r>
              <a:rPr sz="800" b="1" dirty="0">
                <a:latin typeface="Calibri"/>
                <a:cs typeface="Calibri"/>
              </a:rPr>
              <a:t>Name</a:t>
            </a:r>
            <a:r>
              <a:rPr sz="800" b="1" spc="90" dirty="0">
                <a:latin typeface="Calibri"/>
                <a:cs typeface="Calibri"/>
              </a:rPr>
              <a:t> </a:t>
            </a:r>
            <a:r>
              <a:rPr sz="800" b="1" spc="-10" dirty="0">
                <a:latin typeface="Calibri"/>
                <a:cs typeface="Calibri"/>
              </a:rPr>
              <a:t>Server</a:t>
            </a:r>
            <a:r>
              <a:rPr sz="800" b="1" spc="500" dirty="0">
                <a:latin typeface="Calibri"/>
                <a:cs typeface="Calibri"/>
              </a:rPr>
              <a:t> </a:t>
            </a:r>
            <a:r>
              <a:rPr sz="800" b="1" dirty="0">
                <a:latin typeface="Calibri"/>
                <a:cs typeface="Calibri"/>
              </a:rPr>
              <a:t>(Global</a:t>
            </a:r>
            <a:r>
              <a:rPr sz="800" b="1" spc="25" dirty="0">
                <a:latin typeface="Calibri"/>
                <a:cs typeface="Calibri"/>
              </a:rPr>
              <a:t> </a:t>
            </a:r>
            <a:r>
              <a:rPr sz="800" b="1" dirty="0">
                <a:latin typeface="Calibri"/>
                <a:cs typeface="Calibri"/>
              </a:rPr>
              <a:t>and</a:t>
            </a:r>
            <a:r>
              <a:rPr sz="800" b="1" spc="35" dirty="0">
                <a:latin typeface="Calibri"/>
                <a:cs typeface="Calibri"/>
              </a:rPr>
              <a:t> </a:t>
            </a:r>
            <a:r>
              <a:rPr sz="800" b="1" dirty="0">
                <a:latin typeface="Calibri"/>
                <a:cs typeface="Calibri"/>
              </a:rPr>
              <a:t>Local</a:t>
            </a:r>
            <a:r>
              <a:rPr sz="800" b="1" spc="40" dirty="0">
                <a:latin typeface="Calibri"/>
                <a:cs typeface="Calibri"/>
              </a:rPr>
              <a:t> </a:t>
            </a:r>
            <a:r>
              <a:rPr sz="800" b="1" spc="-20" dirty="0">
                <a:latin typeface="Calibri"/>
                <a:cs typeface="Calibri"/>
              </a:rPr>
              <a:t>Load</a:t>
            </a:r>
            <a:r>
              <a:rPr sz="800" b="1" spc="500" dirty="0">
                <a:latin typeface="Calibri"/>
                <a:cs typeface="Calibri"/>
              </a:rPr>
              <a:t> </a:t>
            </a:r>
            <a:r>
              <a:rPr sz="800" b="1" spc="-10" dirty="0">
                <a:latin typeface="Calibri"/>
                <a:cs typeface="Calibri"/>
              </a:rPr>
              <a:t>Balancing)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42702" y="6632164"/>
            <a:ext cx="2977515" cy="1505585"/>
            <a:chOff x="6642702" y="6632164"/>
            <a:chExt cx="2977515" cy="1505585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6923" y="7624070"/>
              <a:ext cx="185496" cy="26834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1731" y="7230300"/>
              <a:ext cx="185496" cy="2683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9844" y="7486491"/>
              <a:ext cx="185495" cy="2683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0622" y="7478491"/>
              <a:ext cx="185496" cy="26834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5139" y="7089350"/>
              <a:ext cx="185496" cy="2683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5661" y="6803167"/>
              <a:ext cx="185496" cy="2683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3276" y="6852618"/>
              <a:ext cx="185495" cy="26834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1169" y="7057790"/>
              <a:ext cx="241807" cy="39102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42702" y="7145993"/>
              <a:ext cx="223390" cy="2715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32058" y="7057023"/>
              <a:ext cx="469119" cy="41018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34980" y="7205687"/>
              <a:ext cx="481627" cy="5182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133345" y="7204053"/>
              <a:ext cx="485140" cy="521970"/>
            </a:xfrm>
            <a:custGeom>
              <a:avLst/>
              <a:gdLst/>
              <a:ahLst/>
              <a:cxnLst/>
              <a:rect l="l" t="t" r="r" b="b"/>
              <a:pathLst>
                <a:path w="485140" h="521970">
                  <a:moveTo>
                    <a:pt x="0" y="0"/>
                  </a:moveTo>
                  <a:lnTo>
                    <a:pt x="484902" y="0"/>
                  </a:lnTo>
                  <a:lnTo>
                    <a:pt x="484902" y="521529"/>
                  </a:lnTo>
                  <a:lnTo>
                    <a:pt x="0" y="521529"/>
                  </a:lnTo>
                  <a:lnTo>
                    <a:pt x="0" y="0"/>
                  </a:lnTo>
                  <a:close/>
                </a:path>
              </a:pathLst>
            </a:custGeom>
            <a:ln w="3269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09700" y="7869278"/>
              <a:ext cx="185496" cy="26834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79792" y="6811035"/>
              <a:ext cx="1181100" cy="989965"/>
            </a:xfrm>
            <a:custGeom>
              <a:avLst/>
              <a:gdLst/>
              <a:ahLst/>
              <a:cxnLst/>
              <a:rect l="l" t="t" r="r" b="b"/>
              <a:pathLst>
                <a:path w="1181100" h="989965">
                  <a:moveTo>
                    <a:pt x="380479" y="413969"/>
                  </a:moveTo>
                  <a:lnTo>
                    <a:pt x="373684" y="367614"/>
                  </a:lnTo>
                  <a:lnTo>
                    <a:pt x="354507" y="325958"/>
                  </a:lnTo>
                  <a:lnTo>
                    <a:pt x="324764" y="290677"/>
                  </a:lnTo>
                  <a:lnTo>
                    <a:pt x="286258" y="263410"/>
                  </a:lnTo>
                  <a:lnTo>
                    <a:pt x="240817" y="245821"/>
                  </a:lnTo>
                  <a:lnTo>
                    <a:pt x="190246" y="239598"/>
                  </a:lnTo>
                  <a:lnTo>
                    <a:pt x="139674" y="245821"/>
                  </a:lnTo>
                  <a:lnTo>
                    <a:pt x="94221" y="263410"/>
                  </a:lnTo>
                  <a:lnTo>
                    <a:pt x="55727" y="290677"/>
                  </a:lnTo>
                  <a:lnTo>
                    <a:pt x="25971" y="325958"/>
                  </a:lnTo>
                  <a:lnTo>
                    <a:pt x="6794" y="367614"/>
                  </a:lnTo>
                  <a:lnTo>
                    <a:pt x="0" y="413969"/>
                  </a:lnTo>
                  <a:lnTo>
                    <a:pt x="6794" y="460324"/>
                  </a:lnTo>
                  <a:lnTo>
                    <a:pt x="25971" y="501980"/>
                  </a:lnTo>
                  <a:lnTo>
                    <a:pt x="55727" y="537273"/>
                  </a:lnTo>
                  <a:lnTo>
                    <a:pt x="94221" y="564540"/>
                  </a:lnTo>
                  <a:lnTo>
                    <a:pt x="139674" y="582117"/>
                  </a:lnTo>
                  <a:lnTo>
                    <a:pt x="190246" y="588352"/>
                  </a:lnTo>
                  <a:lnTo>
                    <a:pt x="240817" y="582117"/>
                  </a:lnTo>
                  <a:lnTo>
                    <a:pt x="286258" y="564540"/>
                  </a:lnTo>
                  <a:lnTo>
                    <a:pt x="324764" y="537273"/>
                  </a:lnTo>
                  <a:lnTo>
                    <a:pt x="354507" y="501980"/>
                  </a:lnTo>
                  <a:lnTo>
                    <a:pt x="373684" y="460324"/>
                  </a:lnTo>
                  <a:lnTo>
                    <a:pt x="380479" y="413969"/>
                  </a:lnTo>
                  <a:close/>
                </a:path>
                <a:path w="1181100" h="989965">
                  <a:moveTo>
                    <a:pt x="1163713" y="656183"/>
                  </a:moveTo>
                  <a:lnTo>
                    <a:pt x="1156919" y="609828"/>
                  </a:lnTo>
                  <a:lnTo>
                    <a:pt x="1137742" y="568172"/>
                  </a:lnTo>
                  <a:lnTo>
                    <a:pt x="1107998" y="532879"/>
                  </a:lnTo>
                  <a:lnTo>
                    <a:pt x="1069492" y="505612"/>
                  </a:lnTo>
                  <a:lnTo>
                    <a:pt x="1024051" y="488035"/>
                  </a:lnTo>
                  <a:lnTo>
                    <a:pt x="973480" y="481799"/>
                  </a:lnTo>
                  <a:lnTo>
                    <a:pt x="922909" y="488035"/>
                  </a:lnTo>
                  <a:lnTo>
                    <a:pt x="877455" y="505612"/>
                  </a:lnTo>
                  <a:lnTo>
                    <a:pt x="838962" y="532879"/>
                  </a:lnTo>
                  <a:lnTo>
                    <a:pt x="809205" y="568172"/>
                  </a:lnTo>
                  <a:lnTo>
                    <a:pt x="790028" y="609828"/>
                  </a:lnTo>
                  <a:lnTo>
                    <a:pt x="785456" y="640969"/>
                  </a:lnTo>
                  <a:lnTo>
                    <a:pt x="783234" y="640689"/>
                  </a:lnTo>
                  <a:lnTo>
                    <a:pt x="732663" y="646925"/>
                  </a:lnTo>
                  <a:lnTo>
                    <a:pt x="687222" y="664502"/>
                  </a:lnTo>
                  <a:lnTo>
                    <a:pt x="648716" y="691769"/>
                  </a:lnTo>
                  <a:lnTo>
                    <a:pt x="631507" y="712190"/>
                  </a:lnTo>
                  <a:lnTo>
                    <a:pt x="630326" y="704126"/>
                  </a:lnTo>
                  <a:lnTo>
                    <a:pt x="611149" y="662470"/>
                  </a:lnTo>
                  <a:lnTo>
                    <a:pt x="581406" y="627176"/>
                  </a:lnTo>
                  <a:lnTo>
                    <a:pt x="542899" y="599909"/>
                  </a:lnTo>
                  <a:lnTo>
                    <a:pt x="497459" y="582333"/>
                  </a:lnTo>
                  <a:lnTo>
                    <a:pt x="446887" y="576110"/>
                  </a:lnTo>
                  <a:lnTo>
                    <a:pt x="396316" y="582333"/>
                  </a:lnTo>
                  <a:lnTo>
                    <a:pt x="350862" y="599909"/>
                  </a:lnTo>
                  <a:lnTo>
                    <a:pt x="312369" y="627176"/>
                  </a:lnTo>
                  <a:lnTo>
                    <a:pt x="282625" y="662470"/>
                  </a:lnTo>
                  <a:lnTo>
                    <a:pt x="263436" y="704126"/>
                  </a:lnTo>
                  <a:lnTo>
                    <a:pt x="256641" y="750481"/>
                  </a:lnTo>
                  <a:lnTo>
                    <a:pt x="263436" y="796836"/>
                  </a:lnTo>
                  <a:lnTo>
                    <a:pt x="282625" y="838492"/>
                  </a:lnTo>
                  <a:lnTo>
                    <a:pt x="312369" y="873785"/>
                  </a:lnTo>
                  <a:lnTo>
                    <a:pt x="350862" y="901052"/>
                  </a:lnTo>
                  <a:lnTo>
                    <a:pt x="396316" y="918629"/>
                  </a:lnTo>
                  <a:lnTo>
                    <a:pt x="446887" y="924852"/>
                  </a:lnTo>
                  <a:lnTo>
                    <a:pt x="497459" y="918629"/>
                  </a:lnTo>
                  <a:lnTo>
                    <a:pt x="542899" y="901052"/>
                  </a:lnTo>
                  <a:lnTo>
                    <a:pt x="581406" y="873785"/>
                  </a:lnTo>
                  <a:lnTo>
                    <a:pt x="598601" y="853376"/>
                  </a:lnTo>
                  <a:lnTo>
                    <a:pt x="599795" y="861428"/>
                  </a:lnTo>
                  <a:lnTo>
                    <a:pt x="618972" y="903084"/>
                  </a:lnTo>
                  <a:lnTo>
                    <a:pt x="648716" y="938377"/>
                  </a:lnTo>
                  <a:lnTo>
                    <a:pt x="687222" y="965644"/>
                  </a:lnTo>
                  <a:lnTo>
                    <a:pt x="732663" y="983221"/>
                  </a:lnTo>
                  <a:lnTo>
                    <a:pt x="783234" y="989444"/>
                  </a:lnTo>
                  <a:lnTo>
                    <a:pt x="833805" y="983221"/>
                  </a:lnTo>
                  <a:lnTo>
                    <a:pt x="879259" y="965644"/>
                  </a:lnTo>
                  <a:lnTo>
                    <a:pt x="917752" y="938377"/>
                  </a:lnTo>
                  <a:lnTo>
                    <a:pt x="947508" y="903084"/>
                  </a:lnTo>
                  <a:lnTo>
                    <a:pt x="966685" y="861428"/>
                  </a:lnTo>
                  <a:lnTo>
                    <a:pt x="971245" y="830287"/>
                  </a:lnTo>
                  <a:lnTo>
                    <a:pt x="973480" y="830554"/>
                  </a:lnTo>
                  <a:lnTo>
                    <a:pt x="1024051" y="824331"/>
                  </a:lnTo>
                  <a:lnTo>
                    <a:pt x="1069492" y="806754"/>
                  </a:lnTo>
                  <a:lnTo>
                    <a:pt x="1107998" y="779487"/>
                  </a:lnTo>
                  <a:lnTo>
                    <a:pt x="1137742" y="744194"/>
                  </a:lnTo>
                  <a:lnTo>
                    <a:pt x="1156919" y="702538"/>
                  </a:lnTo>
                  <a:lnTo>
                    <a:pt x="1163713" y="656183"/>
                  </a:lnTo>
                  <a:close/>
                </a:path>
                <a:path w="1181100" h="989965">
                  <a:moveTo>
                    <a:pt x="1181061" y="267652"/>
                  </a:moveTo>
                  <a:lnTo>
                    <a:pt x="1174267" y="221297"/>
                  </a:lnTo>
                  <a:lnTo>
                    <a:pt x="1155090" y="179641"/>
                  </a:lnTo>
                  <a:lnTo>
                    <a:pt x="1125347" y="144348"/>
                  </a:lnTo>
                  <a:lnTo>
                    <a:pt x="1086840" y="117094"/>
                  </a:lnTo>
                  <a:lnTo>
                    <a:pt x="1041400" y="99504"/>
                  </a:lnTo>
                  <a:lnTo>
                    <a:pt x="990828" y="93281"/>
                  </a:lnTo>
                  <a:lnTo>
                    <a:pt x="940257" y="99504"/>
                  </a:lnTo>
                  <a:lnTo>
                    <a:pt x="894803" y="117081"/>
                  </a:lnTo>
                  <a:lnTo>
                    <a:pt x="861110" y="140944"/>
                  </a:lnTo>
                  <a:lnTo>
                    <a:pt x="859218" y="128028"/>
                  </a:lnTo>
                  <a:lnTo>
                    <a:pt x="840041" y="86372"/>
                  </a:lnTo>
                  <a:lnTo>
                    <a:pt x="810298" y="51079"/>
                  </a:lnTo>
                  <a:lnTo>
                    <a:pt x="771791" y="23812"/>
                  </a:lnTo>
                  <a:lnTo>
                    <a:pt x="726351" y="6235"/>
                  </a:lnTo>
                  <a:lnTo>
                    <a:pt x="675779" y="0"/>
                  </a:lnTo>
                  <a:lnTo>
                    <a:pt x="625208" y="6235"/>
                  </a:lnTo>
                  <a:lnTo>
                    <a:pt x="579767" y="23812"/>
                  </a:lnTo>
                  <a:lnTo>
                    <a:pt x="541261" y="51079"/>
                  </a:lnTo>
                  <a:lnTo>
                    <a:pt x="511517" y="86372"/>
                  </a:lnTo>
                  <a:lnTo>
                    <a:pt x="492340" y="128028"/>
                  </a:lnTo>
                  <a:lnTo>
                    <a:pt x="485546" y="174383"/>
                  </a:lnTo>
                  <a:lnTo>
                    <a:pt x="492340" y="220738"/>
                  </a:lnTo>
                  <a:lnTo>
                    <a:pt x="511517" y="262394"/>
                  </a:lnTo>
                  <a:lnTo>
                    <a:pt x="541261" y="297688"/>
                  </a:lnTo>
                  <a:lnTo>
                    <a:pt x="579767" y="324942"/>
                  </a:lnTo>
                  <a:lnTo>
                    <a:pt x="625208" y="342531"/>
                  </a:lnTo>
                  <a:lnTo>
                    <a:pt x="675779" y="348754"/>
                  </a:lnTo>
                  <a:lnTo>
                    <a:pt x="726351" y="342531"/>
                  </a:lnTo>
                  <a:lnTo>
                    <a:pt x="771791" y="324942"/>
                  </a:lnTo>
                  <a:lnTo>
                    <a:pt x="805472" y="301104"/>
                  </a:lnTo>
                  <a:lnTo>
                    <a:pt x="807377" y="314007"/>
                  </a:lnTo>
                  <a:lnTo>
                    <a:pt x="826554" y="355663"/>
                  </a:lnTo>
                  <a:lnTo>
                    <a:pt x="856310" y="390956"/>
                  </a:lnTo>
                  <a:lnTo>
                    <a:pt x="894803" y="418223"/>
                  </a:lnTo>
                  <a:lnTo>
                    <a:pt x="940257" y="435800"/>
                  </a:lnTo>
                  <a:lnTo>
                    <a:pt x="990828" y="442036"/>
                  </a:lnTo>
                  <a:lnTo>
                    <a:pt x="1041400" y="435800"/>
                  </a:lnTo>
                  <a:lnTo>
                    <a:pt x="1086840" y="418223"/>
                  </a:lnTo>
                  <a:lnTo>
                    <a:pt x="1125347" y="390956"/>
                  </a:lnTo>
                  <a:lnTo>
                    <a:pt x="1155090" y="355663"/>
                  </a:lnTo>
                  <a:lnTo>
                    <a:pt x="1174267" y="314007"/>
                  </a:lnTo>
                  <a:lnTo>
                    <a:pt x="1181061" y="267652"/>
                  </a:lnTo>
                  <a:close/>
                </a:path>
              </a:pathLst>
            </a:custGeom>
            <a:solidFill>
              <a:srgbClr val="FFA010">
                <a:alpha val="211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1160" y="7578463"/>
              <a:ext cx="185495" cy="26834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7875" y="6923616"/>
              <a:ext cx="185496" cy="26834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174" y="6858787"/>
              <a:ext cx="185495" cy="26834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9844" y="7029707"/>
              <a:ext cx="185495" cy="26834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3922" y="7279169"/>
              <a:ext cx="185496" cy="26834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5166" y="7478491"/>
              <a:ext cx="185496" cy="2683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2393" y="7096126"/>
              <a:ext cx="185496" cy="26834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2053" y="7427335"/>
              <a:ext cx="185496" cy="26834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6103" y="7062257"/>
              <a:ext cx="185496" cy="2683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464120" y="6634069"/>
              <a:ext cx="738505" cy="768985"/>
            </a:xfrm>
            <a:custGeom>
              <a:avLst/>
              <a:gdLst/>
              <a:ahLst/>
              <a:cxnLst/>
              <a:rect l="l" t="t" r="r" b="b"/>
              <a:pathLst>
                <a:path w="738504" h="768984">
                  <a:moveTo>
                    <a:pt x="738297" y="0"/>
                  </a:moveTo>
                  <a:lnTo>
                    <a:pt x="0" y="0"/>
                  </a:lnTo>
                  <a:lnTo>
                    <a:pt x="0" y="264974"/>
                  </a:lnTo>
                  <a:lnTo>
                    <a:pt x="430674" y="264974"/>
                  </a:lnTo>
                  <a:lnTo>
                    <a:pt x="465107" y="768631"/>
                  </a:lnTo>
                  <a:lnTo>
                    <a:pt x="615247" y="264974"/>
                  </a:lnTo>
                  <a:lnTo>
                    <a:pt x="738297" y="264974"/>
                  </a:lnTo>
                  <a:lnTo>
                    <a:pt x="738297" y="0"/>
                  </a:lnTo>
                  <a:close/>
                </a:path>
              </a:pathLst>
            </a:custGeom>
            <a:solidFill>
              <a:srgbClr val="FFA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64120" y="6634069"/>
              <a:ext cx="738505" cy="768985"/>
            </a:xfrm>
            <a:custGeom>
              <a:avLst/>
              <a:gdLst/>
              <a:ahLst/>
              <a:cxnLst/>
              <a:rect l="l" t="t" r="r" b="b"/>
              <a:pathLst>
                <a:path w="738504" h="768984">
                  <a:moveTo>
                    <a:pt x="0" y="0"/>
                  </a:moveTo>
                  <a:lnTo>
                    <a:pt x="430673" y="0"/>
                  </a:lnTo>
                  <a:lnTo>
                    <a:pt x="615247" y="0"/>
                  </a:lnTo>
                  <a:lnTo>
                    <a:pt x="738297" y="0"/>
                  </a:lnTo>
                  <a:lnTo>
                    <a:pt x="738297" y="154567"/>
                  </a:lnTo>
                  <a:lnTo>
                    <a:pt x="738297" y="220811"/>
                  </a:lnTo>
                  <a:lnTo>
                    <a:pt x="738297" y="264973"/>
                  </a:lnTo>
                  <a:lnTo>
                    <a:pt x="615247" y="264973"/>
                  </a:lnTo>
                  <a:lnTo>
                    <a:pt x="465105" y="768630"/>
                  </a:lnTo>
                  <a:lnTo>
                    <a:pt x="430673" y="264973"/>
                  </a:lnTo>
                  <a:lnTo>
                    <a:pt x="0" y="264973"/>
                  </a:lnTo>
                  <a:lnTo>
                    <a:pt x="0" y="220811"/>
                  </a:lnTo>
                  <a:lnTo>
                    <a:pt x="0" y="154567"/>
                  </a:lnTo>
                  <a:lnTo>
                    <a:pt x="0" y="0"/>
                  </a:lnTo>
                  <a:close/>
                </a:path>
              </a:pathLst>
            </a:custGeom>
            <a:ln w="32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664055" y="6628395"/>
            <a:ext cx="35179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indent="635">
              <a:lnSpc>
                <a:spcPct val="100000"/>
              </a:lnSpc>
              <a:spcBef>
                <a:spcPts val="120"/>
              </a:spcBef>
            </a:pPr>
            <a:r>
              <a:rPr sz="800" b="1" spc="-10" dirty="0">
                <a:latin typeface="Calibri"/>
                <a:cs typeface="Calibri"/>
              </a:rPr>
              <a:t>Overlay</a:t>
            </a:r>
            <a:r>
              <a:rPr sz="800" b="1" spc="500" dirty="0">
                <a:latin typeface="Calibri"/>
                <a:cs typeface="Calibri"/>
              </a:rPr>
              <a:t> </a:t>
            </a:r>
            <a:r>
              <a:rPr sz="800" b="1" spc="-10" dirty="0">
                <a:latin typeface="Calibri"/>
                <a:cs typeface="Calibri"/>
              </a:rPr>
              <a:t>Routing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634035" y="7213833"/>
            <a:ext cx="2501265" cy="1069975"/>
            <a:chOff x="6634035" y="7213833"/>
            <a:chExt cx="2501265" cy="1069975"/>
          </a:xfrm>
        </p:grpSpPr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63370" y="7431390"/>
              <a:ext cx="250220" cy="17153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36395" y="7525327"/>
              <a:ext cx="381000" cy="349250"/>
            </a:xfrm>
            <a:custGeom>
              <a:avLst/>
              <a:gdLst/>
              <a:ahLst/>
              <a:cxnLst/>
              <a:rect l="l" t="t" r="r" b="b"/>
              <a:pathLst>
                <a:path w="381000" h="349250">
                  <a:moveTo>
                    <a:pt x="190239" y="0"/>
                  </a:moveTo>
                  <a:lnTo>
                    <a:pt x="139666" y="6228"/>
                  </a:lnTo>
                  <a:lnTo>
                    <a:pt x="94222" y="23807"/>
                  </a:lnTo>
                  <a:lnTo>
                    <a:pt x="55720" y="51073"/>
                  </a:lnTo>
                  <a:lnTo>
                    <a:pt x="25973" y="86365"/>
                  </a:lnTo>
                  <a:lnTo>
                    <a:pt x="6795" y="128019"/>
                  </a:lnTo>
                  <a:lnTo>
                    <a:pt x="0" y="174376"/>
                  </a:lnTo>
                  <a:lnTo>
                    <a:pt x="6795" y="220732"/>
                  </a:lnTo>
                  <a:lnTo>
                    <a:pt x="25973" y="262387"/>
                  </a:lnTo>
                  <a:lnTo>
                    <a:pt x="55720" y="297678"/>
                  </a:lnTo>
                  <a:lnTo>
                    <a:pt x="94222" y="324944"/>
                  </a:lnTo>
                  <a:lnTo>
                    <a:pt x="139666" y="342523"/>
                  </a:lnTo>
                  <a:lnTo>
                    <a:pt x="190239" y="348752"/>
                  </a:lnTo>
                  <a:lnTo>
                    <a:pt x="240813" y="342523"/>
                  </a:lnTo>
                  <a:lnTo>
                    <a:pt x="286257" y="324944"/>
                  </a:lnTo>
                  <a:lnTo>
                    <a:pt x="324759" y="297678"/>
                  </a:lnTo>
                  <a:lnTo>
                    <a:pt x="354506" y="262387"/>
                  </a:lnTo>
                  <a:lnTo>
                    <a:pt x="373683" y="220732"/>
                  </a:lnTo>
                  <a:lnTo>
                    <a:pt x="380479" y="174376"/>
                  </a:lnTo>
                  <a:lnTo>
                    <a:pt x="373683" y="128019"/>
                  </a:lnTo>
                  <a:lnTo>
                    <a:pt x="354506" y="86365"/>
                  </a:lnTo>
                  <a:lnTo>
                    <a:pt x="324759" y="51073"/>
                  </a:lnTo>
                  <a:lnTo>
                    <a:pt x="286257" y="23807"/>
                  </a:lnTo>
                  <a:lnTo>
                    <a:pt x="240813" y="6228"/>
                  </a:lnTo>
                  <a:lnTo>
                    <a:pt x="190239" y="0"/>
                  </a:lnTo>
                  <a:close/>
                </a:path>
              </a:pathLst>
            </a:custGeom>
            <a:solidFill>
              <a:srgbClr val="FFA010">
                <a:alpha val="211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136560" y="7229573"/>
              <a:ext cx="153035" cy="22225"/>
            </a:xfrm>
            <a:custGeom>
              <a:avLst/>
              <a:gdLst/>
              <a:ahLst/>
              <a:cxnLst/>
              <a:rect l="l" t="t" r="r" b="b"/>
              <a:pathLst>
                <a:path w="153034" h="22225">
                  <a:moveTo>
                    <a:pt x="0" y="21652"/>
                  </a:moveTo>
                  <a:lnTo>
                    <a:pt x="152898" y="0"/>
                  </a:lnTo>
                </a:path>
              </a:pathLst>
            </a:custGeom>
            <a:ln w="13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123595" y="7213840"/>
              <a:ext cx="179070" cy="53340"/>
            </a:xfrm>
            <a:custGeom>
              <a:avLst/>
              <a:gdLst/>
              <a:ahLst/>
              <a:cxnLst/>
              <a:rect l="l" t="t" r="r" b="b"/>
              <a:pathLst>
                <a:path w="179070" h="53340">
                  <a:moveTo>
                    <a:pt x="41617" y="53136"/>
                  </a:moveTo>
                  <a:lnTo>
                    <a:pt x="25908" y="35560"/>
                  </a:lnTo>
                  <a:lnTo>
                    <a:pt x="36118" y="14312"/>
                  </a:lnTo>
                  <a:lnTo>
                    <a:pt x="0" y="39230"/>
                  </a:lnTo>
                  <a:lnTo>
                    <a:pt x="41617" y="53136"/>
                  </a:lnTo>
                  <a:close/>
                </a:path>
                <a:path w="179070" h="53340">
                  <a:moveTo>
                    <a:pt x="178816" y="13906"/>
                  </a:moveTo>
                  <a:lnTo>
                    <a:pt x="137198" y="0"/>
                  </a:lnTo>
                  <a:lnTo>
                    <a:pt x="152908" y="17576"/>
                  </a:lnTo>
                  <a:lnTo>
                    <a:pt x="142709" y="38811"/>
                  </a:lnTo>
                  <a:lnTo>
                    <a:pt x="178816" y="13906"/>
                  </a:lnTo>
                  <a:close/>
                </a:path>
              </a:pathLst>
            </a:custGeom>
            <a:solidFill>
              <a:srgbClr val="000000">
                <a:alpha val="8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882501" y="7403053"/>
              <a:ext cx="239395" cy="0"/>
            </a:xfrm>
            <a:custGeom>
              <a:avLst/>
              <a:gdLst/>
              <a:ahLst/>
              <a:cxnLst/>
              <a:rect l="l" t="t" r="r" b="b"/>
              <a:pathLst>
                <a:path w="239395">
                  <a:moveTo>
                    <a:pt x="0" y="0"/>
                  </a:moveTo>
                  <a:lnTo>
                    <a:pt x="239316" y="0"/>
                  </a:lnTo>
                </a:path>
              </a:pathLst>
            </a:custGeom>
            <a:ln w="13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869413" y="7383462"/>
              <a:ext cx="266065" cy="39370"/>
            </a:xfrm>
            <a:custGeom>
              <a:avLst/>
              <a:gdLst/>
              <a:ahLst/>
              <a:cxnLst/>
              <a:rect l="l" t="t" r="r" b="b"/>
              <a:pathLst>
                <a:path w="266065" h="39370">
                  <a:moveTo>
                    <a:pt x="39255" y="0"/>
                  </a:moveTo>
                  <a:lnTo>
                    <a:pt x="0" y="19596"/>
                  </a:lnTo>
                  <a:lnTo>
                    <a:pt x="39255" y="39204"/>
                  </a:lnTo>
                  <a:lnTo>
                    <a:pt x="26162" y="19596"/>
                  </a:lnTo>
                  <a:lnTo>
                    <a:pt x="39255" y="0"/>
                  </a:lnTo>
                  <a:close/>
                </a:path>
                <a:path w="266065" h="39370">
                  <a:moveTo>
                    <a:pt x="265480" y="19596"/>
                  </a:moveTo>
                  <a:lnTo>
                    <a:pt x="226237" y="0"/>
                  </a:lnTo>
                  <a:lnTo>
                    <a:pt x="239318" y="19596"/>
                  </a:lnTo>
                  <a:lnTo>
                    <a:pt x="226237" y="39204"/>
                  </a:lnTo>
                  <a:lnTo>
                    <a:pt x="265480" y="19596"/>
                  </a:lnTo>
                  <a:close/>
                </a:path>
              </a:pathLst>
            </a:custGeom>
            <a:solidFill>
              <a:srgbClr val="000000">
                <a:alpha val="8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47118" y="8066689"/>
              <a:ext cx="239395" cy="0"/>
            </a:xfrm>
            <a:custGeom>
              <a:avLst/>
              <a:gdLst/>
              <a:ahLst/>
              <a:cxnLst/>
              <a:rect l="l" t="t" r="r" b="b"/>
              <a:pathLst>
                <a:path w="239395">
                  <a:moveTo>
                    <a:pt x="0" y="0"/>
                  </a:moveTo>
                  <a:lnTo>
                    <a:pt x="239316" y="0"/>
                  </a:lnTo>
                </a:path>
              </a:pathLst>
            </a:custGeom>
            <a:ln w="13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34035" y="8047087"/>
              <a:ext cx="266065" cy="39370"/>
            </a:xfrm>
            <a:custGeom>
              <a:avLst/>
              <a:gdLst/>
              <a:ahLst/>
              <a:cxnLst/>
              <a:rect l="l" t="t" r="r" b="b"/>
              <a:pathLst>
                <a:path w="266065" h="39370">
                  <a:moveTo>
                    <a:pt x="39243" y="0"/>
                  </a:moveTo>
                  <a:lnTo>
                    <a:pt x="0" y="19608"/>
                  </a:lnTo>
                  <a:lnTo>
                    <a:pt x="39243" y="39204"/>
                  </a:lnTo>
                  <a:lnTo>
                    <a:pt x="26162" y="19608"/>
                  </a:lnTo>
                  <a:lnTo>
                    <a:pt x="39243" y="0"/>
                  </a:lnTo>
                  <a:close/>
                </a:path>
                <a:path w="266065" h="39370">
                  <a:moveTo>
                    <a:pt x="265480" y="19608"/>
                  </a:moveTo>
                  <a:lnTo>
                    <a:pt x="226225" y="0"/>
                  </a:lnTo>
                  <a:lnTo>
                    <a:pt x="239306" y="19608"/>
                  </a:lnTo>
                  <a:lnTo>
                    <a:pt x="226225" y="39204"/>
                  </a:lnTo>
                  <a:lnTo>
                    <a:pt x="265480" y="19608"/>
                  </a:lnTo>
                  <a:close/>
                </a:path>
              </a:pathLst>
            </a:custGeom>
            <a:solidFill>
              <a:srgbClr val="000000">
                <a:alpha val="8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55775" y="8255248"/>
              <a:ext cx="254000" cy="9525"/>
            </a:xfrm>
            <a:custGeom>
              <a:avLst/>
              <a:gdLst/>
              <a:ahLst/>
              <a:cxnLst/>
              <a:rect l="l" t="t" r="r" b="b"/>
              <a:pathLst>
                <a:path w="254000" h="9525">
                  <a:moveTo>
                    <a:pt x="253538" y="0"/>
                  </a:moveTo>
                  <a:lnTo>
                    <a:pt x="0" y="9499"/>
                  </a:lnTo>
                </a:path>
              </a:pathLst>
            </a:custGeom>
            <a:ln w="130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42697" y="8236648"/>
              <a:ext cx="280035" cy="46990"/>
            </a:xfrm>
            <a:custGeom>
              <a:avLst/>
              <a:gdLst/>
              <a:ahLst/>
              <a:cxnLst/>
              <a:rect l="l" t="t" r="r" b="b"/>
              <a:pathLst>
                <a:path w="280034" h="46990">
                  <a:moveTo>
                    <a:pt x="39954" y="46710"/>
                  </a:moveTo>
                  <a:lnTo>
                    <a:pt x="26149" y="27609"/>
                  </a:lnTo>
                  <a:lnTo>
                    <a:pt x="38481" y="7531"/>
                  </a:lnTo>
                  <a:lnTo>
                    <a:pt x="0" y="28600"/>
                  </a:lnTo>
                  <a:lnTo>
                    <a:pt x="39954" y="46710"/>
                  </a:lnTo>
                  <a:close/>
                </a:path>
                <a:path w="280034" h="46990">
                  <a:moveTo>
                    <a:pt x="279692" y="18110"/>
                  </a:moveTo>
                  <a:lnTo>
                    <a:pt x="239725" y="0"/>
                  </a:lnTo>
                  <a:lnTo>
                    <a:pt x="253542" y="19100"/>
                  </a:lnTo>
                  <a:lnTo>
                    <a:pt x="241198" y="39179"/>
                  </a:lnTo>
                  <a:lnTo>
                    <a:pt x="279692" y="18110"/>
                  </a:lnTo>
                  <a:close/>
                </a:path>
              </a:pathLst>
            </a:custGeom>
            <a:solidFill>
              <a:srgbClr val="000000">
                <a:alpha val="827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945123" y="7896200"/>
            <a:ext cx="362585" cy="408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" marR="5080" indent="-54610">
              <a:lnSpc>
                <a:spcPct val="157100"/>
              </a:lnSpc>
              <a:spcBef>
                <a:spcPts val="95"/>
              </a:spcBef>
            </a:pPr>
            <a:r>
              <a:rPr sz="800" b="1" spc="-10" dirty="0">
                <a:latin typeface="Calibri"/>
                <a:cs typeface="Calibri"/>
              </a:rPr>
              <a:t>Content</a:t>
            </a:r>
            <a:r>
              <a:rPr sz="800" b="1" spc="500" dirty="0">
                <a:latin typeface="Calibri"/>
                <a:cs typeface="Calibri"/>
              </a:rPr>
              <a:t> </a:t>
            </a:r>
            <a:r>
              <a:rPr sz="800" b="1" spc="-25" dirty="0">
                <a:latin typeface="Calibri"/>
                <a:cs typeface="Calibri"/>
              </a:rPr>
              <a:t>DNS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447889" y="7291829"/>
            <a:ext cx="858519" cy="297815"/>
            <a:chOff x="7447889" y="7291829"/>
            <a:chExt cx="858519" cy="297815"/>
          </a:xfrm>
        </p:grpSpPr>
        <p:sp>
          <p:nvSpPr>
            <p:cNvPr id="71" name="object 71"/>
            <p:cNvSpPr/>
            <p:nvPr/>
          </p:nvSpPr>
          <p:spPr>
            <a:xfrm>
              <a:off x="7460302" y="7302179"/>
              <a:ext cx="833755" cy="277495"/>
            </a:xfrm>
            <a:custGeom>
              <a:avLst/>
              <a:gdLst/>
              <a:ahLst/>
              <a:cxnLst/>
              <a:rect l="l" t="t" r="r" b="b"/>
              <a:pathLst>
                <a:path w="833754" h="277495">
                  <a:moveTo>
                    <a:pt x="833133" y="276876"/>
                  </a:moveTo>
                  <a:lnTo>
                    <a:pt x="0" y="0"/>
                  </a:lnTo>
                </a:path>
              </a:pathLst>
            </a:custGeom>
            <a:ln w="130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447889" y="7291831"/>
              <a:ext cx="858519" cy="297815"/>
            </a:xfrm>
            <a:custGeom>
              <a:avLst/>
              <a:gdLst/>
              <a:ahLst/>
              <a:cxnLst/>
              <a:rect l="l" t="t" r="r" b="b"/>
              <a:pathLst>
                <a:path w="858520" h="297815">
                  <a:moveTo>
                    <a:pt x="43434" y="0"/>
                  </a:moveTo>
                  <a:lnTo>
                    <a:pt x="0" y="6223"/>
                  </a:lnTo>
                  <a:lnTo>
                    <a:pt x="31038" y="37211"/>
                  </a:lnTo>
                  <a:lnTo>
                    <a:pt x="24815" y="14478"/>
                  </a:lnTo>
                  <a:lnTo>
                    <a:pt x="43434" y="0"/>
                  </a:lnTo>
                  <a:close/>
                </a:path>
                <a:path w="858520" h="297815">
                  <a:moveTo>
                    <a:pt x="857961" y="291350"/>
                  </a:moveTo>
                  <a:lnTo>
                    <a:pt x="826909" y="260375"/>
                  </a:lnTo>
                  <a:lnTo>
                    <a:pt x="833132" y="283108"/>
                  </a:lnTo>
                  <a:lnTo>
                    <a:pt x="814514" y="297573"/>
                  </a:lnTo>
                  <a:lnTo>
                    <a:pt x="857961" y="291350"/>
                  </a:lnTo>
                  <a:close/>
                </a:path>
              </a:pathLst>
            </a:custGeom>
            <a:solidFill>
              <a:srgbClr val="000000">
                <a:alpha val="8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10617200" y="2019302"/>
            <a:ext cx="1574800" cy="635000"/>
            <a:chOff x="10617200" y="2019302"/>
            <a:chExt cx="1574800" cy="635000"/>
          </a:xfrm>
        </p:grpSpPr>
        <p:sp>
          <p:nvSpPr>
            <p:cNvPr id="74" name="object 74"/>
            <p:cNvSpPr/>
            <p:nvPr/>
          </p:nvSpPr>
          <p:spPr>
            <a:xfrm>
              <a:off x="10912024" y="2316346"/>
              <a:ext cx="1280160" cy="265430"/>
            </a:xfrm>
            <a:custGeom>
              <a:avLst/>
              <a:gdLst/>
              <a:ahLst/>
              <a:cxnLst/>
              <a:rect l="l" t="t" r="r" b="b"/>
              <a:pathLst>
                <a:path w="1280159" h="265430">
                  <a:moveTo>
                    <a:pt x="1246647" y="0"/>
                  </a:moveTo>
                  <a:lnTo>
                    <a:pt x="1233756" y="2525"/>
                  </a:lnTo>
                  <a:lnTo>
                    <a:pt x="1223152" y="9484"/>
                  </a:lnTo>
                  <a:lnTo>
                    <a:pt x="1215964" y="19952"/>
                  </a:lnTo>
                  <a:lnTo>
                    <a:pt x="1213317" y="33004"/>
                  </a:lnTo>
                  <a:lnTo>
                    <a:pt x="1215964" y="45769"/>
                  </a:lnTo>
                  <a:lnTo>
                    <a:pt x="1223152" y="56268"/>
                  </a:lnTo>
                  <a:lnTo>
                    <a:pt x="1233756" y="63387"/>
                  </a:lnTo>
                  <a:lnTo>
                    <a:pt x="1246647" y="66008"/>
                  </a:lnTo>
                  <a:lnTo>
                    <a:pt x="1259538" y="63387"/>
                  </a:lnTo>
                  <a:lnTo>
                    <a:pt x="1270142" y="56268"/>
                  </a:lnTo>
                  <a:lnTo>
                    <a:pt x="1277331" y="45769"/>
                  </a:lnTo>
                  <a:lnTo>
                    <a:pt x="1279978" y="33004"/>
                  </a:lnTo>
                  <a:lnTo>
                    <a:pt x="1277331" y="19952"/>
                  </a:lnTo>
                  <a:lnTo>
                    <a:pt x="1270142" y="9484"/>
                  </a:lnTo>
                  <a:lnTo>
                    <a:pt x="1259538" y="2525"/>
                  </a:lnTo>
                  <a:lnTo>
                    <a:pt x="1246647" y="0"/>
                  </a:lnTo>
                  <a:close/>
                </a:path>
                <a:path w="1280159" h="265430">
                  <a:moveTo>
                    <a:pt x="1266233" y="81998"/>
                  </a:moveTo>
                  <a:lnTo>
                    <a:pt x="1207131" y="81998"/>
                  </a:lnTo>
                  <a:lnTo>
                    <a:pt x="1168991" y="262333"/>
                  </a:lnTo>
                  <a:lnTo>
                    <a:pt x="1228093" y="262333"/>
                  </a:lnTo>
                  <a:lnTo>
                    <a:pt x="1266233" y="81998"/>
                  </a:lnTo>
                  <a:close/>
                </a:path>
                <a:path w="1280159" h="265430">
                  <a:moveTo>
                    <a:pt x="1051474" y="152775"/>
                  </a:moveTo>
                  <a:lnTo>
                    <a:pt x="999716" y="164938"/>
                  </a:lnTo>
                  <a:lnTo>
                    <a:pt x="973472" y="209255"/>
                  </a:lnTo>
                  <a:lnTo>
                    <a:pt x="971896" y="236476"/>
                  </a:lnTo>
                  <a:lnTo>
                    <a:pt x="971845" y="237353"/>
                  </a:lnTo>
                  <a:lnTo>
                    <a:pt x="981074" y="254382"/>
                  </a:lnTo>
                  <a:lnTo>
                    <a:pt x="999902" y="262798"/>
                  </a:lnTo>
                  <a:lnTo>
                    <a:pt x="1027074" y="265057"/>
                  </a:lnTo>
                  <a:lnTo>
                    <a:pt x="1043644" y="263989"/>
                  </a:lnTo>
                  <a:lnTo>
                    <a:pt x="1060407" y="259826"/>
                  </a:lnTo>
                  <a:lnTo>
                    <a:pt x="1075108" y="251134"/>
                  </a:lnTo>
                  <a:lnTo>
                    <a:pt x="1085491" y="236476"/>
                  </a:lnTo>
                  <a:lnTo>
                    <a:pt x="1146616" y="236476"/>
                  </a:lnTo>
                  <a:lnTo>
                    <a:pt x="1148700" y="226604"/>
                  </a:lnTo>
                  <a:lnTo>
                    <a:pt x="1057659" y="226604"/>
                  </a:lnTo>
                  <a:lnTo>
                    <a:pt x="1050023" y="226301"/>
                  </a:lnTo>
                  <a:lnTo>
                    <a:pt x="1041937" y="224181"/>
                  </a:lnTo>
                  <a:lnTo>
                    <a:pt x="1036299" y="218424"/>
                  </a:lnTo>
                  <a:lnTo>
                    <a:pt x="1036062" y="209255"/>
                  </a:lnTo>
                  <a:lnTo>
                    <a:pt x="1036010" y="207214"/>
                  </a:lnTo>
                  <a:lnTo>
                    <a:pt x="1040059" y="197345"/>
                  </a:lnTo>
                  <a:lnTo>
                    <a:pt x="1046748" y="191561"/>
                  </a:lnTo>
                  <a:lnTo>
                    <a:pt x="1055629" y="188839"/>
                  </a:lnTo>
                  <a:lnTo>
                    <a:pt x="1066248" y="188159"/>
                  </a:lnTo>
                  <a:lnTo>
                    <a:pt x="1156819" y="188159"/>
                  </a:lnTo>
                  <a:lnTo>
                    <a:pt x="1160053" y="172847"/>
                  </a:lnTo>
                  <a:lnTo>
                    <a:pt x="1096831" y="172847"/>
                  </a:lnTo>
                  <a:lnTo>
                    <a:pt x="1091289" y="160955"/>
                  </a:lnTo>
                  <a:lnTo>
                    <a:pt x="1079821" y="155028"/>
                  </a:lnTo>
                  <a:lnTo>
                    <a:pt x="1066364" y="153113"/>
                  </a:lnTo>
                  <a:lnTo>
                    <a:pt x="1073285" y="153113"/>
                  </a:lnTo>
                  <a:lnTo>
                    <a:pt x="1051474" y="152775"/>
                  </a:lnTo>
                  <a:close/>
                </a:path>
                <a:path w="1280159" h="265430">
                  <a:moveTo>
                    <a:pt x="973811" y="125213"/>
                  </a:moveTo>
                  <a:lnTo>
                    <a:pt x="892721" y="125213"/>
                  </a:lnTo>
                  <a:lnTo>
                    <a:pt x="905108" y="127642"/>
                  </a:lnTo>
                  <a:lnTo>
                    <a:pt x="910375" y="134442"/>
                  </a:lnTo>
                  <a:lnTo>
                    <a:pt x="910776" y="141863"/>
                  </a:lnTo>
                  <a:lnTo>
                    <a:pt x="910790" y="146026"/>
                  </a:lnTo>
                  <a:lnTo>
                    <a:pt x="909214" y="158217"/>
                  </a:lnTo>
                  <a:lnTo>
                    <a:pt x="887025" y="261995"/>
                  </a:lnTo>
                  <a:lnTo>
                    <a:pt x="886953" y="262333"/>
                  </a:lnTo>
                  <a:lnTo>
                    <a:pt x="886854" y="262798"/>
                  </a:lnTo>
                  <a:lnTo>
                    <a:pt x="945956" y="262798"/>
                  </a:lnTo>
                  <a:lnTo>
                    <a:pt x="972783" y="139503"/>
                  </a:lnTo>
                  <a:lnTo>
                    <a:pt x="973621" y="127855"/>
                  </a:lnTo>
                  <a:lnTo>
                    <a:pt x="973717" y="126520"/>
                  </a:lnTo>
                  <a:lnTo>
                    <a:pt x="973811" y="125213"/>
                  </a:lnTo>
                  <a:close/>
                </a:path>
                <a:path w="1280159" h="265430">
                  <a:moveTo>
                    <a:pt x="1146616" y="236476"/>
                  </a:moveTo>
                  <a:lnTo>
                    <a:pt x="1087555" y="236476"/>
                  </a:lnTo>
                  <a:lnTo>
                    <a:pt x="1082125" y="261995"/>
                  </a:lnTo>
                  <a:lnTo>
                    <a:pt x="1082053" y="262333"/>
                  </a:lnTo>
                  <a:lnTo>
                    <a:pt x="1141155" y="262333"/>
                  </a:lnTo>
                  <a:lnTo>
                    <a:pt x="1146616" y="236476"/>
                  </a:lnTo>
                  <a:close/>
                </a:path>
                <a:path w="1280159" h="265430">
                  <a:moveTo>
                    <a:pt x="761116" y="81659"/>
                  </a:moveTo>
                  <a:lnTo>
                    <a:pt x="706136" y="81659"/>
                  </a:lnTo>
                  <a:lnTo>
                    <a:pt x="666964" y="261995"/>
                  </a:lnTo>
                  <a:lnTo>
                    <a:pt x="726067" y="261995"/>
                  </a:lnTo>
                  <a:lnTo>
                    <a:pt x="747713" y="159576"/>
                  </a:lnTo>
                  <a:lnTo>
                    <a:pt x="751660" y="145165"/>
                  </a:lnTo>
                  <a:lnTo>
                    <a:pt x="758101" y="134442"/>
                  </a:lnTo>
                  <a:lnTo>
                    <a:pt x="760022" y="133123"/>
                  </a:lnTo>
                  <a:lnTo>
                    <a:pt x="768332" y="127642"/>
                  </a:lnTo>
                  <a:lnTo>
                    <a:pt x="767959" y="127642"/>
                  </a:lnTo>
                  <a:lnTo>
                    <a:pt x="783795" y="125213"/>
                  </a:lnTo>
                  <a:lnTo>
                    <a:pt x="973811" y="125213"/>
                  </a:lnTo>
                  <a:lnTo>
                    <a:pt x="974142" y="120619"/>
                  </a:lnTo>
                  <a:lnTo>
                    <a:pt x="974258" y="119003"/>
                  </a:lnTo>
                  <a:lnTo>
                    <a:pt x="974346" y="117780"/>
                  </a:lnTo>
                  <a:lnTo>
                    <a:pt x="974472" y="116027"/>
                  </a:lnTo>
                  <a:lnTo>
                    <a:pt x="861109" y="116027"/>
                  </a:lnTo>
                  <a:lnTo>
                    <a:pt x="860112" y="108197"/>
                  </a:lnTo>
                  <a:lnTo>
                    <a:pt x="755618" y="108197"/>
                  </a:lnTo>
                  <a:lnTo>
                    <a:pt x="760676" y="82819"/>
                  </a:lnTo>
                  <a:lnTo>
                    <a:pt x="760771" y="82340"/>
                  </a:lnTo>
                  <a:lnTo>
                    <a:pt x="761116" y="82340"/>
                  </a:lnTo>
                  <a:lnTo>
                    <a:pt x="761116" y="81659"/>
                  </a:lnTo>
                  <a:close/>
                </a:path>
                <a:path w="1280159" h="265430">
                  <a:moveTo>
                    <a:pt x="892721" y="125213"/>
                  </a:moveTo>
                  <a:lnTo>
                    <a:pt x="783795" y="125213"/>
                  </a:lnTo>
                  <a:lnTo>
                    <a:pt x="795601" y="127275"/>
                  </a:lnTo>
                  <a:lnTo>
                    <a:pt x="800940" y="133123"/>
                  </a:lnTo>
                  <a:lnTo>
                    <a:pt x="801817" y="141863"/>
                  </a:lnTo>
                  <a:lnTo>
                    <a:pt x="800333" y="152775"/>
                  </a:lnTo>
                  <a:lnTo>
                    <a:pt x="800287" y="153113"/>
                  </a:lnTo>
                  <a:lnTo>
                    <a:pt x="777265" y="261995"/>
                  </a:lnTo>
                  <a:lnTo>
                    <a:pt x="836367" y="261995"/>
                  </a:lnTo>
                  <a:lnTo>
                    <a:pt x="858017" y="159576"/>
                  </a:lnTo>
                  <a:lnTo>
                    <a:pt x="861892" y="146026"/>
                  </a:lnTo>
                  <a:lnTo>
                    <a:pt x="868410" y="135122"/>
                  </a:lnTo>
                  <a:lnTo>
                    <a:pt x="878408" y="127855"/>
                  </a:lnTo>
                  <a:lnTo>
                    <a:pt x="892721" y="125213"/>
                  </a:lnTo>
                  <a:close/>
                </a:path>
                <a:path w="1280159" h="265430">
                  <a:moveTo>
                    <a:pt x="1156819" y="188159"/>
                  </a:moveTo>
                  <a:lnTo>
                    <a:pt x="1066248" y="188159"/>
                  </a:lnTo>
                  <a:lnTo>
                    <a:pt x="1079553" y="188605"/>
                  </a:lnTo>
                  <a:lnTo>
                    <a:pt x="1089442" y="190710"/>
                  </a:lnTo>
                  <a:lnTo>
                    <a:pt x="1094951" y="195622"/>
                  </a:lnTo>
                  <a:lnTo>
                    <a:pt x="1095112" y="204490"/>
                  </a:lnTo>
                  <a:lnTo>
                    <a:pt x="1091192" y="216127"/>
                  </a:lnTo>
                  <a:lnTo>
                    <a:pt x="1084374" y="222820"/>
                  </a:lnTo>
                  <a:lnTo>
                    <a:pt x="1073561" y="225876"/>
                  </a:lnTo>
                  <a:lnTo>
                    <a:pt x="1057659" y="226604"/>
                  </a:lnTo>
                  <a:lnTo>
                    <a:pt x="1148700" y="226604"/>
                  </a:lnTo>
                  <a:lnTo>
                    <a:pt x="1156675" y="188839"/>
                  </a:lnTo>
                  <a:lnTo>
                    <a:pt x="1156725" y="188605"/>
                  </a:lnTo>
                  <a:lnTo>
                    <a:pt x="1156819" y="188159"/>
                  </a:lnTo>
                  <a:close/>
                </a:path>
                <a:path w="1280159" h="265430">
                  <a:moveTo>
                    <a:pt x="1167655" y="117047"/>
                  </a:moveTo>
                  <a:lnTo>
                    <a:pt x="1084460" y="117047"/>
                  </a:lnTo>
                  <a:lnTo>
                    <a:pt x="1099381" y="119003"/>
                  </a:lnTo>
                  <a:lnTo>
                    <a:pt x="1106410" y="124532"/>
                  </a:lnTo>
                  <a:lnTo>
                    <a:pt x="1107704" y="133123"/>
                  </a:lnTo>
                  <a:lnTo>
                    <a:pt x="1099579" y="172847"/>
                  </a:lnTo>
                  <a:lnTo>
                    <a:pt x="1160053" y="172847"/>
                  </a:lnTo>
                  <a:lnTo>
                    <a:pt x="1164866" y="150051"/>
                  </a:lnTo>
                  <a:lnTo>
                    <a:pt x="1167489" y="119003"/>
                  </a:lnTo>
                  <a:lnTo>
                    <a:pt x="1167593" y="117780"/>
                  </a:lnTo>
                  <a:lnTo>
                    <a:pt x="1167655" y="117047"/>
                  </a:lnTo>
                  <a:close/>
                </a:path>
                <a:path w="1280159" h="265430">
                  <a:moveTo>
                    <a:pt x="1093393" y="80638"/>
                  </a:moveTo>
                  <a:lnTo>
                    <a:pt x="1062125" y="81414"/>
                  </a:lnTo>
                  <a:lnTo>
                    <a:pt x="1033949" y="87358"/>
                  </a:lnTo>
                  <a:lnTo>
                    <a:pt x="1011441" y="103893"/>
                  </a:lnTo>
                  <a:lnTo>
                    <a:pt x="997181" y="136441"/>
                  </a:lnTo>
                  <a:lnTo>
                    <a:pt x="1056283" y="136441"/>
                  </a:lnTo>
                  <a:lnTo>
                    <a:pt x="1060250" y="126520"/>
                  </a:lnTo>
                  <a:lnTo>
                    <a:pt x="1066377" y="120619"/>
                  </a:lnTo>
                  <a:lnTo>
                    <a:pt x="1074500" y="117780"/>
                  </a:lnTo>
                  <a:lnTo>
                    <a:pt x="1084460" y="117047"/>
                  </a:lnTo>
                  <a:lnTo>
                    <a:pt x="1167655" y="117047"/>
                  </a:lnTo>
                  <a:lnTo>
                    <a:pt x="1168002" y="112937"/>
                  </a:lnTo>
                  <a:lnTo>
                    <a:pt x="1156963" y="91995"/>
                  </a:lnTo>
                  <a:lnTo>
                    <a:pt x="1132253" y="82819"/>
                  </a:lnTo>
                  <a:lnTo>
                    <a:pt x="1133691" y="82819"/>
                  </a:lnTo>
                  <a:lnTo>
                    <a:pt x="1093393" y="80638"/>
                  </a:lnTo>
                  <a:close/>
                </a:path>
                <a:path w="1280159" h="265430">
                  <a:moveTo>
                    <a:pt x="922272" y="80980"/>
                  </a:moveTo>
                  <a:lnTo>
                    <a:pt x="904641" y="82819"/>
                  </a:lnTo>
                  <a:lnTo>
                    <a:pt x="887654" y="88804"/>
                  </a:lnTo>
                  <a:lnTo>
                    <a:pt x="873371" y="99639"/>
                  </a:lnTo>
                  <a:lnTo>
                    <a:pt x="863857" y="116027"/>
                  </a:lnTo>
                  <a:lnTo>
                    <a:pt x="974472" y="116027"/>
                  </a:lnTo>
                  <a:lnTo>
                    <a:pt x="974695" y="112937"/>
                  </a:lnTo>
                  <a:lnTo>
                    <a:pt x="972662" y="108197"/>
                  </a:lnTo>
                  <a:lnTo>
                    <a:pt x="966829" y="94902"/>
                  </a:lnTo>
                  <a:lnTo>
                    <a:pt x="966729" y="94674"/>
                  </a:lnTo>
                  <a:lnTo>
                    <a:pt x="949156" y="84286"/>
                  </a:lnTo>
                  <a:lnTo>
                    <a:pt x="922272" y="80980"/>
                  </a:lnTo>
                  <a:close/>
                </a:path>
                <a:path w="1280159" h="265430">
                  <a:moveTo>
                    <a:pt x="832936" y="82340"/>
                  </a:moveTo>
                  <a:lnTo>
                    <a:pt x="797304" y="82340"/>
                  </a:lnTo>
                  <a:lnTo>
                    <a:pt x="782291" y="86551"/>
                  </a:lnTo>
                  <a:lnTo>
                    <a:pt x="768456" y="94902"/>
                  </a:lnTo>
                  <a:lnTo>
                    <a:pt x="757681" y="108197"/>
                  </a:lnTo>
                  <a:lnTo>
                    <a:pt x="860112" y="108197"/>
                  </a:lnTo>
                  <a:lnTo>
                    <a:pt x="858768" y="97631"/>
                  </a:lnTo>
                  <a:lnTo>
                    <a:pt x="848308" y="87019"/>
                  </a:lnTo>
                  <a:lnTo>
                    <a:pt x="832936" y="82340"/>
                  </a:lnTo>
                  <a:close/>
                </a:path>
                <a:path w="1280159" h="265430">
                  <a:moveTo>
                    <a:pt x="813347" y="80980"/>
                  </a:moveTo>
                  <a:lnTo>
                    <a:pt x="796205" y="82340"/>
                  </a:lnTo>
                  <a:lnTo>
                    <a:pt x="835401" y="82340"/>
                  </a:lnTo>
                  <a:lnTo>
                    <a:pt x="813347" y="80980"/>
                  </a:lnTo>
                  <a:close/>
                </a:path>
                <a:path w="1280159" h="265430">
                  <a:moveTo>
                    <a:pt x="550134" y="152775"/>
                  </a:moveTo>
                  <a:lnTo>
                    <a:pt x="498376" y="164938"/>
                  </a:lnTo>
                  <a:lnTo>
                    <a:pt x="472133" y="209255"/>
                  </a:lnTo>
                  <a:lnTo>
                    <a:pt x="470557" y="236476"/>
                  </a:lnTo>
                  <a:lnTo>
                    <a:pt x="470506" y="237353"/>
                  </a:lnTo>
                  <a:lnTo>
                    <a:pt x="479735" y="254382"/>
                  </a:lnTo>
                  <a:lnTo>
                    <a:pt x="498564" y="262798"/>
                  </a:lnTo>
                  <a:lnTo>
                    <a:pt x="525736" y="265057"/>
                  </a:lnTo>
                  <a:lnTo>
                    <a:pt x="542305" y="263989"/>
                  </a:lnTo>
                  <a:lnTo>
                    <a:pt x="559067" y="259826"/>
                  </a:lnTo>
                  <a:lnTo>
                    <a:pt x="573768" y="251134"/>
                  </a:lnTo>
                  <a:lnTo>
                    <a:pt x="584153" y="236476"/>
                  </a:lnTo>
                  <a:lnTo>
                    <a:pt x="645279" y="236476"/>
                  </a:lnTo>
                  <a:lnTo>
                    <a:pt x="647363" y="226604"/>
                  </a:lnTo>
                  <a:lnTo>
                    <a:pt x="555632" y="226604"/>
                  </a:lnTo>
                  <a:lnTo>
                    <a:pt x="547707" y="226301"/>
                  </a:lnTo>
                  <a:lnTo>
                    <a:pt x="539653" y="224181"/>
                  </a:lnTo>
                  <a:lnTo>
                    <a:pt x="534176" y="218424"/>
                  </a:lnTo>
                  <a:lnTo>
                    <a:pt x="534136" y="216127"/>
                  </a:lnTo>
                  <a:lnTo>
                    <a:pt x="534018" y="209255"/>
                  </a:lnTo>
                  <a:lnTo>
                    <a:pt x="564221" y="188159"/>
                  </a:lnTo>
                  <a:lnTo>
                    <a:pt x="655480" y="188159"/>
                  </a:lnTo>
                  <a:lnTo>
                    <a:pt x="658713" y="172847"/>
                  </a:lnTo>
                  <a:lnTo>
                    <a:pt x="595491" y="172847"/>
                  </a:lnTo>
                  <a:lnTo>
                    <a:pt x="589949" y="160955"/>
                  </a:lnTo>
                  <a:lnTo>
                    <a:pt x="578481" y="155028"/>
                  </a:lnTo>
                  <a:lnTo>
                    <a:pt x="564179" y="152993"/>
                  </a:lnTo>
                  <a:lnTo>
                    <a:pt x="550134" y="152775"/>
                  </a:lnTo>
                  <a:close/>
                </a:path>
                <a:path w="1280159" h="265430">
                  <a:moveTo>
                    <a:pt x="392071" y="5783"/>
                  </a:moveTo>
                  <a:lnTo>
                    <a:pt x="332278" y="5783"/>
                  </a:lnTo>
                  <a:lnTo>
                    <a:pt x="277301" y="262333"/>
                  </a:lnTo>
                  <a:lnTo>
                    <a:pt x="337432" y="262333"/>
                  </a:lnTo>
                  <a:lnTo>
                    <a:pt x="353242" y="189522"/>
                  </a:lnTo>
                  <a:lnTo>
                    <a:pt x="427102" y="189522"/>
                  </a:lnTo>
                  <a:lnTo>
                    <a:pt x="417497" y="168765"/>
                  </a:lnTo>
                  <a:lnTo>
                    <a:pt x="432675" y="150051"/>
                  </a:lnTo>
                  <a:lnTo>
                    <a:pt x="361143" y="150051"/>
                  </a:lnTo>
                  <a:lnTo>
                    <a:pt x="392071" y="5783"/>
                  </a:lnTo>
                  <a:close/>
                </a:path>
                <a:path w="1280159" h="265430">
                  <a:moveTo>
                    <a:pt x="427102" y="189522"/>
                  </a:moveTo>
                  <a:lnTo>
                    <a:pt x="363204" y="189522"/>
                  </a:lnTo>
                  <a:lnTo>
                    <a:pt x="391382" y="262333"/>
                  </a:lnTo>
                  <a:lnTo>
                    <a:pt x="460794" y="262333"/>
                  </a:lnTo>
                  <a:lnTo>
                    <a:pt x="427102" y="189522"/>
                  </a:lnTo>
                  <a:close/>
                </a:path>
                <a:path w="1280159" h="265430">
                  <a:moveTo>
                    <a:pt x="645279" y="236476"/>
                  </a:moveTo>
                  <a:lnTo>
                    <a:pt x="586216" y="236476"/>
                  </a:lnTo>
                  <a:lnTo>
                    <a:pt x="580717" y="262333"/>
                  </a:lnTo>
                  <a:lnTo>
                    <a:pt x="639819" y="262333"/>
                  </a:lnTo>
                  <a:lnTo>
                    <a:pt x="645279" y="236476"/>
                  </a:lnTo>
                  <a:close/>
                </a:path>
                <a:path w="1280159" h="265430">
                  <a:moveTo>
                    <a:pt x="655480" y="188159"/>
                  </a:moveTo>
                  <a:lnTo>
                    <a:pt x="564221" y="188159"/>
                  </a:lnTo>
                  <a:lnTo>
                    <a:pt x="577526" y="188605"/>
                  </a:lnTo>
                  <a:lnTo>
                    <a:pt x="587415" y="190710"/>
                  </a:lnTo>
                  <a:lnTo>
                    <a:pt x="592924" y="195622"/>
                  </a:lnTo>
                  <a:lnTo>
                    <a:pt x="593086" y="204490"/>
                  </a:lnTo>
                  <a:lnTo>
                    <a:pt x="588877" y="216127"/>
                  </a:lnTo>
                  <a:lnTo>
                    <a:pt x="582091" y="222820"/>
                  </a:lnTo>
                  <a:lnTo>
                    <a:pt x="571439" y="225876"/>
                  </a:lnTo>
                  <a:lnTo>
                    <a:pt x="555632" y="226604"/>
                  </a:lnTo>
                  <a:lnTo>
                    <a:pt x="647363" y="226604"/>
                  </a:lnTo>
                  <a:lnTo>
                    <a:pt x="655337" y="188839"/>
                  </a:lnTo>
                  <a:lnTo>
                    <a:pt x="655386" y="188605"/>
                  </a:lnTo>
                  <a:lnTo>
                    <a:pt x="655480" y="188159"/>
                  </a:lnTo>
                  <a:close/>
                </a:path>
                <a:path w="1280159" h="265430">
                  <a:moveTo>
                    <a:pt x="666315" y="117047"/>
                  </a:moveTo>
                  <a:lnTo>
                    <a:pt x="583120" y="117047"/>
                  </a:lnTo>
                  <a:lnTo>
                    <a:pt x="598041" y="119003"/>
                  </a:lnTo>
                  <a:lnTo>
                    <a:pt x="605070" y="124532"/>
                  </a:lnTo>
                  <a:lnTo>
                    <a:pt x="606364" y="133123"/>
                  </a:lnTo>
                  <a:lnTo>
                    <a:pt x="598239" y="172847"/>
                  </a:lnTo>
                  <a:lnTo>
                    <a:pt x="658713" y="172847"/>
                  </a:lnTo>
                  <a:lnTo>
                    <a:pt x="663526" y="150051"/>
                  </a:lnTo>
                  <a:lnTo>
                    <a:pt x="666149" y="119003"/>
                  </a:lnTo>
                  <a:lnTo>
                    <a:pt x="666253" y="117780"/>
                  </a:lnTo>
                  <a:lnTo>
                    <a:pt x="666315" y="117047"/>
                  </a:lnTo>
                  <a:close/>
                </a:path>
                <a:path w="1280159" h="265430">
                  <a:moveTo>
                    <a:pt x="487594" y="82340"/>
                  </a:moveTo>
                  <a:lnTo>
                    <a:pt x="422650" y="82340"/>
                  </a:lnTo>
                  <a:lnTo>
                    <a:pt x="371796" y="150051"/>
                  </a:lnTo>
                  <a:lnTo>
                    <a:pt x="432675" y="150051"/>
                  </a:lnTo>
                  <a:lnTo>
                    <a:pt x="487594" y="82340"/>
                  </a:lnTo>
                  <a:close/>
                </a:path>
                <a:path w="1280159" h="265430">
                  <a:moveTo>
                    <a:pt x="592057" y="80638"/>
                  </a:moveTo>
                  <a:lnTo>
                    <a:pt x="560787" y="81414"/>
                  </a:lnTo>
                  <a:lnTo>
                    <a:pt x="532609" y="87358"/>
                  </a:lnTo>
                  <a:lnTo>
                    <a:pt x="510101" y="103893"/>
                  </a:lnTo>
                  <a:lnTo>
                    <a:pt x="495841" y="136441"/>
                  </a:lnTo>
                  <a:lnTo>
                    <a:pt x="554946" y="136441"/>
                  </a:lnTo>
                  <a:lnTo>
                    <a:pt x="558913" y="126520"/>
                  </a:lnTo>
                  <a:lnTo>
                    <a:pt x="565038" y="120619"/>
                  </a:lnTo>
                  <a:lnTo>
                    <a:pt x="573161" y="117780"/>
                  </a:lnTo>
                  <a:lnTo>
                    <a:pt x="583120" y="117047"/>
                  </a:lnTo>
                  <a:lnTo>
                    <a:pt x="666315" y="117047"/>
                  </a:lnTo>
                  <a:lnTo>
                    <a:pt x="666662" y="112937"/>
                  </a:lnTo>
                  <a:lnTo>
                    <a:pt x="655623" y="91995"/>
                  </a:lnTo>
                  <a:lnTo>
                    <a:pt x="630669" y="82728"/>
                  </a:lnTo>
                  <a:lnTo>
                    <a:pt x="592057" y="80638"/>
                  </a:lnTo>
                  <a:close/>
                </a:path>
                <a:path w="1280159" h="265430">
                  <a:moveTo>
                    <a:pt x="238472" y="5444"/>
                  </a:moveTo>
                  <a:lnTo>
                    <a:pt x="132981" y="5444"/>
                  </a:lnTo>
                  <a:lnTo>
                    <a:pt x="0" y="263013"/>
                  </a:lnTo>
                  <a:lnTo>
                    <a:pt x="72160" y="263013"/>
                  </a:lnTo>
                  <a:lnTo>
                    <a:pt x="94494" y="218784"/>
                  </a:lnTo>
                  <a:lnTo>
                    <a:pt x="258111" y="218784"/>
                  </a:lnTo>
                  <a:lnTo>
                    <a:pt x="253444" y="168084"/>
                  </a:lnTo>
                  <a:lnTo>
                    <a:pt x="120609" y="168084"/>
                  </a:lnTo>
                  <a:lnTo>
                    <a:pt x="176274" y="56479"/>
                  </a:lnTo>
                  <a:lnTo>
                    <a:pt x="243170" y="56479"/>
                  </a:lnTo>
                  <a:lnTo>
                    <a:pt x="238472" y="5444"/>
                  </a:lnTo>
                  <a:close/>
                </a:path>
                <a:path w="1280159" h="265430">
                  <a:moveTo>
                    <a:pt x="258111" y="218784"/>
                  </a:moveTo>
                  <a:lnTo>
                    <a:pt x="187617" y="218784"/>
                  </a:lnTo>
                  <a:lnTo>
                    <a:pt x="191396" y="263013"/>
                  </a:lnTo>
                  <a:lnTo>
                    <a:pt x="262182" y="263013"/>
                  </a:lnTo>
                  <a:lnTo>
                    <a:pt x="258111" y="218784"/>
                  </a:lnTo>
                  <a:close/>
                </a:path>
                <a:path w="1280159" h="265430">
                  <a:moveTo>
                    <a:pt x="243170" y="56479"/>
                  </a:moveTo>
                  <a:lnTo>
                    <a:pt x="176964" y="56479"/>
                  </a:lnTo>
                  <a:lnTo>
                    <a:pt x="184868" y="168084"/>
                  </a:lnTo>
                  <a:lnTo>
                    <a:pt x="253444" y="168084"/>
                  </a:lnTo>
                  <a:lnTo>
                    <a:pt x="243170" y="56479"/>
                  </a:lnTo>
                  <a:close/>
                </a:path>
              </a:pathLst>
            </a:custGeom>
            <a:solidFill>
              <a:srgbClr val="F79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617200" y="2019302"/>
              <a:ext cx="590550" cy="635000"/>
            </a:xfrm>
            <a:custGeom>
              <a:avLst/>
              <a:gdLst/>
              <a:ahLst/>
              <a:cxnLst/>
              <a:rect l="l" t="t" r="r" b="b"/>
              <a:pathLst>
                <a:path w="590550" h="635000">
                  <a:moveTo>
                    <a:pt x="323688" y="0"/>
                  </a:moveTo>
                  <a:lnTo>
                    <a:pt x="275953" y="3444"/>
                  </a:lnTo>
                  <a:lnTo>
                    <a:pt x="230361" y="13448"/>
                  </a:lnTo>
                  <a:lnTo>
                    <a:pt x="187416" y="29521"/>
                  </a:lnTo>
                  <a:lnTo>
                    <a:pt x="147627" y="51168"/>
                  </a:lnTo>
                  <a:lnTo>
                    <a:pt x="111500" y="77899"/>
                  </a:lnTo>
                  <a:lnTo>
                    <a:pt x="79541" y="109221"/>
                  </a:lnTo>
                  <a:lnTo>
                    <a:pt x="52257" y="144641"/>
                  </a:lnTo>
                  <a:lnTo>
                    <a:pt x="32171" y="180106"/>
                  </a:lnTo>
                  <a:lnTo>
                    <a:pt x="13739" y="225807"/>
                  </a:lnTo>
                  <a:lnTo>
                    <a:pt x="3519" y="270569"/>
                  </a:lnTo>
                  <a:lnTo>
                    <a:pt x="0" y="317459"/>
                  </a:lnTo>
                  <a:lnTo>
                    <a:pt x="3496" y="364349"/>
                  </a:lnTo>
                  <a:lnTo>
                    <a:pt x="13655" y="409110"/>
                  </a:lnTo>
                  <a:lnTo>
                    <a:pt x="30052" y="451367"/>
                  </a:lnTo>
                  <a:lnTo>
                    <a:pt x="51996" y="490276"/>
                  </a:lnTo>
                  <a:lnTo>
                    <a:pt x="79192" y="525697"/>
                  </a:lnTo>
                  <a:lnTo>
                    <a:pt x="111081" y="557018"/>
                  </a:lnTo>
                  <a:lnTo>
                    <a:pt x="147171" y="583749"/>
                  </a:lnTo>
                  <a:lnTo>
                    <a:pt x="186970" y="605397"/>
                  </a:lnTo>
                  <a:lnTo>
                    <a:pt x="229984" y="621470"/>
                  </a:lnTo>
                  <a:lnTo>
                    <a:pt x="275721" y="631474"/>
                  </a:lnTo>
                  <a:lnTo>
                    <a:pt x="323688" y="634918"/>
                  </a:lnTo>
                  <a:lnTo>
                    <a:pt x="333095" y="633992"/>
                  </a:lnTo>
                  <a:lnTo>
                    <a:pt x="336575" y="630579"/>
                  </a:lnTo>
                  <a:lnTo>
                    <a:pt x="334127" y="626018"/>
                  </a:lnTo>
                  <a:lnTo>
                    <a:pt x="325752" y="621651"/>
                  </a:lnTo>
                  <a:lnTo>
                    <a:pt x="283193" y="605397"/>
                  </a:lnTo>
                  <a:lnTo>
                    <a:pt x="243604" y="583581"/>
                  </a:lnTo>
                  <a:lnTo>
                    <a:pt x="207800" y="556808"/>
                  </a:lnTo>
                  <a:lnTo>
                    <a:pt x="176162" y="525523"/>
                  </a:lnTo>
                  <a:lnTo>
                    <a:pt x="149228" y="490276"/>
                  </a:lnTo>
                  <a:lnTo>
                    <a:pt x="127342" y="451367"/>
                  </a:lnTo>
                  <a:lnTo>
                    <a:pt x="111137" y="409471"/>
                  </a:lnTo>
                  <a:lnTo>
                    <a:pt x="101056" y="365012"/>
                  </a:lnTo>
                  <a:lnTo>
                    <a:pt x="97586" y="318477"/>
                  </a:lnTo>
                  <a:lnTo>
                    <a:pt x="101141" y="271213"/>
                  </a:lnTo>
                  <a:lnTo>
                    <a:pt x="111463" y="226146"/>
                  </a:lnTo>
                  <a:lnTo>
                    <a:pt x="128042" y="183763"/>
                  </a:lnTo>
                  <a:lnTo>
                    <a:pt x="150309" y="144641"/>
                  </a:lnTo>
                  <a:lnTo>
                    <a:pt x="177918" y="108981"/>
                  </a:lnTo>
                  <a:lnTo>
                    <a:pt x="210193" y="77552"/>
                  </a:lnTo>
                  <a:lnTo>
                    <a:pt x="246676" y="50744"/>
                  </a:lnTo>
                  <a:lnTo>
                    <a:pt x="286855" y="29042"/>
                  </a:lnTo>
                  <a:lnTo>
                    <a:pt x="330219" y="12929"/>
                  </a:lnTo>
                  <a:lnTo>
                    <a:pt x="337316" y="9330"/>
                  </a:lnTo>
                  <a:lnTo>
                    <a:pt x="338293" y="5061"/>
                  </a:lnTo>
                  <a:lnTo>
                    <a:pt x="333600" y="1493"/>
                  </a:lnTo>
                  <a:lnTo>
                    <a:pt x="323688" y="0"/>
                  </a:lnTo>
                  <a:close/>
                </a:path>
                <a:path w="590550" h="635000">
                  <a:moveTo>
                    <a:pt x="385886" y="47975"/>
                  </a:moveTo>
                  <a:lnTo>
                    <a:pt x="340037" y="52040"/>
                  </a:lnTo>
                  <a:lnTo>
                    <a:pt x="296891" y="63762"/>
                  </a:lnTo>
                  <a:lnTo>
                    <a:pt x="257167" y="82429"/>
                  </a:lnTo>
                  <a:lnTo>
                    <a:pt x="221585" y="107330"/>
                  </a:lnTo>
                  <a:lnTo>
                    <a:pt x="190861" y="137753"/>
                  </a:lnTo>
                  <a:lnTo>
                    <a:pt x="165708" y="173000"/>
                  </a:lnTo>
                  <a:lnTo>
                    <a:pt x="146863" y="212322"/>
                  </a:lnTo>
                  <a:lnTo>
                    <a:pt x="135025" y="255045"/>
                  </a:lnTo>
                  <a:lnTo>
                    <a:pt x="130920" y="300445"/>
                  </a:lnTo>
                  <a:lnTo>
                    <a:pt x="132106" y="324363"/>
                  </a:lnTo>
                  <a:lnTo>
                    <a:pt x="140921" y="370159"/>
                  </a:lnTo>
                  <a:lnTo>
                    <a:pt x="155530" y="401160"/>
                  </a:lnTo>
                  <a:lnTo>
                    <a:pt x="158296" y="398863"/>
                  </a:lnTo>
                  <a:lnTo>
                    <a:pt x="159097" y="391972"/>
                  </a:lnTo>
                  <a:lnTo>
                    <a:pt x="158591" y="385587"/>
                  </a:lnTo>
                  <a:lnTo>
                    <a:pt x="158149" y="379170"/>
                  </a:lnTo>
                  <a:lnTo>
                    <a:pt x="157838" y="372691"/>
                  </a:lnTo>
                  <a:lnTo>
                    <a:pt x="157879" y="364349"/>
                  </a:lnTo>
                  <a:lnTo>
                    <a:pt x="161825" y="320714"/>
                  </a:lnTo>
                  <a:lnTo>
                    <a:pt x="173663" y="277991"/>
                  </a:lnTo>
                  <a:lnTo>
                    <a:pt x="192515" y="238657"/>
                  </a:lnTo>
                  <a:lnTo>
                    <a:pt x="217662" y="203423"/>
                  </a:lnTo>
                  <a:lnTo>
                    <a:pt x="248386" y="173000"/>
                  </a:lnTo>
                  <a:lnTo>
                    <a:pt x="283969" y="148099"/>
                  </a:lnTo>
                  <a:lnTo>
                    <a:pt x="323692" y="129432"/>
                  </a:lnTo>
                  <a:lnTo>
                    <a:pt x="366837" y="117711"/>
                  </a:lnTo>
                  <a:lnTo>
                    <a:pt x="412686" y="113645"/>
                  </a:lnTo>
                  <a:lnTo>
                    <a:pt x="554749" y="113645"/>
                  </a:lnTo>
                  <a:lnTo>
                    <a:pt x="548545" y="106712"/>
                  </a:lnTo>
                  <a:lnTo>
                    <a:pt x="509372" y="78308"/>
                  </a:lnTo>
                  <a:lnTo>
                    <a:pt x="455556" y="56615"/>
                  </a:lnTo>
                  <a:lnTo>
                    <a:pt x="385886" y="47975"/>
                  </a:lnTo>
                  <a:close/>
                </a:path>
                <a:path w="590550" h="635000">
                  <a:moveTo>
                    <a:pt x="523261" y="189110"/>
                  </a:moveTo>
                  <a:lnTo>
                    <a:pt x="398699" y="189110"/>
                  </a:lnTo>
                  <a:lnTo>
                    <a:pt x="447374" y="195600"/>
                  </a:lnTo>
                  <a:lnTo>
                    <a:pt x="496528" y="208916"/>
                  </a:lnTo>
                  <a:lnTo>
                    <a:pt x="533301" y="224259"/>
                  </a:lnTo>
                  <a:lnTo>
                    <a:pt x="560828" y="239029"/>
                  </a:lnTo>
                  <a:lnTo>
                    <a:pt x="578626" y="249970"/>
                  </a:lnTo>
                  <a:lnTo>
                    <a:pt x="586212" y="253829"/>
                  </a:lnTo>
                  <a:lnTo>
                    <a:pt x="582078" y="243440"/>
                  </a:lnTo>
                  <a:lnTo>
                    <a:pt x="563705" y="220739"/>
                  </a:lnTo>
                  <a:lnTo>
                    <a:pt x="532189" y="193828"/>
                  </a:lnTo>
                  <a:lnTo>
                    <a:pt x="523261" y="189110"/>
                  </a:lnTo>
                  <a:close/>
                </a:path>
                <a:path w="590550" h="635000">
                  <a:moveTo>
                    <a:pt x="392417" y="156251"/>
                  </a:moveTo>
                  <a:lnTo>
                    <a:pt x="345674" y="163630"/>
                  </a:lnTo>
                  <a:lnTo>
                    <a:pt x="301686" y="180106"/>
                  </a:lnTo>
                  <a:lnTo>
                    <a:pt x="261838" y="205173"/>
                  </a:lnTo>
                  <a:lnTo>
                    <a:pt x="254965" y="210277"/>
                  </a:lnTo>
                  <a:lnTo>
                    <a:pt x="257026" y="214020"/>
                  </a:lnTo>
                  <a:lnTo>
                    <a:pt x="265272" y="210277"/>
                  </a:lnTo>
                  <a:lnTo>
                    <a:pt x="306675" y="196481"/>
                  </a:lnTo>
                  <a:lnTo>
                    <a:pt x="351475" y="189415"/>
                  </a:lnTo>
                  <a:lnTo>
                    <a:pt x="523261" y="189110"/>
                  </a:lnTo>
                  <a:lnTo>
                    <a:pt x="488623" y="170808"/>
                  </a:lnTo>
                  <a:lnTo>
                    <a:pt x="440528" y="158475"/>
                  </a:lnTo>
                  <a:lnTo>
                    <a:pt x="392417" y="156251"/>
                  </a:lnTo>
                  <a:close/>
                </a:path>
                <a:path w="590550" h="635000">
                  <a:moveTo>
                    <a:pt x="554749" y="113645"/>
                  </a:moveTo>
                  <a:lnTo>
                    <a:pt x="412686" y="113645"/>
                  </a:lnTo>
                  <a:lnTo>
                    <a:pt x="495966" y="122736"/>
                  </a:lnTo>
                  <a:lnTo>
                    <a:pt x="549833" y="142481"/>
                  </a:lnTo>
                  <a:lnTo>
                    <a:pt x="579540" y="161588"/>
                  </a:lnTo>
                  <a:lnTo>
                    <a:pt x="590337" y="168765"/>
                  </a:lnTo>
                  <a:lnTo>
                    <a:pt x="587862" y="158475"/>
                  </a:lnTo>
                  <a:lnTo>
                    <a:pt x="587816" y="158282"/>
                  </a:lnTo>
                  <a:lnTo>
                    <a:pt x="574289" y="135483"/>
                  </a:lnTo>
                  <a:lnTo>
                    <a:pt x="554749" y="113645"/>
                  </a:lnTo>
                  <a:close/>
                </a:path>
              </a:pathLst>
            </a:custGeom>
            <a:solidFill>
              <a:srgbClr val="0098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333</TotalTime>
  <Words>1846</Words>
  <Application>Microsoft Office PowerPoint</Application>
  <PresentationFormat>Custom</PresentationFormat>
  <Paragraphs>777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Theme1</vt:lpstr>
      <vt:lpstr>DAA Lecture # 2</vt:lpstr>
      <vt:lpstr>Matching med-school students to hospitals</vt:lpstr>
      <vt:lpstr>Stable matching problem: input</vt:lpstr>
      <vt:lpstr>Perfect matching</vt:lpstr>
      <vt:lpstr>Unstable pair</vt:lpstr>
      <vt:lpstr>Stable matching: quiz 1</vt:lpstr>
      <vt:lpstr>Stable matching problem</vt:lpstr>
      <vt:lpstr>Stable roommate problem</vt:lpstr>
      <vt:lpstr>1. Stable Matching</vt:lpstr>
      <vt:lpstr>Gale–Shapley deferred acceptance algorithm</vt:lpstr>
      <vt:lpstr>Proof of correctness: termination</vt:lpstr>
      <vt:lpstr>Proof of correctness: perfect matching</vt:lpstr>
      <vt:lpstr>Proof of correctness: stability</vt:lpstr>
      <vt:lpstr>Summary</vt:lpstr>
      <vt:lpstr>Stable matching: quiz 2</vt:lpstr>
      <vt:lpstr>1. Stable Matching</vt:lpstr>
      <vt:lpstr>Understanding the solution</vt:lpstr>
      <vt:lpstr>Understanding the solution</vt:lpstr>
      <vt:lpstr>Stable matching: quiz 3</vt:lpstr>
      <vt:lpstr>Understanding the solution</vt:lpstr>
      <vt:lpstr>Hospital optimality</vt:lpstr>
      <vt:lpstr>Student pessimality</vt:lpstr>
      <vt:lpstr>Stable matching: quiz 4</vt:lpstr>
      <vt:lpstr>1. Stable Matching</vt:lpstr>
      <vt:lpstr>Extensions</vt:lpstr>
      <vt:lpstr>Historical context</vt:lpstr>
      <vt:lpstr>2012 Nobel Prize in Economics</vt:lpstr>
      <vt:lpstr>New York City high school match</vt:lpstr>
      <vt:lpstr>Questbridge national college match</vt:lpstr>
      <vt:lpstr>A modern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Stable Matching</dc:title>
  <cp:lastModifiedBy>Admin</cp:lastModifiedBy>
  <cp:revision>5</cp:revision>
  <dcterms:created xsi:type="dcterms:W3CDTF">2025-01-28T07:26:18Z</dcterms:created>
  <dcterms:modified xsi:type="dcterms:W3CDTF">2026-01-13T08:45:30Z</dcterms:modified>
</cp:coreProperties>
</file>