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-76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DC05A-2434-4CF1-8988-4CF842EA1C20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937A-665A-49FB-9CEB-B1ACF0A57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11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dictionary.reference.com/browse/error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1DA31BCF-49B4-4B79-A36D-B4263FD92304}" type="slidenum">
              <a:rPr lang="en-US" altLang="zh-CN">
                <a:latin typeface="Arial" charset="0"/>
              </a:rPr>
              <a:pPr>
                <a:spcBef>
                  <a:spcPct val="0"/>
                </a:spcBef>
              </a:pPr>
              <a:t>15</a:t>
            </a:fld>
            <a:endParaRPr lang="en-US" altLang="zh-CN">
              <a:latin typeface="Arial" charset="0"/>
            </a:endParaRPr>
          </a:p>
        </p:txBody>
      </p:sp>
      <p:sp>
        <p:nvSpPr>
          <p:cNvPr id="37891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mtClean="0">
                <a:latin typeface="Arial" charset="0"/>
              </a:rPr>
              <a:t>Heuristic meaning : encouraging a person to learn, discover, understand, or solve problems on his or her own, as by experimenting, evaluating possible answers or solutions, or by trial and </a:t>
            </a:r>
            <a:r>
              <a:rPr lang="en-US" altLang="en-US" smtClean="0">
                <a:latin typeface="Arial" charset="0"/>
                <a:hlinkClick r:id="rId3" action="ppaction://hlinkfile"/>
              </a:rPr>
              <a:t>error</a:t>
            </a:r>
            <a:r>
              <a:rPr lang="en-US" altLang="en-US" smtClean="0">
                <a:latin typeface="Arial" charset="0"/>
              </a:rPr>
              <a:t>: a heuristic teaching method.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i&lt;n last condition checking n times</a:t>
            </a:r>
          </a:p>
          <a:p>
            <a:r>
              <a:rPr lang="en-US" altLang="en-US" smtClean="0"/>
              <a:t>i++ n-1 last time terminate at 2</a:t>
            </a:r>
            <a:r>
              <a:rPr lang="en-US" altLang="en-US" baseline="30000" smtClean="0"/>
              <a:t>nd</a:t>
            </a:r>
            <a:r>
              <a:rPr lang="en-US" altLang="en-US" smtClean="0"/>
              <a:t> part</a:t>
            </a:r>
          </a:p>
          <a:p>
            <a:endParaRPr lang="en-US" alt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B5797D8-A2D0-4612-B2BD-2EB928CF6F04}" type="slidenum">
              <a:rPr lang="en-US" altLang="en-US">
                <a:latin typeface="Arial" charset="0"/>
              </a:rPr>
              <a:pPr>
                <a:spcBef>
                  <a:spcPct val="0"/>
                </a:spcBef>
              </a:pPr>
              <a:t>39</a:t>
            </a:fld>
            <a:endParaRPr lang="en-US" alt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In a polynomial function, the variable x is raised to some integer power.</a:t>
            </a:r>
            <a:br>
              <a:rPr lang="en-US" altLang="en-US" smtClean="0"/>
            </a:br>
            <a:r>
              <a:rPr lang="en-US" altLang="en-US" smtClean="0"/>
              <a:t>f(x) = 5x³ + 8x⁵</a:t>
            </a:r>
            <a:br>
              <a:rPr lang="en-US" altLang="en-US" smtClean="0"/>
            </a:br>
            <a:r>
              <a:rPr lang="en-US" altLang="en-US" smtClean="0"/>
              <a:t>g(x) = (x + 5)²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In an exponential function, some real number is raised to the power of variable x or some function of x</a:t>
            </a:r>
            <a:br>
              <a:rPr lang="en-US" altLang="en-US" smtClean="0"/>
            </a:br>
            <a:r>
              <a:rPr lang="en-US" altLang="en-US" smtClean="0"/>
              <a:t>f(x) = 5ˣ</a:t>
            </a:r>
            <a:br>
              <a:rPr lang="en-US" altLang="en-US" smtClean="0"/>
            </a:br>
            <a:r>
              <a:rPr lang="en-US" altLang="en-US" smtClean="0"/>
              <a:t>g(x) = eˣ⁺²</a:t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32006244-1C66-4F41-BB33-56522D677F37}" type="slidenum">
              <a:rPr lang="en-US" altLang="en-US">
                <a:latin typeface="Arial" charset="0"/>
              </a:rPr>
              <a:pPr>
                <a:spcBef>
                  <a:spcPct val="0"/>
                </a:spcBef>
              </a:pPr>
              <a:t>47</a:t>
            </a:fld>
            <a:endParaRPr lang="en-US" altLang="en-US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3"/>
          <p:cNvSpPr>
            <a:spLocks/>
          </p:cNvSpPr>
          <p:nvPr/>
        </p:nvSpPr>
        <p:spPr bwMode="auto">
          <a:xfrm>
            <a:off x="-31750" y="4321175"/>
            <a:ext cx="1395413" cy="781050"/>
          </a:xfrm>
          <a:custGeom>
            <a:avLst/>
            <a:gdLst>
              <a:gd name="T0" fmla="*/ 2147483646 w 8042"/>
              <a:gd name="T1" fmla="*/ 2147483646 h 10000"/>
              <a:gd name="T2" fmla="*/ 2147483646 w 8042"/>
              <a:gd name="T3" fmla="*/ 2147483646 h 10000"/>
              <a:gd name="T4" fmla="*/ 2147483646 w 8042"/>
              <a:gd name="T5" fmla="*/ 2147483646 h 10000"/>
              <a:gd name="T6" fmla="*/ 2147483646 w 8042"/>
              <a:gd name="T7" fmla="*/ 2147483646 h 10000"/>
              <a:gd name="T8" fmla="*/ 2147483646 w 8042"/>
              <a:gd name="T9" fmla="*/ 2147483646 h 10000"/>
              <a:gd name="T10" fmla="*/ 2147483646 w 8042"/>
              <a:gd name="T11" fmla="*/ 105298818 h 10000"/>
              <a:gd name="T12" fmla="*/ 2147483646 w 8042"/>
              <a:gd name="T13" fmla="*/ 76236572 h 10000"/>
              <a:gd name="T14" fmla="*/ 2147483646 w 8042"/>
              <a:gd name="T15" fmla="*/ 19533436 h 10000"/>
              <a:gd name="T16" fmla="*/ 94026232 w 8042"/>
              <a:gd name="T17" fmla="*/ 0 h 10000"/>
              <a:gd name="T18" fmla="*/ 0 w 8042"/>
              <a:gd name="T19" fmla="*/ 2147483646 h 10000"/>
              <a:gd name="T20" fmla="*/ 2147483646 w 8042"/>
              <a:gd name="T21" fmla="*/ 2147483646 h 100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863" y="4529138"/>
            <a:ext cx="584200" cy="365125"/>
          </a:xfrm>
        </p:spPr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4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0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04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8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2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06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2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1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8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 smtClean="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7" name="TextBox 62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 smtClean="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98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03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 smtClean="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7" name="TextBox 62"/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 smtClean="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6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26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/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6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39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708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/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615366511 h 10000"/>
              <a:gd name="T2" fmla="*/ 2147483646 w 7908"/>
              <a:gd name="T3" fmla="*/ 24645112 h 10000"/>
              <a:gd name="T4" fmla="*/ 2147483646 w 7908"/>
              <a:gd name="T5" fmla="*/ 1232255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8129016 h 10000"/>
              <a:gd name="T12" fmla="*/ 0 w 7908"/>
              <a:gd name="T13" fmla="*/ 1310965120 h 10000"/>
              <a:gd name="T14" fmla="*/ 2147483646 w 7908"/>
              <a:gd name="T15" fmla="*/ 1304673540 h 10000"/>
              <a:gd name="T16" fmla="*/ 2147483646 w 7908"/>
              <a:gd name="T17" fmla="*/ 1304673540 h 10000"/>
              <a:gd name="T18" fmla="*/ 2147483646 w 7908"/>
              <a:gd name="T19" fmla="*/ 1292480016 h 10000"/>
              <a:gd name="T20" fmla="*/ 2147483646 w 7908"/>
              <a:gd name="T21" fmla="*/ 1280025837 h 10000"/>
              <a:gd name="T22" fmla="*/ 2147483646 w 7908"/>
              <a:gd name="T23" fmla="*/ 689304438 h 10000"/>
              <a:gd name="T24" fmla="*/ 2147483646 w 7908"/>
              <a:gd name="T25" fmla="*/ 615366511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4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44D45D-2199-4D13-A363-660DF1A5ABAB}" type="datetime2">
              <a:rPr lang="en-US" altLang="zh-TW"/>
              <a:pPr>
                <a:defRPr/>
              </a:pPr>
              <a:t>Thursday, January 9, 2025</a:t>
            </a:fld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Analysis of Algorithm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ea typeface="PMingLiU" pitchFamily="18" charset="-120"/>
              </a:defRPr>
            </a:lvl1pPr>
          </a:lstStyle>
          <a:p>
            <a:fld id="{6DC69492-C2CE-40EC-A75B-3400451D762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54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5"/>
          <p:cNvGrpSpPr>
            <a:grpSpLocks/>
          </p:cNvGrpSpPr>
          <p:nvPr/>
        </p:nvGrpSpPr>
        <p:grpSpPr bwMode="auto"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6" name="Freeform 11"/>
            <p:cNvSpPr>
              <a:spLocks/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>
                <a:gd name="T0" fmla="*/ 2147483646 w 22"/>
                <a:gd name="T1" fmla="*/ 2147483646 h 136"/>
                <a:gd name="T2" fmla="*/ 2147483646 w 22"/>
                <a:gd name="T3" fmla="*/ 2147483646 h 136"/>
                <a:gd name="T4" fmla="*/ 0 w 22"/>
                <a:gd name="T5" fmla="*/ 0 h 136"/>
                <a:gd name="T6" fmla="*/ 0 w 22"/>
                <a:gd name="T7" fmla="*/ 2147483646 h 136"/>
                <a:gd name="T8" fmla="*/ 2147483646 w 22"/>
                <a:gd name="T9" fmla="*/ 2147483646 h 136"/>
                <a:gd name="T10" fmla="*/ 2147483646 w 22"/>
                <a:gd name="T11" fmla="*/ 2147483646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12"/>
            <p:cNvSpPr>
              <a:spLocks/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>
                <a:gd name="T0" fmla="*/ 2147483646 w 140"/>
                <a:gd name="T1" fmla="*/ 2147483646 h 504"/>
                <a:gd name="T2" fmla="*/ 2147483646 w 140"/>
                <a:gd name="T3" fmla="*/ 2147483646 h 504"/>
                <a:gd name="T4" fmla="*/ 2147483646 w 140"/>
                <a:gd name="T5" fmla="*/ 2147483646 h 504"/>
                <a:gd name="T6" fmla="*/ 2147483646 w 140"/>
                <a:gd name="T7" fmla="*/ 2147483646 h 504"/>
                <a:gd name="T8" fmla="*/ 0 w 140"/>
                <a:gd name="T9" fmla="*/ 0 h 504"/>
                <a:gd name="T10" fmla="*/ 2147483646 w 140"/>
                <a:gd name="T11" fmla="*/ 2147483646 h 504"/>
                <a:gd name="T12" fmla="*/ 2147483646 w 140"/>
                <a:gd name="T13" fmla="*/ 2147483646 h 5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13"/>
            <p:cNvSpPr>
              <a:spLocks/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>
                <a:gd name="T0" fmla="*/ 2147483646 w 132"/>
                <a:gd name="T1" fmla="*/ 2147483646 h 308"/>
                <a:gd name="T2" fmla="*/ 0 w 132"/>
                <a:gd name="T3" fmla="*/ 0 h 308"/>
                <a:gd name="T4" fmla="*/ 0 w 132"/>
                <a:gd name="T5" fmla="*/ 2147483646 h 308"/>
                <a:gd name="T6" fmla="*/ 2147483646 w 132"/>
                <a:gd name="T7" fmla="*/ 2147483646 h 308"/>
                <a:gd name="T8" fmla="*/ 2147483646 w 132"/>
                <a:gd name="T9" fmla="*/ 2147483646 h 308"/>
                <a:gd name="T10" fmla="*/ 2147483646 w 132"/>
                <a:gd name="T11" fmla="*/ 2147483646 h 308"/>
                <a:gd name="T12" fmla="*/ 2147483646 w 132"/>
                <a:gd name="T13" fmla="*/ 2147483646 h 308"/>
                <a:gd name="T14" fmla="*/ 2147483646 w 132"/>
                <a:gd name="T15" fmla="*/ 2147483646 h 3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14"/>
            <p:cNvSpPr>
              <a:spLocks/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>
                <a:gd name="T0" fmla="*/ 2147483646 w 37"/>
                <a:gd name="T1" fmla="*/ 2147483646 h 79"/>
                <a:gd name="T2" fmla="*/ 2147483646 w 37"/>
                <a:gd name="T3" fmla="*/ 2147483646 h 79"/>
                <a:gd name="T4" fmla="*/ 0 w 37"/>
                <a:gd name="T5" fmla="*/ 0 h 79"/>
                <a:gd name="T6" fmla="*/ 2147483646 w 37"/>
                <a:gd name="T7" fmla="*/ 2147483646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15"/>
            <p:cNvSpPr>
              <a:spLocks/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>
                <a:gd name="T0" fmla="*/ 2147483646 w 178"/>
                <a:gd name="T1" fmla="*/ 2147483646 h 722"/>
                <a:gd name="T2" fmla="*/ 2147483646 w 178"/>
                <a:gd name="T3" fmla="*/ 2147483646 h 722"/>
                <a:gd name="T4" fmla="*/ 2147483646 w 178"/>
                <a:gd name="T5" fmla="*/ 2147483646 h 722"/>
                <a:gd name="T6" fmla="*/ 2147483646 w 178"/>
                <a:gd name="T7" fmla="*/ 2147483646 h 722"/>
                <a:gd name="T8" fmla="*/ 0 w 178"/>
                <a:gd name="T9" fmla="*/ 0 h 722"/>
                <a:gd name="T10" fmla="*/ 2147483646 w 178"/>
                <a:gd name="T11" fmla="*/ 2147483646 h 722"/>
                <a:gd name="T12" fmla="*/ 2147483646 w 178"/>
                <a:gd name="T13" fmla="*/ 2147483646 h 722"/>
                <a:gd name="T14" fmla="*/ 2147483646 w 178"/>
                <a:gd name="T15" fmla="*/ 2147483646 h 722"/>
                <a:gd name="T16" fmla="*/ 2147483646 w 178"/>
                <a:gd name="T17" fmla="*/ 2147483646 h 722"/>
                <a:gd name="T18" fmla="*/ 2147483646 w 178"/>
                <a:gd name="T19" fmla="*/ 2147483646 h 722"/>
                <a:gd name="T20" fmla="*/ 2147483646 w 178"/>
                <a:gd name="T21" fmla="*/ 2147483646 h 7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16"/>
            <p:cNvSpPr>
              <a:spLocks/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>
                <a:gd name="T0" fmla="*/ 2147483646 w 23"/>
                <a:gd name="T1" fmla="*/ 2147483646 h 635"/>
                <a:gd name="T2" fmla="*/ 2147483646 w 23"/>
                <a:gd name="T3" fmla="*/ 2147483646 h 635"/>
                <a:gd name="T4" fmla="*/ 2147483646 w 23"/>
                <a:gd name="T5" fmla="*/ 2147483646 h 635"/>
                <a:gd name="T6" fmla="*/ 2147483646 w 23"/>
                <a:gd name="T7" fmla="*/ 2147483646 h 635"/>
                <a:gd name="T8" fmla="*/ 2147483646 w 23"/>
                <a:gd name="T9" fmla="*/ 2147483646 h 635"/>
                <a:gd name="T10" fmla="*/ 2147483646 w 23"/>
                <a:gd name="T11" fmla="*/ 2147483646 h 635"/>
                <a:gd name="T12" fmla="*/ 2147483646 w 23"/>
                <a:gd name="T13" fmla="*/ 0 h 635"/>
                <a:gd name="T14" fmla="*/ 2147483646 w 23"/>
                <a:gd name="T15" fmla="*/ 0 h 635"/>
                <a:gd name="T16" fmla="*/ 2147483646 w 23"/>
                <a:gd name="T17" fmla="*/ 2147483646 h 635"/>
                <a:gd name="T18" fmla="*/ 2147483646 w 23"/>
                <a:gd name="T19" fmla="*/ 2147483646 h 6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Freeform 17"/>
            <p:cNvSpPr>
              <a:spLocks/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>
                <a:gd name="T0" fmla="*/ 0 w 17"/>
                <a:gd name="T1" fmla="*/ 0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2147483646 w 17"/>
                <a:gd name="T9" fmla="*/ 2147483646 h 107"/>
                <a:gd name="T10" fmla="*/ 0 w 17"/>
                <a:gd name="T11" fmla="*/ 0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18"/>
            <p:cNvSpPr>
              <a:spLocks/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>
                <a:gd name="T0" fmla="*/ 0 w 41"/>
                <a:gd name="T1" fmla="*/ 0 h 222"/>
                <a:gd name="T2" fmla="*/ 2147483646 w 41"/>
                <a:gd name="T3" fmla="*/ 2147483646 h 222"/>
                <a:gd name="T4" fmla="*/ 2147483646 w 41"/>
                <a:gd name="T5" fmla="*/ 2147483646 h 222"/>
                <a:gd name="T6" fmla="*/ 2147483646 w 41"/>
                <a:gd name="T7" fmla="*/ 2147483646 h 222"/>
                <a:gd name="T8" fmla="*/ 2147483646 w 41"/>
                <a:gd name="T9" fmla="*/ 2147483646 h 222"/>
                <a:gd name="T10" fmla="*/ 2147483646 w 41"/>
                <a:gd name="T11" fmla="*/ 2147483646 h 222"/>
                <a:gd name="T12" fmla="*/ 2147483646 w 41"/>
                <a:gd name="T13" fmla="*/ 2147483646 h 222"/>
                <a:gd name="T14" fmla="*/ 2147483646 w 41"/>
                <a:gd name="T15" fmla="*/ 2147483646 h 222"/>
                <a:gd name="T16" fmla="*/ 2147483646 w 41"/>
                <a:gd name="T17" fmla="*/ 2147483646 h 222"/>
                <a:gd name="T18" fmla="*/ 0 w 41"/>
                <a:gd name="T19" fmla="*/ 0 h 2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19"/>
            <p:cNvSpPr>
              <a:spLocks/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>
                <a:gd name="T0" fmla="*/ 2147483646 w 450"/>
                <a:gd name="T1" fmla="*/ 2147483646 h 878"/>
                <a:gd name="T2" fmla="*/ 2147483646 w 450"/>
                <a:gd name="T3" fmla="*/ 2147483646 h 878"/>
                <a:gd name="T4" fmla="*/ 2147483646 w 450"/>
                <a:gd name="T5" fmla="*/ 2147483646 h 878"/>
                <a:gd name="T6" fmla="*/ 2147483646 w 450"/>
                <a:gd name="T7" fmla="*/ 2147483646 h 878"/>
                <a:gd name="T8" fmla="*/ 2147483646 w 450"/>
                <a:gd name="T9" fmla="*/ 2147483646 h 878"/>
                <a:gd name="T10" fmla="*/ 2147483646 w 450"/>
                <a:gd name="T11" fmla="*/ 2147483646 h 878"/>
                <a:gd name="T12" fmla="*/ 2147483646 w 450"/>
                <a:gd name="T13" fmla="*/ 2147483646 h 878"/>
                <a:gd name="T14" fmla="*/ 2147483646 w 450"/>
                <a:gd name="T15" fmla="*/ 0 h 878"/>
                <a:gd name="T16" fmla="*/ 2147483646 w 450"/>
                <a:gd name="T17" fmla="*/ 2147483646 h 878"/>
                <a:gd name="T18" fmla="*/ 2147483646 w 450"/>
                <a:gd name="T19" fmla="*/ 2147483646 h 878"/>
                <a:gd name="T20" fmla="*/ 2147483646 w 450"/>
                <a:gd name="T21" fmla="*/ 2147483646 h 878"/>
                <a:gd name="T22" fmla="*/ 2147483646 w 450"/>
                <a:gd name="T23" fmla="*/ 2147483646 h 878"/>
                <a:gd name="T24" fmla="*/ 2147483646 w 450"/>
                <a:gd name="T25" fmla="*/ 2147483646 h 878"/>
                <a:gd name="T26" fmla="*/ 0 w 450"/>
                <a:gd name="T27" fmla="*/ 2147483646 h 878"/>
                <a:gd name="T28" fmla="*/ 0 w 450"/>
                <a:gd name="T29" fmla="*/ 2147483646 h 878"/>
                <a:gd name="T30" fmla="*/ 2147483646 w 450"/>
                <a:gd name="T31" fmla="*/ 2147483646 h 878"/>
                <a:gd name="T32" fmla="*/ 2147483646 w 450"/>
                <a:gd name="T33" fmla="*/ 2147483646 h 87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20"/>
            <p:cNvSpPr>
              <a:spLocks/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>
                <a:gd name="T0" fmla="*/ 0 w 35"/>
                <a:gd name="T1" fmla="*/ 0 h 73"/>
                <a:gd name="T2" fmla="*/ 2147483646 w 35"/>
                <a:gd name="T3" fmla="*/ 2147483646 h 73"/>
                <a:gd name="T4" fmla="*/ 2147483646 w 35"/>
                <a:gd name="T5" fmla="*/ 2147483646 h 73"/>
                <a:gd name="T6" fmla="*/ 0 w 35"/>
                <a:gd name="T7" fmla="*/ 0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21"/>
            <p:cNvSpPr>
              <a:spLocks/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>
                <a:gd name="T0" fmla="*/ 2147483646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0 h 48"/>
                <a:gd name="T8" fmla="*/ 0 w 8"/>
                <a:gd name="T9" fmla="*/ 2147483646 h 48"/>
                <a:gd name="T10" fmla="*/ 2147483646 w 8"/>
                <a:gd name="T11" fmla="*/ 2147483646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22"/>
            <p:cNvSpPr>
              <a:spLocks/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>
                <a:gd name="T0" fmla="*/ 2147483646 w 52"/>
                <a:gd name="T1" fmla="*/ 2147483646 h 135"/>
                <a:gd name="T2" fmla="*/ 0 w 52"/>
                <a:gd name="T3" fmla="*/ 0 h 135"/>
                <a:gd name="T4" fmla="*/ 2147483646 w 52"/>
                <a:gd name="T5" fmla="*/ 2147483646 h 135"/>
                <a:gd name="T6" fmla="*/ 2147483646 w 52"/>
                <a:gd name="T7" fmla="*/ 2147483646 h 135"/>
                <a:gd name="T8" fmla="*/ 2147483646 w 52"/>
                <a:gd name="T9" fmla="*/ 2147483646 h 135"/>
                <a:gd name="T10" fmla="*/ 2147483646 w 52"/>
                <a:gd name="T11" fmla="*/ 2147483646 h 135"/>
                <a:gd name="T12" fmla="*/ 2147483646 w 52"/>
                <a:gd name="T13" fmla="*/ 2147483646 h 135"/>
                <a:gd name="T14" fmla="*/ 2147483646 w 52"/>
                <a:gd name="T15" fmla="*/ 2147483646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7" name="Group 48"/>
          <p:cNvGrpSpPr>
            <a:grpSpLocks/>
          </p:cNvGrpSpPr>
          <p:nvPr/>
        </p:nvGrpSpPr>
        <p:grpSpPr bwMode="auto">
          <a:xfrm>
            <a:off x="20638" y="0"/>
            <a:ext cx="1952625" cy="6853238"/>
            <a:chOff x="6627813" y="195717"/>
            <a:chExt cx="1952625" cy="5678034"/>
          </a:xfrm>
        </p:grpSpPr>
        <p:sp>
          <p:nvSpPr>
            <p:cNvPr id="1034" name="Freeform 27"/>
            <p:cNvSpPr>
              <a:spLocks/>
            </p:cNvSpPr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>
                <a:gd name="T0" fmla="*/ 2147483646 w 103"/>
                <a:gd name="T1" fmla="*/ 2147483646 h 920"/>
                <a:gd name="T2" fmla="*/ 2147483646 w 103"/>
                <a:gd name="T3" fmla="*/ 2147483646 h 920"/>
                <a:gd name="T4" fmla="*/ 2147483646 w 103"/>
                <a:gd name="T5" fmla="*/ 2147483646 h 920"/>
                <a:gd name="T6" fmla="*/ 2147483646 w 103"/>
                <a:gd name="T7" fmla="*/ 2147483646 h 920"/>
                <a:gd name="T8" fmla="*/ 2147483646 w 103"/>
                <a:gd name="T9" fmla="*/ 2147483646 h 920"/>
                <a:gd name="T10" fmla="*/ 2147483646 w 103"/>
                <a:gd name="T11" fmla="*/ 2147483646 h 920"/>
                <a:gd name="T12" fmla="*/ 2147483646 w 103"/>
                <a:gd name="T13" fmla="*/ 2147483646 h 920"/>
                <a:gd name="T14" fmla="*/ 2147483646 w 103"/>
                <a:gd name="T15" fmla="*/ 2147483646 h 920"/>
                <a:gd name="T16" fmla="*/ 2147483646 w 103"/>
                <a:gd name="T17" fmla="*/ 2147483646 h 920"/>
                <a:gd name="T18" fmla="*/ 2147483646 w 103"/>
                <a:gd name="T19" fmla="*/ 2147483646 h 920"/>
                <a:gd name="T20" fmla="*/ 2147483646 w 103"/>
                <a:gd name="T21" fmla="*/ 2147483646 h 920"/>
                <a:gd name="T22" fmla="*/ 2147483646 w 103"/>
                <a:gd name="T23" fmla="*/ 0 h 920"/>
                <a:gd name="T24" fmla="*/ 0 w 103"/>
                <a:gd name="T25" fmla="*/ 0 h 920"/>
                <a:gd name="T26" fmla="*/ 2147483646 w 103"/>
                <a:gd name="T27" fmla="*/ 2147483646 h 920"/>
                <a:gd name="T28" fmla="*/ 2147483646 w 103"/>
                <a:gd name="T29" fmla="*/ 2147483646 h 9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Freeform 28"/>
            <p:cNvSpPr>
              <a:spLocks/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>
                <a:gd name="T0" fmla="*/ 2147483646 w 88"/>
                <a:gd name="T1" fmla="*/ 2147483646 h 330"/>
                <a:gd name="T2" fmla="*/ 2147483646 w 88"/>
                <a:gd name="T3" fmla="*/ 2147483646 h 330"/>
                <a:gd name="T4" fmla="*/ 2147483646 w 88"/>
                <a:gd name="T5" fmla="*/ 2147483646 h 330"/>
                <a:gd name="T6" fmla="*/ 2147483646 w 88"/>
                <a:gd name="T7" fmla="*/ 2147483646 h 330"/>
                <a:gd name="T8" fmla="*/ 2147483646 w 88"/>
                <a:gd name="T9" fmla="*/ 2147483646 h 330"/>
                <a:gd name="T10" fmla="*/ 0 w 88"/>
                <a:gd name="T11" fmla="*/ 0 h 330"/>
                <a:gd name="T12" fmla="*/ 2147483646 w 88"/>
                <a:gd name="T13" fmla="*/ 2147483646 h 330"/>
                <a:gd name="T14" fmla="*/ 2147483646 w 88"/>
                <a:gd name="T15" fmla="*/ 2147483646 h 3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" name="Freeform 29"/>
            <p:cNvSpPr>
              <a:spLocks/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>
                <a:gd name="T0" fmla="*/ 2147483646 w 90"/>
                <a:gd name="T1" fmla="*/ 2147483646 h 207"/>
                <a:gd name="T2" fmla="*/ 0 w 90"/>
                <a:gd name="T3" fmla="*/ 0 h 207"/>
                <a:gd name="T4" fmla="*/ 2147483646 w 90"/>
                <a:gd name="T5" fmla="*/ 2147483646 h 207"/>
                <a:gd name="T6" fmla="*/ 2147483646 w 90"/>
                <a:gd name="T7" fmla="*/ 2147483646 h 207"/>
                <a:gd name="T8" fmla="*/ 2147483646 w 90"/>
                <a:gd name="T9" fmla="*/ 2147483646 h 207"/>
                <a:gd name="T10" fmla="*/ 2147483646 w 90"/>
                <a:gd name="T11" fmla="*/ 2147483646 h 207"/>
                <a:gd name="T12" fmla="*/ 2147483646 w 90"/>
                <a:gd name="T13" fmla="*/ 2147483646 h 207"/>
                <a:gd name="T14" fmla="*/ 2147483646 w 90"/>
                <a:gd name="T15" fmla="*/ 2147483646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30"/>
            <p:cNvSpPr>
              <a:spLocks/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>
                <a:gd name="T0" fmla="*/ 2147483646 w 115"/>
                <a:gd name="T1" fmla="*/ 2147483646 h 467"/>
                <a:gd name="T2" fmla="*/ 2147483646 w 115"/>
                <a:gd name="T3" fmla="*/ 2147483646 h 467"/>
                <a:gd name="T4" fmla="*/ 2147483646 w 115"/>
                <a:gd name="T5" fmla="*/ 2147483646 h 467"/>
                <a:gd name="T6" fmla="*/ 2147483646 w 115"/>
                <a:gd name="T7" fmla="*/ 2147483646 h 467"/>
                <a:gd name="T8" fmla="*/ 0 w 115"/>
                <a:gd name="T9" fmla="*/ 0 h 467"/>
                <a:gd name="T10" fmla="*/ 2147483646 w 115"/>
                <a:gd name="T11" fmla="*/ 2147483646 h 467"/>
                <a:gd name="T12" fmla="*/ 2147483646 w 115"/>
                <a:gd name="T13" fmla="*/ 2147483646 h 467"/>
                <a:gd name="T14" fmla="*/ 2147483646 w 115"/>
                <a:gd name="T15" fmla="*/ 2147483646 h 467"/>
                <a:gd name="T16" fmla="*/ 2147483646 w 115"/>
                <a:gd name="T17" fmla="*/ 2147483646 h 467"/>
                <a:gd name="T18" fmla="*/ 2147483646 w 115"/>
                <a:gd name="T19" fmla="*/ 2147483646 h 467"/>
                <a:gd name="T20" fmla="*/ 2147483646 w 115"/>
                <a:gd name="T21" fmla="*/ 2147483646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31"/>
            <p:cNvSpPr>
              <a:spLocks/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>
                <a:gd name="T0" fmla="*/ 2147483646 w 36"/>
                <a:gd name="T1" fmla="*/ 2147483646 h 633"/>
                <a:gd name="T2" fmla="*/ 2147483646 w 36"/>
                <a:gd name="T3" fmla="*/ 2147483646 h 633"/>
                <a:gd name="T4" fmla="*/ 2147483646 w 36"/>
                <a:gd name="T5" fmla="*/ 2147483646 h 633"/>
                <a:gd name="T6" fmla="*/ 2147483646 w 36"/>
                <a:gd name="T7" fmla="*/ 2147483646 h 633"/>
                <a:gd name="T8" fmla="*/ 2147483646 w 36"/>
                <a:gd name="T9" fmla="*/ 2147483646 h 633"/>
                <a:gd name="T10" fmla="*/ 2147483646 w 36"/>
                <a:gd name="T11" fmla="*/ 0 h 633"/>
                <a:gd name="T12" fmla="*/ 2147483646 w 36"/>
                <a:gd name="T13" fmla="*/ 0 h 633"/>
                <a:gd name="T14" fmla="*/ 2147483646 w 36"/>
                <a:gd name="T15" fmla="*/ 2147483646 h 633"/>
                <a:gd name="T16" fmla="*/ 2147483646 w 36"/>
                <a:gd name="T17" fmla="*/ 2147483646 h 633"/>
                <a:gd name="T18" fmla="*/ 2147483646 w 36"/>
                <a:gd name="T19" fmla="*/ 2147483646 h 633"/>
                <a:gd name="T20" fmla="*/ 2147483646 w 36"/>
                <a:gd name="T21" fmla="*/ 2147483646 h 633"/>
                <a:gd name="T22" fmla="*/ 2147483646 w 36"/>
                <a:gd name="T23" fmla="*/ 2147483646 h 633"/>
                <a:gd name="T24" fmla="*/ 2147483646 w 36"/>
                <a:gd name="T25" fmla="*/ 2147483646 h 63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32"/>
            <p:cNvSpPr>
              <a:spLocks/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>
                <a:gd name="T0" fmla="*/ 2147483646 w 28"/>
                <a:gd name="T1" fmla="*/ 2147483646 h 59"/>
                <a:gd name="T2" fmla="*/ 2147483646 w 28"/>
                <a:gd name="T3" fmla="*/ 2147483646 h 59"/>
                <a:gd name="T4" fmla="*/ 0 w 28"/>
                <a:gd name="T5" fmla="*/ 0 h 59"/>
                <a:gd name="T6" fmla="*/ 2147483646 w 28"/>
                <a:gd name="T7" fmla="*/ 2147483646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33"/>
            <p:cNvSpPr>
              <a:spLocks/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>
                <a:gd name="T0" fmla="*/ 2147483646 w 17"/>
                <a:gd name="T1" fmla="*/ 2147483646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0 w 17"/>
                <a:gd name="T9" fmla="*/ 0 h 107"/>
                <a:gd name="T10" fmla="*/ 0 w 17"/>
                <a:gd name="T11" fmla="*/ 2147483646 h 107"/>
                <a:gd name="T12" fmla="*/ 2147483646 w 17"/>
                <a:gd name="T13" fmla="*/ 2147483646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34"/>
            <p:cNvSpPr>
              <a:spLocks/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>
                <a:gd name="T0" fmla="*/ 2147483646 w 294"/>
                <a:gd name="T1" fmla="*/ 2147483646 h 568"/>
                <a:gd name="T2" fmla="*/ 2147483646 w 294"/>
                <a:gd name="T3" fmla="*/ 2147483646 h 568"/>
                <a:gd name="T4" fmla="*/ 2147483646 w 294"/>
                <a:gd name="T5" fmla="*/ 2147483646 h 568"/>
                <a:gd name="T6" fmla="*/ 2147483646 w 294"/>
                <a:gd name="T7" fmla="*/ 2147483646 h 568"/>
                <a:gd name="T8" fmla="*/ 2147483646 w 294"/>
                <a:gd name="T9" fmla="*/ 2147483646 h 568"/>
                <a:gd name="T10" fmla="*/ 2147483646 w 294"/>
                <a:gd name="T11" fmla="*/ 2147483646 h 568"/>
                <a:gd name="T12" fmla="*/ 2147483646 w 294"/>
                <a:gd name="T13" fmla="*/ 0 h 568"/>
                <a:gd name="T14" fmla="*/ 2147483646 w 294"/>
                <a:gd name="T15" fmla="*/ 0 h 568"/>
                <a:gd name="T16" fmla="*/ 2147483646 w 294"/>
                <a:gd name="T17" fmla="*/ 2147483646 h 568"/>
                <a:gd name="T18" fmla="*/ 2147483646 w 294"/>
                <a:gd name="T19" fmla="*/ 2147483646 h 568"/>
                <a:gd name="T20" fmla="*/ 2147483646 w 294"/>
                <a:gd name="T21" fmla="*/ 2147483646 h 568"/>
                <a:gd name="T22" fmla="*/ 2147483646 w 294"/>
                <a:gd name="T23" fmla="*/ 2147483646 h 568"/>
                <a:gd name="T24" fmla="*/ 2147483646 w 294"/>
                <a:gd name="T25" fmla="*/ 2147483646 h 568"/>
                <a:gd name="T26" fmla="*/ 0 w 294"/>
                <a:gd name="T27" fmla="*/ 2147483646 h 568"/>
                <a:gd name="T28" fmla="*/ 2147483646 w 294"/>
                <a:gd name="T29" fmla="*/ 2147483646 h 568"/>
                <a:gd name="T30" fmla="*/ 2147483646 w 294"/>
                <a:gd name="T31" fmla="*/ 2147483646 h 5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35"/>
            <p:cNvSpPr>
              <a:spLocks/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>
                <a:gd name="T0" fmla="*/ 0 w 25"/>
                <a:gd name="T1" fmla="*/ 0 h 53"/>
                <a:gd name="T2" fmla="*/ 2147483646 w 25"/>
                <a:gd name="T3" fmla="*/ 2147483646 h 53"/>
                <a:gd name="T4" fmla="*/ 2147483646 w 25"/>
                <a:gd name="T5" fmla="*/ 2147483646 h 53"/>
                <a:gd name="T6" fmla="*/ 0 w 25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36"/>
            <p:cNvSpPr>
              <a:spLocks/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>
                <a:gd name="T0" fmla="*/ 0 w 29"/>
                <a:gd name="T1" fmla="*/ 0 h 141"/>
                <a:gd name="T2" fmla="*/ 2147483646 w 29"/>
                <a:gd name="T3" fmla="*/ 2147483646 h 141"/>
                <a:gd name="T4" fmla="*/ 2147483646 w 29"/>
                <a:gd name="T5" fmla="*/ 2147483646 h 141"/>
                <a:gd name="T6" fmla="*/ 2147483646 w 29"/>
                <a:gd name="T7" fmla="*/ 2147483646 h 141"/>
                <a:gd name="T8" fmla="*/ 2147483646 w 29"/>
                <a:gd name="T9" fmla="*/ 2147483646 h 141"/>
                <a:gd name="T10" fmla="*/ 2147483646 w 29"/>
                <a:gd name="T11" fmla="*/ 2147483646 h 141"/>
                <a:gd name="T12" fmla="*/ 2147483646 w 29"/>
                <a:gd name="T13" fmla="*/ 2147483646 h 141"/>
                <a:gd name="T14" fmla="*/ 0 w 29"/>
                <a:gd name="T15" fmla="*/ 0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37"/>
            <p:cNvSpPr>
              <a:spLocks/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>
                <a:gd name="T0" fmla="*/ 0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2147483646 h 48"/>
                <a:gd name="T8" fmla="*/ 0 w 8"/>
                <a:gd name="T9" fmla="*/ 0 h 48"/>
                <a:gd name="T10" fmla="*/ 0 w 8"/>
                <a:gd name="T11" fmla="*/ 2147483646 h 48"/>
                <a:gd name="T12" fmla="*/ 0 w 8"/>
                <a:gd name="T13" fmla="*/ 214748364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38"/>
            <p:cNvSpPr>
              <a:spLocks/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>
                <a:gd name="T0" fmla="*/ 2147483646 w 44"/>
                <a:gd name="T1" fmla="*/ 2147483646 h 111"/>
                <a:gd name="T2" fmla="*/ 0 w 44"/>
                <a:gd name="T3" fmla="*/ 0 h 111"/>
                <a:gd name="T4" fmla="*/ 2147483646 w 44"/>
                <a:gd name="T5" fmla="*/ 2147483646 h 111"/>
                <a:gd name="T6" fmla="*/ 2147483646 w 44"/>
                <a:gd name="T7" fmla="*/ 2147483646 h 111"/>
                <a:gd name="T8" fmla="*/ 2147483646 w 44"/>
                <a:gd name="T9" fmla="*/ 2147483646 h 111"/>
                <a:gd name="T10" fmla="*/ 2147483646 w 44"/>
                <a:gd name="T11" fmla="*/ 2147483646 h 111"/>
                <a:gd name="T12" fmla="*/ 2147483646 w 44"/>
                <a:gd name="T13" fmla="*/ 2147483646 h 111"/>
                <a:gd name="T14" fmla="*/ 2147483646 w 44"/>
                <a:gd name="T15" fmla="*/ 2147483646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 bwMode="auto">
          <a:xfrm>
            <a:off x="1944688" y="623888"/>
            <a:ext cx="658971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900">
                <a:solidFill>
                  <a:schemeClr val="tx1">
                    <a:tint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fld id="{21FA5E14-8B4C-43B5-9FAF-25209B518AA1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2000">
                <a:solidFill>
                  <a:srgbClr val="FEFFFF"/>
                </a:solidFill>
              </a:defRPr>
            </a:lvl1pPr>
          </a:lstStyle>
          <a:p>
            <a:fld id="{D5CD430E-E2CC-42DF-8190-5D2235442D3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fontAlgn="base" hangingPunct="1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ts val="1000"/>
        </a:spcBef>
        <a:spcAft>
          <a:spcPct val="0"/>
        </a:spcAft>
        <a:buClr>
          <a:schemeClr val="accent1"/>
        </a:buClr>
        <a:buFont typeface="Wingdings 3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3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4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6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7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9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2514601"/>
            <a:ext cx="7344817" cy="2262781"/>
          </a:xfrm>
        </p:spPr>
        <p:txBody>
          <a:bodyPr/>
          <a:lstStyle/>
          <a:p>
            <a:r>
              <a:rPr lang="en-US" dirty="0" smtClean="0"/>
              <a:t>DAA Lecture #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1" y="4777380"/>
            <a:ext cx="4824536" cy="1126283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Engr. </a:t>
            </a:r>
            <a:r>
              <a:rPr lang="en-US" dirty="0" err="1" smtClean="0"/>
              <a:t>Naveera</a:t>
            </a:r>
            <a:r>
              <a:rPr lang="en-US" dirty="0" smtClean="0"/>
              <a:t> Sami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937" y="0"/>
            <a:ext cx="2786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7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0"/>
            <a:ext cx="6589199" cy="908720"/>
          </a:xfrm>
        </p:spPr>
        <p:txBody>
          <a:bodyPr/>
          <a:lstStyle/>
          <a:p>
            <a:r>
              <a:rPr lang="en-US" dirty="0" smtClean="0"/>
              <a:t>Books: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908720"/>
            <a:ext cx="8424937" cy="5002502"/>
          </a:xfrm>
        </p:spPr>
        <p:txBody>
          <a:bodyPr/>
          <a:lstStyle/>
          <a:p>
            <a:pPr>
              <a:defRPr/>
            </a:pPr>
            <a:r>
              <a:rPr lang="en-US" dirty="0"/>
              <a:t>Textbook</a:t>
            </a:r>
          </a:p>
          <a:p>
            <a:pPr lvl="1">
              <a:defRPr/>
            </a:pPr>
            <a:r>
              <a:rPr lang="en-US" sz="2000" b="1" i="1" dirty="0"/>
              <a:t>Introduction to Algorithms 2</a:t>
            </a:r>
            <a:r>
              <a:rPr lang="en-US" sz="2000" b="1" i="1" baseline="30000" dirty="0"/>
              <a:t>nd</a:t>
            </a:r>
            <a:r>
              <a:rPr lang="en-US" sz="2000" b="1" i="1" dirty="0"/>
              <a:t> </a:t>
            </a:r>
            <a:r>
              <a:rPr lang="en-US" sz="2400" dirty="0"/>
              <a:t>,</a:t>
            </a:r>
            <a:r>
              <a:rPr lang="en-US" sz="2000" i="1" dirty="0" err="1"/>
              <a:t>Cormen</a:t>
            </a:r>
            <a:r>
              <a:rPr lang="en-US" sz="2000" i="1" dirty="0"/>
              <a:t>, </a:t>
            </a:r>
          </a:p>
          <a:p>
            <a:pPr lvl="1">
              <a:buNone/>
              <a:defRPr/>
            </a:pPr>
            <a:r>
              <a:rPr lang="en-US" sz="2000" i="1" dirty="0" err="1"/>
              <a:t>Leiserson</a:t>
            </a:r>
            <a:r>
              <a:rPr lang="en-US" sz="2000" i="1" dirty="0"/>
              <a:t>, </a:t>
            </a:r>
            <a:r>
              <a:rPr lang="en-US" sz="2000" i="1" dirty="0" err="1"/>
              <a:t>Rivest</a:t>
            </a:r>
            <a:r>
              <a:rPr lang="en-US" sz="2000" i="1" dirty="0"/>
              <a:t> and Stein</a:t>
            </a:r>
            <a:r>
              <a:rPr lang="en-US" sz="2000" dirty="0"/>
              <a:t>,</a:t>
            </a:r>
            <a:r>
              <a:rPr lang="en-US" dirty="0"/>
              <a:t> </a:t>
            </a:r>
            <a:r>
              <a:rPr lang="en-US" sz="2000" dirty="0"/>
              <a:t>The MIT Press, 2001</a:t>
            </a:r>
            <a:r>
              <a:rPr lang="en-US" sz="2400" dirty="0"/>
              <a:t>.</a:t>
            </a:r>
          </a:p>
          <a:p>
            <a:pPr lvl="1">
              <a:buFont typeface="Courier New" pitchFamily="49" charset="0"/>
              <a:buChar char="o"/>
              <a:defRPr/>
            </a:pPr>
            <a:r>
              <a:rPr lang="en-US" sz="2000" b="1" i="1" dirty="0"/>
              <a:t>Data Structures and Algorithm Analysis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    </a:t>
            </a:r>
            <a:r>
              <a:rPr lang="en-US" sz="2000" i="1" dirty="0"/>
              <a:t>Clifford A. </a:t>
            </a:r>
            <a:r>
              <a:rPr lang="en-US" sz="2000" i="1" dirty="0" err="1"/>
              <a:t>Shaffer,Edition</a:t>
            </a:r>
            <a:r>
              <a:rPr lang="en-US" sz="2000" i="1" dirty="0"/>
              <a:t> 3.2 (C++ Version),2012.</a:t>
            </a:r>
            <a:endParaRPr lang="en-US" dirty="0"/>
          </a:p>
          <a:p>
            <a:pPr>
              <a:defRPr/>
            </a:pPr>
            <a:r>
              <a:rPr lang="en-US" dirty="0"/>
              <a:t>Others</a:t>
            </a:r>
          </a:p>
          <a:p>
            <a:pPr lvl="1">
              <a:defRPr/>
            </a:pPr>
            <a:r>
              <a:rPr lang="en-US" sz="2000" b="1" i="1" dirty="0"/>
              <a:t>Introduction to Design &amp; Analysis Computer Algorithm 3rd, </a:t>
            </a:r>
            <a:r>
              <a:rPr lang="en-US" sz="2000" dirty="0"/>
              <a:t>Sara </a:t>
            </a:r>
            <a:r>
              <a:rPr lang="en-US" sz="2000" dirty="0" err="1"/>
              <a:t>Baase</a:t>
            </a:r>
            <a:r>
              <a:rPr lang="en-US" sz="2000" dirty="0"/>
              <a:t>, Allen Van </a:t>
            </a:r>
            <a:r>
              <a:rPr lang="en-US" sz="2000" dirty="0" err="1"/>
              <a:t>Gelder</a:t>
            </a:r>
            <a:r>
              <a:rPr lang="en-US" sz="2000" dirty="0"/>
              <a:t>, Adison-Wesley, 2000.</a:t>
            </a:r>
          </a:p>
          <a:p>
            <a:pPr lvl="1">
              <a:defRPr/>
            </a:pPr>
            <a:r>
              <a:rPr lang="en-US" sz="2000" b="1" i="1" dirty="0"/>
              <a:t>Algorithms</a:t>
            </a:r>
            <a:r>
              <a:rPr lang="en-US" sz="2000" dirty="0"/>
              <a:t>, Richard </a:t>
            </a:r>
            <a:r>
              <a:rPr lang="en-US" sz="2000" dirty="0" err="1"/>
              <a:t>Johnsonbaugh</a:t>
            </a:r>
            <a:r>
              <a:rPr lang="en-US" sz="2000" dirty="0"/>
              <a:t>, Marcus Schaefer, Prentice Hall, 2004.</a:t>
            </a:r>
          </a:p>
          <a:p>
            <a:pPr lvl="1">
              <a:defRPr/>
            </a:pPr>
            <a:r>
              <a:rPr lang="en-US" sz="2000" b="1" i="1" dirty="0"/>
              <a:t>Introduction to The Design and Analysis of Algorithms 2</a:t>
            </a:r>
            <a:r>
              <a:rPr lang="en-US" sz="2000" b="1" i="1" baseline="30000" dirty="0"/>
              <a:t>nd</a:t>
            </a:r>
            <a:r>
              <a:rPr lang="en-US" sz="2000" b="1" i="1" dirty="0"/>
              <a:t> Edition,</a:t>
            </a:r>
            <a:r>
              <a:rPr lang="en-US" sz="2000" dirty="0"/>
              <a:t> </a:t>
            </a:r>
            <a:r>
              <a:rPr lang="en-US" sz="2000" dirty="0" err="1"/>
              <a:t>Anany</a:t>
            </a:r>
            <a:r>
              <a:rPr lang="en-US" sz="2000" dirty="0"/>
              <a:t> Levitin, Adison-Wesley, 2007.</a:t>
            </a:r>
          </a:p>
          <a:p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254" y="908720"/>
            <a:ext cx="1890713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5851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188640"/>
            <a:ext cx="6589199" cy="720080"/>
          </a:xfrm>
        </p:spPr>
        <p:txBody>
          <a:bodyPr/>
          <a:lstStyle/>
          <a:p>
            <a:r>
              <a:rPr lang="en-US" dirty="0" smtClean="0"/>
              <a:t>Course Objectives: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052736"/>
            <a:ext cx="8640960" cy="4858486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This course introduces students to the analysis and design of computer algorithms. Upon completion of this course, students will be able to do the following:</a:t>
            </a:r>
          </a:p>
          <a:p>
            <a:pPr lvl="1">
              <a:defRPr/>
            </a:pPr>
            <a:r>
              <a:rPr lang="en-US" sz="2400" dirty="0"/>
              <a:t>Analyze the asymptotic performance of algorithms.</a:t>
            </a:r>
          </a:p>
          <a:p>
            <a:pPr lvl="1">
              <a:defRPr/>
            </a:pPr>
            <a:r>
              <a:rPr lang="en-US" sz="2400" dirty="0"/>
              <a:t>Demonstrate a familiarity with major algorithms and data structures.</a:t>
            </a:r>
          </a:p>
          <a:p>
            <a:pPr lvl="1">
              <a:defRPr/>
            </a:pPr>
            <a:r>
              <a:rPr lang="en-US" sz="2400" dirty="0"/>
              <a:t>Apply important algorithmic design paradigms and methods of analysis.</a:t>
            </a:r>
          </a:p>
          <a:p>
            <a:pPr lvl="1">
              <a:defRPr/>
            </a:pPr>
            <a:r>
              <a:rPr lang="en-US" sz="2400" dirty="0"/>
              <a:t>Synthesize efficient algorithms in common engineering design situations.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486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116632"/>
            <a:ext cx="6589199" cy="864096"/>
          </a:xfrm>
        </p:spPr>
        <p:txBody>
          <a:bodyPr/>
          <a:lstStyle/>
          <a:p>
            <a:r>
              <a:rPr lang="en-US" dirty="0" smtClean="0"/>
              <a:t>Topics Involved: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764704"/>
            <a:ext cx="7992888" cy="576064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None/>
            </a:pPr>
            <a:r>
              <a:rPr lang="en-GB" altLang="en-US" sz="2400" dirty="0">
                <a:solidFill>
                  <a:schemeClr val="accent2"/>
                </a:solidFill>
              </a:rPr>
              <a:t>In this course we will cover the following topics:</a:t>
            </a:r>
          </a:p>
          <a:p>
            <a:pPr marL="609600" indent="-609600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/>
              <a:t>Understand foundations of algorithms &amp;&amp; design and analysis various variants algorithms </a:t>
            </a:r>
          </a:p>
          <a:p>
            <a:pPr marL="609600" indent="-609600">
              <a:lnSpc>
                <a:spcPct val="90000"/>
              </a:lnSpc>
              <a:buNone/>
            </a:pPr>
            <a:r>
              <a:rPr lang="en-US" altLang="en-US" sz="2400" dirty="0"/>
              <a:t>       Accuracy</a:t>
            </a:r>
          </a:p>
          <a:p>
            <a:pPr marL="609600" indent="-609600">
              <a:lnSpc>
                <a:spcPct val="90000"/>
              </a:lnSpc>
              <a:buNone/>
            </a:pPr>
            <a:r>
              <a:rPr lang="en-US" altLang="en-US" sz="2400" dirty="0"/>
              <a:t>       Efficiency</a:t>
            </a:r>
          </a:p>
          <a:p>
            <a:pPr marL="609600" indent="-609600">
              <a:lnSpc>
                <a:spcPct val="90000"/>
              </a:lnSpc>
              <a:buNone/>
            </a:pPr>
            <a:r>
              <a:rPr lang="en-US" altLang="en-US" sz="2400" dirty="0"/>
              <a:t>       Comparing efficiencies</a:t>
            </a:r>
          </a:p>
          <a:p>
            <a:pPr marL="609600" indent="-609600">
              <a:lnSpc>
                <a:spcPct val="90000"/>
              </a:lnSpc>
            </a:pPr>
            <a:endParaRPr lang="en-US" altLang="en-US" sz="2400" dirty="0"/>
          </a:p>
          <a:p>
            <a:pPr marL="609600" indent="-609600">
              <a:lnSpc>
                <a:spcPct val="90000"/>
              </a:lnSpc>
            </a:pPr>
            <a:r>
              <a:rPr lang="en-US" altLang="en-US" sz="2400" dirty="0"/>
              <a:t>Make use of skills to understand mathematical notations in algorithms and their simple mathematical proofs</a:t>
            </a:r>
          </a:p>
          <a:p>
            <a:pPr marL="609600" indent="-609600">
              <a:lnSpc>
                <a:spcPct val="90000"/>
              </a:lnSpc>
              <a:buNone/>
            </a:pPr>
            <a:endParaRPr lang="en-US" altLang="en-US" sz="2400" dirty="0"/>
          </a:p>
          <a:p>
            <a:pPr marL="609600" indent="-609600">
              <a:lnSpc>
                <a:spcPct val="90000"/>
              </a:lnSpc>
            </a:pPr>
            <a:r>
              <a:rPr lang="en-US" altLang="en-US" sz="2400" dirty="0"/>
              <a:t>Gain familiarity with a number of classical problems that occur frequently in real-world 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93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188640"/>
            <a:ext cx="7381287" cy="1280890"/>
          </a:xfrm>
        </p:spPr>
        <p:txBody>
          <a:bodyPr/>
          <a:lstStyle/>
          <a:p>
            <a:r>
              <a:rPr lang="en-US" dirty="0" smtClean="0"/>
              <a:t>Course Outline: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748464" cy="511256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 b="1" dirty="0"/>
              <a:t>Preliminaries</a:t>
            </a:r>
            <a:r>
              <a:rPr lang="en-US" altLang="en-US" sz="2000" dirty="0"/>
              <a:t> : different types of algorithms, analyzing </a:t>
            </a:r>
            <a:r>
              <a:rPr lang="en-US" altLang="en-US" sz="2000" dirty="0" smtClean="0"/>
              <a:t>methodologies, notations</a:t>
            </a:r>
            <a:r>
              <a:rPr lang="en-US" altLang="en-US" sz="2000" dirty="0"/>
              <a:t>, proof techniques and limits.</a:t>
            </a:r>
          </a:p>
          <a:p>
            <a:pPr>
              <a:lnSpc>
                <a:spcPct val="80000"/>
              </a:lnSpc>
            </a:pPr>
            <a:r>
              <a:rPr lang="en-US" altLang="en-US" sz="2000" b="1" dirty="0"/>
              <a:t>Asymptotic Notation</a:t>
            </a:r>
            <a:r>
              <a:rPr lang="en-US" altLang="en-US" sz="2000" dirty="0"/>
              <a:t> : different notations and their examples, </a:t>
            </a:r>
            <a:r>
              <a:rPr lang="en-US" altLang="en-US" sz="2000" dirty="0" smtClean="0"/>
              <a:t>standard notations </a:t>
            </a:r>
            <a:r>
              <a:rPr lang="en-US" altLang="en-US" sz="2000" dirty="0"/>
              <a:t>and their common functions.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 </a:t>
            </a:r>
            <a:r>
              <a:rPr lang="en-US" altLang="en-US" sz="2000" b="1" dirty="0"/>
              <a:t>Analysis of Algorithms</a:t>
            </a:r>
            <a:r>
              <a:rPr lang="en-US" altLang="en-US" sz="2000" dirty="0"/>
              <a:t> : analyzing control structures, using barometer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000" dirty="0"/>
              <a:t>      instruction, amortization, and different examples for analysis and </a:t>
            </a:r>
            <a:r>
              <a:rPr lang="en-US" altLang="en-US" sz="2000" dirty="0" smtClean="0"/>
              <a:t>solving recurrences</a:t>
            </a:r>
            <a:r>
              <a:rPr lang="en-US" altLang="en-US" sz="2000" dirty="0"/>
              <a:t>.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 </a:t>
            </a:r>
            <a:r>
              <a:rPr lang="en-US" altLang="en-US" sz="2000" b="1" dirty="0"/>
              <a:t>Structures</a:t>
            </a:r>
            <a:r>
              <a:rPr lang="en-US" altLang="en-US" sz="2000" dirty="0"/>
              <a:t>: use of arrays, stacks, queues, records, pointers, lists, </a:t>
            </a:r>
            <a:r>
              <a:rPr lang="en-US" altLang="en-US" sz="2000" dirty="0" smtClean="0"/>
              <a:t>graphs, trees</a:t>
            </a:r>
            <a:r>
              <a:rPr lang="en-US" altLang="en-US" sz="2000" dirty="0"/>
              <a:t>, hash tables, heaps and binomial heaps.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 </a:t>
            </a:r>
            <a:r>
              <a:rPr lang="en-US" altLang="en-US" sz="2000" b="1" dirty="0"/>
              <a:t>Searching/Sorting Algorithms</a:t>
            </a:r>
            <a:r>
              <a:rPr lang="en-US" altLang="en-US" sz="2000" dirty="0"/>
              <a:t> : Various searching and sorting algorithms </a:t>
            </a:r>
            <a:r>
              <a:rPr lang="en-US" altLang="en-US" sz="2000" dirty="0" smtClean="0"/>
              <a:t>and their </a:t>
            </a:r>
            <a:r>
              <a:rPr lang="en-US" altLang="en-US" sz="2000" dirty="0"/>
              <a:t>comparisons.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0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116631"/>
            <a:ext cx="6589199" cy="720081"/>
          </a:xfrm>
        </p:spPr>
        <p:txBody>
          <a:bodyPr/>
          <a:lstStyle/>
          <a:p>
            <a:r>
              <a:rPr lang="en-US" dirty="0"/>
              <a:t>Course Outline:</a:t>
            </a:r>
          </a:p>
        </p:txBody>
      </p:sp>
      <p:pic>
        <p:nvPicPr>
          <p:cNvPr id="4" name="Picture 9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113" y="1456665"/>
            <a:ext cx="8135937" cy="4881296"/>
          </a:xfrm>
        </p:spPr>
      </p:pic>
    </p:spTree>
    <p:extLst>
      <p:ext uri="{BB962C8B-B14F-4D97-AF65-F5344CB8AC3E}">
        <p14:creationId xmlns:p14="http://schemas.microsoft.com/office/powerpoint/2010/main" val="2963539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188640"/>
            <a:ext cx="6589199" cy="720080"/>
          </a:xfrm>
        </p:spPr>
        <p:txBody>
          <a:bodyPr/>
          <a:lstStyle/>
          <a:p>
            <a:r>
              <a:rPr lang="en-US" dirty="0" smtClean="0"/>
              <a:t>Algorithm: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8280920" cy="4281678"/>
          </a:xfrm>
        </p:spPr>
        <p:txBody>
          <a:bodyPr/>
          <a:lstStyle/>
          <a:p>
            <a:pPr lvl="1" algn="thaiDist">
              <a:defRPr/>
            </a:pPr>
            <a:r>
              <a:rPr lang="en-US" sz="2400" dirty="0" smtClean="0"/>
              <a:t>is </a:t>
            </a:r>
            <a:r>
              <a:rPr lang="en-US" sz="2400" dirty="0"/>
              <a:t>any well-defined computational procedure that takes some value, or set of values, as input and produces some value, or set of values, as output.</a:t>
            </a:r>
          </a:p>
          <a:p>
            <a:pPr lvl="1" algn="thaiDist">
              <a:defRPr/>
            </a:pPr>
            <a:r>
              <a:rPr lang="en-US" sz="2400" dirty="0"/>
              <a:t>is thus a sequence of computational steps that transform the input into the output.</a:t>
            </a:r>
          </a:p>
          <a:p>
            <a:pPr lvl="1">
              <a:defRPr/>
            </a:pPr>
            <a:r>
              <a:rPr lang="en-US" sz="2400" dirty="0"/>
              <a:t>is a tool for solving a well - specified computational problem.</a:t>
            </a:r>
          </a:p>
          <a:p>
            <a:pPr lvl="1">
              <a:defRPr/>
            </a:pPr>
            <a:r>
              <a:rPr lang="th-TH" sz="2400" dirty="0"/>
              <a:t>Any special method of solving a certain kind of problem (Webster Dictionary)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373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116632"/>
            <a:ext cx="7381287" cy="1280890"/>
          </a:xfrm>
        </p:spPr>
        <p:txBody>
          <a:bodyPr/>
          <a:lstStyle/>
          <a:p>
            <a:r>
              <a:rPr lang="en-US" altLang="en-US" b="1" dirty="0"/>
              <a:t>What is the specification of algorithm?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8568952" cy="5256584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 smtClean="0"/>
              <a:t>We </a:t>
            </a:r>
            <a:r>
              <a:rPr lang="en-US" altLang="en-US" dirty="0"/>
              <a:t>can specify an algorithm </a:t>
            </a:r>
            <a:r>
              <a:rPr lang="en-US" altLang="en-US" dirty="0" smtClean="0"/>
              <a:t> by </a:t>
            </a:r>
            <a:r>
              <a:rPr lang="en-US" altLang="en-US" dirty="0"/>
              <a:t>3 types: </a:t>
            </a:r>
          </a:p>
          <a:p>
            <a:r>
              <a:rPr lang="en-US" altLang="en-US" dirty="0"/>
              <a:t>1. Using Natural language </a:t>
            </a:r>
          </a:p>
          <a:p>
            <a:r>
              <a:rPr lang="en-US" altLang="en-US" dirty="0"/>
              <a:t>2. Pseudocode; </a:t>
            </a:r>
          </a:p>
          <a:p>
            <a:r>
              <a:rPr lang="en-US" altLang="en-US" dirty="0"/>
              <a:t>3. And flowchart. </a:t>
            </a:r>
          </a:p>
          <a:p>
            <a:endParaRPr lang="en-US" altLang="en-US" dirty="0"/>
          </a:p>
          <a:p>
            <a:r>
              <a:rPr lang="en-US" altLang="en-US" dirty="0"/>
              <a:t>Natural language is general way to solve any problem </a:t>
            </a:r>
          </a:p>
          <a:p>
            <a:r>
              <a:rPr lang="en-US" altLang="en-US" dirty="0"/>
              <a:t>For </a:t>
            </a:r>
            <a:r>
              <a:rPr lang="en-US" altLang="en-US" dirty="0" err="1"/>
              <a:t>e.g</a:t>
            </a:r>
            <a:r>
              <a:rPr lang="en-US" altLang="en-US" dirty="0"/>
              <a:t> to perform addition of two numbers we write in natural language </a:t>
            </a:r>
          </a:p>
          <a:p>
            <a:r>
              <a:rPr lang="en-US" altLang="en-US" dirty="0"/>
              <a:t>Step1: read the first number (assume a) </a:t>
            </a:r>
          </a:p>
          <a:p>
            <a:r>
              <a:rPr lang="en-US" altLang="en-US" dirty="0"/>
              <a:t>Step2:read the second number (assume b) </a:t>
            </a:r>
          </a:p>
          <a:p>
            <a:r>
              <a:rPr lang="en-US" altLang="en-US" dirty="0"/>
              <a:t>Step3:add 2 numbers(a and b)and store the result in a variable c </a:t>
            </a:r>
          </a:p>
          <a:p>
            <a:r>
              <a:rPr lang="en-US" altLang="en-US" dirty="0"/>
              <a:t>Step4:display the result </a:t>
            </a:r>
            <a:r>
              <a:rPr lang="en-US" altLang="en-US" b="1" dirty="0" smtClean="0"/>
              <a:t>specification </a:t>
            </a:r>
            <a:r>
              <a:rPr lang="en-US" altLang="en-US" b="1" dirty="0"/>
              <a:t>of algorithm?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116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Pseudocode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1" y="1268760"/>
            <a:ext cx="7202760" cy="4642462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Combination of natural language and programming language construct For e.g.to perform addition of two numbers we write in pseudo-code </a:t>
            </a:r>
          </a:p>
          <a:p>
            <a:pPr>
              <a:defRPr/>
            </a:pPr>
            <a:r>
              <a:rPr lang="en-US" dirty="0"/>
              <a:t>//this </a:t>
            </a:r>
            <a:r>
              <a:rPr lang="en-US" dirty="0" err="1"/>
              <a:t>algo</a:t>
            </a:r>
            <a:r>
              <a:rPr lang="en-US" dirty="0"/>
              <a:t> perform addition of two integers </a:t>
            </a:r>
          </a:p>
          <a:p>
            <a:pPr>
              <a:defRPr/>
            </a:pPr>
            <a:r>
              <a:rPr lang="en-US" dirty="0"/>
              <a:t>//input two integers a and b </a:t>
            </a:r>
          </a:p>
          <a:p>
            <a:pPr>
              <a:defRPr/>
            </a:pPr>
            <a:r>
              <a:rPr lang="en-US" dirty="0"/>
              <a:t>// output of two integers </a:t>
            </a:r>
          </a:p>
          <a:p>
            <a:pPr>
              <a:defRPr/>
            </a:pPr>
            <a:r>
              <a:rPr lang="en-US" dirty="0"/>
              <a:t>      C=</a:t>
            </a:r>
            <a:r>
              <a:rPr lang="en-US" dirty="0" err="1"/>
              <a:t>a+b</a:t>
            </a:r>
            <a:r>
              <a:rPr lang="en-US" dirty="0"/>
              <a:t> </a:t>
            </a:r>
          </a:p>
          <a:p>
            <a:pPr>
              <a:defRPr/>
            </a:pPr>
            <a:r>
              <a:rPr lang="en-US" dirty="0"/>
              <a:t>          Write c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043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Another way to represent an </a:t>
            </a:r>
            <a:r>
              <a:rPr lang="en-US" altLang="en-US" dirty="0" err="1"/>
              <a:t>algo</a:t>
            </a:r>
            <a:r>
              <a:rPr lang="en-US" altLang="en-US" dirty="0"/>
              <a:t> is Flow chart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133600"/>
            <a:ext cx="4536503" cy="453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3396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31747" name="Picture 2" descr="siide bar"/>
          <p:cNvPicPr>
            <a:picLocks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533400"/>
            <a:ext cx="9144000" cy="1066800"/>
          </a:xfrm>
          <a:noFill/>
        </p:spPr>
      </p:pic>
      <p:sp>
        <p:nvSpPr>
          <p:cNvPr id="31748" name="Text Box 3"/>
          <p:cNvSpPr txBox="1">
            <a:spLocks noChangeArrowheads="1"/>
          </p:cNvSpPr>
          <p:nvPr/>
        </p:nvSpPr>
        <p:spPr bwMode="auto">
          <a:xfrm>
            <a:off x="990600" y="0"/>
            <a:ext cx="7543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400" b="1"/>
              <a:t> </a:t>
            </a:r>
            <a:endParaRPr lang="en-GB" altLang="en-US" sz="4400" b="1">
              <a:solidFill>
                <a:schemeClr val="bg1"/>
              </a:solidFill>
              <a:latin typeface="Garamond" pitchFamily="18" charset="0"/>
              <a:cs typeface="Arial" charset="0"/>
            </a:endParaRPr>
          </a:p>
        </p:txBody>
      </p:sp>
      <p:pic>
        <p:nvPicPr>
          <p:cNvPr id="31749" name="Picture 5" descr="siide b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91288"/>
            <a:ext cx="914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Line 6"/>
          <p:cNvSpPr>
            <a:spLocks noChangeShapeType="1"/>
          </p:cNvSpPr>
          <p:nvPr/>
        </p:nvSpPr>
        <p:spPr bwMode="auto">
          <a:xfrm>
            <a:off x="0" y="6481763"/>
            <a:ext cx="9144000" cy="0"/>
          </a:xfrm>
          <a:prstGeom prst="line">
            <a:avLst/>
          </a:prstGeom>
          <a:noFill/>
          <a:ln w="44450">
            <a:solidFill>
              <a:srgbClr val="006A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1" name="Rectangle 13"/>
          <p:cNvSpPr>
            <a:spLocks noChangeArrowheads="1"/>
          </p:cNvSpPr>
          <p:nvPr/>
        </p:nvSpPr>
        <p:spPr bwMode="auto">
          <a:xfrm>
            <a:off x="533400" y="1600200"/>
            <a:ext cx="861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2217738" y="381000"/>
            <a:ext cx="4541837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 dirty="0">
                <a:solidFill>
                  <a:schemeClr val="bg1"/>
                </a:solidFill>
              </a:rPr>
              <a:t>ALGORITHMICS</a:t>
            </a:r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381000" y="1752600"/>
            <a:ext cx="87630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It is the science that lets designers study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and evaluate the effect of algorithms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based on various factors so that the best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algorithm is selected to meet a particular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task in given circumstances. It is also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science that tells how to design a new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algorithm for a particular job.</a:t>
            </a:r>
          </a:p>
        </p:txBody>
      </p:sp>
      <p:sp>
        <p:nvSpPr>
          <p:cNvPr id="31754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1752600" y="6553200"/>
            <a:ext cx="6248400" cy="30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/>
              <a:t>Analysis of Algorithm</a:t>
            </a:r>
          </a:p>
        </p:txBody>
      </p:sp>
      <p:sp>
        <p:nvSpPr>
          <p:cNvPr id="31755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7010400" y="66198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62667E-ED29-40B5-9ADB-7B9AB4F941C7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31756" name="Date Placeholder 1"/>
          <p:cNvSpPr>
            <a:spLocks noGrp="1"/>
          </p:cNvSpPr>
          <p:nvPr>
            <p:ph type="dt" sz="quarter" idx="10"/>
          </p:nvPr>
        </p:nvSpPr>
        <p:spPr>
          <a:xfrm>
            <a:off x="2438400" y="6172200"/>
            <a:ext cx="3962400" cy="6064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D4BA6F-0906-45CA-8161-F7A29CA42A11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504" y="1230868"/>
            <a:ext cx="91440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6351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 smtClean="0"/>
              <a:t>What is a program?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h-TH" altLang="en-US" dirty="0" smtClean="0"/>
              <a:t>A program is the expression of an algorithm in a programming language</a:t>
            </a:r>
          </a:p>
          <a:p>
            <a:pPr eaLnBrk="1" hangingPunct="1"/>
            <a:r>
              <a:rPr lang="th-TH" altLang="en-US" dirty="0" smtClean="0"/>
              <a:t>a set of instructions which the computer will follow to solve a problem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/>
        </p:nvGraphicFramePr>
        <p:xfrm>
          <a:off x="2971800" y="3657600"/>
          <a:ext cx="2624138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Clip" r:id="rId3" imgW="4251325" imgH="4570413" progId="MS_ClipArt_Gallery.2">
                  <p:embed/>
                </p:oleObj>
              </mc:Choice>
              <mc:Fallback>
                <p:oleObj name="Clip" r:id="rId3" imgW="4251325" imgH="457041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657600"/>
                        <a:ext cx="2624138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Date Placeholder 4"/>
          <p:cNvSpPr>
            <a:spLocks noGrp="1"/>
          </p:cNvSpPr>
          <p:nvPr>
            <p:ph type="dt" sz="quarter" idx="10"/>
          </p:nvPr>
        </p:nvSpPr>
        <p:spPr>
          <a:xfrm>
            <a:off x="3505200" y="6477000"/>
            <a:ext cx="2895600" cy="301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F2423E-6DE3-46B2-BEF1-AB0CBA3D2812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337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712DCD-116C-4CED-93BD-E883F0B9ADA6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solidFill>
                <a:schemeClr val="accent1"/>
              </a:solidFill>
            </a:endParaRPr>
          </a:p>
        </p:txBody>
      </p:sp>
      <p:sp>
        <p:nvSpPr>
          <p:cNvPr id="33799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</p:spTree>
    <p:extLst>
      <p:ext uri="{BB962C8B-B14F-4D97-AF65-F5344CB8AC3E}">
        <p14:creationId xmlns:p14="http://schemas.microsoft.com/office/powerpoint/2010/main" val="4264396519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/>
              <a:t>Analysis of an Algorithm</a:t>
            </a:r>
            <a:endParaRPr lang="en-US" altLang="en-US" smtClean="0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/>
              <a:t>What is analysis of an algorithm? </a:t>
            </a:r>
            <a:endParaRPr lang="en-US" altLang="en-US" smtClean="0"/>
          </a:p>
          <a:p>
            <a:r>
              <a:rPr lang="en-US" altLang="en-US" b="1" smtClean="0"/>
              <a:t>Ans. </a:t>
            </a:r>
            <a:r>
              <a:rPr lang="en-US" altLang="en-US" smtClean="0"/>
              <a:t>Algorithm analysis is an important part of a computational complexity theory. </a:t>
            </a:r>
          </a:p>
          <a:p>
            <a:r>
              <a:rPr lang="en-US" altLang="en-US" smtClean="0"/>
              <a:t>There two types of analysis: </a:t>
            </a:r>
          </a:p>
          <a:p>
            <a:r>
              <a:rPr lang="en-US" altLang="en-US" smtClean="0"/>
              <a:t>1.priori </a:t>
            </a:r>
          </a:p>
          <a:p>
            <a:r>
              <a:rPr lang="en-US" altLang="en-US" smtClean="0"/>
              <a:t>2.posteriory </a:t>
            </a:r>
          </a:p>
        </p:txBody>
      </p:sp>
      <p:sp>
        <p:nvSpPr>
          <p:cNvPr id="3482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 dirty="0" smtClean="0">
              <a:solidFill>
                <a:schemeClr val="accent1"/>
              </a:solidFill>
            </a:endParaRPr>
          </a:p>
        </p:txBody>
      </p:sp>
      <p:sp>
        <p:nvSpPr>
          <p:cNvPr id="3482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  <p:sp>
        <p:nvSpPr>
          <p:cNvPr id="348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F88216-C301-4B8F-BCE4-6DC2EE976C2D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40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/>
              <a:t>Analysis of an Algorithm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Priori Analysis is the theoretical estimation of resources required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 smtClean="0"/>
          </a:p>
          <a:p>
            <a:pPr>
              <a:defRPr/>
            </a:pPr>
            <a:r>
              <a:rPr lang="en-US" dirty="0" smtClean="0"/>
              <a:t>On </a:t>
            </a:r>
            <a:r>
              <a:rPr lang="en-US" dirty="0"/>
              <a:t>the </a:t>
            </a:r>
            <a:r>
              <a:rPr lang="en-US" dirty="0" smtClean="0"/>
              <a:t>other hand posterior </a:t>
            </a:r>
            <a:r>
              <a:rPr lang="en-US" dirty="0"/>
              <a:t>Analysis done after implement the algorithm on a target machine. 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dirty="0"/>
          </a:p>
        </p:txBody>
      </p:sp>
      <p:sp>
        <p:nvSpPr>
          <p:cNvPr id="3584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 dirty="0" smtClean="0">
              <a:solidFill>
                <a:schemeClr val="accent1"/>
              </a:solidFill>
            </a:endParaRPr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  <p:sp>
        <p:nvSpPr>
          <p:cNvPr id="358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0CF211-23FB-4089-AD10-35CBA928292C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892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Introduction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SimSun" pitchFamily="2" charset="-122"/>
              </a:rPr>
              <a:t>Why need algorithm analysis ?</a:t>
            </a:r>
          </a:p>
          <a:p>
            <a:pPr lvl="1"/>
            <a:r>
              <a:rPr lang="en-US" altLang="zh-CN" smtClean="0">
                <a:ea typeface="SimSun" pitchFamily="2" charset="-122"/>
              </a:rPr>
              <a:t>writing a working program is not good enough</a:t>
            </a:r>
          </a:p>
          <a:p>
            <a:pPr lvl="1"/>
            <a:r>
              <a:rPr lang="en-US" altLang="zh-CN" smtClean="0">
                <a:ea typeface="SimSun" pitchFamily="2" charset="-122"/>
              </a:rPr>
              <a:t>The program may be inefficient!</a:t>
            </a:r>
          </a:p>
          <a:p>
            <a:pPr lvl="1"/>
            <a:r>
              <a:rPr lang="en-US" altLang="zh-CN" smtClean="0">
                <a:ea typeface="SimSun" pitchFamily="2" charset="-122"/>
              </a:rPr>
              <a:t>If the program is run on a </a:t>
            </a:r>
            <a:r>
              <a:rPr lang="en-US" altLang="zh-CN" smtClean="0">
                <a:solidFill>
                  <a:srgbClr val="00FF00"/>
                </a:solidFill>
                <a:ea typeface="SimSun" pitchFamily="2" charset="-122"/>
              </a:rPr>
              <a:t>large data set</a:t>
            </a:r>
            <a:r>
              <a:rPr lang="en-US" altLang="zh-CN" smtClean="0">
                <a:ea typeface="SimSun" pitchFamily="2" charset="-122"/>
              </a:rPr>
              <a:t>, then the running time becomes an issue</a:t>
            </a:r>
          </a:p>
          <a:p>
            <a:endParaRPr lang="zh-CN" altLang="en-US" smtClean="0">
              <a:ea typeface="SimSun" pitchFamily="2" charset="-122"/>
            </a:endParaRPr>
          </a:p>
        </p:txBody>
      </p:sp>
      <p:sp>
        <p:nvSpPr>
          <p:cNvPr id="36868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200400" y="6477000"/>
            <a:ext cx="3200400" cy="301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1CB9F0-78F9-4781-97E9-DE6A79E35FE8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3686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  <p:sp>
        <p:nvSpPr>
          <p:cNvPr id="368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E402C8-D8DB-42C1-9349-99D697CA7536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01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/>
              <a:t>Complexity of an algorithm</a:t>
            </a:r>
            <a:endParaRPr lang="en-US" altLang="en-US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/>
              <a:t>What is the complexity of an algorithm?</a:t>
            </a:r>
          </a:p>
          <a:p>
            <a:r>
              <a:rPr lang="en-US" altLang="en-US" smtClean="0"/>
              <a:t>Complexity (or efficiency) of an algorithm is a function that describes the efficiency of an algorithm in terms of time and space. </a:t>
            </a:r>
          </a:p>
          <a:p>
            <a:r>
              <a:rPr lang="en-US" altLang="en-US" smtClean="0"/>
              <a:t>There are two types of complexity: </a:t>
            </a:r>
          </a:p>
          <a:p>
            <a:r>
              <a:rPr lang="en-US" altLang="en-US" smtClean="0"/>
              <a:t>1.Time complexity: </a:t>
            </a:r>
          </a:p>
          <a:p>
            <a:r>
              <a:rPr lang="en-US" altLang="en-US" smtClean="0"/>
              <a:t>Time complexity means the amount of time required by an algorithm to run. </a:t>
            </a:r>
          </a:p>
          <a:p>
            <a:r>
              <a:rPr lang="en-US" altLang="en-US" smtClean="0"/>
              <a:t>It expressed as an order of magnitude / degree</a:t>
            </a:r>
          </a:p>
        </p:txBody>
      </p:sp>
      <p:sp>
        <p:nvSpPr>
          <p:cNvPr id="3891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 dirty="0" smtClean="0">
              <a:solidFill>
                <a:schemeClr val="accent1"/>
              </a:solidFill>
            </a:endParaRPr>
          </a:p>
        </p:txBody>
      </p:sp>
      <p:sp>
        <p:nvSpPr>
          <p:cNvPr id="3891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  <p:sp>
        <p:nvSpPr>
          <p:cNvPr id="389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FD3237-6517-4A6F-8525-4D56E1A52BFB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09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Space Complexity</a:t>
            </a:r>
            <a:endParaRPr lang="en-US" altLang="en-US" dirty="0" smtClean="0"/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1259632" y="1268760"/>
            <a:ext cx="7168049" cy="3057542"/>
          </a:xfrm>
        </p:spPr>
        <p:txBody>
          <a:bodyPr/>
          <a:lstStyle/>
          <a:p>
            <a:r>
              <a:rPr lang="en-US" altLang="en-US" sz="2000" dirty="0" smtClean="0"/>
              <a:t>Space </a:t>
            </a:r>
            <a:r>
              <a:rPr lang="en-US" altLang="en-US" sz="2000" dirty="0" smtClean="0"/>
              <a:t>complexity means the amount of space required by an algorithm to </a:t>
            </a:r>
            <a:r>
              <a:rPr lang="en-US" altLang="en-US" sz="2000" dirty="0" err="1" smtClean="0"/>
              <a:t>run.It</a:t>
            </a:r>
            <a:r>
              <a:rPr lang="en-US" altLang="en-US" sz="2000" dirty="0" smtClean="0"/>
              <a:t> expressed as an order of </a:t>
            </a:r>
            <a:r>
              <a:rPr lang="en-US" altLang="en-US" sz="2000" dirty="0" err="1" smtClean="0"/>
              <a:t>magnitude.There</a:t>
            </a:r>
            <a:r>
              <a:rPr lang="en-US" altLang="en-US" sz="2000" dirty="0" smtClean="0"/>
              <a:t> are two important factors to compute the space </a:t>
            </a:r>
            <a:r>
              <a:rPr lang="en-US" altLang="en-US" sz="2000" dirty="0" err="1" smtClean="0"/>
              <a:t>complexity:constant</a:t>
            </a:r>
            <a:r>
              <a:rPr lang="en-US" altLang="en-US" sz="2000" dirty="0" smtClean="0"/>
              <a:t> and instant </a:t>
            </a:r>
            <a:r>
              <a:rPr lang="en-US" altLang="en-US" sz="2000" dirty="0" err="1" smtClean="0"/>
              <a:t>characterstic</a:t>
            </a:r>
            <a:r>
              <a:rPr lang="en-US" altLang="en-US" sz="2000" dirty="0" smtClean="0"/>
              <a:t>. </a:t>
            </a:r>
          </a:p>
          <a:p>
            <a:r>
              <a:rPr lang="en-US" altLang="en-US" sz="2000" dirty="0" err="1" smtClean="0"/>
              <a:t>e.g</a:t>
            </a:r>
            <a:r>
              <a:rPr lang="en-US" altLang="en-US" sz="2000" dirty="0" smtClean="0"/>
              <a:t> </a:t>
            </a:r>
          </a:p>
          <a:p>
            <a:r>
              <a:rPr lang="en-US" altLang="en-US" sz="2000" dirty="0" smtClean="0"/>
              <a:t>factorial(n) </a:t>
            </a:r>
          </a:p>
          <a:p>
            <a:r>
              <a:rPr lang="en-US" altLang="en-US" sz="2000" dirty="0" smtClean="0"/>
              <a:t>   if n=0 then </a:t>
            </a:r>
          </a:p>
          <a:p>
            <a:r>
              <a:rPr lang="en-US" altLang="en-US" sz="2000" dirty="0" smtClean="0"/>
              <a:t>         return 1; </a:t>
            </a:r>
          </a:p>
          <a:p>
            <a:r>
              <a:rPr lang="en-US" altLang="en-US" sz="2000" dirty="0" smtClean="0"/>
              <a:t>else </a:t>
            </a:r>
          </a:p>
          <a:p>
            <a:r>
              <a:rPr lang="en-US" altLang="en-US" sz="2000" dirty="0" smtClean="0"/>
              <a:t>       return*factorial(n-1); </a:t>
            </a:r>
          </a:p>
          <a:p>
            <a:r>
              <a:rPr lang="en-US" altLang="en-US" sz="2000" dirty="0" err="1" smtClean="0"/>
              <a:t>endif</a:t>
            </a:r>
            <a:r>
              <a:rPr lang="en-US" altLang="en-US" sz="2000" dirty="0" smtClean="0"/>
              <a:t> </a:t>
            </a:r>
          </a:p>
          <a:p>
            <a:r>
              <a:rPr lang="en-US" altLang="en-US" sz="2000" dirty="0" smtClean="0"/>
              <a:t>space complexity of program = constant size + variable size </a:t>
            </a:r>
          </a:p>
        </p:txBody>
      </p:sp>
      <p:sp>
        <p:nvSpPr>
          <p:cNvPr id="3994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528E0B-9AFA-4A83-9E6F-20EAC7E540BA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3994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 dirty="0" smtClean="0">
              <a:solidFill>
                <a:schemeClr val="accent1"/>
              </a:solidFill>
            </a:endParaRPr>
          </a:p>
        </p:txBody>
      </p:sp>
      <p:sp>
        <p:nvSpPr>
          <p:cNvPr id="399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BAC9A5-4088-4F9A-8983-DAA93FE72705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54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Types </a:t>
            </a:r>
            <a:r>
              <a:rPr lang="en-US" dirty="0"/>
              <a:t>of Algorithms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8305800" cy="5026025"/>
          </a:xfrm>
        </p:spPr>
        <p:txBody>
          <a:bodyPr/>
          <a:lstStyle/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</p:txBody>
      </p:sp>
      <p:sp>
        <p:nvSpPr>
          <p:cNvPr id="40964" name="Date Placeholder 4"/>
          <p:cNvSpPr>
            <a:spLocks noGrp="1"/>
          </p:cNvSpPr>
          <p:nvPr>
            <p:ph type="dt" sz="quarter" idx="10"/>
          </p:nvPr>
        </p:nvSpPr>
        <p:spPr>
          <a:xfrm>
            <a:off x="3856038" y="6553200"/>
            <a:ext cx="3154362" cy="30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F955A5-9433-406E-9ED6-4B884596BD52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40965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  <p:sp>
        <p:nvSpPr>
          <p:cNvPr id="409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AF09BB-3EF6-49B1-8557-90051C92B971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23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41987" name="Picture 2" descr="siide bar"/>
          <p:cNvPicPr>
            <a:picLocks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1371600"/>
          </a:xfrm>
          <a:noFill/>
        </p:spPr>
      </p:pic>
      <p:sp>
        <p:nvSpPr>
          <p:cNvPr id="41988" name="Text Box 3"/>
          <p:cNvSpPr txBox="1">
            <a:spLocks noChangeArrowheads="1"/>
          </p:cNvSpPr>
          <p:nvPr/>
        </p:nvSpPr>
        <p:spPr bwMode="auto">
          <a:xfrm>
            <a:off x="990600" y="0"/>
            <a:ext cx="7543800" cy="233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b="1">
              <a:solidFill>
                <a:schemeClr val="bg1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chemeClr val="bg1"/>
                </a:solidFill>
              </a:rPr>
              <a:t>PROBABILISITIC ALGORITHM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GB" altLang="en-US" sz="4400" b="1">
              <a:solidFill>
                <a:schemeClr val="bg1"/>
              </a:solidFill>
              <a:latin typeface="Garamond" pitchFamily="18" charset="0"/>
              <a:cs typeface="Arial" charset="0"/>
            </a:endParaRPr>
          </a:p>
        </p:txBody>
      </p:sp>
      <p:pic>
        <p:nvPicPr>
          <p:cNvPr id="41989" name="Picture 5" descr="siide b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91288"/>
            <a:ext cx="914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Line 6"/>
          <p:cNvSpPr>
            <a:spLocks noChangeShapeType="1"/>
          </p:cNvSpPr>
          <p:nvPr/>
        </p:nvSpPr>
        <p:spPr bwMode="auto">
          <a:xfrm>
            <a:off x="0" y="6481763"/>
            <a:ext cx="9144000" cy="0"/>
          </a:xfrm>
          <a:prstGeom prst="line">
            <a:avLst/>
          </a:prstGeom>
          <a:noFill/>
          <a:ln w="44450">
            <a:solidFill>
              <a:srgbClr val="006A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1" name="Rectangle 13"/>
          <p:cNvSpPr>
            <a:spLocks noChangeArrowheads="1"/>
          </p:cNvSpPr>
          <p:nvPr/>
        </p:nvSpPr>
        <p:spPr bwMode="auto">
          <a:xfrm>
            <a:off x="533400" y="1600200"/>
            <a:ext cx="86106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Char char="•"/>
            </a:pPr>
            <a:r>
              <a:rPr lang="en-US" altLang="en-US"/>
              <a:t>In this algorithm, chosen values are used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 in such a way that the probability of chosen each value is known and controlled.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e.g. Randomize Quick Sort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41992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2667000" y="6553200"/>
            <a:ext cx="3810000" cy="30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/>
              <a:t>Analysis of Algorithm</a:t>
            </a:r>
          </a:p>
        </p:txBody>
      </p:sp>
      <p:sp>
        <p:nvSpPr>
          <p:cNvPr id="41993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6858000" y="66198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55DD79-48AA-4442-B97D-AB50FB959C8A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41994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352800" y="5943600"/>
            <a:ext cx="2849563" cy="301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AB9E91-33A0-41FB-B793-04230D186630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68404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44035" name="Picture 2" descr="siide bar"/>
          <p:cNvPicPr>
            <a:picLocks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1371600"/>
          </a:xfrm>
          <a:noFill/>
        </p:spPr>
      </p:pic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990600" y="0"/>
            <a:ext cx="75438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3600" b="1">
              <a:solidFill>
                <a:schemeClr val="bg1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 b="1">
                <a:solidFill>
                  <a:schemeClr val="bg1"/>
                </a:solidFill>
              </a:rPr>
              <a:t>       HEURISTIC ALGORITHM</a:t>
            </a:r>
            <a:endParaRPr lang="en-GB" altLang="en-US" sz="3600" b="1">
              <a:solidFill>
                <a:schemeClr val="bg1"/>
              </a:solidFill>
              <a:latin typeface="Garamond" pitchFamily="18" charset="0"/>
              <a:cs typeface="Arial" charset="0"/>
            </a:endParaRPr>
          </a:p>
        </p:txBody>
      </p:sp>
      <p:pic>
        <p:nvPicPr>
          <p:cNvPr id="44037" name="Picture 5" descr="siide b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91288"/>
            <a:ext cx="914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8" name="Line 6"/>
          <p:cNvSpPr>
            <a:spLocks noChangeShapeType="1"/>
          </p:cNvSpPr>
          <p:nvPr/>
        </p:nvSpPr>
        <p:spPr bwMode="auto">
          <a:xfrm>
            <a:off x="0" y="6481763"/>
            <a:ext cx="9144000" cy="0"/>
          </a:xfrm>
          <a:prstGeom prst="line">
            <a:avLst/>
          </a:prstGeom>
          <a:noFill/>
          <a:ln w="44450">
            <a:solidFill>
              <a:srgbClr val="006A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9" name="Rectangle 13"/>
          <p:cNvSpPr>
            <a:spLocks noChangeArrowheads="1"/>
          </p:cNvSpPr>
          <p:nvPr/>
        </p:nvSpPr>
        <p:spPr bwMode="auto">
          <a:xfrm>
            <a:off x="533400" y="1600200"/>
            <a:ext cx="861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44040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0"/>
            <a:ext cx="9144000" cy="4724400"/>
          </a:xfrm>
        </p:spPr>
        <p:txBody>
          <a:bodyPr/>
          <a:lstStyle/>
          <a:p>
            <a:pPr algn="just" eaLnBrk="1" hangingPunct="1"/>
            <a:endParaRPr lang="en-US" altLang="en-US" b="1" smtClean="0"/>
          </a:p>
          <a:p>
            <a:pPr algn="just" eaLnBrk="1" hangingPunct="1"/>
            <a:r>
              <a:rPr lang="en-US" altLang="en-US" b="1" smtClean="0"/>
              <a:t>This type of algorithm is based largely on   optimism and often with minimal theoretical support. Here error can not be controlled but may be estimated how large it is.</a:t>
            </a:r>
            <a:endParaRPr lang="en-US" altLang="en-US" smtClean="0"/>
          </a:p>
        </p:txBody>
      </p:sp>
      <p:sp>
        <p:nvSpPr>
          <p:cNvPr id="4404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2971800" y="6477000"/>
            <a:ext cx="37338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/>
              <a:t>Analysis of Algorithm</a:t>
            </a:r>
          </a:p>
        </p:txBody>
      </p:sp>
      <p:sp>
        <p:nvSpPr>
          <p:cNvPr id="4404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58000" y="6629400"/>
            <a:ext cx="21336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A96FFB-61FE-4400-A749-5A5AF3C594C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44043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200400" y="6172200"/>
            <a:ext cx="3200400" cy="6064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C66075-D3A4-4BD2-8981-598A7DA1C7CB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4059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46083" name="Picture 2" descr="siide bar"/>
          <p:cNvPicPr>
            <a:picLocks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1371600"/>
          </a:xfrm>
          <a:noFill/>
        </p:spPr>
      </p:pic>
      <p:sp>
        <p:nvSpPr>
          <p:cNvPr id="46084" name="Text Box 3"/>
          <p:cNvSpPr txBox="1">
            <a:spLocks noChangeArrowheads="1"/>
          </p:cNvSpPr>
          <p:nvPr/>
        </p:nvSpPr>
        <p:spPr bwMode="auto">
          <a:xfrm>
            <a:off x="990600" y="0"/>
            <a:ext cx="7543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 b="1">
                <a:solidFill>
                  <a:schemeClr val="bg1"/>
                </a:solidFill>
              </a:rPr>
              <a:t>APPROXIMATE ALGORITHM </a:t>
            </a:r>
            <a:endParaRPr lang="en-GB" altLang="en-US" sz="3600" b="1">
              <a:solidFill>
                <a:schemeClr val="bg1"/>
              </a:solidFill>
              <a:latin typeface="Garamond" pitchFamily="18" charset="0"/>
              <a:cs typeface="Arial" charset="0"/>
            </a:endParaRPr>
          </a:p>
        </p:txBody>
      </p:sp>
      <p:pic>
        <p:nvPicPr>
          <p:cNvPr id="46085" name="Picture 5" descr="siide b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91288"/>
            <a:ext cx="914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6" name="Line 6"/>
          <p:cNvSpPr>
            <a:spLocks noChangeShapeType="1"/>
          </p:cNvSpPr>
          <p:nvPr/>
        </p:nvSpPr>
        <p:spPr bwMode="auto">
          <a:xfrm>
            <a:off x="0" y="6481763"/>
            <a:ext cx="9144000" cy="0"/>
          </a:xfrm>
          <a:prstGeom prst="line">
            <a:avLst/>
          </a:prstGeom>
          <a:noFill/>
          <a:ln w="44450">
            <a:solidFill>
              <a:srgbClr val="006A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7" name="Rectangle 13"/>
          <p:cNvSpPr>
            <a:spLocks noChangeArrowheads="1"/>
          </p:cNvSpPr>
          <p:nvPr/>
        </p:nvSpPr>
        <p:spPr bwMode="auto">
          <a:xfrm>
            <a:off x="533400" y="1600200"/>
            <a:ext cx="861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152400" y="1295400"/>
            <a:ext cx="89916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In this algorithm, answer is obtained that is as précised as required in decimal notation. In other words it specifies the error we are willing to accept.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3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For example, two figures accuracy or 8 figures or whatever is required.</a:t>
            </a:r>
          </a:p>
        </p:txBody>
      </p:sp>
      <p:sp>
        <p:nvSpPr>
          <p:cNvPr id="46089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2057400" y="6629400"/>
            <a:ext cx="46482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/>
              <a:t>Analysis of Algorithm</a:t>
            </a:r>
          </a:p>
        </p:txBody>
      </p:sp>
      <p:sp>
        <p:nvSpPr>
          <p:cNvPr id="46090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1682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E8F404-C665-4A3C-A9F3-BA2A7E0B09E6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6091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E0A14F-1784-4A26-9DDC-71F6FF83A9AC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28024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mtClean="0"/>
              <a:t>Things to do……</a:t>
            </a:r>
            <a:endParaRPr lang="th-TH" altLang="en-US" smtClean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th-TH" altLang="en-US" sz="2800" smtClean="0"/>
              <a:t>Learn general approaches to algorithm design 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th-TH" altLang="en-US" sz="2400" smtClean="0"/>
              <a:t>Divide and conquer 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th-TH" altLang="en-US" sz="2400" smtClean="0"/>
              <a:t>Greedy method 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th-TH" altLang="en-US" sz="2400" smtClean="0"/>
              <a:t>Dynamic Programming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th-TH" altLang="en-US" sz="2400" smtClean="0"/>
              <a:t>Basic Search and Traversal Technique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altLang="en-US" sz="2400" smtClean="0">
                <a:ea typeface="Angsana New" pitchFamily="18" charset="-120"/>
              </a:rPr>
              <a:t>Graph Theory</a:t>
            </a:r>
            <a:endParaRPr lang="th-TH" altLang="en-US" sz="2400" smtClean="0">
              <a:ea typeface="Angsana New" pitchFamily="18" charset="-120"/>
            </a:endParaRP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altLang="en-US" sz="2400" smtClean="0">
                <a:ea typeface="Angsana New" pitchFamily="18" charset="-120"/>
              </a:rPr>
              <a:t>Linear Programming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altLang="en-US" sz="2400" smtClean="0">
                <a:ea typeface="Angsana New" pitchFamily="18" charset="-120"/>
              </a:rPr>
              <a:t>Approximation Algorithm</a:t>
            </a:r>
            <a:endParaRPr lang="th-TH" altLang="en-US" sz="2400" smtClean="0">
              <a:ea typeface="Angsana New" pitchFamily="18" charset="-120"/>
            </a:endParaRP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th-TH" altLang="en-US" sz="2400" smtClean="0"/>
              <a:t>NP Problem</a:t>
            </a:r>
          </a:p>
        </p:txBody>
      </p:sp>
      <p:sp>
        <p:nvSpPr>
          <p:cNvPr id="4813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092CD6-D9F0-461B-90FC-C4E076E3726D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481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1332E5-AA5A-4003-A6B1-F529DFA7E11D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accent1"/>
              </a:solidFill>
            </a:endParaRPr>
          </a:p>
        </p:txBody>
      </p:sp>
      <p:sp>
        <p:nvSpPr>
          <p:cNvPr id="48134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</p:spTree>
    <p:extLst>
      <p:ext uri="{BB962C8B-B14F-4D97-AF65-F5344CB8AC3E}">
        <p14:creationId xmlns:p14="http://schemas.microsoft.com/office/powerpoint/2010/main" val="3763723105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 smtClean="0"/>
              <a:t>Some Application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th-TH" altLang="en-US" smtClean="0"/>
              <a:t>Study problems these techniques can be applied to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th-TH" altLang="en-US" smtClean="0"/>
              <a:t>sorting 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th-TH" altLang="en-US" smtClean="0"/>
              <a:t>data retrieval 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th-TH" altLang="en-US" smtClean="0"/>
              <a:t>network routing 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th-TH" altLang="en-US" smtClean="0"/>
              <a:t>Games</a:t>
            </a:r>
            <a:endParaRPr lang="en-US" altLang="en-US" smtClean="0"/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altLang="en-US" smtClean="0"/>
              <a:t>etc</a:t>
            </a:r>
            <a:endParaRPr lang="th-TH" altLang="en-US" smtClean="0"/>
          </a:p>
        </p:txBody>
      </p:sp>
      <p:graphicFrame>
        <p:nvGraphicFramePr>
          <p:cNvPr id="49156" name="Object 2"/>
          <p:cNvGraphicFramePr>
            <a:graphicFrameLocks noChangeAspect="1"/>
          </p:cNvGraphicFramePr>
          <p:nvPr/>
        </p:nvGraphicFramePr>
        <p:xfrm>
          <a:off x="5410200" y="3657600"/>
          <a:ext cx="2200275" cy="219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Clip" r:id="rId3" imgW="3941763" imgH="3927475" progId="MS_ClipArt_Gallery.2">
                  <p:embed/>
                </p:oleObj>
              </mc:Choice>
              <mc:Fallback>
                <p:oleObj name="Clip" r:id="rId3" imgW="3941763" imgH="3927475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657600"/>
                        <a:ext cx="2200275" cy="219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Date Placeholder 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360C51-8A68-443D-89A8-55A8914CE236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491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0F5AC4-4F51-4ACC-89C0-BCAFC6C4F47F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accent1"/>
              </a:solidFill>
            </a:endParaRPr>
          </a:p>
        </p:txBody>
      </p:sp>
      <p:sp>
        <p:nvSpPr>
          <p:cNvPr id="49159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</p:spTree>
    <p:extLst>
      <p:ext uri="{BB962C8B-B14F-4D97-AF65-F5344CB8AC3E}">
        <p14:creationId xmlns:p14="http://schemas.microsoft.com/office/powerpoint/2010/main" val="3443577813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 sz="3200" smtClean="0"/>
              <a:t>What do we analyze about them? 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h-TH" altLang="en-US" sz="2800" smtClean="0">
                <a:solidFill>
                  <a:srgbClr val="009999"/>
                </a:solidFill>
              </a:rPr>
              <a:t>Correctness</a:t>
            </a:r>
            <a:endParaRPr lang="th-TH" altLang="en-US" sz="2800" smtClean="0"/>
          </a:p>
          <a:p>
            <a:pPr lvl="1" eaLnBrk="1" hangingPunct="1"/>
            <a:r>
              <a:rPr lang="th-TH" altLang="en-US" smtClean="0"/>
              <a:t>Does the input/output relation match algorithm requirement?</a:t>
            </a:r>
          </a:p>
          <a:p>
            <a:pPr eaLnBrk="1" hangingPunct="1"/>
            <a:r>
              <a:rPr lang="th-TH" altLang="en-US" sz="2800" smtClean="0">
                <a:solidFill>
                  <a:srgbClr val="009999"/>
                </a:solidFill>
              </a:rPr>
              <a:t>Amount of work done</a:t>
            </a:r>
            <a:r>
              <a:rPr lang="th-TH" altLang="en-US" sz="2800" smtClean="0"/>
              <a:t> (aka complexity) </a:t>
            </a:r>
          </a:p>
          <a:p>
            <a:pPr lvl="1" eaLnBrk="1" hangingPunct="1"/>
            <a:r>
              <a:rPr lang="th-TH" altLang="en-US" smtClean="0"/>
              <a:t>Basic operations to do task </a:t>
            </a:r>
            <a:r>
              <a:rPr lang="en-US" altLang="en-US" smtClean="0"/>
              <a:t>finite amount of time </a:t>
            </a:r>
            <a:endParaRPr lang="th-TH" altLang="en-US" smtClean="0"/>
          </a:p>
          <a:p>
            <a:pPr eaLnBrk="1" hangingPunct="1"/>
            <a:r>
              <a:rPr lang="th-TH" altLang="en-US" sz="2800" smtClean="0">
                <a:solidFill>
                  <a:srgbClr val="009999"/>
                </a:solidFill>
              </a:rPr>
              <a:t>Amount of space used</a:t>
            </a:r>
          </a:p>
          <a:p>
            <a:pPr lvl="1" eaLnBrk="1" hangingPunct="1"/>
            <a:r>
              <a:rPr lang="th-TH" altLang="en-US" smtClean="0"/>
              <a:t>Memory used </a:t>
            </a:r>
          </a:p>
        </p:txBody>
      </p:sp>
      <p:sp>
        <p:nvSpPr>
          <p:cNvPr id="5018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A6BE85-97F1-49F4-9B7A-3D494352FE9C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501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47F29E-F089-46AD-BB24-8CA2916F322F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solidFill>
                <a:schemeClr val="accent1"/>
              </a:solidFill>
            </a:endParaRPr>
          </a:p>
        </p:txBody>
      </p:sp>
      <p:sp>
        <p:nvSpPr>
          <p:cNvPr id="50182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</p:spTree>
    <p:extLst>
      <p:ext uri="{BB962C8B-B14F-4D97-AF65-F5344CB8AC3E}">
        <p14:creationId xmlns:p14="http://schemas.microsoft.com/office/powerpoint/2010/main" val="538779863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56038" y="6553200"/>
            <a:ext cx="2544762" cy="2254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Strengthening the Informal </a:t>
            </a:r>
            <a:r>
              <a:rPr lang="en-US" dirty="0" smtClean="0"/>
              <a:t>Definition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>
                <a:solidFill>
                  <a:schemeClr val="hlink"/>
                </a:solidFill>
              </a:rPr>
              <a:t>Important Features:</a:t>
            </a:r>
          </a:p>
          <a:p>
            <a:pPr lvl="1"/>
            <a:r>
              <a:rPr lang="en-US" altLang="en-US" smtClean="0"/>
              <a:t>Finiteness.[algo should end in finite amount of steps]</a:t>
            </a:r>
          </a:p>
          <a:p>
            <a:pPr lvl="1"/>
            <a:r>
              <a:rPr lang="en-US" altLang="en-US" smtClean="0"/>
              <a:t>Definiteness.[each instruction should be clear]</a:t>
            </a:r>
          </a:p>
          <a:p>
            <a:pPr lvl="1"/>
            <a:r>
              <a:rPr lang="en-US" altLang="en-US" smtClean="0"/>
              <a:t>Input.[valid input clearly specified ]</a:t>
            </a:r>
          </a:p>
          <a:p>
            <a:pPr lvl="1"/>
            <a:r>
              <a:rPr lang="en-US" altLang="en-US" smtClean="0"/>
              <a:t>Output.[single/multiple valid  output]</a:t>
            </a:r>
          </a:p>
          <a:p>
            <a:pPr lvl="1"/>
            <a:r>
              <a:rPr lang="en-US" altLang="en-US" smtClean="0"/>
              <a:t>Effectiveness.[ steps are sufficiently simple and basic]</a:t>
            </a:r>
          </a:p>
        </p:txBody>
      </p:sp>
      <p:sp>
        <p:nvSpPr>
          <p:cNvPr id="51205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692072-4F77-4A31-8B8F-EED06498E766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51206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95F3B9-59A6-46E2-B97F-1A7994947D6E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61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/>
              <a:t>performance analysis</a:t>
            </a:r>
            <a:endParaRPr lang="en-US" altLang="en-US" smtClean="0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/>
              <a:t>What is performance analysis?</a:t>
            </a:r>
          </a:p>
          <a:p>
            <a:r>
              <a:rPr lang="en-US" altLang="en-US" smtClean="0"/>
              <a:t>Performance analysis is the criteria for judging the algorithm.It have direct relationship to performance.When we solve a problem ,there may be more then one algorithm to solve a problem,through analysis we find the run time of an algorithms and we choose the best algorithm which takes lesser run time.</a:t>
            </a:r>
          </a:p>
        </p:txBody>
      </p:sp>
      <p:sp>
        <p:nvSpPr>
          <p:cNvPr id="5222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84FC7C-40B4-4D14-AA69-CF192C0EF106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5222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  <p:sp>
        <p:nvSpPr>
          <p:cNvPr id="522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90B396-3B08-47AE-B5F7-1EDD6115577A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94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33400" y="1828800"/>
            <a:ext cx="8229600" cy="1981200"/>
          </a:xfrm>
        </p:spPr>
        <p:txBody>
          <a:bodyPr/>
          <a:lstStyle/>
          <a:p>
            <a:pPr eaLnBrk="1" hangingPunct="1"/>
            <a:r>
              <a:rPr lang="en-US" altLang="en-US" smtClean="0">
                <a:ea typeface="Angsana New" pitchFamily="18" charset="-120"/>
              </a:rPr>
              <a:t>Example Of Algorithm</a:t>
            </a:r>
            <a:endParaRPr lang="th-TH" altLang="en-US" smtClean="0">
              <a:ea typeface="Angsana New" pitchFamily="18" charset="-120"/>
            </a:endParaRPr>
          </a:p>
        </p:txBody>
      </p:sp>
      <p:sp>
        <p:nvSpPr>
          <p:cNvPr id="53251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th-TH" altLang="en-US" smtClean="0"/>
          </a:p>
        </p:txBody>
      </p:sp>
    </p:spTree>
    <p:extLst>
      <p:ext uri="{BB962C8B-B14F-4D97-AF65-F5344CB8AC3E}">
        <p14:creationId xmlns:p14="http://schemas.microsoft.com/office/powerpoint/2010/main" val="3580580061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54275" name="Picture 2" descr="siide bar"/>
          <p:cNvPicPr>
            <a:picLocks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1066800"/>
          </a:xfrm>
          <a:noFill/>
        </p:spPr>
      </p:pic>
      <p:sp>
        <p:nvSpPr>
          <p:cNvPr id="54276" name="Text Box 3"/>
          <p:cNvSpPr txBox="1">
            <a:spLocks noChangeArrowheads="1"/>
          </p:cNvSpPr>
          <p:nvPr/>
        </p:nvSpPr>
        <p:spPr bwMode="auto">
          <a:xfrm>
            <a:off x="990600" y="0"/>
            <a:ext cx="7543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4400" b="1"/>
              <a:t> </a:t>
            </a:r>
            <a:endParaRPr lang="en-GB" altLang="en-US" sz="4400" b="1">
              <a:solidFill>
                <a:schemeClr val="bg1"/>
              </a:solidFill>
              <a:latin typeface="Garamond" pitchFamily="18" charset="0"/>
              <a:cs typeface="Arial" charset="0"/>
            </a:endParaRPr>
          </a:p>
        </p:txBody>
      </p:sp>
      <p:pic>
        <p:nvPicPr>
          <p:cNvPr id="54277" name="Picture 5" descr="siide b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91288"/>
            <a:ext cx="914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8" name="Line 6"/>
          <p:cNvSpPr>
            <a:spLocks noChangeShapeType="1"/>
          </p:cNvSpPr>
          <p:nvPr/>
        </p:nvSpPr>
        <p:spPr bwMode="auto">
          <a:xfrm>
            <a:off x="0" y="6481763"/>
            <a:ext cx="9144000" cy="0"/>
          </a:xfrm>
          <a:prstGeom prst="line">
            <a:avLst/>
          </a:prstGeom>
          <a:noFill/>
          <a:ln w="44450">
            <a:solidFill>
              <a:srgbClr val="006A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9" name="Rectangle 13"/>
          <p:cNvSpPr>
            <a:spLocks noChangeArrowheads="1"/>
          </p:cNvSpPr>
          <p:nvPr/>
        </p:nvSpPr>
        <p:spPr bwMode="auto">
          <a:xfrm>
            <a:off x="533400" y="1600200"/>
            <a:ext cx="861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54280" name="Rectangle 8"/>
          <p:cNvSpPr>
            <a:spLocks noChangeArrowheads="1"/>
          </p:cNvSpPr>
          <p:nvPr/>
        </p:nvSpPr>
        <p:spPr bwMode="auto">
          <a:xfrm>
            <a:off x="152400" y="152400"/>
            <a:ext cx="91567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bg1"/>
                </a:solidFill>
              </a:rPr>
              <a:t>Few Classical E</a:t>
            </a:r>
            <a:r>
              <a:rPr lang="en-US" altLang="en-US" sz="4400">
                <a:solidFill>
                  <a:schemeClr val="bg1"/>
                </a:solidFill>
              </a:rPr>
              <a:t>xamples</a:t>
            </a:r>
          </a:p>
        </p:txBody>
      </p:sp>
      <p:sp>
        <p:nvSpPr>
          <p:cNvPr id="54281" name="Rectangle 9"/>
          <p:cNvSpPr>
            <a:spLocks noChangeArrowheads="1"/>
          </p:cNvSpPr>
          <p:nvPr/>
        </p:nvSpPr>
        <p:spPr bwMode="auto">
          <a:xfrm>
            <a:off x="381000" y="1524000"/>
            <a:ext cx="87630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 Classical Multiplication Algorithms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	English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        American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        A la russe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        Divide and Conquer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54282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1752600" y="6553200"/>
            <a:ext cx="6248400" cy="30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/>
              <a:t>Analysis of Algorithm</a:t>
            </a:r>
          </a:p>
        </p:txBody>
      </p:sp>
      <p:sp>
        <p:nvSpPr>
          <p:cNvPr id="54283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7010400" y="66198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59DAB4-2E1A-4D06-AB13-59099F8563F7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54284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567113" y="6172200"/>
            <a:ext cx="2543175" cy="2254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D1471E-2B8F-4924-A261-BC5AF1EA2DDF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83914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Classic Multiplication</a:t>
            </a:r>
          </a:p>
        </p:txBody>
      </p:sp>
      <p:sp>
        <p:nvSpPr>
          <p:cNvPr id="56323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563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0"/>
            <a:ext cx="7264400" cy="386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60463" y="6400800"/>
            <a:ext cx="4800600" cy="3968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/>
              <a:t>Analysis of Algorithm</a:t>
            </a:r>
          </a:p>
        </p:txBody>
      </p:sp>
      <p:sp>
        <p:nvSpPr>
          <p:cNvPr id="5632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CE48DE-CAE0-4DA3-BE00-FB14D84B260F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56327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124200" y="6400800"/>
            <a:ext cx="3276600" cy="377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7803C1-910F-4F6D-9675-39CFEB8D0E3F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84750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Multiplication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57348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573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163" y="1447800"/>
            <a:ext cx="6324600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CBB158-448F-4898-8E4F-9DADE5BB746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57351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352800" y="6400800"/>
            <a:ext cx="3048000" cy="377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C1337C-27DF-4D81-9E79-B3A09BB69E13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5735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</p:spTree>
    <p:extLst>
      <p:ext uri="{BB962C8B-B14F-4D97-AF65-F5344CB8AC3E}">
        <p14:creationId xmlns:p14="http://schemas.microsoft.com/office/powerpoint/2010/main" val="398314624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Multiplication</a:t>
            </a:r>
          </a:p>
        </p:txBody>
      </p:sp>
      <p:pic>
        <p:nvPicPr>
          <p:cNvPr id="58371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913" y="1600200"/>
            <a:ext cx="6897687" cy="5257800"/>
          </a:xfrm>
          <a:noFill/>
        </p:spPr>
      </p:pic>
      <p:sp>
        <p:nvSpPr>
          <p:cNvPr id="5837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7415FB-553F-47CE-83BC-D7E97BAE198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58373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200400" y="6477000"/>
            <a:ext cx="3200400" cy="301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D5F02E-8ED4-4B7E-8D34-AEB6442F0EEF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5837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</p:spTree>
    <p:extLst>
      <p:ext uri="{BB962C8B-B14F-4D97-AF65-F5344CB8AC3E}">
        <p14:creationId xmlns:p14="http://schemas.microsoft.com/office/powerpoint/2010/main" val="191121488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 smtClean="0"/>
              <a:t>The Selection Problem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altLang="en-US" sz="3600" smtClean="0">
              <a:solidFill>
                <a:schemeClr val="hlink"/>
              </a:solidFill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3600" smtClean="0">
                <a:solidFill>
                  <a:schemeClr val="hlink"/>
                </a:solidFill>
              </a:rPr>
              <a:t>      </a:t>
            </a:r>
            <a:r>
              <a:rPr lang="th-TH" altLang="en-US" sz="3600" smtClean="0">
                <a:solidFill>
                  <a:schemeClr val="hlink"/>
                </a:solidFill>
              </a:rPr>
              <a:t>Which algorithm is better?</a:t>
            </a:r>
          </a:p>
        </p:txBody>
      </p:sp>
      <p:graphicFrame>
        <p:nvGraphicFramePr>
          <p:cNvPr id="59396" name="Object 2"/>
          <p:cNvGraphicFramePr>
            <a:graphicFrameLocks noChangeAspect="1"/>
          </p:cNvGraphicFramePr>
          <p:nvPr/>
        </p:nvGraphicFramePr>
        <p:xfrm>
          <a:off x="6629400" y="2743200"/>
          <a:ext cx="1133475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Clip" r:id="rId3" imgW="1857375" imgH="3995738" progId="MS_ClipArt_Gallery.2">
                  <p:embed/>
                </p:oleObj>
              </mc:Choice>
              <mc:Fallback>
                <p:oleObj name="Clip" r:id="rId3" imgW="1857375" imgH="39957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743200"/>
                        <a:ext cx="1133475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7" name="Date Placeholder 4"/>
          <p:cNvSpPr>
            <a:spLocks noGrp="1"/>
          </p:cNvSpPr>
          <p:nvPr>
            <p:ph type="dt" sz="quarter" idx="10"/>
          </p:nvPr>
        </p:nvSpPr>
        <p:spPr>
          <a:xfrm>
            <a:off x="3048000" y="6324600"/>
            <a:ext cx="3352800" cy="4540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2667EE-56E8-400C-A43C-60E2CAAD0D5F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593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88E87D-20EA-44B4-8B16-5014D92DFEE7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>
              <a:solidFill>
                <a:schemeClr val="accent1"/>
              </a:solidFill>
            </a:endParaRPr>
          </a:p>
        </p:txBody>
      </p:sp>
      <p:sp>
        <p:nvSpPr>
          <p:cNvPr id="59399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</p:spTree>
    <p:extLst>
      <p:ext uri="{BB962C8B-B14F-4D97-AF65-F5344CB8AC3E}">
        <p14:creationId xmlns:p14="http://schemas.microsoft.com/office/powerpoint/2010/main" val="378515880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 smtClean="0"/>
              <a:t>Which algorithm is better?</a:t>
            </a:r>
            <a:endParaRPr lang="en-US" altLang="en-US" smtClean="0"/>
          </a:p>
        </p:txBody>
      </p:sp>
      <p:graphicFrame>
        <p:nvGraphicFramePr>
          <p:cNvPr id="60419" name="Object 2"/>
          <p:cNvGraphicFramePr>
            <a:graphicFrameLocks noChangeAspect="1"/>
          </p:cNvGraphicFramePr>
          <p:nvPr>
            <p:ph sz="half" idx="1"/>
          </p:nvPr>
        </p:nvGraphicFramePr>
        <p:xfrm>
          <a:off x="6019800" y="1828800"/>
          <a:ext cx="1857375" cy="399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Clip" r:id="rId3" imgW="1857375" imgH="3995738" progId="MS_ClipArt_Gallery.2">
                  <p:embed/>
                </p:oleObj>
              </mc:Choice>
              <mc:Fallback>
                <p:oleObj name="Clip" r:id="rId3" imgW="1857375" imgH="39957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6019800" y="1828800"/>
                        <a:ext cx="1857375" cy="399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0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09600" y="1371600"/>
            <a:ext cx="4038600" cy="50260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b="1" smtClean="0"/>
              <a:t>The algorithms are correct,  but which is the best?</a:t>
            </a:r>
            <a:r>
              <a:rPr lang="en-US" altLang="en-US" sz="2400" smtClean="0"/>
              <a:t> </a:t>
            </a:r>
          </a:p>
          <a:p>
            <a:pPr eaLnBrk="1" hangingPunct="1"/>
            <a:r>
              <a:rPr lang="en-US" altLang="en-US" sz="2400" smtClean="0"/>
              <a:t>Measure the running time (number of operations needed).</a:t>
            </a:r>
          </a:p>
          <a:p>
            <a:pPr eaLnBrk="1" hangingPunct="1"/>
            <a:r>
              <a:rPr lang="en-US" altLang="en-US" sz="2400" smtClean="0"/>
              <a:t> Measure the amount of memory used.</a:t>
            </a:r>
          </a:p>
          <a:p>
            <a:pPr eaLnBrk="1" hangingPunct="1"/>
            <a:r>
              <a:rPr lang="en-US" altLang="en-US" sz="2400" smtClean="0"/>
              <a:t> Note that the running time of the algorithms increase as the size of the input increases.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 smtClean="0"/>
          </a:p>
          <a:p>
            <a:pPr eaLnBrk="1" hangingPunct="1">
              <a:buFont typeface="Wingdings" pitchFamily="2" charset="2"/>
              <a:buNone/>
            </a:pPr>
            <a:endParaRPr lang="en-US" altLang="en-US" sz="2400" smtClean="0"/>
          </a:p>
        </p:txBody>
      </p:sp>
      <p:sp>
        <p:nvSpPr>
          <p:cNvPr id="60421" name="Date Placeholder 5"/>
          <p:cNvSpPr>
            <a:spLocks noGrp="1"/>
          </p:cNvSpPr>
          <p:nvPr>
            <p:ph type="dt" sz="quarter" idx="10"/>
          </p:nvPr>
        </p:nvSpPr>
        <p:spPr>
          <a:xfrm>
            <a:off x="3352800" y="6400800"/>
            <a:ext cx="3048000" cy="377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F88E1F-D405-4CFE-8A94-815166BFA26C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60422" name="Footer Placeholder 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  <p:sp>
        <p:nvSpPr>
          <p:cNvPr id="6042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F1ECC3-4A92-46B1-8257-B9DB5CE008D6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122557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 smtClean="0">
                <a:solidFill>
                  <a:schemeClr val="accent1"/>
                </a:solidFill>
                <a:ea typeface="PMingLiU" pitchFamily="18" charset="-120"/>
              </a:rPr>
              <a:t>Analysis of Algorithm</a:t>
            </a:r>
          </a:p>
        </p:txBody>
      </p:sp>
      <p:sp>
        <p:nvSpPr>
          <p:cNvPr id="6144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5039BC-4AD4-40B6-8232-58FD485AEF4A}" type="slidenum">
              <a:rPr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TW" sz="1400">
              <a:solidFill>
                <a:schemeClr val="accent1"/>
              </a:solidFill>
            </a:endParaRPr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altLang="zh-TW" smtClean="0">
                <a:ea typeface="PMingLiU" pitchFamily="18" charset="-120"/>
              </a:rPr>
              <a:t>Running Time  	</a:t>
            </a:r>
          </a:p>
        </p:txBody>
      </p:sp>
      <p:sp>
        <p:nvSpPr>
          <p:cNvPr id="6144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692696"/>
            <a:ext cx="4419600" cy="578430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 smtClean="0">
                <a:ea typeface="PMingLiU" pitchFamily="18" charset="-120"/>
              </a:rPr>
              <a:t>Most algorithms transform input objects into output objects.</a:t>
            </a:r>
          </a:p>
          <a:p>
            <a:pPr>
              <a:lnSpc>
                <a:spcPct val="90000"/>
              </a:lnSpc>
            </a:pPr>
            <a:r>
              <a:rPr lang="en-US" altLang="zh-TW" sz="2400" dirty="0" smtClean="0">
                <a:ea typeface="PMingLiU" pitchFamily="18" charset="-120"/>
              </a:rPr>
              <a:t>The running time of an algorithm typically grows with the input size.</a:t>
            </a:r>
          </a:p>
          <a:p>
            <a:pPr>
              <a:lnSpc>
                <a:spcPct val="90000"/>
              </a:lnSpc>
            </a:pPr>
            <a:r>
              <a:rPr lang="en-US" altLang="zh-TW" sz="2400" dirty="0" smtClean="0">
                <a:ea typeface="PMingLiU" pitchFamily="18" charset="-120"/>
              </a:rPr>
              <a:t>Average case time is often difficult to determine.</a:t>
            </a:r>
          </a:p>
          <a:p>
            <a:pPr>
              <a:lnSpc>
                <a:spcPct val="90000"/>
              </a:lnSpc>
            </a:pPr>
            <a:r>
              <a:rPr lang="en-US" altLang="zh-TW" sz="2400" dirty="0" smtClean="0">
                <a:ea typeface="PMingLiU" pitchFamily="18" charset="-120"/>
              </a:rPr>
              <a:t>We focus on the </a:t>
            </a:r>
            <a:r>
              <a:rPr lang="en-US" altLang="zh-TW" sz="2400" u="sng" dirty="0" smtClean="0">
                <a:ea typeface="PMingLiU" pitchFamily="18" charset="-120"/>
              </a:rPr>
              <a:t>worst case running time</a:t>
            </a:r>
            <a:r>
              <a:rPr lang="en-US" altLang="zh-TW" sz="2400" dirty="0" smtClean="0">
                <a:ea typeface="PMingLiU" pitchFamily="18" charset="-120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 smtClean="0">
                <a:ea typeface="PMingLiU" pitchFamily="18" charset="-120"/>
              </a:rPr>
              <a:t>Easier to analyze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 smtClean="0">
                <a:ea typeface="PMingLiU" pitchFamily="18" charset="-120"/>
              </a:rPr>
              <a:t>Crucial to applications such as games, finance and robotics</a:t>
            </a:r>
          </a:p>
        </p:txBody>
      </p:sp>
      <p:graphicFrame>
        <p:nvGraphicFramePr>
          <p:cNvPr id="61446" name="Object 4"/>
          <p:cNvGraphicFramePr>
            <a:graphicFrameLocks noGrp="1" noChangeAspect="1"/>
          </p:cNvGraphicFramePr>
          <p:nvPr>
            <p:ph type="chart" sz="half" idx="2"/>
          </p:nvPr>
        </p:nvGraphicFramePr>
        <p:xfrm>
          <a:off x="4724400" y="1676400"/>
          <a:ext cx="3943350" cy="420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Chart" r:id="rId3" imgW="3943257" imgH="4200525" progId="MSGraph.Chart.8">
                  <p:embed followColorScheme="full"/>
                </p:oleObj>
              </mc:Choice>
              <mc:Fallback>
                <p:oleObj name="Chart" r:id="rId3" imgW="3943257" imgH="4200525" progId="MSGraph.Chart.8">
                  <p:embed followColorScheme="full"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676400"/>
                        <a:ext cx="3943350" cy="420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7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C54572-965B-4AF7-A1A0-108D3E98E24A}" type="datetime2">
              <a:rPr lang="en-US" altLang="zh-TW" sz="1400" smtClean="0">
                <a:solidFill>
                  <a:schemeClr val="accent1"/>
                </a:solidFill>
                <a:ea typeface="PMingLiU" pitchFamily="18" charset="-120"/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zh-TW" sz="1400" smtClean="0">
              <a:solidFill>
                <a:schemeClr val="accent1"/>
              </a:solidFill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68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 smtClean="0">
                <a:solidFill>
                  <a:schemeClr val="accent1"/>
                </a:solidFill>
                <a:ea typeface="PMingLiU" pitchFamily="18" charset="-120"/>
              </a:rPr>
              <a:t>Analysis of Algorithm</a:t>
            </a:r>
          </a:p>
        </p:txBody>
      </p:sp>
      <p:sp>
        <p:nvSpPr>
          <p:cNvPr id="6246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621D6F-7B20-4879-8B3F-00A1DEBB6BE4}" type="slidenum">
              <a:rPr lang="zh-TW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TW" sz="1400">
              <a:solidFill>
                <a:schemeClr val="accent1"/>
              </a:solidFill>
            </a:endParaRP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ea typeface="PMingLiU" pitchFamily="18" charset="-120"/>
              </a:rPr>
              <a:t>Experimental Studies</a:t>
            </a:r>
          </a:p>
        </p:txBody>
      </p:sp>
      <p:sp>
        <p:nvSpPr>
          <p:cNvPr id="6246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05000"/>
            <a:ext cx="4191000" cy="4267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smtClean="0">
                <a:ea typeface="PMingLiU" pitchFamily="18" charset="-120"/>
              </a:rPr>
              <a:t>Write a program implementing the algorithm</a:t>
            </a:r>
          </a:p>
          <a:p>
            <a:pPr>
              <a:lnSpc>
                <a:spcPct val="90000"/>
              </a:lnSpc>
            </a:pPr>
            <a:r>
              <a:rPr lang="en-US" altLang="zh-TW" sz="2400" smtClean="0">
                <a:ea typeface="PMingLiU" pitchFamily="18" charset="-120"/>
              </a:rPr>
              <a:t>Run the program with inputs of varying size and composition</a:t>
            </a:r>
          </a:p>
          <a:p>
            <a:pPr>
              <a:lnSpc>
                <a:spcPct val="90000"/>
              </a:lnSpc>
            </a:pPr>
            <a:r>
              <a:rPr lang="en-US" altLang="zh-TW" sz="2400" smtClean="0">
                <a:ea typeface="PMingLiU" pitchFamily="18" charset="-120"/>
              </a:rPr>
              <a:t>Use a method like </a:t>
            </a:r>
            <a:r>
              <a:rPr lang="en-US" altLang="zh-TW" sz="2400" smtClean="0">
                <a:solidFill>
                  <a:schemeClr val="accent2"/>
                </a:solidFill>
                <a:latin typeface="Arial Narrow" pitchFamily="34" charset="0"/>
                <a:ea typeface="PMingLiU" pitchFamily="18" charset="-120"/>
              </a:rPr>
              <a:t>System.currentTimeMillis()</a:t>
            </a:r>
            <a:r>
              <a:rPr lang="en-US" altLang="zh-TW" sz="2400" smtClean="0">
                <a:ea typeface="PMingLiU" pitchFamily="18" charset="-120"/>
              </a:rPr>
              <a:t> to get an accurate measure of the actual running time</a:t>
            </a:r>
          </a:p>
          <a:p>
            <a:pPr>
              <a:lnSpc>
                <a:spcPct val="90000"/>
              </a:lnSpc>
            </a:pPr>
            <a:r>
              <a:rPr lang="en-US" altLang="zh-TW" sz="2400" smtClean="0">
                <a:ea typeface="PMingLiU" pitchFamily="18" charset="-120"/>
              </a:rPr>
              <a:t>Plot the results</a:t>
            </a:r>
          </a:p>
        </p:txBody>
      </p:sp>
      <p:graphicFrame>
        <p:nvGraphicFramePr>
          <p:cNvPr id="62470" name="Object 4"/>
          <p:cNvGraphicFramePr>
            <a:graphicFrameLocks noGrp="1" noChangeAspect="1"/>
          </p:cNvGraphicFramePr>
          <p:nvPr>
            <p:ph type="chart" sz="half" idx="2"/>
          </p:nvPr>
        </p:nvGraphicFramePr>
        <p:xfrm>
          <a:off x="4510088" y="1752600"/>
          <a:ext cx="4429125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Chart" r:id="rId3" imgW="4429109" imgH="4648159" progId="MSGraph.Chart.8">
                  <p:embed followColorScheme="full"/>
                </p:oleObj>
              </mc:Choice>
              <mc:Fallback>
                <p:oleObj name="Chart" r:id="rId3" imgW="4429109" imgH="4648159" progId="MSGraph.Chart.8">
                  <p:embed followColorScheme="full"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088" y="1752600"/>
                        <a:ext cx="4429125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1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2D3091-7E27-417E-81AE-A0CABD33D880}" type="datetime2">
              <a:rPr lang="en-US" altLang="zh-TW" sz="1400" smtClean="0">
                <a:solidFill>
                  <a:schemeClr val="accent1"/>
                </a:solidFill>
                <a:ea typeface="PMingLiU" pitchFamily="18" charset="-120"/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zh-TW" sz="1400" smtClean="0">
              <a:solidFill>
                <a:schemeClr val="accent1"/>
              </a:solidFill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005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 smtClean="0">
                <a:solidFill>
                  <a:schemeClr val="accent1"/>
                </a:solidFill>
                <a:ea typeface="PMingLiU" pitchFamily="18" charset="-120"/>
              </a:rPr>
              <a:t>Analysis of Algorithm</a:t>
            </a:r>
          </a:p>
        </p:txBody>
      </p:sp>
      <p:sp>
        <p:nvSpPr>
          <p:cNvPr id="6349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23B429-5F4E-42D6-8BA0-604BA25B203B}" type="slidenum">
              <a:rPr lang="zh-TW" altLang="en-US" sz="1400">
                <a:solidFill>
                  <a:schemeClr val="accent1"/>
                </a:solidFill>
                <a:ea typeface="PMingLiU" pitchFamily="18" charset="-12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TW" sz="1400">
              <a:solidFill>
                <a:schemeClr val="accent1"/>
              </a:solidFill>
              <a:ea typeface="PMingLiU" pitchFamily="18" charset="-120"/>
            </a:endParaRPr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ea typeface="PMingLiU" pitchFamily="18" charset="-120"/>
              </a:rPr>
              <a:t>Limitations of Experiments</a:t>
            </a:r>
          </a:p>
        </p:txBody>
      </p:sp>
      <p:sp>
        <p:nvSpPr>
          <p:cNvPr id="6349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80772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mtClean="0">
                <a:ea typeface="PMingLiU" pitchFamily="18" charset="-120"/>
              </a:rPr>
              <a:t>It is necessary to implement the algorithm, which may be difficult</a:t>
            </a:r>
          </a:p>
          <a:p>
            <a:pPr>
              <a:lnSpc>
                <a:spcPct val="90000"/>
              </a:lnSpc>
            </a:pPr>
            <a:r>
              <a:rPr lang="en-US" altLang="zh-TW" smtClean="0">
                <a:ea typeface="PMingLiU" pitchFamily="18" charset="-120"/>
              </a:rPr>
              <a:t>Results may not be indicative of the running time on other inputs not included in the experiment. </a:t>
            </a:r>
          </a:p>
          <a:p>
            <a:pPr>
              <a:lnSpc>
                <a:spcPct val="90000"/>
              </a:lnSpc>
            </a:pPr>
            <a:r>
              <a:rPr lang="en-US" altLang="zh-TW" smtClean="0">
                <a:ea typeface="PMingLiU" pitchFamily="18" charset="-120"/>
              </a:rPr>
              <a:t>In order to compare two algorithms, the same hardware and software environments must be used</a:t>
            </a:r>
          </a:p>
        </p:txBody>
      </p:sp>
      <p:sp>
        <p:nvSpPr>
          <p:cNvPr id="63494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352800" y="6477000"/>
            <a:ext cx="3048000" cy="301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9A5A38-5CEC-43BE-907C-1567ACECFE9B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84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 smtClean="0">
                <a:solidFill>
                  <a:schemeClr val="accent1"/>
                </a:solidFill>
                <a:ea typeface="PMingLiU" pitchFamily="18" charset="-120"/>
              </a:rPr>
              <a:t>Analysis of Algorithm</a:t>
            </a:r>
          </a:p>
        </p:txBody>
      </p:sp>
      <p:sp>
        <p:nvSpPr>
          <p:cNvPr id="6451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8B65B5-7816-4E48-BA65-A12F1FE6E7B4}" type="slidenum">
              <a:rPr lang="zh-TW" altLang="en-US" sz="1400">
                <a:solidFill>
                  <a:schemeClr val="accent1"/>
                </a:solidFill>
                <a:ea typeface="PMingLiU" pitchFamily="18" charset="-12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TW" sz="1400">
              <a:solidFill>
                <a:schemeClr val="accent1"/>
              </a:solidFill>
              <a:ea typeface="PMingLiU" pitchFamily="18" charset="-120"/>
            </a:endParaRPr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ea typeface="PMingLiU" pitchFamily="18" charset="-120"/>
              </a:rPr>
              <a:t>Theoretical Analysis</a:t>
            </a:r>
          </a:p>
        </p:txBody>
      </p:sp>
      <p:sp>
        <p:nvSpPr>
          <p:cNvPr id="645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4267200"/>
          </a:xfrm>
        </p:spPr>
        <p:txBody>
          <a:bodyPr/>
          <a:lstStyle/>
          <a:p>
            <a:r>
              <a:rPr lang="en-US" altLang="zh-TW" smtClean="0">
                <a:ea typeface="PMingLiU" pitchFamily="18" charset="-120"/>
              </a:rPr>
              <a:t>Uses a high-level description of the algorithm instead of an implementation</a:t>
            </a:r>
          </a:p>
          <a:p>
            <a:r>
              <a:rPr lang="en-US" altLang="zh-TW" smtClean="0">
                <a:ea typeface="PMingLiU" pitchFamily="18" charset="-120"/>
              </a:rPr>
              <a:t>Characterizes running time as a function of the input size, </a:t>
            </a:r>
            <a:r>
              <a:rPr lang="en-US" altLang="zh-TW" i="1" smtClean="0">
                <a:ea typeface="PMingLiU" pitchFamily="18" charset="-120"/>
              </a:rPr>
              <a:t>n</a:t>
            </a:r>
            <a:r>
              <a:rPr lang="en-US" altLang="zh-TW" smtClean="0">
                <a:ea typeface="PMingLiU" pitchFamily="18" charset="-120"/>
              </a:rPr>
              <a:t>.</a:t>
            </a:r>
          </a:p>
          <a:p>
            <a:r>
              <a:rPr lang="en-US" altLang="zh-TW" smtClean="0">
                <a:ea typeface="PMingLiU" pitchFamily="18" charset="-120"/>
              </a:rPr>
              <a:t>Takes into account all possible inputs</a:t>
            </a:r>
          </a:p>
          <a:p>
            <a:r>
              <a:rPr lang="en-US" altLang="zh-TW" smtClean="0">
                <a:ea typeface="PMingLiU" pitchFamily="18" charset="-120"/>
              </a:rPr>
              <a:t>Allows us to evaluate the speed of an algorithm independent of the hardware/software environment</a:t>
            </a:r>
          </a:p>
        </p:txBody>
      </p:sp>
      <p:graphicFrame>
        <p:nvGraphicFramePr>
          <p:cNvPr id="64518" name="Object 4"/>
          <p:cNvGraphicFramePr>
            <a:graphicFrameLocks noChangeAspect="1"/>
          </p:cNvGraphicFramePr>
          <p:nvPr/>
        </p:nvGraphicFramePr>
        <p:xfrm>
          <a:off x="7162800" y="228600"/>
          <a:ext cx="14954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Clip" r:id="rId3" imgW="2309813" imgH="3176588" progId="MS_ClipArt_Gallery.2">
                  <p:embed/>
                </p:oleObj>
              </mc:Choice>
              <mc:Fallback>
                <p:oleObj name="Clip" r:id="rId3" imgW="2309813" imgH="317658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28600"/>
                        <a:ext cx="1495425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9" name="Date Placeholder 1"/>
          <p:cNvSpPr>
            <a:spLocks noGrp="1"/>
          </p:cNvSpPr>
          <p:nvPr>
            <p:ph type="dt" sz="quarter" idx="10"/>
          </p:nvPr>
        </p:nvSpPr>
        <p:spPr>
          <a:xfrm>
            <a:off x="2971800" y="6248400"/>
            <a:ext cx="3429000" cy="530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220212-0484-43DB-A520-C98B4C7B8811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81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 smtClean="0"/>
              <a:t>RAM model </a:t>
            </a:r>
            <a:endParaRPr lang="en-US" altLang="en-US" smtClean="0"/>
          </a:p>
        </p:txBody>
      </p:sp>
      <p:sp>
        <p:nvSpPr>
          <p:cNvPr id="65539" name="Content Placeholder 2"/>
          <p:cNvSpPr>
            <a:spLocks noGrp="1"/>
          </p:cNvSpPr>
          <p:nvPr>
            <p:ph sz="half" idx="1"/>
          </p:nvPr>
        </p:nvSpPr>
        <p:spPr>
          <a:xfrm>
            <a:off x="1259632" y="2136706"/>
            <a:ext cx="4176464" cy="3767397"/>
          </a:xfrm>
        </p:spPr>
        <p:txBody>
          <a:bodyPr/>
          <a:lstStyle/>
          <a:p>
            <a:pPr eaLnBrk="1" hangingPunct="1"/>
            <a:r>
              <a:rPr lang="th-TH" altLang="en-US" dirty="0" smtClean="0"/>
              <a:t>has one processor</a:t>
            </a:r>
          </a:p>
          <a:p>
            <a:pPr eaLnBrk="1" hangingPunct="1"/>
            <a:r>
              <a:rPr lang="th-TH" altLang="en-US" dirty="0" smtClean="0"/>
              <a:t>executes one instruction at a time</a:t>
            </a:r>
          </a:p>
          <a:p>
            <a:pPr eaLnBrk="1" hangingPunct="1"/>
            <a:r>
              <a:rPr lang="th-TH" altLang="en-US" dirty="0" smtClean="0"/>
              <a:t>each instruction takes "unit time“</a:t>
            </a:r>
          </a:p>
          <a:p>
            <a:pPr eaLnBrk="1" hangingPunct="1"/>
            <a:r>
              <a:rPr lang="th-TH" altLang="en-US" dirty="0" smtClean="0"/>
              <a:t>has fixed-size operands, and</a:t>
            </a:r>
          </a:p>
          <a:p>
            <a:pPr eaLnBrk="1" hangingPunct="1"/>
            <a:r>
              <a:rPr lang="th-TH" altLang="en-US" dirty="0" smtClean="0"/>
              <a:t>has fixed size storage (RAM and disk). </a:t>
            </a:r>
          </a:p>
          <a:p>
            <a:pPr eaLnBrk="1" hangingPunct="1"/>
            <a:endParaRPr lang="en-US" altLang="en-US" dirty="0" smtClean="0"/>
          </a:p>
        </p:txBody>
      </p:sp>
      <p:pic>
        <p:nvPicPr>
          <p:cNvPr id="65540" name="Picture 4" descr="j019538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68975" y="2968625"/>
            <a:ext cx="1797050" cy="1831975"/>
          </a:xfrm>
          <a:noFill/>
        </p:spPr>
      </p:pic>
      <p:sp>
        <p:nvSpPr>
          <p:cNvPr id="65541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 dirty="0" smtClean="0">
              <a:solidFill>
                <a:schemeClr val="accent1"/>
              </a:solidFill>
            </a:endParaRPr>
          </a:p>
        </p:txBody>
      </p:sp>
      <p:sp>
        <p:nvSpPr>
          <p:cNvPr id="655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  <p:sp>
        <p:nvSpPr>
          <p:cNvPr id="655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65FA31-7E48-4BAB-B14A-C704318CA3DE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083863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 smtClean="0">
                <a:solidFill>
                  <a:schemeClr val="accent1"/>
                </a:solidFill>
                <a:ea typeface="PMingLiU" pitchFamily="18" charset="-120"/>
              </a:rPr>
              <a:t>Analysis of Algorithm</a:t>
            </a:r>
          </a:p>
        </p:txBody>
      </p:sp>
      <p:sp>
        <p:nvSpPr>
          <p:cNvPr id="6656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B9C73C-1445-44AC-8944-D2A976502EBB}" type="slidenum">
              <a:rPr lang="zh-TW" altLang="en-US" sz="1400">
                <a:solidFill>
                  <a:schemeClr val="accent1"/>
                </a:solidFill>
                <a:ea typeface="PMingLiU" pitchFamily="18" charset="-12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TW" sz="1400">
              <a:solidFill>
                <a:schemeClr val="accent1"/>
              </a:solidFill>
              <a:ea typeface="PMingLiU" pitchFamily="18" charset="-120"/>
            </a:endParaRP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6781800" cy="1143000"/>
          </a:xfrm>
        </p:spPr>
        <p:txBody>
          <a:bodyPr/>
          <a:lstStyle/>
          <a:p>
            <a:r>
              <a:rPr lang="en-US" altLang="zh-TW" smtClean="0">
                <a:ea typeface="PMingLiU" pitchFamily="18" charset="-120"/>
              </a:rPr>
              <a:t>Counting Primitive Operations (§3.4)</a:t>
            </a:r>
          </a:p>
        </p:txBody>
      </p:sp>
      <p:sp>
        <p:nvSpPr>
          <p:cNvPr id="6656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8153400" cy="990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400" smtClean="0">
                <a:ea typeface="PMingLiU" pitchFamily="18" charset="-120"/>
              </a:rPr>
              <a:t>By inspecting the pseudo code, we can determine the maximum number of primitive/basic operations executed by an algorithm, as a function of the input size</a:t>
            </a:r>
          </a:p>
        </p:txBody>
      </p:sp>
      <p:sp>
        <p:nvSpPr>
          <p:cNvPr id="6656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1371600" y="2971800"/>
            <a:ext cx="7010400" cy="32766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TW" sz="2400" b="1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</a:rPr>
              <a:t>Algorithm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</a:rPr>
              <a:t> </a:t>
            </a:r>
            <a:r>
              <a:rPr lang="en-US" altLang="zh-TW" sz="2400" b="1" i="1" smtClean="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</a:rPr>
              <a:t>arrayMax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</a:rPr>
              <a:t>(</a:t>
            </a:r>
            <a:r>
              <a:rPr lang="en-US" altLang="zh-TW" sz="2400" b="1" i="1" smtClean="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</a:rPr>
              <a:t>A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</a:rPr>
              <a:t>, </a:t>
            </a:r>
            <a:r>
              <a:rPr lang="en-US" altLang="zh-TW" sz="2400" b="1" i="1" smtClean="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</a:rPr>
              <a:t>n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</a:rPr>
              <a:t>)</a:t>
            </a:r>
          </a:p>
          <a:p>
            <a:pPr>
              <a:lnSpc>
                <a:spcPct val="0"/>
              </a:lnSpc>
              <a:spcBef>
                <a:spcPct val="0"/>
              </a:spcBef>
              <a:buFontTx/>
              <a:buNone/>
            </a:pPr>
            <a:r>
              <a:rPr lang="en-US" altLang="zh-TW" sz="2400" b="1" smtClean="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</a:rPr>
              <a:t>	</a:t>
            </a:r>
            <a:r>
              <a:rPr lang="en-US" altLang="zh-TW" sz="2400" b="1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</a:rPr>
              <a:t>				</a:t>
            </a:r>
            <a:r>
              <a:rPr lang="en-US" altLang="zh-TW" sz="2400" b="1" i="1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</a:rPr>
              <a:t>	     </a:t>
            </a:r>
            <a:r>
              <a:rPr lang="en-US" altLang="zh-TW" sz="2400" smtClean="0">
                <a:ea typeface="PMingLiU" pitchFamily="18" charset="-120"/>
              </a:rPr>
              <a:t># operations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</a:rPr>
              <a:t>	</a:t>
            </a:r>
            <a:r>
              <a:rPr lang="en-US" altLang="zh-TW" sz="2400" b="1" i="1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</a:rPr>
              <a:t>currentMax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</a:rPr>
              <a:t> </a:t>
            </a:r>
            <a:r>
              <a:rPr lang="en-US" altLang="zh-TW" sz="2400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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 </a:t>
            </a:r>
            <a:r>
              <a:rPr lang="en-US" altLang="zh-TW" sz="2400" b="1" i="1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A</a:t>
            </a:r>
            <a:r>
              <a:rPr lang="en-US" altLang="zh-TW" sz="2400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[0]			     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2</a:t>
            </a:r>
            <a:endParaRPr lang="en-US" altLang="zh-TW" sz="2400" smtClean="0">
              <a:latin typeface="Times New Roman" pitchFamily="18" charset="0"/>
              <a:ea typeface="PMingLiU" pitchFamily="18" charset="-12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smtClean="0">
                <a:latin typeface="Times New Roman" pitchFamily="18" charset="0"/>
                <a:ea typeface="PMingLiU" pitchFamily="18" charset="-120"/>
              </a:rPr>
              <a:t>	</a:t>
            </a:r>
            <a:r>
              <a:rPr lang="en-US" altLang="zh-TW" sz="2400" b="1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</a:rPr>
              <a:t>for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</a:rPr>
              <a:t> (</a:t>
            </a:r>
            <a:r>
              <a:rPr lang="en-US" altLang="zh-TW" sz="2400" b="1" i="1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</a:rPr>
              <a:t>i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</a:rPr>
              <a:t> =1; i&lt;n; i++)           </a:t>
            </a:r>
            <a:r>
              <a:rPr lang="en-US" altLang="zh-TW" sz="2400" b="1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			    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2</a:t>
            </a:r>
            <a:r>
              <a:rPr lang="en-US" altLang="zh-TW" sz="2400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b="1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                                     </a:t>
            </a:r>
            <a:r>
              <a:rPr lang="en-US" altLang="zh-TW" sz="2000" smtClean="0">
                <a:solidFill>
                  <a:srgbClr val="32AA2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(i=1 once, i&lt;n  n times, i++ (n-1) times:post increment i.e 1+ n + n -1 = 2n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		</a:t>
            </a:r>
            <a:r>
              <a:rPr lang="en-US" altLang="zh-TW" sz="2400" b="1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if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</a:t>
            </a:r>
            <a:r>
              <a:rPr lang="en-US" altLang="zh-TW" sz="2400" b="1" i="1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A</a:t>
            </a:r>
            <a:r>
              <a:rPr lang="en-US" altLang="zh-TW" sz="2400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[</a:t>
            </a:r>
            <a:r>
              <a:rPr lang="en-US" altLang="zh-TW" sz="2400" i="1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i</a:t>
            </a:r>
            <a:r>
              <a:rPr lang="en-US" altLang="zh-TW" sz="2400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]  </a:t>
            </a:r>
            <a:r>
              <a:rPr lang="en-US" altLang="zh-TW" sz="2400" b="1" i="1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currentMax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</a:t>
            </a:r>
            <a:r>
              <a:rPr lang="en-US" altLang="zh-TW" sz="2400" b="1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then		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2(</a:t>
            </a:r>
            <a:r>
              <a:rPr lang="en-US" altLang="zh-TW" sz="2400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n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</a:t>
            </a:r>
            <a:r>
              <a:rPr lang="en-US" altLang="zh-TW" sz="2400" smtClean="0">
                <a:latin typeface="Symbol" pitchFamily="18" charset="2"/>
                <a:ea typeface="PMingLiU" pitchFamily="18" charset="-120"/>
                <a:sym typeface="Symbol" pitchFamily="18" charset="2"/>
              </a:rPr>
              <a:t>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1)</a:t>
            </a:r>
            <a:endParaRPr lang="en-US" altLang="zh-TW" sz="2400" b="1" smtClean="0">
              <a:latin typeface="Times New Roman" pitchFamily="18" charset="0"/>
              <a:ea typeface="PMingLiU" pitchFamily="18" charset="-120"/>
              <a:sym typeface="Symbol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			</a:t>
            </a:r>
            <a:r>
              <a:rPr lang="en-US" altLang="zh-TW" sz="2400" b="1" i="1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currentMax</a:t>
            </a:r>
            <a:r>
              <a:rPr lang="en-US" altLang="zh-TW" sz="2400" smtClean="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 </a:t>
            </a:r>
            <a:r>
              <a:rPr lang="en-US" altLang="zh-TW" sz="2400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</a:t>
            </a:r>
            <a:r>
              <a:rPr lang="en-US" altLang="zh-TW" sz="2400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 </a:t>
            </a:r>
            <a:r>
              <a:rPr lang="en-US" altLang="zh-TW" sz="2400" b="1" i="1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A</a:t>
            </a:r>
            <a:r>
              <a:rPr lang="en-US" altLang="zh-TW" sz="2400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[</a:t>
            </a:r>
            <a:r>
              <a:rPr lang="en-US" altLang="zh-TW" sz="2400" b="1" i="1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i</a:t>
            </a:r>
            <a:r>
              <a:rPr lang="en-US" altLang="zh-TW" sz="2400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]		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2(</a:t>
            </a:r>
            <a:r>
              <a:rPr lang="en-US" altLang="zh-TW" sz="2400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n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</a:t>
            </a:r>
            <a:r>
              <a:rPr lang="en-US" altLang="zh-TW" sz="2400" smtClean="0">
                <a:latin typeface="Symbol" pitchFamily="18" charset="2"/>
                <a:ea typeface="PMingLiU" pitchFamily="18" charset="-120"/>
                <a:sym typeface="Symbol" pitchFamily="18" charset="2"/>
              </a:rPr>
              <a:t>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1)</a:t>
            </a:r>
            <a:endParaRPr lang="en-US" altLang="zh-TW" sz="2400" smtClean="0">
              <a:solidFill>
                <a:schemeClr val="accent2"/>
              </a:solidFill>
              <a:latin typeface="Times New Roman" pitchFamily="18" charset="0"/>
              <a:ea typeface="PMingLiU" pitchFamily="18" charset="-120"/>
              <a:sym typeface="Symbol" pitchFamily="18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	</a:t>
            </a:r>
            <a:r>
              <a:rPr lang="en-US" altLang="zh-TW" sz="2400" b="1" smtClean="0">
                <a:solidFill>
                  <a:srgbClr val="000000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	return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</a:t>
            </a:r>
            <a:r>
              <a:rPr lang="en-US" altLang="zh-TW" sz="2400" b="1" i="1" smtClean="0">
                <a:solidFill>
                  <a:schemeClr val="accent2"/>
                </a:solidFill>
                <a:latin typeface="Times New Roman" pitchFamily="18" charset="0"/>
                <a:ea typeface="PMingLiU" pitchFamily="18" charset="-120"/>
                <a:sym typeface="Symbol" pitchFamily="18" charset="2"/>
              </a:rPr>
              <a:t>currentMax			      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1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						</a:t>
            </a:r>
            <a:r>
              <a:rPr lang="en-US" altLang="zh-TW" sz="2400" smtClean="0">
                <a:ea typeface="PMingLiU" pitchFamily="18" charset="-120"/>
                <a:sym typeface="Symbol" pitchFamily="18" charset="2"/>
              </a:rPr>
              <a:t>Total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	 6</a:t>
            </a:r>
            <a:r>
              <a:rPr lang="en-US" altLang="zh-TW" sz="2400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n</a:t>
            </a:r>
            <a:r>
              <a:rPr lang="en-US" altLang="zh-TW" sz="240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</a:t>
            </a:r>
            <a:r>
              <a:rPr lang="en-US" altLang="zh-TW" sz="2400" smtClean="0">
                <a:latin typeface="Symbol" pitchFamily="18" charset="2"/>
                <a:ea typeface="PMingLiU" pitchFamily="18" charset="-120"/>
                <a:sym typeface="Symbol" pitchFamily="18" charset="2"/>
              </a:rPr>
              <a:t>1</a:t>
            </a:r>
            <a:endParaRPr lang="en-US" altLang="zh-TW" sz="2400" smtClean="0">
              <a:latin typeface="Times New Roman" pitchFamily="18" charset="0"/>
              <a:ea typeface="PMingLiU" pitchFamily="18" charset="-120"/>
              <a:sym typeface="Symbol" pitchFamily="18" charset="2"/>
            </a:endParaRPr>
          </a:p>
        </p:txBody>
      </p:sp>
      <p:sp>
        <p:nvSpPr>
          <p:cNvPr id="66567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505200" y="6477000"/>
            <a:ext cx="2895600" cy="301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7B58CA-AA24-409A-8A70-D70303C5BDC2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21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 smtClean="0">
                <a:solidFill>
                  <a:schemeClr val="accent1"/>
                </a:solidFill>
                <a:ea typeface="PMingLiU" pitchFamily="18" charset="-120"/>
              </a:rPr>
              <a:t>Analysis of Algorithm</a:t>
            </a:r>
          </a:p>
        </p:txBody>
      </p:sp>
      <p:sp>
        <p:nvSpPr>
          <p:cNvPr id="6861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2FDC2E-DB77-48FA-A227-C365CF48BC77}" type="slidenum">
              <a:rPr lang="zh-TW" altLang="en-US" sz="1400">
                <a:solidFill>
                  <a:schemeClr val="accent1"/>
                </a:solidFill>
                <a:ea typeface="PMingLiU" pitchFamily="18" charset="-12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TW" sz="1400">
              <a:solidFill>
                <a:schemeClr val="accent1"/>
              </a:solidFill>
              <a:ea typeface="PMingLiU" pitchFamily="18" charset="-120"/>
            </a:endParaRPr>
          </a:p>
        </p:txBody>
      </p:sp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ea typeface="PMingLiU" pitchFamily="18" charset="-120"/>
              </a:rPr>
              <a:t>Estimating Running Time</a:t>
            </a:r>
          </a:p>
        </p:txBody>
      </p:sp>
      <p:sp>
        <p:nvSpPr>
          <p:cNvPr id="6861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752600"/>
            <a:ext cx="8305800" cy="4648200"/>
          </a:xfrm>
        </p:spPr>
        <p:txBody>
          <a:bodyPr/>
          <a:lstStyle/>
          <a:p>
            <a:r>
              <a:rPr lang="en-US" altLang="zh-TW" smtClean="0">
                <a:ea typeface="PMingLiU" pitchFamily="18" charset="-120"/>
              </a:rPr>
              <a:t>Algorithm </a:t>
            </a:r>
            <a:r>
              <a:rPr lang="en-US" altLang="zh-TW" b="1" i="1" smtClean="0">
                <a:latin typeface="Times New Roman" pitchFamily="18" charset="0"/>
                <a:ea typeface="PMingLiU" pitchFamily="18" charset="-120"/>
              </a:rPr>
              <a:t>arrayMax</a:t>
            </a:r>
            <a:r>
              <a:rPr lang="en-US" altLang="zh-TW" smtClean="0">
                <a:ea typeface="PMingLiU" pitchFamily="18" charset="-120"/>
              </a:rPr>
              <a:t> executes 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6</a:t>
            </a:r>
            <a:r>
              <a:rPr lang="en-US" altLang="zh-TW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n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</a:t>
            </a:r>
            <a:r>
              <a:rPr lang="en-US" altLang="zh-TW" smtClean="0">
                <a:latin typeface="Symbol" pitchFamily="18" charset="2"/>
                <a:ea typeface="PMingLiU" pitchFamily="18" charset="-120"/>
                <a:sym typeface="Symbol" pitchFamily="18" charset="2"/>
              </a:rPr>
              <a:t>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1 </a:t>
            </a:r>
            <a:r>
              <a:rPr lang="en-US" altLang="zh-TW" smtClean="0">
                <a:ea typeface="PMingLiU" pitchFamily="18" charset="-120"/>
              </a:rPr>
              <a:t>primitive operations in the worst case.  </a:t>
            </a:r>
          </a:p>
          <a:p>
            <a:pPr>
              <a:buFont typeface="Wingdings" pitchFamily="2" charset="2"/>
              <a:buNone/>
            </a:pPr>
            <a:r>
              <a:rPr lang="en-US" altLang="zh-TW" smtClean="0">
                <a:ea typeface="PMingLiU" pitchFamily="18" charset="-120"/>
              </a:rPr>
              <a:t>   Define:</a:t>
            </a:r>
          </a:p>
          <a:p>
            <a:pPr lvl="1">
              <a:buSzTx/>
              <a:buFont typeface="Times New Roman" pitchFamily="18" charset="0"/>
              <a:buNone/>
            </a:pPr>
            <a:r>
              <a:rPr lang="en-US" altLang="zh-TW" b="1" i="1" smtClean="0">
                <a:latin typeface="Times New Roman" pitchFamily="18" charset="0"/>
                <a:ea typeface="PMingLiU" pitchFamily="18" charset="-120"/>
              </a:rPr>
              <a:t>a</a:t>
            </a:r>
            <a:r>
              <a:rPr lang="en-US" altLang="zh-TW" smtClean="0">
                <a:ea typeface="PMingLiU" pitchFamily="18" charset="-120"/>
              </a:rPr>
              <a:t>	= Time taken by the fastest primitive operation</a:t>
            </a:r>
          </a:p>
          <a:p>
            <a:pPr lvl="1">
              <a:buFont typeface="Wingdings" pitchFamily="2" charset="2"/>
              <a:buNone/>
            </a:pPr>
            <a:r>
              <a:rPr lang="en-US" altLang="zh-TW" b="1" i="1" smtClean="0">
                <a:latin typeface="Times New Roman" pitchFamily="18" charset="0"/>
                <a:ea typeface="PMingLiU" pitchFamily="18" charset="-120"/>
              </a:rPr>
              <a:t>b</a:t>
            </a:r>
            <a:r>
              <a:rPr lang="en-US" altLang="zh-TW" smtClean="0">
                <a:ea typeface="PMingLiU" pitchFamily="18" charset="-120"/>
              </a:rPr>
              <a:t> 	= Time taken by the slowest primitive operation</a:t>
            </a:r>
          </a:p>
          <a:p>
            <a:r>
              <a:rPr lang="en-US" altLang="zh-TW" smtClean="0">
                <a:ea typeface="PMingLiU" pitchFamily="18" charset="-120"/>
              </a:rPr>
              <a:t>Let </a:t>
            </a:r>
            <a:r>
              <a:rPr lang="en-US" altLang="zh-TW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T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(</a:t>
            </a:r>
            <a:r>
              <a:rPr lang="en-US" altLang="zh-TW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n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)</a:t>
            </a:r>
            <a:r>
              <a:rPr lang="en-US" altLang="zh-TW" smtClean="0">
                <a:ea typeface="PMingLiU" pitchFamily="18" charset="-120"/>
              </a:rPr>
              <a:t> be worst-case time of </a:t>
            </a:r>
            <a:r>
              <a:rPr lang="en-US" altLang="zh-TW" b="1" i="1" smtClean="0">
                <a:latin typeface="Times New Roman" pitchFamily="18" charset="0"/>
                <a:ea typeface="PMingLiU" pitchFamily="18" charset="-120"/>
              </a:rPr>
              <a:t>arrayMax.</a:t>
            </a:r>
            <a:r>
              <a:rPr lang="en-US" altLang="zh-TW" b="1" smtClean="0">
                <a:latin typeface="Times New Roman" pitchFamily="18" charset="0"/>
                <a:ea typeface="PMingLiU" pitchFamily="18" charset="-120"/>
              </a:rPr>
              <a:t> </a:t>
            </a:r>
            <a:r>
              <a:rPr lang="en-US" altLang="zh-TW" smtClean="0">
                <a:ea typeface="PMingLiU" pitchFamily="18" charset="-120"/>
              </a:rPr>
              <a:t>Then</a:t>
            </a:r>
            <a:br>
              <a:rPr lang="en-US" altLang="zh-TW" smtClean="0">
                <a:ea typeface="PMingLiU" pitchFamily="18" charset="-120"/>
              </a:rPr>
            </a:br>
            <a:r>
              <a:rPr lang="en-US" altLang="zh-TW" smtClean="0">
                <a:ea typeface="PMingLiU" pitchFamily="18" charset="-120"/>
              </a:rPr>
              <a:t>		</a:t>
            </a:r>
            <a:r>
              <a:rPr lang="en-US" altLang="zh-TW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a 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(6</a:t>
            </a:r>
            <a:r>
              <a:rPr lang="en-US" altLang="zh-TW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n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</a:t>
            </a:r>
            <a:r>
              <a:rPr lang="en-US" altLang="zh-TW" smtClean="0">
                <a:latin typeface="Symbol" pitchFamily="18" charset="2"/>
                <a:ea typeface="PMingLiU" pitchFamily="18" charset="-120"/>
                <a:sym typeface="Symbol" pitchFamily="18" charset="2"/>
              </a:rPr>
              <a:t>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1) </a:t>
            </a:r>
            <a:r>
              <a:rPr lang="en-US" altLang="zh-TW" smtClean="0">
                <a:latin typeface="Symbol" pitchFamily="18" charset="2"/>
                <a:ea typeface="PMingLiU" pitchFamily="18" charset="-120"/>
                <a:sym typeface="Symbol" pitchFamily="18" charset="2"/>
              </a:rPr>
              <a:t>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</a:t>
            </a:r>
            <a:r>
              <a:rPr lang="en-US" altLang="zh-TW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T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(</a:t>
            </a:r>
            <a:r>
              <a:rPr lang="en-US" altLang="zh-TW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n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)</a:t>
            </a:r>
            <a:r>
              <a:rPr lang="en-US" altLang="zh-TW" smtClean="0">
                <a:ea typeface="PMingLiU" pitchFamily="18" charset="-120"/>
              </a:rPr>
              <a:t> </a:t>
            </a:r>
            <a:r>
              <a:rPr lang="en-US" altLang="zh-TW" smtClean="0">
                <a:latin typeface="Symbol" pitchFamily="18" charset="2"/>
                <a:ea typeface="PMingLiU" pitchFamily="18" charset="-120"/>
                <a:sym typeface="Symbol" pitchFamily="18" charset="2"/>
              </a:rPr>
              <a:t></a:t>
            </a:r>
            <a:r>
              <a:rPr lang="en-US" altLang="zh-TW" smtClean="0">
                <a:ea typeface="PMingLiU" pitchFamily="18" charset="-120"/>
              </a:rPr>
              <a:t> </a:t>
            </a:r>
            <a:r>
              <a:rPr lang="en-US" altLang="zh-TW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b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(6</a:t>
            </a:r>
            <a:r>
              <a:rPr lang="en-US" altLang="zh-TW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n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</a:t>
            </a:r>
            <a:r>
              <a:rPr lang="en-US" altLang="zh-TW" smtClean="0">
                <a:latin typeface="Symbol" pitchFamily="18" charset="2"/>
                <a:ea typeface="PMingLiU" pitchFamily="18" charset="-120"/>
                <a:sym typeface="Symbol" pitchFamily="18" charset="2"/>
              </a:rPr>
              <a:t>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 1 )</a:t>
            </a:r>
          </a:p>
          <a:p>
            <a:r>
              <a:rPr lang="en-US" altLang="zh-TW" smtClean="0">
                <a:ea typeface="PMingLiU" pitchFamily="18" charset="-120"/>
              </a:rPr>
              <a:t>Hence, the running time </a:t>
            </a:r>
            <a:r>
              <a:rPr lang="en-US" altLang="zh-TW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T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(</a:t>
            </a:r>
            <a:r>
              <a:rPr lang="en-US" altLang="zh-TW" b="1" i="1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n</a:t>
            </a:r>
            <a:r>
              <a:rPr lang="en-US" altLang="zh-TW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)</a:t>
            </a:r>
            <a:r>
              <a:rPr lang="en-US" altLang="zh-TW" smtClean="0">
                <a:ea typeface="PMingLiU" pitchFamily="18" charset="-120"/>
              </a:rPr>
              <a:t> is bounded by two linear functions</a:t>
            </a:r>
            <a:endParaRPr lang="en-US" altLang="zh-TW" smtClean="0">
              <a:ea typeface="PMingLiU" pitchFamily="18" charset="-120"/>
              <a:sym typeface="Symbol" pitchFamily="18" charset="2"/>
            </a:endParaRPr>
          </a:p>
        </p:txBody>
      </p:sp>
      <p:graphicFrame>
        <p:nvGraphicFramePr>
          <p:cNvPr id="68614" name="Object 117"/>
          <p:cNvGraphicFramePr>
            <a:graphicFrameLocks noChangeAspect="1"/>
          </p:cNvGraphicFramePr>
          <p:nvPr/>
        </p:nvGraphicFramePr>
        <p:xfrm>
          <a:off x="7038975" y="152400"/>
          <a:ext cx="1724025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Clip" r:id="rId3" imgW="2943225" imgH="2628900" progId="MS_ClipArt_Gallery.2">
                  <p:embed/>
                </p:oleObj>
              </mc:Choice>
              <mc:Fallback>
                <p:oleObj name="Clip" r:id="rId3" imgW="2943225" imgH="262890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975" y="152400"/>
                        <a:ext cx="1724025" cy="154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5" name="Date Placeholder 1"/>
          <p:cNvSpPr>
            <a:spLocks noGrp="1"/>
          </p:cNvSpPr>
          <p:nvPr>
            <p:ph type="dt" sz="quarter" idx="10"/>
          </p:nvPr>
        </p:nvSpPr>
        <p:spPr>
          <a:xfrm>
            <a:off x="3352800" y="6400800"/>
            <a:ext cx="3048000" cy="377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C8F048-132D-435C-9417-D530B9AC88AB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93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 smtClean="0">
                <a:solidFill>
                  <a:schemeClr val="accent1"/>
                </a:solidFill>
                <a:ea typeface="PMingLiU" pitchFamily="18" charset="-120"/>
              </a:rPr>
              <a:t>Analysis of Algorithm</a:t>
            </a:r>
          </a:p>
        </p:txBody>
      </p:sp>
      <p:sp>
        <p:nvSpPr>
          <p:cNvPr id="6963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D66A17-1899-43EE-B22B-FA5FD4BFE2CE}" type="slidenum">
              <a:rPr lang="zh-TW" altLang="en-US" sz="1400">
                <a:solidFill>
                  <a:schemeClr val="accent1"/>
                </a:solidFill>
                <a:ea typeface="PMingLiU" pitchFamily="18" charset="-12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TW" sz="1400">
              <a:solidFill>
                <a:schemeClr val="accent1"/>
              </a:solidFill>
              <a:ea typeface="PMingLiU" pitchFamily="18" charset="-120"/>
            </a:endParaRPr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ea typeface="PMingLiU" pitchFamily="18" charset="-120"/>
              </a:rPr>
              <a:t>Growth Rate of Running Time</a:t>
            </a:r>
          </a:p>
        </p:txBody>
      </p:sp>
      <p:sp>
        <p:nvSpPr>
          <p:cNvPr id="6963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620000" cy="4419600"/>
          </a:xfrm>
        </p:spPr>
        <p:txBody>
          <a:bodyPr/>
          <a:lstStyle/>
          <a:p>
            <a:r>
              <a:rPr lang="en-US" altLang="zh-TW" dirty="0" smtClean="0">
                <a:ea typeface="PMingLiU" pitchFamily="18" charset="-120"/>
              </a:rPr>
              <a:t>Changing the hardware/ software environment </a:t>
            </a:r>
          </a:p>
          <a:p>
            <a:pPr lvl="1"/>
            <a:r>
              <a:rPr lang="en-US" altLang="zh-TW" dirty="0" smtClean="0">
                <a:ea typeface="PMingLiU" pitchFamily="18" charset="-120"/>
              </a:rPr>
              <a:t>Affects </a:t>
            </a:r>
            <a:r>
              <a:rPr lang="en-US" altLang="zh-TW" b="1" i="1" dirty="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T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(</a:t>
            </a:r>
            <a:r>
              <a:rPr lang="en-US" altLang="zh-TW" b="1" i="1" dirty="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n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)</a:t>
            </a:r>
            <a:r>
              <a:rPr lang="en-US" altLang="zh-TW" dirty="0" smtClean="0">
                <a:ea typeface="PMingLiU" pitchFamily="18" charset="-120"/>
              </a:rPr>
              <a:t> by a constant factor, but</a:t>
            </a:r>
          </a:p>
          <a:p>
            <a:pPr lvl="1"/>
            <a:r>
              <a:rPr lang="en-US" altLang="zh-TW" dirty="0" smtClean="0">
                <a:ea typeface="PMingLiU" pitchFamily="18" charset="-120"/>
              </a:rPr>
              <a:t>Does not alter the growth rate of </a:t>
            </a:r>
            <a:r>
              <a:rPr lang="en-US" altLang="zh-TW" b="1" i="1" dirty="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T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(</a:t>
            </a:r>
            <a:r>
              <a:rPr lang="en-US" altLang="zh-TW" b="1" i="1" dirty="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n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)</a:t>
            </a:r>
            <a:endParaRPr lang="en-US" altLang="zh-TW" dirty="0" smtClean="0">
              <a:ea typeface="PMingLiU" pitchFamily="18" charset="-120"/>
            </a:endParaRPr>
          </a:p>
          <a:p>
            <a:r>
              <a:rPr lang="en-US" altLang="zh-TW" dirty="0" smtClean="0">
                <a:ea typeface="PMingLiU" pitchFamily="18" charset="-120"/>
              </a:rPr>
              <a:t>The linear growth rate of the running time </a:t>
            </a:r>
            <a:r>
              <a:rPr lang="en-US" altLang="zh-TW" b="1" i="1" dirty="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T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(</a:t>
            </a:r>
            <a:r>
              <a:rPr lang="en-US" altLang="zh-TW" b="1" i="1" dirty="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n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sym typeface="Symbol" pitchFamily="18" charset="2"/>
              </a:rPr>
              <a:t>)</a:t>
            </a:r>
            <a:r>
              <a:rPr lang="en-US" altLang="zh-TW" dirty="0" smtClean="0">
                <a:ea typeface="PMingLiU" pitchFamily="18" charset="-120"/>
              </a:rPr>
              <a:t> is an essential property of algorithm </a:t>
            </a:r>
            <a:r>
              <a:rPr lang="en-US" altLang="zh-TW" b="1" i="1" dirty="0" err="1" smtClean="0">
                <a:latin typeface="Times New Roman" pitchFamily="18" charset="0"/>
                <a:ea typeface="PMingLiU" pitchFamily="18" charset="-120"/>
              </a:rPr>
              <a:t>arrayMax</a:t>
            </a:r>
            <a:endParaRPr lang="en-US" altLang="zh-TW" dirty="0" smtClean="0">
              <a:ea typeface="PMingLiU" pitchFamily="18" charset="-120"/>
            </a:endParaRPr>
          </a:p>
        </p:txBody>
      </p:sp>
      <p:graphicFrame>
        <p:nvGraphicFramePr>
          <p:cNvPr id="6963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248549"/>
              </p:ext>
            </p:extLst>
          </p:nvPr>
        </p:nvGraphicFramePr>
        <p:xfrm>
          <a:off x="6629400" y="4953000"/>
          <a:ext cx="2057400" cy="179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Clip" r:id="rId3" imgW="3660618" imgH="3423719" progId="MS_ClipArt_Gallery.2">
                  <p:embed/>
                </p:oleObj>
              </mc:Choice>
              <mc:Fallback>
                <p:oleObj name="Clip" r:id="rId3" imgW="3660618" imgH="3423719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953000"/>
                        <a:ext cx="2057400" cy="179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9" name="Date Placeholder 1"/>
          <p:cNvSpPr>
            <a:spLocks noGrp="1"/>
          </p:cNvSpPr>
          <p:nvPr>
            <p:ph type="dt" sz="quarter" idx="10"/>
          </p:nvPr>
        </p:nvSpPr>
        <p:spPr>
          <a:xfrm>
            <a:off x="2971800" y="6248400"/>
            <a:ext cx="3429000" cy="530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87DAD3-2D97-4D00-965E-BB0A0D07CCAA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202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 smtClean="0"/>
              <a:t>Function of Growth rate</a:t>
            </a:r>
          </a:p>
        </p:txBody>
      </p:sp>
      <p:sp>
        <p:nvSpPr>
          <p:cNvPr id="70659" name="Date Placeholder 3"/>
          <p:cNvSpPr>
            <a:spLocks noGrp="1"/>
          </p:cNvSpPr>
          <p:nvPr>
            <p:ph type="dt" sz="quarter" idx="10"/>
          </p:nvPr>
        </p:nvSpPr>
        <p:spPr>
          <a:xfrm>
            <a:off x="3429000" y="6477000"/>
            <a:ext cx="2971800" cy="301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9B9F8E-BAA8-459F-A205-6D388CF27C4D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  <p:sp>
        <p:nvSpPr>
          <p:cNvPr id="70660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 smtClean="0">
                <a:solidFill>
                  <a:schemeClr val="accent1"/>
                </a:solidFill>
              </a:rPr>
              <a:t>Analysis of Algorithm</a:t>
            </a:r>
          </a:p>
        </p:txBody>
      </p:sp>
      <p:sp>
        <p:nvSpPr>
          <p:cNvPr id="706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5D44C0-486D-4A0F-B99D-92AAD7F6F165}" type="slidenum">
              <a:rPr lang="en-US" altLang="en-US" sz="140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>
              <a:solidFill>
                <a:schemeClr val="accent1"/>
              </a:solidFill>
            </a:endParaRPr>
          </a:p>
        </p:txBody>
      </p:sp>
      <p:pic>
        <p:nvPicPr>
          <p:cNvPr id="70662" name="Picture 3" descr="tabl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447800"/>
            <a:ext cx="6172200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9049718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 smtClean="0">
                <a:solidFill>
                  <a:schemeClr val="accent1"/>
                </a:solidFill>
                <a:ea typeface="PMingLiU" pitchFamily="18" charset="-120"/>
              </a:rPr>
              <a:t>Analysis of Algorithm</a:t>
            </a:r>
          </a:p>
        </p:txBody>
      </p:sp>
      <p:sp>
        <p:nvSpPr>
          <p:cNvPr id="716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0E2E01-0FD0-4A98-886C-D037D5FA792E}" type="slidenum">
              <a:rPr lang="zh-TW" altLang="en-US" sz="1400">
                <a:solidFill>
                  <a:schemeClr val="accent1"/>
                </a:solidFill>
                <a:ea typeface="PMingLiU" pitchFamily="18" charset="-12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TW" sz="1400">
              <a:solidFill>
                <a:schemeClr val="accent1"/>
              </a:solidFill>
              <a:ea typeface="PMingLiU" pitchFamily="18" charset="-120"/>
            </a:endParaRPr>
          </a:p>
        </p:txBody>
      </p:sp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ea typeface="PMingLiU" pitchFamily="18" charset="-120"/>
              </a:rPr>
              <a:t>Big-Oh Notation </a:t>
            </a:r>
          </a:p>
        </p:txBody>
      </p:sp>
      <p:sp>
        <p:nvSpPr>
          <p:cNvPr id="7168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772400" cy="4419600"/>
          </a:xfrm>
        </p:spPr>
        <p:txBody>
          <a:bodyPr/>
          <a:lstStyle/>
          <a:p>
            <a:r>
              <a:rPr lang="en-US" altLang="zh-TW" smtClean="0">
                <a:ea typeface="PMingLiU" pitchFamily="18" charset="-120"/>
              </a:rPr>
              <a:t>To simplify the running time estimation,</a:t>
            </a:r>
          </a:p>
          <a:p>
            <a:pPr>
              <a:buFont typeface="Wingdings" pitchFamily="2" charset="2"/>
              <a:buNone/>
            </a:pPr>
            <a:r>
              <a:rPr lang="en-US" altLang="zh-TW" smtClean="0">
                <a:ea typeface="PMingLiU" pitchFamily="18" charset="-120"/>
              </a:rPr>
              <a:t>    for a function </a:t>
            </a:r>
            <a:r>
              <a:rPr lang="en-US" altLang="zh-TW" i="1" smtClean="0">
                <a:ea typeface="PMingLiU" pitchFamily="18" charset="-120"/>
              </a:rPr>
              <a:t>f(n),</a:t>
            </a:r>
            <a:r>
              <a:rPr lang="en-US" altLang="zh-TW" smtClean="0">
                <a:ea typeface="PMingLiU" pitchFamily="18" charset="-120"/>
              </a:rPr>
              <a:t> we ignore the constants and lower order terms.</a:t>
            </a:r>
          </a:p>
          <a:p>
            <a:pPr>
              <a:buFont typeface="Wingdings" pitchFamily="2" charset="2"/>
              <a:buNone/>
            </a:pPr>
            <a:endParaRPr lang="en-US" altLang="zh-TW" smtClean="0">
              <a:ea typeface="PMingLiU" pitchFamily="18" charset="-120"/>
            </a:endParaRPr>
          </a:p>
          <a:p>
            <a:pPr>
              <a:buFont typeface="Wingdings" pitchFamily="2" charset="2"/>
              <a:buNone/>
            </a:pPr>
            <a:r>
              <a:rPr lang="en-US" altLang="zh-TW" smtClean="0">
                <a:ea typeface="PMingLiU" pitchFamily="18" charset="-120"/>
              </a:rPr>
              <a:t>Example: </a:t>
            </a:r>
            <a:r>
              <a:rPr lang="en-US" altLang="zh-TW" i="1" smtClean="0">
                <a:ea typeface="PMingLiU" pitchFamily="18" charset="-120"/>
              </a:rPr>
              <a:t>10n</a:t>
            </a:r>
            <a:r>
              <a:rPr lang="en-US" altLang="zh-TW" i="1" baseline="30000" smtClean="0">
                <a:ea typeface="PMingLiU" pitchFamily="18" charset="-120"/>
              </a:rPr>
              <a:t>3</a:t>
            </a:r>
            <a:r>
              <a:rPr lang="en-US" altLang="zh-TW" i="1" smtClean="0">
                <a:ea typeface="PMingLiU" pitchFamily="18" charset="-120"/>
              </a:rPr>
              <a:t>+4n</a:t>
            </a:r>
            <a:r>
              <a:rPr lang="en-US" altLang="zh-TW" i="1" baseline="30000" smtClean="0">
                <a:ea typeface="PMingLiU" pitchFamily="18" charset="-120"/>
              </a:rPr>
              <a:t>2</a:t>
            </a:r>
            <a:r>
              <a:rPr lang="en-US" altLang="zh-TW" i="1" smtClean="0">
                <a:ea typeface="PMingLiU" pitchFamily="18" charset="-120"/>
              </a:rPr>
              <a:t>-4n+5</a:t>
            </a:r>
            <a:r>
              <a:rPr lang="en-US" altLang="zh-TW" smtClean="0">
                <a:ea typeface="PMingLiU" pitchFamily="18" charset="-120"/>
              </a:rPr>
              <a:t>  is </a:t>
            </a:r>
            <a:r>
              <a:rPr lang="en-US" altLang="zh-TW" i="1" smtClean="0">
                <a:ea typeface="PMingLiU" pitchFamily="18" charset="-120"/>
              </a:rPr>
              <a:t>O(n</a:t>
            </a:r>
            <a:r>
              <a:rPr lang="en-US" altLang="zh-TW" i="1" baseline="30000" smtClean="0">
                <a:ea typeface="PMingLiU" pitchFamily="18" charset="-120"/>
              </a:rPr>
              <a:t>3</a:t>
            </a:r>
            <a:r>
              <a:rPr lang="en-US" altLang="zh-TW" i="1" smtClean="0">
                <a:ea typeface="PMingLiU" pitchFamily="18" charset="-120"/>
              </a:rPr>
              <a:t>).</a:t>
            </a:r>
            <a:r>
              <a:rPr lang="en-US" altLang="zh-TW" smtClean="0">
                <a:ea typeface="PMingLiU" pitchFamily="18" charset="-120"/>
              </a:rPr>
              <a:t>  </a:t>
            </a:r>
          </a:p>
        </p:txBody>
      </p:sp>
      <p:sp>
        <p:nvSpPr>
          <p:cNvPr id="71686" name="Date Placeholder 1"/>
          <p:cNvSpPr>
            <a:spLocks noGrp="1"/>
          </p:cNvSpPr>
          <p:nvPr>
            <p:ph type="dt" sz="quarter" idx="10"/>
          </p:nvPr>
        </p:nvSpPr>
        <p:spPr>
          <a:xfrm>
            <a:off x="2743200" y="6324600"/>
            <a:ext cx="3657600" cy="4540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5FB4C4-F4CE-49D7-A1B2-CCEF163E07D6}" type="datetime2">
              <a:rPr lang="en-US" altLang="en-US" sz="1400" smtClean="0">
                <a:solidFill>
                  <a:schemeClr val="accent1"/>
                </a:solidFill>
              </a:rPr>
              <a:pPr>
                <a:spcBef>
                  <a:spcPct val="0"/>
                </a:spcBef>
                <a:buFontTx/>
                <a:buNone/>
              </a:pPr>
              <a:t>Thursday, January 9, 2025</a:t>
            </a:fld>
            <a:endParaRPr lang="en-US" altLang="en-US" sz="140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25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Why ???</a:t>
            </a:r>
          </a:p>
        </p:txBody>
      </p:sp>
      <p:sp>
        <p:nvSpPr>
          <p:cNvPr id="727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Why we are measuring the complexity of Algorithms ???.</a:t>
            </a:r>
          </a:p>
          <a:p>
            <a:pPr>
              <a:buFontTx/>
              <a:buNone/>
            </a:pPr>
            <a:endParaRPr lang="en-US" altLang="en-US" smtClean="0"/>
          </a:p>
          <a:p>
            <a:r>
              <a:rPr lang="en-US" altLang="en-US" smtClean="0"/>
              <a:t>Reason : Not only to design algorithms but to design efficient type of algorithms which can finish in finite amount of time.</a:t>
            </a:r>
          </a:p>
        </p:txBody>
      </p:sp>
      <p:sp>
        <p:nvSpPr>
          <p:cNvPr id="727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 smtClean="0">
              <a:solidFill>
                <a:srgbClr val="000000"/>
              </a:solidFill>
            </a:endParaRPr>
          </a:p>
        </p:txBody>
      </p:sp>
      <p:sp>
        <p:nvSpPr>
          <p:cNvPr id="727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7E1C01-CDDD-4BC5-9CF9-3B4222290471}" type="slidenum">
              <a:rPr lang="en-US" altLang="en-US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54134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Why asymptotic Notations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endParaRPr lang="en-US" dirty="0" smtClean="0"/>
          </a:p>
          <a:p>
            <a:pPr>
              <a:defRPr/>
            </a:pPr>
            <a:r>
              <a:rPr lang="en-US" dirty="0"/>
              <a:t>Asymptotic notation is a way to represent the time complexity</a:t>
            </a:r>
            <a:endParaRPr lang="en-US" dirty="0" smtClean="0"/>
          </a:p>
          <a:p>
            <a:pPr>
              <a:defRPr/>
            </a:pPr>
            <a:r>
              <a:rPr lang="en-US" dirty="0" smtClean="0"/>
              <a:t>Design efficient algorithm terminate in finite amount of Time/ acceptable amount of time.</a:t>
            </a:r>
          </a:p>
          <a:p>
            <a:pPr lvl="1">
              <a:buFontTx/>
              <a:buNone/>
              <a:defRPr/>
            </a:pPr>
            <a:endParaRPr lang="en-US" b="1" dirty="0" smtClean="0">
              <a:cs typeface="Times New Roman" pitchFamily="18" charset="0"/>
            </a:endParaRPr>
          </a:p>
          <a:p>
            <a:pPr lvl="1">
              <a:buFontTx/>
              <a:buNone/>
              <a:defRPr/>
            </a:pPr>
            <a:r>
              <a:rPr lang="en-US" b="1" dirty="0" smtClean="0">
                <a:cs typeface="Times New Roman" pitchFamily="18" charset="0"/>
              </a:rPr>
              <a:t>Making use of Asymptotic notations for measuring  running time of algorithm for large input </a:t>
            </a:r>
            <a:r>
              <a:rPr lang="en-US" b="1" dirty="0" smtClean="0">
                <a:solidFill>
                  <a:srgbClr val="DD0111"/>
                </a:solidFill>
                <a:cs typeface="Times New Roman" pitchFamily="18" charset="0"/>
              </a:rPr>
              <a:t>size and measure its growth rate </a:t>
            </a:r>
            <a:r>
              <a:rPr lang="en-US" dirty="0" smtClean="0">
                <a:cs typeface="Times New Roman" pitchFamily="18" charset="0"/>
              </a:rPr>
              <a:t>.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</p:txBody>
      </p:sp>
      <p:sp>
        <p:nvSpPr>
          <p:cNvPr id="737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 smtClean="0">
              <a:solidFill>
                <a:srgbClr val="000000"/>
              </a:solidFill>
            </a:endParaRPr>
          </a:p>
        </p:txBody>
      </p:sp>
      <p:sp>
        <p:nvSpPr>
          <p:cNvPr id="737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380717-3680-4C84-AF41-90F93DE9AB66}" type="slidenum">
              <a:rPr lang="en-US" altLang="en-US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07592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FF0E130F-4D4C-4FE8-9810-630467B5158E}" type="slidenum">
              <a:rPr lang="en-US" altLang="en-US" sz="1400">
                <a:solidFill>
                  <a:srgbClr val="000000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Input Size</a:t>
            </a:r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mtClean="0"/>
              <a:t>Input size (number of elements in the input)</a:t>
            </a:r>
            <a:endParaRPr lang="en-US" altLang="en-US" smtClean="0">
              <a:latin typeface="Monotype Corsiva" pitchFamily="66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2400" smtClean="0"/>
              <a:t>size of an array</a:t>
            </a:r>
          </a:p>
          <a:p>
            <a:pPr lvl="1">
              <a:lnSpc>
                <a:spcPct val="150000"/>
              </a:lnSpc>
            </a:pPr>
            <a:r>
              <a:rPr lang="en-US" altLang="en-US" sz="2400" smtClean="0"/>
              <a:t>polynomial degree </a:t>
            </a:r>
          </a:p>
          <a:p>
            <a:pPr lvl="1">
              <a:lnSpc>
                <a:spcPct val="150000"/>
              </a:lnSpc>
            </a:pPr>
            <a:r>
              <a:rPr lang="en-US" altLang="en-US" sz="2400" smtClean="0"/>
              <a:t># of elements in a matrix</a:t>
            </a:r>
          </a:p>
          <a:p>
            <a:pPr lvl="1">
              <a:lnSpc>
                <a:spcPct val="150000"/>
              </a:lnSpc>
            </a:pPr>
            <a:r>
              <a:rPr lang="en-US" altLang="en-US" sz="2400" smtClean="0"/>
              <a:t># of bits in the binary representation of the input</a:t>
            </a:r>
          </a:p>
          <a:p>
            <a:pPr lvl="1">
              <a:lnSpc>
                <a:spcPct val="150000"/>
              </a:lnSpc>
            </a:pPr>
            <a:r>
              <a:rPr lang="en-US" altLang="en-US" sz="2400" smtClean="0"/>
              <a:t>vertices and edges in a graph</a:t>
            </a:r>
          </a:p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4835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Efficiency Measurement 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Efficiency relative term</a:t>
            </a:r>
          </a:p>
          <a:p>
            <a:r>
              <a:rPr lang="en-US" altLang="en-US" smtClean="0"/>
              <a:t>Single algorithm :  Polynomial Time Period</a:t>
            </a:r>
          </a:p>
          <a:p>
            <a:pPr>
              <a:buFontTx/>
              <a:buNone/>
            </a:pPr>
            <a:r>
              <a:rPr lang="en-US" altLang="en-US" smtClean="0"/>
              <a:t>                                 (Efficient)</a:t>
            </a:r>
          </a:p>
          <a:p>
            <a:pPr>
              <a:buFontTx/>
              <a:buNone/>
            </a:pPr>
            <a:endParaRPr lang="en-US" altLang="en-US" smtClean="0"/>
          </a:p>
          <a:p>
            <a:r>
              <a:rPr lang="en-US" altLang="en-US" smtClean="0"/>
              <a:t>Comparing Algorithms for finding their efficiencies</a:t>
            </a:r>
          </a:p>
          <a:p>
            <a:pPr>
              <a:buFontTx/>
              <a:buNone/>
            </a:pPr>
            <a:r>
              <a:rPr lang="en-US" altLang="en-US" smtClean="0"/>
              <a:t>          </a:t>
            </a:r>
          </a:p>
          <a:p>
            <a:pPr>
              <a:buFontTx/>
              <a:buNone/>
            </a:pPr>
            <a:endParaRPr lang="en-US" altLang="en-US" smtClean="0"/>
          </a:p>
          <a:p>
            <a:pPr>
              <a:buFontTx/>
              <a:buNone/>
            </a:pPr>
            <a:endParaRPr lang="en-US" altLang="en-US" smtClean="0"/>
          </a:p>
        </p:txBody>
      </p:sp>
      <p:sp>
        <p:nvSpPr>
          <p:cNvPr id="757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 smtClean="0">
              <a:solidFill>
                <a:srgbClr val="000000"/>
              </a:solidFill>
            </a:endParaRPr>
          </a:p>
        </p:txBody>
      </p:sp>
      <p:sp>
        <p:nvSpPr>
          <p:cNvPr id="757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E92244-F04E-42BC-BD13-A01E05099828}" type="slidenum">
              <a:rPr lang="en-US" altLang="en-US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02089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432E6459-A14E-48AE-8047-FE1CBD09EDE3}" type="slidenum">
              <a:rPr lang="en-US" altLang="en-US" sz="1400">
                <a:solidFill>
                  <a:srgbClr val="000000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Types of Analysis</a:t>
            </a: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214438"/>
            <a:ext cx="8685658" cy="617500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 dirty="0" smtClean="0"/>
              <a:t>Worst case (at most BIG O)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 smtClean="0"/>
              <a:t>Provides an upper bound on running time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 smtClean="0"/>
              <a:t>An absolute </a:t>
            </a:r>
            <a:r>
              <a:rPr lang="en-US" altLang="en-US" sz="2000" dirty="0" smtClean="0">
                <a:solidFill>
                  <a:srgbClr val="CC0000"/>
                </a:solidFill>
              </a:rPr>
              <a:t>guarantee</a:t>
            </a:r>
            <a:r>
              <a:rPr lang="en-US" altLang="en-US" sz="2000" dirty="0" smtClean="0"/>
              <a:t> that the algorithm would not run longer, no matter what the inputs are</a:t>
            </a:r>
          </a:p>
          <a:p>
            <a:pPr>
              <a:lnSpc>
                <a:spcPct val="110000"/>
              </a:lnSpc>
            </a:pPr>
            <a:r>
              <a:rPr lang="en-US" altLang="en-US" sz="2400" dirty="0" smtClean="0"/>
              <a:t>Best case  (at least Omega </a:t>
            </a:r>
            <a:r>
              <a:rPr lang="en-US" altLang="en-US" sz="2400" i="1" dirty="0" smtClean="0"/>
              <a:t>Ω )</a:t>
            </a:r>
            <a:endParaRPr lang="en-US" altLang="en-US" sz="2400" dirty="0" smtClean="0">
              <a:latin typeface="Comic Sans MS" pitchFamily="66" charset="0"/>
            </a:endParaRPr>
          </a:p>
          <a:p>
            <a:pPr lvl="1">
              <a:lnSpc>
                <a:spcPct val="110000"/>
              </a:lnSpc>
            </a:pPr>
            <a:r>
              <a:rPr lang="en-US" altLang="en-US" sz="2000" dirty="0" smtClean="0"/>
              <a:t>Provides a lower bound on running time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 smtClean="0"/>
              <a:t>Input is the one for which the algorithm runs the fastest</a:t>
            </a:r>
          </a:p>
          <a:p>
            <a:pPr>
              <a:lnSpc>
                <a:spcPct val="110000"/>
              </a:lnSpc>
            </a:pPr>
            <a:endParaRPr lang="en-US" altLang="en-US" sz="2400" dirty="0" smtClean="0"/>
          </a:p>
          <a:p>
            <a:pPr>
              <a:lnSpc>
                <a:spcPct val="110000"/>
              </a:lnSpc>
            </a:pPr>
            <a:endParaRPr lang="en-US" altLang="en-US" sz="2400" dirty="0" smtClean="0"/>
          </a:p>
          <a:p>
            <a:pPr>
              <a:lnSpc>
                <a:spcPct val="110000"/>
              </a:lnSpc>
            </a:pPr>
            <a:r>
              <a:rPr lang="en-US" altLang="en-US" sz="2400" dirty="0" smtClean="0"/>
              <a:t>Average case (Theta </a:t>
            </a:r>
            <a:r>
              <a:rPr lang="en-US" altLang="en-US" sz="2400" i="1" dirty="0" smtClean="0"/>
              <a:t>Θ )</a:t>
            </a:r>
            <a:endParaRPr lang="en-US" altLang="en-US" sz="2400" dirty="0" smtClean="0">
              <a:latin typeface="Comic Sans MS" pitchFamily="66" charset="0"/>
            </a:endParaRPr>
          </a:p>
          <a:p>
            <a:pPr lvl="1">
              <a:lnSpc>
                <a:spcPct val="110000"/>
              </a:lnSpc>
            </a:pPr>
            <a:r>
              <a:rPr lang="en-US" altLang="en-US" sz="2000" dirty="0" smtClean="0"/>
              <a:t>Provides a </a:t>
            </a:r>
            <a:r>
              <a:rPr lang="en-US" altLang="en-US" sz="2000" dirty="0" smtClean="0">
                <a:solidFill>
                  <a:srgbClr val="CC0000"/>
                </a:solidFill>
              </a:rPr>
              <a:t>prediction</a:t>
            </a:r>
            <a:r>
              <a:rPr lang="en-US" altLang="en-US" sz="2000" dirty="0" smtClean="0"/>
              <a:t> about the running time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 smtClean="0"/>
              <a:t>Assumes that the input is random</a:t>
            </a:r>
          </a:p>
          <a:p>
            <a:pPr lvl="1">
              <a:lnSpc>
                <a:spcPct val="110000"/>
              </a:lnSpc>
              <a:buFontTx/>
              <a:buNone/>
            </a:pPr>
            <a:endParaRPr lang="en-US" altLang="en-US" sz="2000" dirty="0" smtClean="0"/>
          </a:p>
        </p:txBody>
      </p:sp>
      <p:graphicFrame>
        <p:nvGraphicFramePr>
          <p:cNvPr id="77829" name="Object 2"/>
          <p:cNvGraphicFramePr>
            <a:graphicFrameLocks noChangeAspect="1"/>
          </p:cNvGraphicFramePr>
          <p:nvPr/>
        </p:nvGraphicFramePr>
        <p:xfrm>
          <a:off x="889000" y="4360863"/>
          <a:ext cx="69723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3" imgW="2806700" imgH="203200" progId="">
                  <p:embed/>
                </p:oleObj>
              </mc:Choice>
              <mc:Fallback>
                <p:oleObj name="Equation" r:id="rId3" imgW="2806700" imgH="203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4360863"/>
                        <a:ext cx="69723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0" name="Rectangle 8"/>
          <p:cNvSpPr>
            <a:spLocks noChangeArrowheads="1"/>
          </p:cNvSpPr>
          <p:nvPr/>
        </p:nvSpPr>
        <p:spPr bwMode="auto">
          <a:xfrm>
            <a:off x="827088" y="4292600"/>
            <a:ext cx="7202487" cy="6445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45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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 2" pitchFamily="18" charset="2"/>
              <a:buChar char="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9FB7F0CB-6536-427D-A5CF-86A0FB6A4839}" type="slidenum">
              <a:rPr lang="en-US" altLang="en-US" sz="1400">
                <a:solidFill>
                  <a:srgbClr val="000000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How do we compare algorithms?</a:t>
            </a:r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>
                <a:cs typeface="Times New Roman" pitchFamily="18" charset="0"/>
              </a:rPr>
              <a:t>We need to define a number of </a:t>
            </a:r>
            <a:r>
              <a:rPr lang="en-US" altLang="en-US" u="sng" smtClean="0">
                <a:cs typeface="Times New Roman" pitchFamily="18" charset="0"/>
              </a:rPr>
              <a:t>objective measures</a:t>
            </a:r>
            <a:r>
              <a:rPr lang="en-US" altLang="en-US" smtClean="0">
                <a:cs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en-US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mtClean="0">
                <a:cs typeface="Times New Roman" pitchFamily="18" charset="0"/>
              </a:rPr>
              <a:t>	(</a:t>
            </a:r>
            <a:r>
              <a:rPr lang="en-US" altLang="en-US" sz="2800" smtClean="0">
                <a:cs typeface="Times New Roman" pitchFamily="18" charset="0"/>
              </a:rPr>
              <a:t>1) Compare execution times? </a:t>
            </a:r>
            <a:endParaRPr lang="en-US" altLang="en-US" sz="280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smtClean="0">
                <a:cs typeface="Times New Roman" pitchFamily="18" charset="0"/>
              </a:rPr>
              <a:t>		</a:t>
            </a:r>
            <a:r>
              <a:rPr lang="en-US" altLang="en-US" sz="2800" b="1" i="1" smtClean="0">
                <a:cs typeface="Times New Roman" pitchFamily="18" charset="0"/>
              </a:rPr>
              <a:t>Not good</a:t>
            </a:r>
            <a:r>
              <a:rPr lang="en-US" altLang="en-US" sz="2800" smtClean="0">
                <a:cs typeface="Times New Roman" pitchFamily="18" charset="0"/>
              </a:rPr>
              <a:t>: times are specific to a particular  </a:t>
            </a:r>
            <a:r>
              <a:rPr lang="en-US" altLang="en-US" sz="2400" smtClean="0">
                <a:cs typeface="Times New Roman" pitchFamily="18" charset="0"/>
              </a:rPr>
              <a:t>	computer !!</a:t>
            </a:r>
            <a:endParaRPr lang="en-US" altLang="en-US" sz="240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smtClean="0">
                <a:cs typeface="Times New Roman" pitchFamily="18" charset="0"/>
              </a:rPr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smtClean="0">
                <a:cs typeface="Times New Roman" pitchFamily="18" charset="0"/>
              </a:rPr>
              <a:t>    (2) Count the number of statements executed?  </a:t>
            </a:r>
            <a:endParaRPr lang="en-US" altLang="en-US" sz="240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smtClean="0">
                <a:cs typeface="Times New Roman" pitchFamily="18" charset="0"/>
              </a:rPr>
              <a:t>		</a:t>
            </a:r>
            <a:r>
              <a:rPr lang="en-US" altLang="en-US" sz="2400" b="1" i="1" smtClean="0">
                <a:cs typeface="Times New Roman" pitchFamily="18" charset="0"/>
              </a:rPr>
              <a:t>Not good</a:t>
            </a:r>
            <a:r>
              <a:rPr lang="en-US" altLang="en-US" sz="2400" smtClean="0">
                <a:cs typeface="Times New Roman" pitchFamily="18" charset="0"/>
              </a:rPr>
              <a:t>: number of statements vary with the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smtClean="0">
                <a:cs typeface="Times New Roman" pitchFamily="18" charset="0"/>
              </a:rPr>
              <a:t>           programming language </a:t>
            </a:r>
            <a:r>
              <a:rPr lang="en-US" altLang="en-US" sz="2400" smtClean="0">
                <a:ea typeface="MS Mincho" pitchFamily="49" charset="-128"/>
              </a:rPr>
              <a:t>as well as the style of the 	individual programmer.</a:t>
            </a:r>
            <a:endParaRPr lang="en-US" altLang="en-US" sz="2400" smtClean="0"/>
          </a:p>
          <a:p>
            <a:pPr>
              <a:lnSpc>
                <a:spcPct val="90000"/>
              </a:lnSpc>
            </a:pPr>
            <a:endParaRPr lang="en-US" altLang="en-US" sz="2800" smtClean="0"/>
          </a:p>
        </p:txBody>
      </p:sp>
    </p:spTree>
    <p:extLst>
      <p:ext uri="{BB962C8B-B14F-4D97-AF65-F5344CB8AC3E}">
        <p14:creationId xmlns:p14="http://schemas.microsoft.com/office/powerpoint/2010/main" val="368382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890587"/>
            <a:ext cx="3240360" cy="50768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552" y="1844824"/>
            <a:ext cx="46085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 smtClean="0">
                <a:solidFill>
                  <a:schemeClr val="accent1">
                    <a:lumMod val="75000"/>
                  </a:schemeClr>
                </a:solidFill>
              </a:rPr>
              <a:t>Thanks</a:t>
            </a:r>
            <a:endParaRPr lang="en-US" sz="8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15742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7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F9AF65"/>
      </a:accent1>
      <a:accent2>
        <a:srgbClr val="F9AF65"/>
      </a:accent2>
      <a:accent3>
        <a:srgbClr val="DE96F4"/>
      </a:accent3>
      <a:accent4>
        <a:srgbClr val="9FD37C"/>
      </a:accent4>
      <a:accent5>
        <a:srgbClr val="96DBFB"/>
      </a:accent5>
      <a:accent6>
        <a:srgbClr val="FFFF00"/>
      </a:accent6>
      <a:hlink>
        <a:srgbClr val="EE7B08"/>
      </a:hlink>
      <a:folHlink>
        <a:srgbClr val="977B2D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415</TotalTime>
  <Words>2068</Words>
  <Application>Microsoft Office PowerPoint</Application>
  <PresentationFormat>On-screen Show (4:3)</PresentationFormat>
  <Paragraphs>392</Paragraphs>
  <Slides>50</Slides>
  <Notes>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Theme1</vt:lpstr>
      <vt:lpstr>Microsoft Clip Gallery</vt:lpstr>
      <vt:lpstr>Chart</vt:lpstr>
      <vt:lpstr>Clip</vt:lpstr>
      <vt:lpstr>Equation</vt:lpstr>
      <vt:lpstr>DAA Lecture # 1</vt:lpstr>
      <vt:lpstr>Books:</vt:lpstr>
      <vt:lpstr>Course Objectives:</vt:lpstr>
      <vt:lpstr>Topics Involved:</vt:lpstr>
      <vt:lpstr>Course Outline:</vt:lpstr>
      <vt:lpstr>Course Outline:</vt:lpstr>
      <vt:lpstr>Algorithm:</vt:lpstr>
      <vt:lpstr>What is the specification of algorithm? </vt:lpstr>
      <vt:lpstr>Pseudocode</vt:lpstr>
      <vt:lpstr>Another way to represent an algo is Flow chart</vt:lpstr>
      <vt:lpstr>PowerPoint Presentation</vt:lpstr>
      <vt:lpstr>What is a program?</vt:lpstr>
      <vt:lpstr>Analysis of an Algorithm</vt:lpstr>
      <vt:lpstr>Analysis of an Algorithm</vt:lpstr>
      <vt:lpstr>Introduction</vt:lpstr>
      <vt:lpstr>Complexity of an algorithm</vt:lpstr>
      <vt:lpstr>Space Complexity</vt:lpstr>
      <vt:lpstr>     Types of Algorithms  </vt:lpstr>
      <vt:lpstr>PowerPoint Presentation</vt:lpstr>
      <vt:lpstr>PowerPoint Presentation</vt:lpstr>
      <vt:lpstr>PowerPoint Presentation</vt:lpstr>
      <vt:lpstr>Things to do……</vt:lpstr>
      <vt:lpstr>Some Application</vt:lpstr>
      <vt:lpstr>What do we analyze about them? </vt:lpstr>
      <vt:lpstr>Strengthening the Informal Definition </vt:lpstr>
      <vt:lpstr>performance analysis</vt:lpstr>
      <vt:lpstr>Example Of Algorithm</vt:lpstr>
      <vt:lpstr>PowerPoint Presentation</vt:lpstr>
      <vt:lpstr>Classic Multiplication</vt:lpstr>
      <vt:lpstr>Multiplication</vt:lpstr>
      <vt:lpstr>Multiplication</vt:lpstr>
      <vt:lpstr>The Selection Problem</vt:lpstr>
      <vt:lpstr>Which algorithm is better?</vt:lpstr>
      <vt:lpstr>Running Time   </vt:lpstr>
      <vt:lpstr>Experimental Studies</vt:lpstr>
      <vt:lpstr>Limitations of Experiments</vt:lpstr>
      <vt:lpstr>Theoretical Analysis</vt:lpstr>
      <vt:lpstr>RAM model </vt:lpstr>
      <vt:lpstr>Counting Primitive Operations (§3.4)</vt:lpstr>
      <vt:lpstr>Estimating Running Time</vt:lpstr>
      <vt:lpstr>Growth Rate of Running Time</vt:lpstr>
      <vt:lpstr>Function of Growth rate</vt:lpstr>
      <vt:lpstr>Big-Oh Notation </vt:lpstr>
      <vt:lpstr>Why ???</vt:lpstr>
      <vt:lpstr>Why asymptotic Notations</vt:lpstr>
      <vt:lpstr>Input Size</vt:lpstr>
      <vt:lpstr>Efficiency Measurement </vt:lpstr>
      <vt:lpstr>Types of Analysis</vt:lpstr>
      <vt:lpstr>How do we compare algorithms?</vt:lpstr>
      <vt:lpstr>PowerPoint Presentation</vt:lpstr>
    </vt:vector>
  </TitlesOfParts>
  <Company>NED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Lecture # 1</dc:title>
  <dc:creator>Admin</dc:creator>
  <cp:lastModifiedBy>Admin</cp:lastModifiedBy>
  <cp:revision>13</cp:revision>
  <dcterms:created xsi:type="dcterms:W3CDTF">2025-01-07T05:05:11Z</dcterms:created>
  <dcterms:modified xsi:type="dcterms:W3CDTF">2025-01-09T09:43:48Z</dcterms:modified>
</cp:coreProperties>
</file>