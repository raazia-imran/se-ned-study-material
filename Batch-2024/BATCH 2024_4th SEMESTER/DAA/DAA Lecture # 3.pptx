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3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2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4" r:id="rId16"/>
    <p:sldId id="276" r:id="rId17"/>
    <p:sldId id="277" r:id="rId18"/>
    <p:sldId id="278" r:id="rId19"/>
    <p:sldId id="280" r:id="rId20"/>
    <p:sldId id="281" r:id="rId21"/>
    <p:sldId id="282" r:id="rId22"/>
    <p:sldId id="283" r:id="rId23"/>
    <p:sldId id="284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894" y="-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0900" y="266192"/>
            <a:ext cx="48628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100" y="266192"/>
            <a:ext cx="854265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6600" y="2527300"/>
            <a:ext cx="5520055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62230" y="9340291"/>
            <a:ext cx="281940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mthorup@diku.dk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facebook.com/pg/npcompleteteens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0900" y="3886200"/>
            <a:ext cx="8166100" cy="2215991"/>
          </a:xfrm>
        </p:spPr>
        <p:txBody>
          <a:bodyPr/>
          <a:lstStyle/>
          <a:p>
            <a:r>
              <a:rPr lang="en-US" sz="7200" dirty="0" smtClean="0"/>
              <a:t>DAA Lecture # 3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950720" y="6858000"/>
            <a:ext cx="9103360" cy="461665"/>
          </a:xfrm>
        </p:spPr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Instructor: </a:t>
            </a:r>
            <a:r>
              <a:rPr lang="en-US" dirty="0" err="1" smtClean="0">
                <a:solidFill>
                  <a:schemeClr val="tx1"/>
                </a:solidFill>
              </a:rPr>
              <a:t>Naveera</a:t>
            </a:r>
            <a:r>
              <a:rPr lang="en-US" dirty="0" smtClean="0">
                <a:solidFill>
                  <a:schemeClr val="tx1"/>
                </a:solidFill>
              </a:rPr>
              <a:t> Sami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0" y="1447800"/>
            <a:ext cx="261937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5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</a:t>
            </a:r>
            <a:r>
              <a:rPr spc="210" dirty="0"/>
              <a:t> </a:t>
            </a:r>
            <a:r>
              <a:rPr dirty="0"/>
              <a:t>strikingly</a:t>
            </a:r>
            <a:r>
              <a:rPr spc="215" dirty="0"/>
              <a:t> </a:t>
            </a:r>
            <a:r>
              <a:rPr dirty="0"/>
              <a:t>modern</a:t>
            </a:r>
            <a:r>
              <a:rPr spc="215" dirty="0"/>
              <a:t> </a:t>
            </a:r>
            <a:r>
              <a:rPr spc="-10" dirty="0"/>
              <a:t>thought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1752600"/>
            <a:ext cx="9271000" cy="2019300"/>
          </a:xfrm>
          <a:custGeom>
            <a:avLst/>
            <a:gdLst/>
            <a:ahLst/>
            <a:cxnLst/>
            <a:rect l="l" t="t" r="r" b="b"/>
            <a:pathLst>
              <a:path w="9271000" h="2019300">
                <a:moveTo>
                  <a:pt x="9271000" y="0"/>
                </a:moveTo>
                <a:lnTo>
                  <a:pt x="0" y="0"/>
                </a:lnTo>
                <a:lnTo>
                  <a:pt x="0" y="2019300"/>
                </a:lnTo>
                <a:lnTo>
                  <a:pt x="9271000" y="2019300"/>
                </a:lnTo>
                <a:lnTo>
                  <a:pt x="9271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5511" y="1758949"/>
            <a:ext cx="8717280" cy="187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5080" indent="-209550">
              <a:lnSpc>
                <a:spcPct val="137900"/>
              </a:lnSpc>
              <a:spcBef>
                <a:spcPts val="100"/>
              </a:spcBef>
              <a:tabLst>
                <a:tab pos="2753995" algn="l"/>
                <a:tab pos="4415155" algn="l"/>
                <a:tab pos="4803140" algn="l"/>
              </a:tabLst>
            </a:pPr>
            <a:r>
              <a:rPr sz="2200" i="1" dirty="0">
                <a:latin typeface="Times New Roman"/>
                <a:cs typeface="Times New Roman"/>
              </a:rPr>
              <a:t>“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As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soon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as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an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Analytic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Engine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exists,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it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will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necessarily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guide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future </a:t>
            </a:r>
            <a:r>
              <a:rPr sz="2200" i="1" dirty="0">
                <a:latin typeface="Times New Roman"/>
                <a:cs typeface="Times New Roman"/>
              </a:rPr>
              <a:t>course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of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science.</a:t>
            </a:r>
            <a:r>
              <a:rPr sz="2200" i="1" dirty="0">
                <a:latin typeface="Times New Roman"/>
                <a:cs typeface="Times New Roman"/>
              </a:rPr>
              <a:t>	Whenever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any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result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is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sought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by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its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aid,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question </a:t>
            </a:r>
            <a:r>
              <a:rPr sz="2200" i="1" dirty="0">
                <a:latin typeface="Times New Roman"/>
                <a:cs typeface="Times New Roman"/>
              </a:rPr>
              <a:t>will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arise—</a:t>
            </a:r>
            <a:r>
              <a:rPr sz="2200" i="1" dirty="0">
                <a:latin typeface="Times New Roman"/>
                <a:cs typeface="Times New Roman"/>
              </a:rPr>
              <a:t>By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what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course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of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calculation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can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these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results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arrived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at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Times New Roman"/>
                <a:cs typeface="Times New Roman"/>
              </a:rPr>
              <a:t>by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machine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in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shortest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time?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50" dirty="0">
                <a:latin typeface="Times New Roman"/>
                <a:cs typeface="Times New Roman"/>
              </a:rPr>
              <a:t>”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50" dirty="0">
                <a:solidFill>
                  <a:srgbClr val="003F83"/>
                </a:solidFill>
                <a:latin typeface="Times New Roman"/>
                <a:cs typeface="Times New Roman"/>
              </a:rPr>
              <a:t>—</a:t>
            </a:r>
            <a:r>
              <a:rPr sz="2200" i="1" dirty="0">
                <a:solidFill>
                  <a:srgbClr val="003F83"/>
                </a:solidFill>
                <a:latin typeface="Times New Roman"/>
                <a:cs typeface="Times New Roman"/>
              </a:rPr>
              <a:t>	Charles</a:t>
            </a:r>
            <a:r>
              <a:rPr sz="2200" i="1" spc="-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3F83"/>
                </a:solidFill>
                <a:latin typeface="Times New Roman"/>
                <a:cs typeface="Times New Roman"/>
              </a:rPr>
              <a:t>Babbage</a:t>
            </a:r>
            <a:r>
              <a:rPr sz="2200" i="1" spc="-3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003F83"/>
                </a:solidFill>
                <a:latin typeface="Times New Roman"/>
                <a:cs typeface="Times New Roman"/>
              </a:rPr>
              <a:t>(1864)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3972" y="8967787"/>
            <a:ext cx="16446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Analytic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Engine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73123" y="4443802"/>
            <a:ext cx="5500370" cy="4381500"/>
            <a:chOff x="4073123" y="4443802"/>
            <a:chExt cx="5500370" cy="4381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3123" y="4443802"/>
              <a:ext cx="4842277" cy="4381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650434" y="6318456"/>
              <a:ext cx="910590" cy="910590"/>
            </a:xfrm>
            <a:custGeom>
              <a:avLst/>
              <a:gdLst/>
              <a:ahLst/>
              <a:cxnLst/>
              <a:rect l="l" t="t" r="r" b="b"/>
              <a:pathLst>
                <a:path w="910590" h="910590">
                  <a:moveTo>
                    <a:pt x="0" y="910024"/>
                  </a:moveTo>
                  <a:lnTo>
                    <a:pt x="8980" y="901044"/>
                  </a:lnTo>
                  <a:lnTo>
                    <a:pt x="910024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4756" y="7154843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40">
                  <a:moveTo>
                    <a:pt x="43105" y="0"/>
                  </a:moveTo>
                  <a:lnTo>
                    <a:pt x="0" y="129316"/>
                  </a:lnTo>
                  <a:lnTo>
                    <a:pt x="129315" y="86211"/>
                  </a:lnTo>
                  <a:lnTo>
                    <a:pt x="64658" y="64658"/>
                  </a:lnTo>
                  <a:lnTo>
                    <a:pt x="4310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718344" y="5808757"/>
            <a:ext cx="240792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 marR="5080" indent="-50165">
              <a:lnSpc>
                <a:spcPct val="1063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how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many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times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do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you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have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turn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the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crank?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7785" y="1752600"/>
            <a:ext cx="1701800" cy="201590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663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2729" algn="l"/>
              </a:tabLst>
            </a:pPr>
            <a:r>
              <a:rPr spc="55" dirty="0"/>
              <a:t>Models</a:t>
            </a:r>
            <a:r>
              <a:rPr spc="90" dirty="0"/>
              <a:t> </a:t>
            </a:r>
            <a:r>
              <a:rPr spc="80" dirty="0"/>
              <a:t>of</a:t>
            </a:r>
            <a:r>
              <a:rPr spc="90" dirty="0"/>
              <a:t> </a:t>
            </a:r>
            <a:r>
              <a:rPr spc="-10" dirty="0"/>
              <a:t>computation:</a:t>
            </a:r>
            <a:r>
              <a:rPr dirty="0"/>
              <a:t>	Turing</a:t>
            </a:r>
            <a:r>
              <a:rPr spc="-175" dirty="0"/>
              <a:t> </a:t>
            </a:r>
            <a:r>
              <a:rPr spc="-25" dirty="0"/>
              <a:t>machines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8851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56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Deterministic</a:t>
            </a:r>
            <a:r>
              <a:rPr sz="2400" spc="-1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Turing</a:t>
            </a:r>
            <a:r>
              <a:rPr sz="2400" spc="-1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machine.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Simple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idealistic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model.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5565139"/>
            <a:ext cx="9892030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968750">
              <a:lnSpc>
                <a:spcPct val="131900"/>
              </a:lnSpc>
              <a:spcBef>
                <a:spcPts val="100"/>
              </a:spcBef>
              <a:tabLst>
                <a:tab pos="1541145" algn="l"/>
                <a:tab pos="23190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Running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steps.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Memory.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tape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cells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utilized.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  <a:tabLst>
                <a:tab pos="134493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Caveat.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random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access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memory.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spc="-60" dirty="0">
                <a:latin typeface="Lucida Sans Unicode"/>
                <a:cs typeface="Lucida Sans Unicode"/>
              </a:rPr>
              <a:t>Single-</a:t>
            </a:r>
            <a:r>
              <a:rPr sz="2400" spc="-25" dirty="0">
                <a:latin typeface="Lucida Sans Unicode"/>
                <a:cs typeface="Lucida Sans Unicode"/>
              </a:rPr>
              <a:t>tape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requires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≥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472" baseline="295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steps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detect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105" dirty="0">
                <a:latin typeface="Times New Roman"/>
                <a:cs typeface="Times New Roman"/>
              </a:rPr>
              <a:t>n</a:t>
            </a:r>
            <a:r>
              <a:rPr sz="2400" spc="-105" dirty="0">
                <a:latin typeface="Lucida Sans Unicode"/>
                <a:cs typeface="Lucida Sans Unicode"/>
              </a:rPr>
              <a:t>-</a:t>
            </a:r>
            <a:r>
              <a:rPr sz="2400" spc="-130" dirty="0">
                <a:latin typeface="Lucida Sans Unicode"/>
                <a:cs typeface="Lucida Sans Unicode"/>
              </a:rPr>
              <a:t>bit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palindromes.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Easy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detect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palindromes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≤ </a:t>
            </a:r>
            <a:r>
              <a:rPr sz="2400" i="1" dirty="0">
                <a:latin typeface="Times New Roman"/>
                <a:cs typeface="Times New Roman"/>
              </a:rPr>
              <a:t>cn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steps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computer.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385" y="2209275"/>
            <a:ext cx="5329495" cy="216554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58318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2729" algn="l"/>
              </a:tabLst>
            </a:pPr>
            <a:r>
              <a:rPr spc="55" dirty="0"/>
              <a:t>Models</a:t>
            </a:r>
            <a:r>
              <a:rPr spc="90" dirty="0"/>
              <a:t> </a:t>
            </a:r>
            <a:r>
              <a:rPr spc="80" dirty="0"/>
              <a:t>of</a:t>
            </a:r>
            <a:r>
              <a:rPr spc="90" dirty="0"/>
              <a:t> </a:t>
            </a:r>
            <a:r>
              <a:rPr spc="-10" dirty="0"/>
              <a:t>computation:</a:t>
            </a:r>
            <a:r>
              <a:rPr dirty="0"/>
              <a:t>	</a:t>
            </a:r>
            <a:r>
              <a:rPr spc="95" dirty="0"/>
              <a:t>word</a:t>
            </a:r>
            <a:r>
              <a:rPr spc="90" dirty="0"/>
              <a:t> </a:t>
            </a:r>
            <a:r>
              <a:rPr spc="40" dirty="0"/>
              <a:t>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648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Word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RAM.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638300"/>
            <a:ext cx="10927715" cy="1539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memory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location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input/output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stores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105" dirty="0">
                <a:latin typeface="Times New Roman"/>
                <a:cs typeface="Times New Roman"/>
              </a:rPr>
              <a:t>w</a:t>
            </a:r>
            <a:r>
              <a:rPr sz="2400" spc="-105" dirty="0">
                <a:latin typeface="Lucida Sans Unicode"/>
                <a:cs typeface="Lucida Sans Unicode"/>
              </a:rPr>
              <a:t>-</a:t>
            </a:r>
            <a:r>
              <a:rPr sz="2400" spc="-130" dirty="0">
                <a:latin typeface="Lucida Sans Unicode"/>
                <a:cs typeface="Lucida Sans Unicode"/>
              </a:rPr>
              <a:t>bit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integer.</a:t>
            </a:r>
            <a:endParaRPr sz="2400">
              <a:latin typeface="Lucida Sans Unicode"/>
              <a:cs typeface="Lucida Sans Unicode"/>
            </a:endParaRPr>
          </a:p>
          <a:p>
            <a:pPr marL="495300" marR="30480" indent="-457200">
              <a:lnSpc>
                <a:spcPts val="3800"/>
              </a:lnSpc>
              <a:spcBef>
                <a:spcPts val="219"/>
              </a:spcBef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Primitive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operations: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arithmetic/logic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operations,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read/write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memory,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indexing,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following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pointer,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conditional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branch,</a:t>
            </a:r>
            <a:r>
              <a:rPr sz="2400" spc="-40" dirty="0">
                <a:latin typeface="Lucida Sans Unicode"/>
                <a:cs typeface="Lucida Sans Unicode"/>
              </a:rPr>
              <a:t> …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7495540"/>
            <a:ext cx="11346815" cy="195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87520">
              <a:lnSpc>
                <a:spcPct val="131900"/>
              </a:lnSpc>
              <a:spcBef>
                <a:spcPts val="100"/>
              </a:spcBef>
              <a:tabLst>
                <a:tab pos="1503045" algn="l"/>
                <a:tab pos="22809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Running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primitive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operations.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Memory.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memory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cells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utilized.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30683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Caveat.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times,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need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more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refined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model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(e.g.,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multiplying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spc="-105" dirty="0">
                <a:latin typeface="Times New Roman"/>
                <a:cs typeface="Times New Roman"/>
              </a:rPr>
              <a:t>n</a:t>
            </a:r>
            <a:r>
              <a:rPr sz="2400" spc="-105" dirty="0">
                <a:latin typeface="Lucida Sans Unicode"/>
                <a:cs typeface="Lucida Sans Unicode"/>
              </a:rPr>
              <a:t>-</a:t>
            </a:r>
            <a:r>
              <a:rPr sz="2400" spc="-130" dirty="0">
                <a:latin typeface="Lucida Sans Unicode"/>
                <a:cs typeface="Lucida Sans Unicode"/>
              </a:rPr>
              <a:t>bit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integers).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91488" y="4293543"/>
          <a:ext cx="2992116" cy="347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015"/>
                <a:gridCol w="374015"/>
                <a:gridCol w="374014"/>
                <a:gridCol w="748030"/>
                <a:gridCol w="374014"/>
                <a:gridCol w="374014"/>
                <a:gridCol w="374014"/>
              </a:tblGrid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5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…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812080" y="4331148"/>
            <a:ext cx="5753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ahoma"/>
                <a:cs typeface="Tahoma"/>
              </a:rPr>
              <a:t>input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9055" y="6401669"/>
            <a:ext cx="7213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ahoma"/>
                <a:cs typeface="Tahoma"/>
              </a:rPr>
              <a:t>output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691488" y="6357220"/>
          <a:ext cx="2992116" cy="347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015"/>
                <a:gridCol w="374015"/>
                <a:gridCol w="374014"/>
                <a:gridCol w="748030"/>
                <a:gridCol w="374014"/>
                <a:gridCol w="374014"/>
                <a:gridCol w="374014"/>
              </a:tblGrid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5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…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127675" y="4291882"/>
            <a:ext cx="8788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ahoma"/>
                <a:cs typeface="Tahoma"/>
              </a:rPr>
              <a:t>memory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97838" y="4856238"/>
            <a:ext cx="2990215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600">
              <a:latin typeface="Times New Roman"/>
              <a:cs typeface="Times New Roman"/>
            </a:endParaRPr>
          </a:p>
          <a:p>
            <a:pPr marR="5080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ahoma"/>
                <a:cs typeface="Tahoma"/>
              </a:rPr>
              <a:t>program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73202" y="1242415"/>
            <a:ext cx="182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assume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w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≥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log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r>
              <a:rPr sz="1800" spc="225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97469" y="1460057"/>
            <a:ext cx="404495" cy="404495"/>
            <a:chOff x="9497469" y="1460057"/>
            <a:chExt cx="404495" cy="404495"/>
          </a:xfrm>
        </p:grpSpPr>
        <p:sp>
          <p:nvSpPr>
            <p:cNvPr id="15" name="object 15"/>
            <p:cNvSpPr/>
            <p:nvPr/>
          </p:nvSpPr>
          <p:spPr>
            <a:xfrm>
              <a:off x="9553148" y="1472757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4">
                  <a:moveTo>
                    <a:pt x="335555" y="0"/>
                  </a:moveTo>
                  <a:lnTo>
                    <a:pt x="8980" y="326575"/>
                  </a:lnTo>
                  <a:lnTo>
                    <a:pt x="0" y="335555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97469" y="1734676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43105" y="0"/>
                  </a:moveTo>
                  <a:lnTo>
                    <a:pt x="0" y="129315"/>
                  </a:lnTo>
                  <a:lnTo>
                    <a:pt x="129315" y="86210"/>
                  </a:lnTo>
                  <a:lnTo>
                    <a:pt x="64658" y="64658"/>
                  </a:lnTo>
                  <a:lnTo>
                    <a:pt x="4310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64175" y="5336927"/>
            <a:ext cx="844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48AA"/>
                </a:solidFill>
                <a:latin typeface="Lucida Sans Unicode"/>
                <a:cs typeface="Lucida Sans Unicode"/>
              </a:rPr>
              <a:t>i</a:t>
            </a:r>
            <a:endParaRPr sz="1600">
              <a:latin typeface="Lucida Sans Unicode"/>
              <a:cs typeface="Lucida Sans Unicode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557709" y="4271245"/>
          <a:ext cx="374015" cy="2432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015"/>
              </a:tblGrid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spc="-2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a[i]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2669">
                <a:tc>
                  <a:txBody>
                    <a:bodyPr/>
                    <a:lstStyle/>
                    <a:p>
                      <a:pPr marL="33655" algn="ctr">
                        <a:lnSpc>
                          <a:spcPts val="1760"/>
                        </a:lnSpc>
                        <a:spcBef>
                          <a:spcPts val="1305"/>
                        </a:spcBef>
                      </a:pPr>
                      <a:r>
                        <a:rPr sz="1600" spc="-5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  <a:p>
                      <a:pPr marL="33655" algn="ctr">
                        <a:lnSpc>
                          <a:spcPts val="1600"/>
                        </a:lnSpc>
                      </a:pPr>
                      <a:r>
                        <a:rPr sz="1600" spc="-5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  <a:p>
                      <a:pPr marL="33655" algn="ctr">
                        <a:lnSpc>
                          <a:spcPts val="1760"/>
                        </a:lnSpc>
                      </a:pPr>
                      <a:r>
                        <a:rPr sz="1600" spc="-5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endParaRPr sz="16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9160209" y="3628909"/>
            <a:ext cx="3231515" cy="5848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36980" marR="5080" indent="-1224915">
              <a:lnSpc>
                <a:spcPct val="108900"/>
              </a:lnSpc>
              <a:spcBef>
                <a:spcPts val="80"/>
              </a:spcBef>
            </a:pPr>
            <a:r>
              <a:rPr sz="16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constant-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8D3124"/>
                </a:solidFill>
                <a:latin typeface="Lucida Sans Unicode"/>
                <a:cs typeface="Lucida Sans Unicode"/>
              </a:rPr>
              <a:t>C-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style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operations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r>
              <a:rPr sz="1800" i="1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8D3124"/>
                </a:solidFill>
                <a:latin typeface="Times New Roman"/>
                <a:cs typeface="Times New Roman"/>
              </a:rPr>
              <a:t>64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518325" y="3276904"/>
            <a:ext cx="545465" cy="354965"/>
            <a:chOff x="8518325" y="3276904"/>
            <a:chExt cx="545465" cy="354965"/>
          </a:xfrm>
        </p:grpSpPr>
        <p:sp>
          <p:nvSpPr>
            <p:cNvPr id="21" name="object 21"/>
            <p:cNvSpPr/>
            <p:nvPr/>
          </p:nvSpPr>
          <p:spPr>
            <a:xfrm>
              <a:off x="8584557" y="3319487"/>
              <a:ext cx="466090" cy="299720"/>
            </a:xfrm>
            <a:custGeom>
              <a:avLst/>
              <a:gdLst/>
              <a:ahLst/>
              <a:cxnLst/>
              <a:rect l="l" t="t" r="r" b="b"/>
              <a:pathLst>
                <a:path w="466090" h="299720">
                  <a:moveTo>
                    <a:pt x="465945" y="299571"/>
                  </a:moveTo>
                  <a:lnTo>
                    <a:pt x="10682" y="6868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8325" y="3276904"/>
              <a:ext cx="135890" cy="117475"/>
            </a:xfrm>
            <a:custGeom>
              <a:avLst/>
              <a:gdLst/>
              <a:ahLst/>
              <a:cxnLst/>
              <a:rect l="l" t="t" r="r" b="b"/>
              <a:pathLst>
                <a:path w="135890" h="117475">
                  <a:moveTo>
                    <a:pt x="0" y="0"/>
                  </a:moveTo>
                  <a:lnTo>
                    <a:pt x="69585" y="117210"/>
                  </a:lnTo>
                  <a:lnTo>
                    <a:pt x="76915" y="49451"/>
                  </a:lnTo>
                  <a:lnTo>
                    <a:pt x="135520" y="14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Brute</a:t>
            </a:r>
            <a:r>
              <a:rPr spc="-35" dirty="0"/>
              <a:t> </a:t>
            </a:r>
            <a:r>
              <a:rPr spc="-20" dirty="0"/>
              <a:t>force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21740"/>
            <a:ext cx="10807065" cy="199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  <a:tabLst>
                <a:tab pos="194691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Brute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force.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many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nontrivial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problems,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natural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brute-</a:t>
            </a:r>
            <a:r>
              <a:rPr sz="2400" spc="-10" dirty="0">
                <a:latin typeface="Lucida Sans Unicode"/>
                <a:cs typeface="Lucida Sans Unicode"/>
              </a:rPr>
              <a:t>force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checks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possible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solution.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710"/>
              </a:lnSpc>
            </a:pPr>
            <a:r>
              <a:rPr sz="3850" spc="-45" dirty="0">
                <a:latin typeface="Microsoft JhengHei UI"/>
                <a:cs typeface="Microsoft JhengHei UI"/>
              </a:rPr>
              <a:t>・</a:t>
            </a:r>
            <a:r>
              <a:rPr sz="3600" baseline="1157" dirty="0">
                <a:latin typeface="Lucida Sans Unicode"/>
                <a:cs typeface="Lucida Sans Unicode"/>
              </a:rPr>
              <a:t>Typically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takes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spc="89" baseline="1157" dirty="0">
                <a:latin typeface="Times New Roman"/>
                <a:cs typeface="Times New Roman"/>
              </a:rPr>
              <a:t>2</a:t>
            </a:r>
            <a:r>
              <a:rPr sz="2550" i="1" spc="89" baseline="32679" dirty="0">
                <a:latin typeface="Times New Roman"/>
                <a:cs typeface="Times New Roman"/>
              </a:rPr>
              <a:t>n</a:t>
            </a:r>
            <a:r>
              <a:rPr sz="2550" i="1" spc="509" baseline="32679" dirty="0">
                <a:latin typeface="Times New Roman"/>
                <a:cs typeface="Times New Roman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steps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(or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worse)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for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inputs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of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baseline="1157" dirty="0">
                <a:latin typeface="Lucida Sans Unicode"/>
                <a:cs typeface="Lucida Sans Unicode"/>
              </a:rPr>
              <a:t>size</a:t>
            </a:r>
            <a:r>
              <a:rPr sz="3600" spc="7" baseline="1157" dirty="0">
                <a:latin typeface="Lucida Sans Unicode"/>
                <a:cs typeface="Lucida Sans Unicode"/>
              </a:rPr>
              <a:t> </a:t>
            </a:r>
            <a:r>
              <a:rPr sz="3600" i="1" spc="-37" baseline="1157" dirty="0">
                <a:latin typeface="Times New Roman"/>
                <a:cs typeface="Times New Roman"/>
              </a:rPr>
              <a:t>n</a:t>
            </a:r>
            <a:r>
              <a:rPr sz="3600" spc="-37" baseline="1157" dirty="0">
                <a:latin typeface="Lucida Sans Unicode"/>
                <a:cs typeface="Lucida Sans Unicode"/>
              </a:rPr>
              <a:t>.</a:t>
            </a:r>
            <a:endParaRPr sz="3600" baseline="1157">
              <a:latin typeface="Lucida Sans Unicode"/>
              <a:cs typeface="Lucida Sans Unicode"/>
            </a:endParaRPr>
          </a:p>
          <a:p>
            <a:pPr marL="165100">
              <a:lnSpc>
                <a:spcPts val="418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Unacceptable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9060180"/>
            <a:ext cx="10574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problem: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!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perfect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stability.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1096" y="4099185"/>
            <a:ext cx="3425190" cy="3365500"/>
            <a:chOff x="4341096" y="4099185"/>
            <a:chExt cx="3425190" cy="3365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1096" y="4099185"/>
              <a:ext cx="3424919" cy="3365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59092" y="4545914"/>
              <a:ext cx="1244600" cy="838200"/>
            </a:xfrm>
            <a:custGeom>
              <a:avLst/>
              <a:gdLst/>
              <a:ahLst/>
              <a:cxnLst/>
              <a:rect l="l" t="t" r="r" b="b"/>
              <a:pathLst>
                <a:path w="1244600" h="838200">
                  <a:moveTo>
                    <a:pt x="225870" y="619022"/>
                  </a:moveTo>
                  <a:lnTo>
                    <a:pt x="219344" y="623080"/>
                  </a:lnTo>
                  <a:lnTo>
                    <a:pt x="233901" y="644768"/>
                  </a:lnTo>
                  <a:lnTo>
                    <a:pt x="243355" y="651457"/>
                  </a:lnTo>
                  <a:lnTo>
                    <a:pt x="254650" y="656634"/>
                  </a:lnTo>
                  <a:lnTo>
                    <a:pt x="266280" y="662147"/>
                  </a:lnTo>
                  <a:lnTo>
                    <a:pt x="276738" y="669843"/>
                  </a:lnTo>
                  <a:lnTo>
                    <a:pt x="303288" y="680057"/>
                  </a:lnTo>
                  <a:lnTo>
                    <a:pt x="329838" y="691111"/>
                  </a:lnTo>
                  <a:lnTo>
                    <a:pt x="357058" y="701829"/>
                  </a:lnTo>
                  <a:lnTo>
                    <a:pt x="385616" y="711036"/>
                  </a:lnTo>
                  <a:lnTo>
                    <a:pt x="441960" y="713701"/>
                  </a:lnTo>
                  <a:lnTo>
                    <a:pt x="474830" y="715592"/>
                  </a:lnTo>
                  <a:lnTo>
                    <a:pt x="492022" y="723674"/>
                  </a:lnTo>
                  <a:lnTo>
                    <a:pt x="501332" y="744908"/>
                  </a:lnTo>
                  <a:lnTo>
                    <a:pt x="510557" y="786259"/>
                  </a:lnTo>
                  <a:lnTo>
                    <a:pt x="523246" y="802435"/>
                  </a:lnTo>
                  <a:lnTo>
                    <a:pt x="534429" y="816259"/>
                  </a:lnTo>
                  <a:lnTo>
                    <a:pt x="547955" y="828069"/>
                  </a:lnTo>
                  <a:lnTo>
                    <a:pt x="567673" y="838200"/>
                  </a:lnTo>
                  <a:lnTo>
                    <a:pt x="576151" y="836045"/>
                  </a:lnTo>
                  <a:lnTo>
                    <a:pt x="621888" y="822332"/>
                  </a:lnTo>
                  <a:lnTo>
                    <a:pt x="662522" y="795298"/>
                  </a:lnTo>
                  <a:lnTo>
                    <a:pt x="688821" y="764543"/>
                  </a:lnTo>
                  <a:lnTo>
                    <a:pt x="713446" y="734795"/>
                  </a:lnTo>
                  <a:lnTo>
                    <a:pt x="726525" y="719992"/>
                  </a:lnTo>
                  <a:lnTo>
                    <a:pt x="746522" y="712660"/>
                  </a:lnTo>
                  <a:lnTo>
                    <a:pt x="764678" y="705663"/>
                  </a:lnTo>
                  <a:lnTo>
                    <a:pt x="782499" y="697324"/>
                  </a:lnTo>
                  <a:lnTo>
                    <a:pt x="801491" y="685962"/>
                  </a:lnTo>
                  <a:lnTo>
                    <a:pt x="854842" y="672445"/>
                  </a:lnTo>
                  <a:lnTo>
                    <a:pt x="908360" y="659768"/>
                  </a:lnTo>
                  <a:lnTo>
                    <a:pt x="958866" y="641382"/>
                  </a:lnTo>
                  <a:lnTo>
                    <a:pt x="990757" y="619330"/>
                  </a:lnTo>
                  <a:lnTo>
                    <a:pt x="228380" y="619330"/>
                  </a:lnTo>
                  <a:lnTo>
                    <a:pt x="225870" y="619022"/>
                  </a:lnTo>
                  <a:close/>
                </a:path>
                <a:path w="1244600" h="838200">
                  <a:moveTo>
                    <a:pt x="617648" y="0"/>
                  </a:moveTo>
                  <a:lnTo>
                    <a:pt x="476253" y="10632"/>
                  </a:lnTo>
                  <a:lnTo>
                    <a:pt x="368074" y="20428"/>
                  </a:lnTo>
                  <a:lnTo>
                    <a:pt x="320245" y="26417"/>
                  </a:lnTo>
                  <a:lnTo>
                    <a:pt x="273420" y="35764"/>
                  </a:lnTo>
                  <a:lnTo>
                    <a:pt x="226761" y="50148"/>
                  </a:lnTo>
                  <a:lnTo>
                    <a:pt x="223471" y="65288"/>
                  </a:lnTo>
                  <a:lnTo>
                    <a:pt x="215160" y="77237"/>
                  </a:lnTo>
                  <a:lnTo>
                    <a:pt x="204172" y="88179"/>
                  </a:lnTo>
                  <a:lnTo>
                    <a:pt x="192849" y="100296"/>
                  </a:lnTo>
                  <a:lnTo>
                    <a:pt x="150012" y="119855"/>
                  </a:lnTo>
                  <a:lnTo>
                    <a:pt x="112316" y="147580"/>
                  </a:lnTo>
                  <a:lnTo>
                    <a:pt x="81045" y="182182"/>
                  </a:lnTo>
                  <a:lnTo>
                    <a:pt x="57485" y="222373"/>
                  </a:lnTo>
                  <a:lnTo>
                    <a:pt x="42920" y="266862"/>
                  </a:lnTo>
                  <a:lnTo>
                    <a:pt x="16788" y="305257"/>
                  </a:lnTo>
                  <a:lnTo>
                    <a:pt x="2537" y="353727"/>
                  </a:lnTo>
                  <a:lnTo>
                    <a:pt x="0" y="404883"/>
                  </a:lnTo>
                  <a:lnTo>
                    <a:pt x="9007" y="451337"/>
                  </a:lnTo>
                  <a:lnTo>
                    <a:pt x="34163" y="476076"/>
                  </a:lnTo>
                  <a:lnTo>
                    <a:pt x="60323" y="498800"/>
                  </a:lnTo>
                  <a:lnTo>
                    <a:pt x="85813" y="522867"/>
                  </a:lnTo>
                  <a:lnTo>
                    <a:pt x="108960" y="551635"/>
                  </a:lnTo>
                  <a:lnTo>
                    <a:pt x="131494" y="561626"/>
                  </a:lnTo>
                  <a:lnTo>
                    <a:pt x="156705" y="576486"/>
                  </a:lnTo>
                  <a:lnTo>
                    <a:pt x="181248" y="593696"/>
                  </a:lnTo>
                  <a:lnTo>
                    <a:pt x="201774" y="610739"/>
                  </a:lnTo>
                  <a:lnTo>
                    <a:pt x="228380" y="619330"/>
                  </a:lnTo>
                  <a:lnTo>
                    <a:pt x="990757" y="619330"/>
                  </a:lnTo>
                  <a:lnTo>
                    <a:pt x="1003181" y="610739"/>
                  </a:lnTo>
                  <a:lnTo>
                    <a:pt x="1022285" y="602287"/>
                  </a:lnTo>
                  <a:lnTo>
                    <a:pt x="1036871" y="591485"/>
                  </a:lnTo>
                  <a:lnTo>
                    <a:pt x="1051122" y="580011"/>
                  </a:lnTo>
                  <a:lnTo>
                    <a:pt x="1069221" y="569545"/>
                  </a:lnTo>
                  <a:lnTo>
                    <a:pt x="1112337" y="549088"/>
                  </a:lnTo>
                  <a:lnTo>
                    <a:pt x="1139724" y="534844"/>
                  </a:lnTo>
                  <a:lnTo>
                    <a:pt x="1159078" y="512876"/>
                  </a:lnTo>
                  <a:lnTo>
                    <a:pt x="1178098" y="469248"/>
                  </a:lnTo>
                  <a:lnTo>
                    <a:pt x="1207995" y="426823"/>
                  </a:lnTo>
                  <a:lnTo>
                    <a:pt x="1225844" y="383727"/>
                  </a:lnTo>
                  <a:lnTo>
                    <a:pt x="1236330" y="337272"/>
                  </a:lnTo>
                  <a:lnTo>
                    <a:pt x="1244139" y="284773"/>
                  </a:lnTo>
                  <a:lnTo>
                    <a:pt x="1231171" y="240725"/>
                  </a:lnTo>
                  <a:lnTo>
                    <a:pt x="1216697" y="198356"/>
                  </a:lnTo>
                  <a:lnTo>
                    <a:pt x="1197203" y="159345"/>
                  </a:lnTo>
                  <a:lnTo>
                    <a:pt x="1169175" y="125371"/>
                  </a:lnTo>
                  <a:lnTo>
                    <a:pt x="1135987" y="112974"/>
                  </a:lnTo>
                  <a:lnTo>
                    <a:pt x="1105812" y="98729"/>
                  </a:lnTo>
                  <a:lnTo>
                    <a:pt x="1078313" y="80791"/>
                  </a:lnTo>
                  <a:lnTo>
                    <a:pt x="1053158" y="57312"/>
                  </a:lnTo>
                  <a:lnTo>
                    <a:pt x="1003377" y="43672"/>
                  </a:lnTo>
                  <a:lnTo>
                    <a:pt x="955829" y="32434"/>
                  </a:lnTo>
                  <a:lnTo>
                    <a:pt x="909707" y="23349"/>
                  </a:lnTo>
                  <a:lnTo>
                    <a:pt x="864201" y="16165"/>
                  </a:lnTo>
                  <a:lnTo>
                    <a:pt x="818504" y="10632"/>
                  </a:lnTo>
                  <a:lnTo>
                    <a:pt x="771808" y="6500"/>
                  </a:lnTo>
                  <a:lnTo>
                    <a:pt x="723306" y="3517"/>
                  </a:lnTo>
                  <a:lnTo>
                    <a:pt x="674066" y="1511"/>
                  </a:lnTo>
                  <a:lnTo>
                    <a:pt x="675097" y="1511"/>
                  </a:lnTo>
                  <a:lnTo>
                    <a:pt x="617648" y="0"/>
                  </a:lnTo>
                  <a:close/>
                </a:path>
              </a:pathLst>
            </a:custGeom>
            <a:solidFill>
              <a:srgbClr val="9CA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221740"/>
            <a:ext cx="1060132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419227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Desirable</a:t>
            </a: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scaling</a:t>
            </a: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property.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input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doubles,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 </a:t>
            </a:r>
            <a:r>
              <a:rPr sz="2400" dirty="0">
                <a:latin typeface="Lucida Sans Unicode"/>
                <a:cs typeface="Lucida Sans Unicode"/>
              </a:rPr>
              <a:t>should slow down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dirty="0">
                <a:latin typeface="Lucida Sans Unicode"/>
                <a:cs typeface="Lucida Sans Unicode"/>
              </a:rPr>
              <a:t> at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 some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multiplicative constant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factor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00" y="3751579"/>
            <a:ext cx="9950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24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above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scaling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property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holds.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1300" y="6919206"/>
            <a:ext cx="1171365" cy="15280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29335" y="8489275"/>
            <a:ext cx="12877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5080" indent="-330835">
              <a:lnSpc>
                <a:spcPct val="1214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von</a:t>
            </a:r>
            <a:r>
              <a:rPr sz="1400" b="1" spc="9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Neumann (1953)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244" y="6918014"/>
            <a:ext cx="1261401" cy="15303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56722" y="8489275"/>
            <a:ext cx="626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Gödel </a:t>
            </a:r>
            <a:r>
              <a:rPr sz="1400" b="1" spc="-30" dirty="0">
                <a:latin typeface="Tahoma"/>
                <a:cs typeface="Tahoma"/>
              </a:rPr>
              <a:t>(1956)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8665" y="6920396"/>
            <a:ext cx="1272816" cy="152546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88184" y="8489275"/>
            <a:ext cx="8705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 marR="5080" indent="-122555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Edmonds (1965)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40111" y="6921189"/>
            <a:ext cx="1270000" cy="15240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283920" y="8489275"/>
            <a:ext cx="626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640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Rabin </a:t>
            </a:r>
            <a:r>
              <a:rPr sz="1400" b="1" spc="-30" dirty="0">
                <a:latin typeface="Tahoma"/>
                <a:cs typeface="Tahoma"/>
              </a:rPr>
              <a:t>(1966)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61786" y="6918411"/>
            <a:ext cx="1266250" cy="152974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707951" y="8476574"/>
            <a:ext cx="7772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 indent="-75565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Cobham (1964)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66290" y="6924075"/>
            <a:ext cx="1083568" cy="151833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380322" y="8489275"/>
            <a:ext cx="626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21400"/>
              </a:lnSpc>
              <a:spcBef>
                <a:spcPts val="100"/>
              </a:spcBef>
            </a:pPr>
            <a:r>
              <a:rPr sz="1400" b="1" spc="-20" dirty="0">
                <a:latin typeface="Tahoma"/>
                <a:cs typeface="Tahoma"/>
              </a:rPr>
              <a:t>Nash </a:t>
            </a:r>
            <a:r>
              <a:rPr sz="1400" b="1" spc="-30" dirty="0">
                <a:latin typeface="Tahoma"/>
                <a:cs typeface="Tahoma"/>
              </a:rPr>
              <a:t>(1955)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195" dirty="0"/>
              <a:t> </a:t>
            </a:r>
            <a:r>
              <a:rPr dirty="0"/>
              <a:t>running</a:t>
            </a:r>
            <a:r>
              <a:rPr spc="195" dirty="0"/>
              <a:t> </a:t>
            </a:r>
            <a:r>
              <a:rPr spc="-20" dirty="0"/>
              <a:t>time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028467" y="5622047"/>
            <a:ext cx="1299845" cy="6572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211454" marR="30480" indent="-173990">
              <a:lnSpc>
                <a:spcPct val="124600"/>
              </a:lnSpc>
              <a:spcBef>
                <a:spcPts val="45"/>
              </a:spcBef>
            </a:pP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corresponds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C</a:t>
            </a:r>
            <a:r>
              <a:rPr sz="1800" i="1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=</a:t>
            </a:r>
            <a:r>
              <a:rPr sz="1800" i="1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r>
              <a:rPr sz="1800" i="1" spc="-37" baseline="32407" dirty="0">
                <a:solidFill>
                  <a:srgbClr val="8D3124"/>
                </a:solidFill>
                <a:latin typeface="Times New Roman"/>
                <a:cs typeface="Times New Roman"/>
              </a:rPr>
              <a:t>b</a:t>
            </a:r>
            <a:endParaRPr sz="1800" baseline="3240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90810" y="4584700"/>
            <a:ext cx="7823200" cy="1894839"/>
          </a:xfrm>
          <a:custGeom>
            <a:avLst/>
            <a:gdLst/>
            <a:ahLst/>
            <a:cxnLst/>
            <a:rect l="l" t="t" r="r" b="b"/>
            <a:pathLst>
              <a:path w="7823200" h="1894839">
                <a:moveTo>
                  <a:pt x="7823089" y="0"/>
                </a:moveTo>
                <a:lnTo>
                  <a:pt x="0" y="0"/>
                </a:lnTo>
                <a:lnTo>
                  <a:pt x="0" y="1894472"/>
                </a:lnTo>
                <a:lnTo>
                  <a:pt x="7823089" y="1894472"/>
                </a:lnTo>
                <a:lnTo>
                  <a:pt x="7823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477162" y="4820680"/>
            <a:ext cx="6450965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30480" algn="ctr">
              <a:lnSpc>
                <a:spcPct val="134200"/>
              </a:lnSpc>
              <a:spcBef>
                <a:spcPts val="100"/>
              </a:spcBef>
            </a:pPr>
            <a:r>
              <a:rPr sz="2000" b="1" dirty="0">
                <a:latin typeface="Tahoma"/>
                <a:cs typeface="Tahoma"/>
              </a:rPr>
              <a:t>There</a:t>
            </a:r>
            <a:r>
              <a:rPr sz="2000" b="1" spc="1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exist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constants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a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&gt;</a:t>
            </a:r>
            <a:r>
              <a:rPr sz="2000" b="1" spc="1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0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and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spc="50" dirty="0">
                <a:latin typeface="Tahoma"/>
                <a:cs typeface="Tahoma"/>
              </a:rPr>
              <a:t>b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&gt;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0</a:t>
            </a:r>
            <a:r>
              <a:rPr sz="2000" b="1" spc="12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such</a:t>
            </a:r>
            <a:r>
              <a:rPr sz="2000" b="1" spc="12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that, </a:t>
            </a:r>
            <a:r>
              <a:rPr sz="2000" b="1" dirty="0">
                <a:latin typeface="Tahoma"/>
                <a:cs typeface="Tahoma"/>
              </a:rPr>
              <a:t>for</a:t>
            </a:r>
            <a:r>
              <a:rPr sz="2000" b="1" spc="13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every</a:t>
            </a:r>
            <a:r>
              <a:rPr sz="2000" b="1" spc="13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input</a:t>
            </a:r>
            <a:r>
              <a:rPr sz="2000" b="1" spc="14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of</a:t>
            </a:r>
            <a:r>
              <a:rPr sz="2000" b="1" spc="135" dirty="0">
                <a:latin typeface="Tahoma"/>
                <a:cs typeface="Tahoma"/>
              </a:rPr>
              <a:t> </a:t>
            </a:r>
            <a:r>
              <a:rPr sz="2000" b="1" spc="60" dirty="0">
                <a:latin typeface="Tahoma"/>
                <a:cs typeface="Tahoma"/>
              </a:rPr>
              <a:t>size</a:t>
            </a:r>
            <a:r>
              <a:rPr sz="2000" b="1" spc="14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n,</a:t>
            </a:r>
            <a:r>
              <a:rPr sz="2000" b="1" spc="13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the</a:t>
            </a:r>
            <a:r>
              <a:rPr sz="2000" b="1" spc="14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algorithm</a:t>
            </a:r>
            <a:r>
              <a:rPr sz="2000" b="1" spc="13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performs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2000" b="1" dirty="0">
                <a:latin typeface="Tahoma"/>
                <a:cs typeface="Tahoma"/>
              </a:rPr>
              <a:t>≤</a:t>
            </a:r>
            <a:r>
              <a:rPr sz="2000" b="1" spc="180" dirty="0">
                <a:latin typeface="Tahoma"/>
                <a:cs typeface="Tahoma"/>
              </a:rPr>
              <a:t> </a:t>
            </a:r>
            <a:r>
              <a:rPr sz="2000" b="1" spc="-45" dirty="0">
                <a:latin typeface="Tahoma"/>
                <a:cs typeface="Tahoma"/>
              </a:rPr>
              <a:t>a</a:t>
            </a:r>
            <a:r>
              <a:rPr sz="2000" b="1" spc="-8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n</a:t>
            </a:r>
            <a:r>
              <a:rPr sz="1950" b="1" baseline="34188" dirty="0">
                <a:latin typeface="Tahoma"/>
                <a:cs typeface="Tahoma"/>
              </a:rPr>
              <a:t>b</a:t>
            </a:r>
            <a:r>
              <a:rPr sz="1950" b="1" spc="195" baseline="34188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primitive</a:t>
            </a:r>
            <a:r>
              <a:rPr sz="2000" b="1" spc="18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computational</a:t>
            </a:r>
            <a:r>
              <a:rPr sz="2000" b="1" spc="18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steps.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08703" y="5921136"/>
            <a:ext cx="605155" cy="121920"/>
            <a:chOff x="9308703" y="5921136"/>
            <a:chExt cx="605155" cy="121920"/>
          </a:xfrm>
        </p:grpSpPr>
        <p:sp>
          <p:nvSpPr>
            <p:cNvPr id="22" name="object 22"/>
            <p:cNvSpPr/>
            <p:nvPr/>
          </p:nvSpPr>
          <p:spPr>
            <a:xfrm>
              <a:off x="9387443" y="5982092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5">
                  <a:moveTo>
                    <a:pt x="0" y="4"/>
                  </a:moveTo>
                  <a:lnTo>
                    <a:pt x="12699" y="4"/>
                  </a:lnTo>
                  <a:lnTo>
                    <a:pt x="526359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08703" y="5921136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8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38" y="60960"/>
                  </a:lnTo>
                  <a:lnTo>
                    <a:pt x="121918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195" dirty="0"/>
              <a:t> </a:t>
            </a:r>
            <a:r>
              <a:rPr dirty="0"/>
              <a:t>running</a:t>
            </a:r>
            <a:r>
              <a:rPr spc="195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066482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efficient</a:t>
            </a:r>
            <a:r>
              <a:rPr sz="24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33794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Definition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(relatively)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insensitive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model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computation.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3268979"/>
            <a:ext cx="10216515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14757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Practice.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really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works!</a:t>
            </a:r>
            <a:endParaRPr sz="2400">
              <a:latin typeface="Lucida Sans Unicode"/>
              <a:cs typeface="Lucida Sans Unicode"/>
            </a:endParaRPr>
          </a:p>
          <a:p>
            <a:pPr marL="622300" marR="1203960" indent="-457200">
              <a:lnSpc>
                <a:spcPts val="3800"/>
              </a:lnSpc>
              <a:spcBef>
                <a:spcPts val="545"/>
              </a:spcBef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people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develop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both </a:t>
            </a:r>
            <a:r>
              <a:rPr sz="2400" dirty="0">
                <a:latin typeface="Lucida Sans Unicode"/>
                <a:cs typeface="Lucida Sans Unicode"/>
              </a:rPr>
              <a:t>small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exponents.</a:t>
            </a:r>
            <a:endParaRPr sz="2400">
              <a:latin typeface="Lucida Sans Unicode"/>
              <a:cs typeface="Lucida Sans Unicode"/>
            </a:endParaRPr>
          </a:p>
          <a:p>
            <a:pPr marL="622300" marR="30480" indent="-4572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Breaking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through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exponential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barrier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brute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force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typically </a:t>
            </a:r>
            <a:r>
              <a:rPr sz="2400" dirty="0">
                <a:latin typeface="Lucida Sans Unicode"/>
                <a:cs typeface="Lucida Sans Unicode"/>
              </a:rPr>
              <a:t>exposes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crucial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structure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6047739"/>
            <a:ext cx="7566659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90690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70" dirty="0">
                <a:latin typeface="Lucida Sans Unicode"/>
                <a:cs typeface="Lucida Sans Unicode"/>
              </a:rPr>
              <a:t> 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wild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galactic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and/or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huge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exponents.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100" y="8094980"/>
            <a:ext cx="4175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would</a:t>
            </a:r>
            <a:r>
              <a:rPr sz="2400" spc="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you</a:t>
            </a:r>
            <a:r>
              <a:rPr sz="2400" spc="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prefer: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7185" y="7989659"/>
            <a:ext cx="88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19675" dirty="0">
                <a:latin typeface="Times New Roman"/>
                <a:cs typeface="Times New Roman"/>
              </a:rPr>
              <a:t>20</a:t>
            </a:r>
            <a:r>
              <a:rPr sz="3600" spc="-300" baseline="-19675" dirty="0">
                <a:latin typeface="Times New Roman"/>
                <a:cs typeface="Times New Roman"/>
              </a:rPr>
              <a:t> </a:t>
            </a:r>
            <a:r>
              <a:rPr sz="3600" i="1" spc="-30" baseline="-19675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120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7785" y="8094980"/>
            <a:ext cx="337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Lucida Sans Unicode"/>
                <a:cs typeface="Lucida Sans Unicode"/>
              </a:rPr>
              <a:t>or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6829" y="7995173"/>
            <a:ext cx="1263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i="1" baseline="-18518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0.02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ln </a:t>
            </a:r>
            <a:r>
              <a:rPr sz="1600" i="1" spc="-5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1916" y="8094980"/>
            <a:ext cx="154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91600" y="5892800"/>
            <a:ext cx="3175000" cy="3327400"/>
          </a:xfrm>
          <a:custGeom>
            <a:avLst/>
            <a:gdLst/>
            <a:ahLst/>
            <a:cxnLst/>
            <a:rect l="l" t="t" r="r" b="b"/>
            <a:pathLst>
              <a:path w="3175000" h="3327400">
                <a:moveTo>
                  <a:pt x="3175000" y="0"/>
                </a:moveTo>
                <a:lnTo>
                  <a:pt x="0" y="0"/>
                </a:lnTo>
                <a:lnTo>
                  <a:pt x="0" y="3327400"/>
                </a:lnTo>
                <a:lnTo>
                  <a:pt x="3175000" y="3327400"/>
                </a:lnTo>
                <a:lnTo>
                  <a:pt x="3175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83452" y="7173312"/>
            <a:ext cx="445770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b="1" spc="-10" dirty="0">
                <a:latin typeface="Times New Roman"/>
                <a:cs typeface="Times New Roman"/>
              </a:rPr>
              <a:t>Abstract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38256" y="7424278"/>
            <a:ext cx="2341245" cy="15411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6985" indent="116839" algn="just">
              <a:lnSpc>
                <a:spcPct val="102400"/>
              </a:lnSpc>
              <a:spcBef>
                <a:spcPts val="65"/>
              </a:spcBef>
            </a:pPr>
            <a:r>
              <a:rPr sz="750" i="1" spc="-10" dirty="0">
                <a:latin typeface="Times New Roman"/>
                <a:cs typeface="Times New Roman"/>
              </a:rPr>
              <a:t>Chen,</a:t>
            </a:r>
            <a:r>
              <a:rPr sz="750" i="1" spc="-8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Grigni,</a:t>
            </a:r>
            <a:r>
              <a:rPr sz="750" i="1" spc="-6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and</a:t>
            </a:r>
            <a:r>
              <a:rPr sz="750" i="1" spc="-80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Papadimitriou</a:t>
            </a:r>
            <a:r>
              <a:rPr sz="750" i="1" spc="-80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(WADS’97</a:t>
            </a:r>
            <a:r>
              <a:rPr sz="750" i="1" spc="-8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and</a:t>
            </a:r>
            <a:r>
              <a:rPr sz="750" i="1" spc="-8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STOC’98)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have</a:t>
            </a:r>
            <a:r>
              <a:rPr sz="750" i="1" spc="10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introduced</a:t>
            </a:r>
            <a:r>
              <a:rPr sz="750" i="1" spc="12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a</a:t>
            </a:r>
            <a:r>
              <a:rPr sz="750" i="1" spc="120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modified</a:t>
            </a:r>
            <a:r>
              <a:rPr sz="750" i="1" spc="12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notion</a:t>
            </a:r>
            <a:r>
              <a:rPr sz="750" i="1" spc="12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of</a:t>
            </a:r>
            <a:r>
              <a:rPr sz="750" i="1" spc="12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planarity,</a:t>
            </a:r>
            <a:r>
              <a:rPr sz="750" i="1" spc="14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where</a:t>
            </a:r>
            <a:r>
              <a:rPr sz="750" i="1" spc="9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two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faces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are</a:t>
            </a:r>
            <a:r>
              <a:rPr sz="750" i="1" spc="-2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considered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adjacent</a:t>
            </a:r>
            <a:r>
              <a:rPr sz="750" i="1" spc="-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if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they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share</a:t>
            </a:r>
            <a:r>
              <a:rPr sz="750" i="1" spc="-2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at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least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one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point.</a:t>
            </a:r>
            <a:r>
              <a:rPr sz="750" i="1" spc="-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The</a:t>
            </a:r>
            <a:r>
              <a:rPr sz="750" i="1" spc="1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corresponding</a:t>
            </a:r>
            <a:r>
              <a:rPr sz="750" i="1" spc="7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abstract</a:t>
            </a:r>
            <a:r>
              <a:rPr sz="750" i="1" spc="10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graphs</a:t>
            </a:r>
            <a:r>
              <a:rPr sz="750" i="1" spc="1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are</a:t>
            </a:r>
            <a:r>
              <a:rPr sz="750" i="1" spc="10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called</a:t>
            </a:r>
            <a:r>
              <a:rPr sz="750" i="1" spc="110" dirty="0">
                <a:latin typeface="Times New Roman"/>
                <a:cs typeface="Times New Roman"/>
              </a:rPr>
              <a:t> </a:t>
            </a:r>
            <a:r>
              <a:rPr sz="750" spc="-15" dirty="0">
                <a:latin typeface="Times New Roman"/>
                <a:cs typeface="Times New Roman"/>
              </a:rPr>
              <a:t>map</a:t>
            </a:r>
            <a:r>
              <a:rPr sz="750" spc="120" dirty="0">
                <a:latin typeface="Times New Roman"/>
                <a:cs typeface="Times New Roman"/>
              </a:rPr>
              <a:t> </a:t>
            </a:r>
            <a:r>
              <a:rPr sz="750" spc="-10" dirty="0">
                <a:latin typeface="Times New Roman"/>
                <a:cs typeface="Times New Roman"/>
              </a:rPr>
              <a:t>graphs</a:t>
            </a:r>
            <a:r>
              <a:rPr sz="750" i="1" spc="-10" dirty="0">
                <a:latin typeface="Times New Roman"/>
                <a:cs typeface="Times New Roman"/>
              </a:rPr>
              <a:t>.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Chen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et.al.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raised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the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question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of</a:t>
            </a:r>
            <a:r>
              <a:rPr sz="750" i="1" spc="-10" dirty="0">
                <a:latin typeface="Times New Roman"/>
                <a:cs typeface="Times New Roman"/>
              </a:rPr>
              <a:t> whether</a:t>
            </a:r>
            <a:r>
              <a:rPr sz="750" i="1" spc="-15" dirty="0">
                <a:latin typeface="Times New Roman"/>
                <a:cs typeface="Times New Roman"/>
              </a:rPr>
              <a:t> map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graphs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can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be</a:t>
            </a:r>
            <a:r>
              <a:rPr sz="750" i="1" spc="-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recognized</a:t>
            </a:r>
            <a:r>
              <a:rPr sz="750" i="1" spc="-6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in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polynomial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time.</a:t>
            </a:r>
            <a:r>
              <a:rPr sz="750" i="1" spc="70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They </a:t>
            </a:r>
            <a:r>
              <a:rPr sz="750" i="1" spc="-10" dirty="0">
                <a:latin typeface="Times New Roman"/>
                <a:cs typeface="Times New Roman"/>
              </a:rPr>
              <a:t>showed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that</a:t>
            </a:r>
            <a:r>
              <a:rPr sz="750" i="1" spc="-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the</a:t>
            </a:r>
            <a:r>
              <a:rPr sz="750" i="1" spc="-2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decision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problem</a:t>
            </a:r>
            <a:r>
              <a:rPr sz="750" i="1" spc="1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is</a:t>
            </a:r>
            <a:r>
              <a:rPr sz="750" i="1" spc="2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in</a:t>
            </a:r>
            <a:r>
              <a:rPr sz="750" i="1" spc="3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NP</a:t>
            </a:r>
            <a:r>
              <a:rPr sz="750" i="1" spc="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and</a:t>
            </a:r>
            <a:r>
              <a:rPr sz="750" i="1" spc="3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presented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a</a:t>
            </a:r>
            <a:r>
              <a:rPr sz="750" i="1" spc="3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polynomial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time</a:t>
            </a:r>
            <a:r>
              <a:rPr sz="750" i="1" spc="3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algorithm</a:t>
            </a:r>
            <a:r>
              <a:rPr sz="750" i="1" spc="-10" dirty="0">
                <a:latin typeface="Times New Roman"/>
                <a:cs typeface="Times New Roman"/>
              </a:rPr>
              <a:t> for</a:t>
            </a:r>
            <a:r>
              <a:rPr sz="750" i="1" spc="-3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the</a:t>
            </a:r>
            <a:r>
              <a:rPr sz="750" i="1" spc="-4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special</a:t>
            </a:r>
            <a:r>
              <a:rPr sz="750" i="1" spc="-6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case</a:t>
            </a:r>
            <a:r>
              <a:rPr sz="750" i="1" spc="-5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where</a:t>
            </a:r>
            <a:r>
              <a:rPr sz="750" i="1" spc="-5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we</a:t>
            </a:r>
            <a:r>
              <a:rPr sz="750" i="1" spc="-5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allow</a:t>
            </a:r>
            <a:r>
              <a:rPr sz="750" i="1" spc="-3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at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most</a:t>
            </a:r>
            <a:r>
              <a:rPr sz="750" i="1" spc="-6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4</a:t>
            </a:r>
            <a:r>
              <a:rPr sz="750" i="1" spc="-4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faces</a:t>
            </a:r>
            <a:r>
              <a:rPr sz="750" i="1" spc="-3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to</a:t>
            </a:r>
            <a:r>
              <a:rPr sz="750" i="1" spc="-4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intersect in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any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point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—</a:t>
            </a:r>
            <a:r>
              <a:rPr sz="750" i="1" spc="-15" dirty="0">
                <a:latin typeface="Times New Roman"/>
                <a:cs typeface="Times New Roman"/>
              </a:rPr>
              <a:t> if</a:t>
            </a:r>
            <a:r>
              <a:rPr sz="750" i="1" spc="-10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only</a:t>
            </a:r>
            <a:r>
              <a:rPr sz="750" i="1" spc="-2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3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are</a:t>
            </a:r>
            <a:r>
              <a:rPr sz="750" i="1" spc="-4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allowed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to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intersect</a:t>
            </a:r>
            <a:r>
              <a:rPr sz="750" i="1" spc="-4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in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a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point,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we get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the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usual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5" dirty="0">
                <a:latin typeface="Times New Roman"/>
                <a:cs typeface="Times New Roman"/>
              </a:rPr>
              <a:t>planar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graphs.</a:t>
            </a:r>
            <a:endParaRPr sz="750">
              <a:latin typeface="Times New Roman"/>
              <a:cs typeface="Times New Roman"/>
            </a:endParaRPr>
          </a:p>
          <a:p>
            <a:pPr marL="12700" marR="5080" indent="116839" algn="just">
              <a:lnSpc>
                <a:spcPts val="919"/>
              </a:lnSpc>
              <a:spcBef>
                <a:spcPts val="20"/>
              </a:spcBef>
            </a:pPr>
            <a:r>
              <a:rPr sz="750" i="1" spc="-20" dirty="0">
                <a:latin typeface="Times New Roman"/>
                <a:cs typeface="Times New Roman"/>
              </a:rPr>
              <a:t>Chen</a:t>
            </a:r>
            <a:r>
              <a:rPr sz="750" i="1" spc="-3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et.al.</a:t>
            </a:r>
            <a:r>
              <a:rPr sz="750" i="1" spc="-20" dirty="0">
                <a:latin typeface="Times New Roman"/>
                <a:cs typeface="Times New Roman"/>
              </a:rPr>
              <a:t> conjectured</a:t>
            </a:r>
            <a:r>
              <a:rPr sz="750" i="1" spc="-2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that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map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graphs</a:t>
            </a:r>
            <a:r>
              <a:rPr sz="750" i="1" spc="-1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can</a:t>
            </a:r>
            <a:r>
              <a:rPr sz="750" i="1" spc="-5" dirty="0">
                <a:latin typeface="Times New Roman"/>
                <a:cs typeface="Times New Roman"/>
              </a:rPr>
              <a:t> </a:t>
            </a:r>
            <a:r>
              <a:rPr sz="750" i="1" dirty="0">
                <a:latin typeface="Times New Roman"/>
                <a:cs typeface="Times New Roman"/>
              </a:rPr>
              <a:t>be</a:t>
            </a:r>
            <a:r>
              <a:rPr sz="750" i="1" spc="5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recognized</a:t>
            </a:r>
            <a:r>
              <a:rPr sz="750" i="1" spc="500" dirty="0">
                <a:latin typeface="Times New Roman"/>
                <a:cs typeface="Times New Roman"/>
              </a:rPr>
              <a:t> </a:t>
            </a:r>
            <a:r>
              <a:rPr sz="750" i="1" spc="-30" dirty="0">
                <a:latin typeface="Times New Roman"/>
                <a:cs typeface="Times New Roman"/>
              </a:rPr>
              <a:t>in</a:t>
            </a:r>
            <a:r>
              <a:rPr sz="750" i="1" spc="-20" dirty="0">
                <a:latin typeface="Times New Roman"/>
                <a:cs typeface="Times New Roman"/>
              </a:rPr>
              <a:t> polynomial time,</a:t>
            </a:r>
            <a:r>
              <a:rPr sz="750" i="1" spc="5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and</a:t>
            </a:r>
            <a:r>
              <a:rPr sz="750" i="1" spc="20" dirty="0">
                <a:latin typeface="Times New Roman"/>
                <a:cs typeface="Times New Roman"/>
              </a:rPr>
              <a:t> </a:t>
            </a:r>
            <a:r>
              <a:rPr sz="750" i="1" spc="-30" dirty="0">
                <a:latin typeface="Times New Roman"/>
                <a:cs typeface="Times New Roman"/>
              </a:rPr>
              <a:t>in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this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30" dirty="0">
                <a:latin typeface="Times New Roman"/>
                <a:cs typeface="Times New Roman"/>
              </a:rPr>
              <a:t>paper,</a:t>
            </a:r>
            <a:r>
              <a:rPr sz="750" i="1" dirty="0">
                <a:latin typeface="Times New Roman"/>
                <a:cs typeface="Times New Roman"/>
              </a:rPr>
              <a:t> </a:t>
            </a:r>
            <a:r>
              <a:rPr sz="750" i="1" spc="-20" dirty="0">
                <a:latin typeface="Times New Roman"/>
                <a:cs typeface="Times New Roman"/>
              </a:rPr>
              <a:t>their</a:t>
            </a:r>
            <a:r>
              <a:rPr sz="750" i="1" spc="5" dirty="0">
                <a:latin typeface="Times New Roman"/>
                <a:cs typeface="Times New Roman"/>
              </a:rPr>
              <a:t> </a:t>
            </a:r>
            <a:r>
              <a:rPr sz="750" i="1" spc="-25" dirty="0">
                <a:latin typeface="Times New Roman"/>
                <a:cs typeface="Times New Roman"/>
              </a:rPr>
              <a:t>conjecture</a:t>
            </a:r>
            <a:r>
              <a:rPr sz="750" i="1" spc="-20" dirty="0">
                <a:latin typeface="Times New Roman"/>
                <a:cs typeface="Times New Roman"/>
              </a:rPr>
              <a:t> </a:t>
            </a:r>
            <a:r>
              <a:rPr sz="750" i="1" spc="-30" dirty="0">
                <a:latin typeface="Times New Roman"/>
                <a:cs typeface="Times New Roman"/>
              </a:rPr>
              <a:t>is</a:t>
            </a:r>
            <a:r>
              <a:rPr sz="750" i="1" spc="1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settled</a:t>
            </a:r>
            <a:r>
              <a:rPr sz="750" i="1" spc="500" dirty="0">
                <a:latin typeface="Times New Roman"/>
                <a:cs typeface="Times New Roman"/>
              </a:rPr>
              <a:t> </a:t>
            </a:r>
            <a:r>
              <a:rPr sz="750" i="1" spc="-10" dirty="0">
                <a:latin typeface="Times New Roman"/>
                <a:cs typeface="Times New Roman"/>
              </a:rPr>
              <a:t>affirmatively.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43168" y="6141357"/>
            <a:ext cx="179133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dirty="0">
                <a:latin typeface="Times New Roman"/>
                <a:cs typeface="Times New Roman"/>
              </a:rPr>
              <a:t>Map</a:t>
            </a:r>
            <a:r>
              <a:rPr sz="1000" b="1" spc="6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graphs</a:t>
            </a:r>
            <a:r>
              <a:rPr sz="1000" b="1" spc="9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</a:t>
            </a:r>
            <a:r>
              <a:rPr sz="1000" b="1" spc="5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polynomial</a:t>
            </a:r>
            <a:r>
              <a:rPr sz="1000" b="1" spc="45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Times New Roman"/>
                <a:cs typeface="Times New Roman"/>
              </a:rPr>
              <a:t>time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2738" y="6578533"/>
            <a:ext cx="30489" cy="3283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152983" y="6530691"/>
            <a:ext cx="2769870" cy="568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850" dirty="0">
                <a:latin typeface="Times New Roman"/>
                <a:cs typeface="Times New Roman"/>
              </a:rPr>
              <a:t>Mikkel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Thorup</a:t>
            </a:r>
            <a:endParaRPr sz="850">
              <a:latin typeface="Times New Roman"/>
              <a:cs typeface="Times New Roman"/>
            </a:endParaRPr>
          </a:p>
          <a:p>
            <a:pPr marL="12700" marR="5080" algn="ctr">
              <a:lnSpc>
                <a:spcPct val="105000"/>
              </a:lnSpc>
            </a:pPr>
            <a:r>
              <a:rPr sz="850" dirty="0">
                <a:latin typeface="Times New Roman"/>
                <a:cs typeface="Times New Roman"/>
              </a:rPr>
              <a:t>Department</a:t>
            </a:r>
            <a:r>
              <a:rPr sz="850" spc="8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of</a:t>
            </a:r>
            <a:r>
              <a:rPr sz="850" spc="6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Computer</a:t>
            </a:r>
            <a:r>
              <a:rPr sz="850" spc="9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Science,</a:t>
            </a:r>
            <a:r>
              <a:rPr sz="850" spc="6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University</a:t>
            </a:r>
            <a:r>
              <a:rPr sz="850" spc="8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of</a:t>
            </a:r>
            <a:r>
              <a:rPr sz="850" spc="6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Copenhagen </a:t>
            </a:r>
            <a:r>
              <a:rPr sz="850" dirty="0">
                <a:latin typeface="Times New Roman"/>
                <a:cs typeface="Times New Roman"/>
              </a:rPr>
              <a:t>Universitetsparken</a:t>
            </a:r>
            <a:r>
              <a:rPr sz="850" spc="9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1,</a:t>
            </a:r>
            <a:r>
              <a:rPr sz="850" spc="9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DK-2100</a:t>
            </a:r>
            <a:r>
              <a:rPr sz="850" spc="7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Copenhagen</a:t>
            </a:r>
            <a:r>
              <a:rPr sz="850" spc="1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East,</a:t>
            </a:r>
            <a:r>
              <a:rPr sz="850" spc="9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Denmark </a:t>
            </a:r>
            <a:r>
              <a:rPr sz="850" spc="-10" dirty="0">
                <a:latin typeface="Times New Roman"/>
                <a:cs typeface="Times New Roman"/>
                <a:hlinkClick r:id="rId3"/>
              </a:rPr>
              <a:t>mthorup@diku.dk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32564" y="5156363"/>
            <a:ext cx="419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i="1" spc="-30" baseline="-21604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200" spc="-20" dirty="0">
                <a:solidFill>
                  <a:srgbClr val="8D3124"/>
                </a:solidFill>
                <a:latin typeface="Times New Roman"/>
                <a:cs typeface="Times New Roman"/>
              </a:rPr>
              <a:t>120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301750" y="5560843"/>
            <a:ext cx="534035" cy="534035"/>
            <a:chOff x="11301750" y="5560843"/>
            <a:chExt cx="534035" cy="534035"/>
          </a:xfrm>
        </p:grpSpPr>
        <p:sp>
          <p:nvSpPr>
            <p:cNvPr id="20" name="object 20"/>
            <p:cNvSpPr/>
            <p:nvPr/>
          </p:nvSpPr>
          <p:spPr>
            <a:xfrm>
              <a:off x="11357428" y="5573543"/>
              <a:ext cx="465455" cy="465455"/>
            </a:xfrm>
            <a:custGeom>
              <a:avLst/>
              <a:gdLst/>
              <a:ahLst/>
              <a:cxnLst/>
              <a:rect l="l" t="t" r="r" b="b"/>
              <a:pathLst>
                <a:path w="465454" h="465454">
                  <a:moveTo>
                    <a:pt x="0" y="465038"/>
                  </a:moveTo>
                  <a:lnTo>
                    <a:pt x="8980" y="456057"/>
                  </a:lnTo>
                  <a:lnTo>
                    <a:pt x="465039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301750" y="5964943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43105" y="0"/>
                  </a:moveTo>
                  <a:lnTo>
                    <a:pt x="0" y="129315"/>
                  </a:lnTo>
                  <a:lnTo>
                    <a:pt x="129315" y="86210"/>
                  </a:lnTo>
                  <a:lnTo>
                    <a:pt x="64658" y="64658"/>
                  </a:lnTo>
                  <a:lnTo>
                    <a:pt x="4310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Worst-</a:t>
            </a:r>
            <a:r>
              <a:rPr dirty="0"/>
              <a:t>case</a:t>
            </a:r>
            <a:r>
              <a:rPr spc="-1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895350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191643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sz="24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guarantee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24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24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Generally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captures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efficiency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Draconian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view,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hard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effective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alternative.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3634739"/>
            <a:ext cx="1107249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90690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exponential-</a:t>
            </a:r>
            <a:r>
              <a:rPr sz="2400" spc="-10" dirty="0">
                <a:latin typeface="Lucida Sans Unicode"/>
                <a:cs typeface="Lucida Sans Unicode"/>
              </a:rPr>
              <a:t>time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widely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 </a:t>
            </a:r>
            <a:r>
              <a:rPr sz="2400" dirty="0">
                <a:latin typeface="Lucida Sans Unicode"/>
                <a:cs typeface="Lucida Sans Unicode"/>
              </a:rPr>
              <a:t>because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worst-</a:t>
            </a:r>
            <a:r>
              <a:rPr sz="2400" spc="-10" dirty="0">
                <a:latin typeface="Lucida Sans Unicode"/>
                <a:cs typeface="Lucida Sans Unicode"/>
              </a:rPr>
              <a:t>case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instances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don’t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arise.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6438772"/>
            <a:ext cx="3873500" cy="19432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87609" y="8669337"/>
            <a:ext cx="19310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simplex</a:t>
            </a:r>
            <a:r>
              <a:rPr sz="1600" b="1" spc="1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algorithm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0" y="6092506"/>
            <a:ext cx="2095500" cy="22839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92750" y="8669337"/>
            <a:ext cx="11436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Linux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grep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0600" y="6178239"/>
            <a:ext cx="3238500" cy="220375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354939" y="8669337"/>
            <a:ext cx="2054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90" dirty="0">
                <a:latin typeface="Tahoma"/>
                <a:cs typeface="Tahoma"/>
              </a:rPr>
              <a:t>k-</a:t>
            </a:r>
            <a:r>
              <a:rPr sz="1600" b="1" dirty="0">
                <a:latin typeface="Tahoma"/>
                <a:cs typeface="Tahoma"/>
              </a:rPr>
              <a:t>means</a:t>
            </a:r>
            <a:r>
              <a:rPr sz="1600" b="1" spc="2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algorithm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Other</a:t>
            </a:r>
            <a:r>
              <a:rPr spc="60" dirty="0"/>
              <a:t> </a:t>
            </a:r>
            <a:r>
              <a:rPr dirty="0"/>
              <a:t>types</a:t>
            </a:r>
            <a:r>
              <a:rPr spc="60" dirty="0"/>
              <a:t> </a:t>
            </a:r>
            <a:r>
              <a:rPr spc="80" dirty="0"/>
              <a:t>of</a:t>
            </a:r>
            <a:r>
              <a:rPr spc="60" dirty="0"/>
              <a:t> </a:t>
            </a:r>
            <a:r>
              <a:rPr spc="-10" dirty="0"/>
              <a:t>analyses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0933430" cy="9906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211391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Probabilistic.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sz="24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randomized</a:t>
            </a:r>
            <a:r>
              <a:rPr sz="24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algorithm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expected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compares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quicksort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~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4117339"/>
            <a:ext cx="11082020" cy="14732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  <a:tabLst>
                <a:tab pos="18465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Amortized.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75" dirty="0">
                <a:latin typeface="Lucida Sans Unicode"/>
                <a:cs typeface="Lucida Sans Unicode"/>
              </a:rPr>
              <a:t>Worst-</a:t>
            </a:r>
            <a:r>
              <a:rPr sz="2400" spc="-25" dirty="0">
                <a:latin typeface="Lucida Sans Unicode"/>
                <a:cs typeface="Lucida Sans Unicode"/>
              </a:rPr>
              <a:t>case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sequence</a:t>
            </a:r>
            <a:r>
              <a:rPr sz="24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operations.</a:t>
            </a: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Starting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empty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stack,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sequence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push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pop </a:t>
            </a:r>
            <a:r>
              <a:rPr sz="2400" dirty="0">
                <a:latin typeface="Lucida Sans Unicode"/>
                <a:cs typeface="Lucida Sans Unicode"/>
              </a:rPr>
              <a:t>operations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primitive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computational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steps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resizing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8577580"/>
            <a:ext cx="10845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3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Also.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Average-</a:t>
            </a:r>
            <a:r>
              <a:rPr sz="2400" dirty="0">
                <a:latin typeface="Lucida Sans Unicode"/>
                <a:cs typeface="Lucida Sans Unicode"/>
              </a:rPr>
              <a:t>case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smoothed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competitive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...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764" y="5916531"/>
            <a:ext cx="3254336" cy="20815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0932" y="2375060"/>
            <a:ext cx="1367218" cy="149038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4920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3088005" algn="l"/>
              </a:tabLst>
            </a:pPr>
            <a:r>
              <a:rPr sz="3600" b="1" cap="small" spc="-25" dirty="0">
                <a:latin typeface="Tahoma"/>
                <a:cs typeface="Tahoma"/>
              </a:rPr>
              <a:t>2.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30" dirty="0">
                <a:latin typeface="Tahoma"/>
                <a:cs typeface="Tahoma"/>
              </a:rPr>
              <a:t>Algorithm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95" dirty="0">
                <a:latin typeface="Tahoma"/>
                <a:cs typeface="Tahoma"/>
              </a:rPr>
              <a:t>Analysis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/>
              <a:t>computational</a:t>
            </a:r>
            <a:r>
              <a:rPr sz="3000" spc="-130" dirty="0"/>
              <a:t> </a:t>
            </a:r>
            <a:r>
              <a:rPr sz="3000" spc="-270" dirty="0"/>
              <a:t>tractability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15" dirty="0">
                <a:solidFill>
                  <a:srgbClr val="000000"/>
                </a:solidFill>
              </a:rPr>
              <a:t>asymptotic</a:t>
            </a:r>
            <a:r>
              <a:rPr sz="3000" spc="-170" dirty="0">
                <a:solidFill>
                  <a:srgbClr val="000000"/>
                </a:solidFill>
              </a:rPr>
              <a:t> </a:t>
            </a:r>
            <a:r>
              <a:rPr sz="3000" spc="-250" dirty="0">
                <a:solidFill>
                  <a:srgbClr val="000000"/>
                </a:solidFill>
              </a:rPr>
              <a:t>order</a:t>
            </a:r>
            <a:r>
              <a:rPr sz="3000" spc="-165" dirty="0">
                <a:solidFill>
                  <a:srgbClr val="000000"/>
                </a:solidFill>
              </a:rPr>
              <a:t> </a:t>
            </a:r>
            <a:r>
              <a:rPr sz="3000" spc="-225" dirty="0">
                <a:solidFill>
                  <a:srgbClr val="000000"/>
                </a:solidFill>
              </a:rPr>
              <a:t>of</a:t>
            </a:r>
            <a:r>
              <a:rPr sz="3000" spc="-165" dirty="0">
                <a:solidFill>
                  <a:srgbClr val="000000"/>
                </a:solidFill>
              </a:rPr>
              <a:t> </a:t>
            </a:r>
            <a:r>
              <a:rPr sz="3000" spc="-310" dirty="0">
                <a:solidFill>
                  <a:srgbClr val="000000"/>
                </a:solidFill>
              </a:rPr>
              <a:t>growth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0" dirty="0"/>
              <a:t>implementing</a:t>
            </a:r>
            <a:r>
              <a:rPr sz="3000" spc="-150" dirty="0"/>
              <a:t> </a:t>
            </a:r>
            <a:r>
              <a:rPr sz="3000" spc="-270" dirty="0"/>
              <a:t>Gale–Shapley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55" dirty="0"/>
              <a:t>survey</a:t>
            </a:r>
            <a:r>
              <a:rPr sz="3000" spc="-180" dirty="0"/>
              <a:t> </a:t>
            </a:r>
            <a:r>
              <a:rPr sz="3000" spc="-225" dirty="0"/>
              <a:t>of</a:t>
            </a:r>
            <a:r>
              <a:rPr sz="3000" spc="-180" dirty="0"/>
              <a:t> </a:t>
            </a:r>
            <a:r>
              <a:rPr sz="3000" spc="-390" dirty="0"/>
              <a:t>common</a:t>
            </a:r>
            <a:r>
              <a:rPr sz="3000" spc="-180" dirty="0"/>
              <a:t> </a:t>
            </a:r>
            <a:r>
              <a:rPr sz="3000" spc="-265" dirty="0"/>
              <a:t>running</a:t>
            </a:r>
            <a:r>
              <a:rPr sz="3000" spc="-180" dirty="0"/>
              <a:t> </a:t>
            </a:r>
            <a:r>
              <a:rPr sz="3000" spc="-395" dirty="0"/>
              <a:t>times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224904" y="6918652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2.2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60" dirty="0"/>
              <a:t> </a:t>
            </a:r>
            <a:r>
              <a:rPr spc="325" dirty="0"/>
              <a:t>O</a:t>
            </a:r>
            <a:r>
              <a:rPr spc="6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2786380"/>
            <a:ext cx="343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788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32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292" baseline="295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086100"/>
            <a:ext cx="224409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7100" y="3568700"/>
            <a:ext cx="517588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5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neither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nor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700" y="5681979"/>
            <a:ext cx="1059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5585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Insertion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compares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elements.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4053" y="3333750"/>
            <a:ext cx="207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choose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c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 50,</a:t>
            </a:r>
            <a:r>
              <a:rPr sz="1800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0</a:t>
            </a:r>
            <a:r>
              <a:rPr sz="1800" spc="225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 </a:t>
            </a:r>
            <a:r>
              <a:rPr sz="1800" spc="-50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41700" y="3431540"/>
            <a:ext cx="680720" cy="121920"/>
            <a:chOff x="3441700" y="3431540"/>
            <a:chExt cx="680720" cy="121920"/>
          </a:xfrm>
        </p:grpSpPr>
        <p:sp>
          <p:nvSpPr>
            <p:cNvPr id="10" name="object 10"/>
            <p:cNvSpPr/>
            <p:nvPr/>
          </p:nvSpPr>
          <p:spPr>
            <a:xfrm>
              <a:off x="3520439" y="3492500"/>
              <a:ext cx="601980" cy="0"/>
            </a:xfrm>
            <a:custGeom>
              <a:avLst/>
              <a:gdLst/>
              <a:ahLst/>
              <a:cxnLst/>
              <a:rect l="l" t="t" r="r" b="b"/>
              <a:pathLst>
                <a:path w="601979">
                  <a:moveTo>
                    <a:pt x="0" y="0"/>
                  </a:moveTo>
                  <a:lnTo>
                    <a:pt x="12700" y="0"/>
                  </a:lnTo>
                  <a:lnTo>
                    <a:pt x="601519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41700" y="34315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39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436100" y="2323767"/>
            <a:ext cx="2859405" cy="2210435"/>
            <a:chOff x="9436100" y="2323767"/>
            <a:chExt cx="2859405" cy="2210435"/>
          </a:xfrm>
        </p:grpSpPr>
        <p:sp>
          <p:nvSpPr>
            <p:cNvPr id="13" name="object 13"/>
            <p:cNvSpPr/>
            <p:nvPr/>
          </p:nvSpPr>
          <p:spPr>
            <a:xfrm>
              <a:off x="9461446" y="4495800"/>
              <a:ext cx="2783205" cy="0"/>
            </a:xfrm>
            <a:custGeom>
              <a:avLst/>
              <a:gdLst/>
              <a:ahLst/>
              <a:cxnLst/>
              <a:rect l="l" t="t" r="r" b="b"/>
              <a:pathLst>
                <a:path w="2783204">
                  <a:moveTo>
                    <a:pt x="0" y="0"/>
                  </a:moveTo>
                  <a:lnTo>
                    <a:pt x="2776397" y="0"/>
                  </a:lnTo>
                  <a:lnTo>
                    <a:pt x="27827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218795" y="4457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1905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74200" y="2374567"/>
              <a:ext cx="0" cy="2134235"/>
            </a:xfrm>
            <a:custGeom>
              <a:avLst/>
              <a:gdLst/>
              <a:ahLst/>
              <a:cxnLst/>
              <a:rect l="l" t="t" r="r" b="b"/>
              <a:pathLst>
                <a:path h="2134235">
                  <a:moveTo>
                    <a:pt x="0" y="2133932"/>
                  </a:moveTo>
                  <a:lnTo>
                    <a:pt x="0" y="6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36100" y="23237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38100" y="5715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79970" y="2667688"/>
              <a:ext cx="2362200" cy="1473200"/>
            </a:xfrm>
            <a:custGeom>
              <a:avLst/>
              <a:gdLst/>
              <a:ahLst/>
              <a:cxnLst/>
              <a:rect l="l" t="t" r="r" b="b"/>
              <a:pathLst>
                <a:path w="2362200" h="1473200">
                  <a:moveTo>
                    <a:pt x="0" y="1473200"/>
                  </a:moveTo>
                  <a:lnTo>
                    <a:pt x="78866" y="1386969"/>
                  </a:lnTo>
                  <a:lnTo>
                    <a:pt x="278622" y="1209328"/>
                  </a:lnTo>
                  <a:lnTo>
                    <a:pt x="543999" y="1061851"/>
                  </a:lnTo>
                  <a:lnTo>
                    <a:pt x="819728" y="1066112"/>
                  </a:lnTo>
                  <a:lnTo>
                    <a:pt x="1165107" y="947506"/>
                  </a:lnTo>
                  <a:lnTo>
                    <a:pt x="1683735" y="575699"/>
                  </a:lnTo>
                  <a:lnTo>
                    <a:pt x="2155978" y="182571"/>
                  </a:lnTo>
                  <a:lnTo>
                    <a:pt x="2362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6600" y="1221740"/>
            <a:ext cx="11746865" cy="13462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19"/>
              </a:spcBef>
              <a:tabLst>
                <a:tab pos="2455545" algn="l"/>
                <a:tab pos="994029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127" baseline="-19097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919"/>
              </a:spcBef>
              <a:tabLst>
                <a:tab pos="2092960" algn="l"/>
                <a:tab pos="2715895" algn="l"/>
                <a:tab pos="3035935" algn="l"/>
                <a:tab pos="5304155" algn="l"/>
                <a:tab pos="5623560" algn="l"/>
              </a:tabLst>
            </a:pP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-19097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R="17780" algn="r">
              <a:lnSpc>
                <a:spcPct val="100000"/>
              </a:lnSpc>
              <a:spcBef>
                <a:spcPts val="880"/>
              </a:spcBef>
            </a:pP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-5" dirty="0">
                <a:latin typeface="Times New Roman"/>
                <a:cs typeface="Times New Roman"/>
              </a:rPr>
              <a:t> </a:t>
            </a:r>
            <a:r>
              <a:rPr sz="1600" spc="-145" dirty="0">
                <a:latin typeface="Times New Roman"/>
                <a:cs typeface="Times New Roman"/>
              </a:rPr>
              <a:t>·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27672" y="4610100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40483" y="4610100"/>
            <a:ext cx="2457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575" spc="-37" baseline="-7936" dirty="0">
                <a:latin typeface="Times New Roman"/>
                <a:cs typeface="Times New Roman"/>
              </a:rPr>
              <a:t>0</a:t>
            </a:r>
            <a:endParaRPr sz="1575" baseline="-7936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75081" y="3219549"/>
            <a:ext cx="2374900" cy="1285875"/>
            <a:chOff x="9475081" y="3219549"/>
            <a:chExt cx="2374900" cy="1285875"/>
          </a:xfrm>
        </p:grpSpPr>
        <p:sp>
          <p:nvSpPr>
            <p:cNvPr id="22" name="object 22"/>
            <p:cNvSpPr/>
            <p:nvPr/>
          </p:nvSpPr>
          <p:spPr>
            <a:xfrm>
              <a:off x="10769600" y="3518358"/>
              <a:ext cx="3175" cy="977900"/>
            </a:xfrm>
            <a:custGeom>
              <a:avLst/>
              <a:gdLst/>
              <a:ahLst/>
              <a:cxnLst/>
              <a:rect l="l" t="t" r="r" b="b"/>
              <a:pathLst>
                <a:path w="3175" h="977900">
                  <a:moveTo>
                    <a:pt x="2555" y="0"/>
                  </a:moveTo>
                  <a:lnTo>
                    <a:pt x="0" y="977441"/>
                  </a:lnTo>
                </a:path>
              </a:pathLst>
            </a:custGeom>
            <a:ln w="190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81431" y="3225899"/>
              <a:ext cx="2362200" cy="924560"/>
            </a:xfrm>
            <a:custGeom>
              <a:avLst/>
              <a:gdLst/>
              <a:ahLst/>
              <a:cxnLst/>
              <a:rect l="l" t="t" r="r" b="b"/>
              <a:pathLst>
                <a:path w="2362200" h="924560">
                  <a:moveTo>
                    <a:pt x="0" y="629098"/>
                  </a:moveTo>
                  <a:lnTo>
                    <a:pt x="46389" y="680210"/>
                  </a:lnTo>
                  <a:lnTo>
                    <a:pt x="155393" y="790010"/>
                  </a:lnTo>
                  <a:lnTo>
                    <a:pt x="281764" y="893196"/>
                  </a:lnTo>
                  <a:lnTo>
                    <a:pt x="380254" y="924465"/>
                  </a:lnTo>
                  <a:lnTo>
                    <a:pt x="408180" y="909496"/>
                  </a:lnTo>
                  <a:lnTo>
                    <a:pt x="453590" y="860565"/>
                  </a:lnTo>
                  <a:lnTo>
                    <a:pt x="489005" y="791544"/>
                  </a:lnTo>
                  <a:lnTo>
                    <a:pt x="504436" y="751462"/>
                  </a:lnTo>
                  <a:lnTo>
                    <a:pt x="519135" y="708713"/>
                  </a:lnTo>
                  <a:lnTo>
                    <a:pt x="533691" y="664081"/>
                  </a:lnTo>
                  <a:lnTo>
                    <a:pt x="548693" y="618352"/>
                  </a:lnTo>
                  <a:lnTo>
                    <a:pt x="564729" y="572311"/>
                  </a:lnTo>
                  <a:lnTo>
                    <a:pt x="582389" y="526743"/>
                  </a:lnTo>
                  <a:lnTo>
                    <a:pt x="602262" y="482432"/>
                  </a:lnTo>
                  <a:lnTo>
                    <a:pt x="624936" y="440164"/>
                  </a:lnTo>
                  <a:lnTo>
                    <a:pt x="651001" y="400724"/>
                  </a:lnTo>
                  <a:lnTo>
                    <a:pt x="681045" y="364898"/>
                  </a:lnTo>
                  <a:lnTo>
                    <a:pt x="715657" y="333469"/>
                  </a:lnTo>
                  <a:lnTo>
                    <a:pt x="755427" y="307223"/>
                  </a:lnTo>
                  <a:lnTo>
                    <a:pt x="769450" y="299158"/>
                  </a:lnTo>
                  <a:lnTo>
                    <a:pt x="786691" y="289028"/>
                  </a:lnTo>
                  <a:lnTo>
                    <a:pt x="830422" y="265281"/>
                  </a:lnTo>
                  <a:lnTo>
                    <a:pt x="885814" y="241398"/>
                  </a:lnTo>
                  <a:lnTo>
                    <a:pt x="952064" y="222794"/>
                  </a:lnTo>
                  <a:lnTo>
                    <a:pt x="1028364" y="214886"/>
                  </a:lnTo>
                  <a:lnTo>
                    <a:pt x="1070032" y="216635"/>
                  </a:lnTo>
                  <a:lnTo>
                    <a:pt x="1113911" y="223089"/>
                  </a:lnTo>
                  <a:lnTo>
                    <a:pt x="1159900" y="234924"/>
                  </a:lnTo>
                  <a:lnTo>
                    <a:pt x="1207899" y="252817"/>
                  </a:lnTo>
                  <a:lnTo>
                    <a:pt x="1257807" y="277447"/>
                  </a:lnTo>
                  <a:lnTo>
                    <a:pt x="1309523" y="309488"/>
                  </a:lnTo>
                  <a:lnTo>
                    <a:pt x="1362946" y="349620"/>
                  </a:lnTo>
                  <a:lnTo>
                    <a:pt x="1417977" y="398517"/>
                  </a:lnTo>
                  <a:lnTo>
                    <a:pt x="1474514" y="456858"/>
                  </a:lnTo>
                  <a:lnTo>
                    <a:pt x="1499645" y="479962"/>
                  </a:lnTo>
                  <a:lnTo>
                    <a:pt x="1527139" y="496725"/>
                  </a:lnTo>
                  <a:lnTo>
                    <a:pt x="1556801" y="507524"/>
                  </a:lnTo>
                  <a:lnTo>
                    <a:pt x="1588436" y="512738"/>
                  </a:lnTo>
                  <a:lnTo>
                    <a:pt x="1621848" y="512742"/>
                  </a:lnTo>
                  <a:lnTo>
                    <a:pt x="1656841" y="507915"/>
                  </a:lnTo>
                  <a:lnTo>
                    <a:pt x="1730789" y="485275"/>
                  </a:lnTo>
                  <a:lnTo>
                    <a:pt x="1769354" y="468217"/>
                  </a:lnTo>
                  <a:lnTo>
                    <a:pt x="1808718" y="447837"/>
                  </a:lnTo>
                  <a:lnTo>
                    <a:pt x="1848687" y="424511"/>
                  </a:lnTo>
                  <a:lnTo>
                    <a:pt x="1889064" y="398618"/>
                  </a:lnTo>
                  <a:lnTo>
                    <a:pt x="1929654" y="370534"/>
                  </a:lnTo>
                  <a:lnTo>
                    <a:pt x="1970261" y="340636"/>
                  </a:lnTo>
                  <a:lnTo>
                    <a:pt x="2010691" y="309303"/>
                  </a:lnTo>
                  <a:lnTo>
                    <a:pt x="2050747" y="276911"/>
                  </a:lnTo>
                  <a:lnTo>
                    <a:pt x="2090235" y="243838"/>
                  </a:lnTo>
                  <a:lnTo>
                    <a:pt x="2128958" y="210461"/>
                  </a:lnTo>
                  <a:lnTo>
                    <a:pt x="2166722" y="177157"/>
                  </a:lnTo>
                  <a:lnTo>
                    <a:pt x="2203330" y="144303"/>
                  </a:lnTo>
                  <a:lnTo>
                    <a:pt x="2238587" y="112278"/>
                  </a:lnTo>
                  <a:lnTo>
                    <a:pt x="2272298" y="81457"/>
                  </a:lnTo>
                  <a:lnTo>
                    <a:pt x="2304268" y="52219"/>
                  </a:lnTo>
                  <a:lnTo>
                    <a:pt x="2334300" y="24941"/>
                  </a:lnTo>
                  <a:lnTo>
                    <a:pt x="2362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945784" y="2959100"/>
            <a:ext cx="3371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10" dirty="0">
                <a:latin typeface="Times New Roman"/>
                <a:cs typeface="Times New Roman"/>
              </a:rPr>
              <a:t>f</a:t>
            </a:r>
            <a:r>
              <a:rPr sz="1600" i="1" spc="-2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(</a:t>
            </a: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12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80" dirty="0"/>
              <a:t> </a:t>
            </a:r>
            <a:r>
              <a:rPr spc="325" dirty="0"/>
              <a:t>O</a:t>
            </a:r>
            <a:r>
              <a:rPr spc="85" dirty="0"/>
              <a:t> </a:t>
            </a:r>
            <a:r>
              <a:rPr spc="45" dirty="0"/>
              <a:t>notational</a:t>
            </a:r>
            <a:r>
              <a:rPr spc="85" dirty="0"/>
              <a:t> </a:t>
            </a:r>
            <a:r>
              <a:rPr spc="-35" dirty="0"/>
              <a:t>abuses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600" y="1221740"/>
            <a:ext cx="10819130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17780">
              <a:lnSpc>
                <a:spcPct val="131900"/>
              </a:lnSpc>
              <a:spcBef>
                <a:spcPts val="100"/>
              </a:spcBef>
              <a:tabLst>
                <a:tab pos="3162935" algn="l"/>
                <a:tab pos="5805805" algn="l"/>
                <a:tab pos="6176010" algn="l"/>
              </a:tabLst>
            </a:pP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One-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way</a:t>
            </a:r>
            <a:r>
              <a:rPr sz="24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“equality.”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functions,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scientists </a:t>
            </a:r>
            <a:r>
              <a:rPr sz="2400" dirty="0">
                <a:latin typeface="Lucida Sans Unicode"/>
                <a:cs typeface="Lucida Sans Unicode"/>
              </a:rPr>
              <a:t>often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write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instead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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615"/>
              </a:lnSpc>
              <a:tabLst>
                <a:tab pos="716915" algn="l"/>
                <a:tab pos="2181225" algn="l"/>
                <a:tab pos="3713479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Lucida Sans Unicode"/>
                <a:cs typeface="Lucida Sans Unicode"/>
              </a:rPr>
              <a:t>Consider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5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29513" dirty="0">
                <a:latin typeface="Times New Roman"/>
                <a:cs typeface="Times New Roman"/>
              </a:rPr>
              <a:t>3</a:t>
            </a:r>
            <a:r>
              <a:rPr sz="2400" baseline="29513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3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30" baseline="29513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We have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 =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 =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But,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conclude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) = 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5" baseline="-6944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400" y="5199379"/>
            <a:ext cx="852106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615"/>
              </a:lnSpc>
              <a:spcBef>
                <a:spcPts val="100"/>
              </a:spcBef>
              <a:tabLst>
                <a:tab pos="36556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Domain</a:t>
            </a:r>
            <a:r>
              <a:rPr sz="24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2400" spc="-5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codomain.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real-</a:t>
            </a:r>
            <a:r>
              <a:rPr sz="2400" spc="-25" dirty="0">
                <a:latin typeface="Lucida Sans Unicode"/>
                <a:cs typeface="Lucida Sans Unicode"/>
              </a:rPr>
              <a:t>valued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functions.</a:t>
            </a:r>
            <a:endParaRPr sz="2400">
              <a:latin typeface="Lucida Sans Unicode"/>
              <a:cs typeface="Lucida Sans Unicode"/>
            </a:endParaRPr>
          </a:p>
          <a:p>
            <a:pPr marL="152400">
              <a:lnSpc>
                <a:spcPts val="4355"/>
              </a:lnSpc>
              <a:tabLst>
                <a:tab pos="7472045" algn="l"/>
              </a:tabLst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domain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typically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natural</a:t>
            </a:r>
            <a:r>
              <a:rPr sz="2400" spc="-10" dirty="0">
                <a:latin typeface="Lucida Sans Unicode"/>
                <a:cs typeface="Lucida Sans Unicode"/>
              </a:rPr>
              <a:t> numbers: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295" dirty="0">
                <a:latin typeface="Cambria"/>
                <a:cs typeface="Cambria"/>
              </a:rPr>
              <a:t>ℕ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mbria"/>
                <a:cs typeface="Cambria"/>
              </a:rPr>
              <a:t>ℝ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5981700"/>
            <a:ext cx="707072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841365" algn="l"/>
              </a:tabLst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Sometimes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extend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reals: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20" dirty="0">
                <a:latin typeface="Cambria"/>
                <a:cs typeface="Cambria"/>
              </a:rPr>
              <a:t>ℝ</a:t>
            </a:r>
            <a:r>
              <a:rPr sz="2400" spc="-30" baseline="-6944" dirty="0">
                <a:latin typeface="Times New Roman"/>
                <a:cs typeface="Times New Roman"/>
              </a:rPr>
              <a:t>≥ </a:t>
            </a:r>
            <a:r>
              <a:rPr sz="2400" baseline="-6944" dirty="0">
                <a:latin typeface="Times New Roman"/>
                <a:cs typeface="Times New Roman"/>
              </a:rPr>
              <a:t>0</a:t>
            </a:r>
            <a:r>
              <a:rPr sz="2400" spc="254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mbria"/>
                <a:cs typeface="Cambria"/>
              </a:rPr>
              <a:t>ℝ</a:t>
            </a:r>
            <a:r>
              <a:rPr sz="2400" spc="-4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6464300"/>
            <a:ext cx="3900804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restrict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subset.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100" y="8094980"/>
            <a:ext cx="10000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45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OK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abuse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notation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60" dirty="0">
                <a:latin typeface="Lucida Sans Unicode"/>
                <a:cs typeface="Lucida Sans Unicode"/>
              </a:rPr>
              <a:t>way;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misuse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9970" y="6922453"/>
            <a:ext cx="23983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plotting,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limits,</a:t>
            </a:r>
            <a:r>
              <a:rPr sz="16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calculus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76298" y="6626117"/>
            <a:ext cx="195580" cy="334010"/>
            <a:chOff x="6976298" y="6626117"/>
            <a:chExt cx="195580" cy="334010"/>
          </a:xfrm>
        </p:grpSpPr>
        <p:sp>
          <p:nvSpPr>
            <p:cNvPr id="11" name="object 11"/>
            <p:cNvSpPr/>
            <p:nvPr/>
          </p:nvSpPr>
          <p:spPr>
            <a:xfrm>
              <a:off x="7015234" y="6694557"/>
              <a:ext cx="144145" cy="252729"/>
            </a:xfrm>
            <a:custGeom>
              <a:avLst/>
              <a:gdLst/>
              <a:ahLst/>
              <a:cxnLst/>
              <a:rect l="l" t="t" r="r" b="b"/>
              <a:pathLst>
                <a:path w="144145" h="252729">
                  <a:moveTo>
                    <a:pt x="0" y="0"/>
                  </a:moveTo>
                  <a:lnTo>
                    <a:pt x="6279" y="11038"/>
                  </a:lnTo>
                  <a:lnTo>
                    <a:pt x="143716" y="252623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76298" y="6626117"/>
              <a:ext cx="113664" cy="136525"/>
            </a:xfrm>
            <a:custGeom>
              <a:avLst/>
              <a:gdLst/>
              <a:ahLst/>
              <a:cxnLst/>
              <a:rect l="l" t="t" r="r" b="b"/>
              <a:pathLst>
                <a:path w="113665" h="136525">
                  <a:moveTo>
                    <a:pt x="0" y="0"/>
                  </a:moveTo>
                  <a:lnTo>
                    <a:pt x="7301" y="136114"/>
                  </a:lnTo>
                  <a:lnTo>
                    <a:pt x="45215" y="79479"/>
                  </a:lnTo>
                  <a:lnTo>
                    <a:pt x="113273" y="758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70002" y="6313999"/>
            <a:ext cx="3096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size,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recurrence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relations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3368" y="6090582"/>
            <a:ext cx="272995" cy="27299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4362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09545" algn="l"/>
              </a:tabLst>
            </a:pPr>
            <a:r>
              <a:rPr dirty="0"/>
              <a:t>Big</a:t>
            </a:r>
            <a:r>
              <a:rPr spc="60" dirty="0"/>
              <a:t> </a:t>
            </a:r>
            <a:r>
              <a:rPr spc="325" dirty="0"/>
              <a:t>O</a:t>
            </a:r>
            <a:r>
              <a:rPr spc="60" dirty="0"/>
              <a:t> </a:t>
            </a:r>
            <a:r>
              <a:rPr spc="-10" dirty="0"/>
              <a:t>notation:</a:t>
            </a:r>
            <a:r>
              <a:rPr dirty="0"/>
              <a:t>	</a:t>
            </a:r>
            <a:r>
              <a:rPr spc="-10" dirty="0"/>
              <a:t>properties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6789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Reflexivity.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5968" y="1338580"/>
            <a:ext cx="1242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spc="-3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8577580"/>
            <a:ext cx="5445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788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3</a:t>
            </a:r>
            <a:r>
              <a:rPr sz="2400" spc="532" baseline="29513" dirty="0">
                <a:latin typeface="Times New Roman"/>
                <a:cs typeface="Times New Roman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+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525" baseline="29513" dirty="0">
                <a:latin typeface="Times New Roman"/>
                <a:cs typeface="Times New Roman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+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+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1234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73841" y="5680297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3099" y="0"/>
                </a:lnTo>
              </a:path>
            </a:pathLst>
          </a:custGeom>
          <a:ln w="19050">
            <a:solidFill>
              <a:srgbClr val="606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87041" y="5680297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19050">
            <a:solidFill>
              <a:srgbClr val="606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3100" y="2303780"/>
            <a:ext cx="10645140" cy="521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  <a:tabLst>
                <a:tab pos="19113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Constants.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39700" marR="2130425">
              <a:lnSpc>
                <a:spcPct val="131900"/>
              </a:lnSpc>
              <a:tabLst>
                <a:tab pos="1717039" algn="l"/>
                <a:tab pos="64617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Products.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509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509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then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502" baseline="-694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51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-7" baseline="-6944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spc="-30" baseline="-6944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266700">
              <a:lnSpc>
                <a:spcPts val="3679"/>
              </a:lnSpc>
              <a:tabLst>
                <a:tab pos="3115945" algn="l"/>
                <a:tab pos="5382260" algn="l"/>
                <a:tab pos="6106795" algn="l"/>
                <a:tab pos="6426200" algn="l"/>
                <a:tab pos="8867140" algn="l"/>
                <a:tab pos="918718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335" dirty="0">
                <a:latin typeface="Lucida Sans Unicode"/>
                <a:cs typeface="Lucida Sans Unicode"/>
              </a:rPr>
              <a:t>∃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 0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0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30" baseline="-6944" dirty="0">
                <a:latin typeface="Times New Roman"/>
                <a:cs typeface="Times New Roman"/>
              </a:rPr>
              <a:t>1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254" baseline="-6944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-19097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66700">
              <a:lnSpc>
                <a:spcPts val="3800"/>
              </a:lnSpc>
              <a:tabLst>
                <a:tab pos="3115945" algn="l"/>
                <a:tab pos="5382260" algn="l"/>
                <a:tab pos="6106795" algn="l"/>
                <a:tab pos="6426200" algn="l"/>
                <a:tab pos="8867140" algn="l"/>
                <a:tab pos="918718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335" dirty="0">
                <a:latin typeface="Lucida Sans Unicode"/>
                <a:cs typeface="Lucida Sans Unicode"/>
              </a:rPr>
              <a:t>∃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 0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0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30" baseline="-6944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254" baseline="-6944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-19097" dirty="0">
                <a:latin typeface="Times New Roman"/>
                <a:cs typeface="Times New Roman"/>
              </a:rPr>
              <a:t>2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66700">
              <a:lnSpc>
                <a:spcPts val="4210"/>
              </a:lnSpc>
              <a:tabLst>
                <a:tab pos="2235835" algn="l"/>
                <a:tab pos="3761104" algn="l"/>
                <a:tab pos="4080510" algn="l"/>
                <a:tab pos="7800975" algn="l"/>
                <a:tab pos="8120380" algn="l"/>
                <a:tab pos="1013079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Then,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30" baseline="-6944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240" baseline="-6944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284" baseline="-6944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max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7" baseline="-19097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}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 marL="4392295">
              <a:lnSpc>
                <a:spcPct val="100000"/>
              </a:lnSpc>
              <a:spcBef>
                <a:spcPts val="670"/>
              </a:spcBef>
              <a:tabLst>
                <a:tab pos="8907145" algn="l"/>
              </a:tabLst>
            </a:pPr>
            <a:r>
              <a:rPr sz="1800" i="1" spc="-50" dirty="0">
                <a:solidFill>
                  <a:srgbClr val="606060"/>
                </a:solidFill>
                <a:latin typeface="Times New Roman"/>
                <a:cs typeface="Times New Roman"/>
              </a:rPr>
              <a:t>c</a:t>
            </a:r>
            <a:r>
              <a:rPr sz="1800" i="1" dirty="0">
                <a:solidFill>
                  <a:srgbClr val="606060"/>
                </a:solidFill>
                <a:latin typeface="Times New Roman"/>
                <a:cs typeface="Times New Roman"/>
              </a:rPr>
              <a:t>	</a:t>
            </a:r>
            <a:r>
              <a:rPr sz="1800" i="1" spc="-25" dirty="0">
                <a:solidFill>
                  <a:srgbClr val="606060"/>
                </a:solidFill>
                <a:latin typeface="Times New Roman"/>
                <a:cs typeface="Times New Roman"/>
              </a:rPr>
              <a:t>n</a:t>
            </a:r>
            <a:r>
              <a:rPr sz="1800" spc="-37" baseline="-6944" dirty="0">
                <a:solidFill>
                  <a:srgbClr val="606060"/>
                </a:solidFill>
                <a:latin typeface="Times New Roman"/>
                <a:cs typeface="Times New Roman"/>
              </a:rPr>
              <a:t>0</a:t>
            </a:r>
            <a:endParaRPr sz="1800" baseline="-6944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1600"/>
              </a:spcBef>
              <a:tabLst>
                <a:tab pos="12217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Sums.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509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51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292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509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(max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5" baseline="-6944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})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R="30480" algn="r">
              <a:lnSpc>
                <a:spcPct val="100000"/>
              </a:lnSpc>
              <a:spcBef>
                <a:spcPts val="2745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ignore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lower-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order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terms</a:t>
            </a:r>
            <a:endParaRPr sz="1600">
              <a:latin typeface="Lucida Sans Unicode"/>
              <a:cs typeface="Lucida Sans Unicode"/>
            </a:endParaRPr>
          </a:p>
          <a:p>
            <a:pPr marL="139700">
              <a:lnSpc>
                <a:spcPct val="100000"/>
              </a:lnSpc>
              <a:spcBef>
                <a:spcPts val="55"/>
              </a:spcBef>
              <a:tabLst>
                <a:tab pos="20980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Transitivity.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456889" y="6589824"/>
            <a:ext cx="325755" cy="325755"/>
            <a:chOff x="8456889" y="6589824"/>
            <a:chExt cx="325755" cy="325755"/>
          </a:xfrm>
        </p:grpSpPr>
        <p:sp>
          <p:nvSpPr>
            <p:cNvPr id="11" name="object 11"/>
            <p:cNvSpPr/>
            <p:nvPr/>
          </p:nvSpPr>
          <p:spPr>
            <a:xfrm>
              <a:off x="8512566" y="6645501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0" y="0"/>
                  </a:moveTo>
                  <a:lnTo>
                    <a:pt x="8980" y="8980"/>
                  </a:lnTo>
                  <a:lnTo>
                    <a:pt x="257082" y="257082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56889" y="658982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40">
                  <a:moveTo>
                    <a:pt x="0" y="0"/>
                  </a:moveTo>
                  <a:lnTo>
                    <a:pt x="43105" y="129315"/>
                  </a:lnTo>
                  <a:lnTo>
                    <a:pt x="64656" y="64656"/>
                  </a:lnTo>
                  <a:lnTo>
                    <a:pt x="129315" y="4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70" dirty="0"/>
              <a:t> Omega</a:t>
            </a:r>
            <a:r>
              <a:rPr spc="75" dirty="0"/>
              <a:t> </a:t>
            </a:r>
            <a:r>
              <a:rPr spc="-10" dirty="0"/>
              <a:t>notation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81050" y="1370787"/>
          <a:ext cx="10104754" cy="886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6485"/>
                <a:gridCol w="7181215"/>
                <a:gridCol w="306704"/>
                <a:gridCol w="260350"/>
              </a:tblGrid>
              <a:tr h="443230">
                <a:tc>
                  <a:txBody>
                    <a:bodyPr/>
                    <a:lstStyle/>
                    <a:p>
                      <a:pPr marR="87630" algn="ctr">
                        <a:lnSpc>
                          <a:spcPts val="2725"/>
                        </a:lnSpc>
                      </a:pPr>
                      <a:r>
                        <a:rPr sz="240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Lower</a:t>
                      </a:r>
                      <a:r>
                        <a:rPr sz="2400" spc="13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spc="-10" dirty="0">
                          <a:solidFill>
                            <a:srgbClr val="0048AA"/>
                          </a:solidFill>
                          <a:latin typeface="Lucida Sans Unicode"/>
                          <a:cs typeface="Lucida Sans Unicode"/>
                        </a:rPr>
                        <a:t>bounds.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725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i="1" spc="-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4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is</a:t>
                      </a:r>
                      <a:r>
                        <a:rPr sz="2400" spc="-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Ω(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))</a:t>
                      </a:r>
                      <a:r>
                        <a:rPr sz="24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if</a:t>
                      </a:r>
                      <a:r>
                        <a:rPr sz="2400" spc="-1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there</a:t>
                      </a:r>
                      <a:r>
                        <a:rPr sz="2400" spc="-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exist</a:t>
                      </a:r>
                      <a:r>
                        <a:rPr sz="2400" spc="-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constants</a:t>
                      </a:r>
                      <a:r>
                        <a:rPr sz="2400" spc="-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sz="2400" spc="-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-37" baseline="-19097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1909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72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≥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72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43230"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2091689" algn="l"/>
                        </a:tabLst>
                      </a:pPr>
                      <a:r>
                        <a:rPr sz="2400" dirty="0">
                          <a:latin typeface="Lucida Sans Unicode"/>
                          <a:cs typeface="Lucida Sans Unicode"/>
                        </a:rPr>
                        <a:t>such</a:t>
                      </a:r>
                      <a:r>
                        <a:rPr sz="2400" spc="-3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that</a:t>
                      </a:r>
                      <a:r>
                        <a:rPr sz="2400" spc="-2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i="1" spc="-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≥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110615" algn="l"/>
                          <a:tab pos="1430655" algn="l"/>
                          <a:tab pos="1735455" algn="l"/>
                          <a:tab pos="3001010" algn="l"/>
                          <a:tab pos="3320415" algn="l"/>
                        </a:tabLst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0" dirty="0">
                          <a:latin typeface="Times New Roman"/>
                          <a:cs typeface="Times New Roman"/>
                        </a:rPr>
                        <a:t>·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spc="-2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≥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for</a:t>
                      </a:r>
                      <a:r>
                        <a:rPr sz="2400" spc="-4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dirty="0">
                          <a:latin typeface="Lucida Sans Unicode"/>
                          <a:cs typeface="Lucida Sans Unicode"/>
                        </a:rPr>
                        <a:t>all</a:t>
                      </a:r>
                      <a:r>
                        <a:rPr sz="2400" spc="-3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400" i="1" spc="-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≥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spc="-37" baseline="-19097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spc="-25" dirty="0">
                          <a:latin typeface="Lucida Sans Unicode"/>
                          <a:cs typeface="Lucida Sans Unicode"/>
                        </a:rPr>
                        <a:t>.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62000" y="2786380"/>
            <a:ext cx="4520565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  <a:tabLst>
                <a:tab pos="6915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32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292" baseline="295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7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Ω(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7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Ω(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6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Ω(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5082539"/>
            <a:ext cx="10638155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  <a:tabLst>
                <a:tab pos="233045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compare-</a:t>
            </a:r>
            <a:r>
              <a:rPr sz="2400" spc="-25" dirty="0">
                <a:latin typeface="Lucida Sans Unicode"/>
                <a:cs typeface="Lucida Sans Unicode"/>
              </a:rPr>
              <a:t>based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requires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Ω(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dirty="0">
                <a:latin typeface="Lucida Sans Unicode"/>
                <a:cs typeface="Lucida Sans Unicode"/>
              </a:rPr>
              <a:t>compares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worst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case.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100" y="7012940"/>
            <a:ext cx="1005014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31222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Vacuous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statement.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compare-</a:t>
            </a:r>
            <a:r>
              <a:rPr sz="2400" spc="-25" dirty="0">
                <a:latin typeface="Lucida Sans Unicode"/>
                <a:cs typeface="Lucida Sans Unicode"/>
              </a:rPr>
              <a:t>based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requires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compares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worst</a:t>
            </a:r>
            <a:r>
              <a:rPr sz="2400" spc="-10" dirty="0">
                <a:latin typeface="Lucida Sans Unicode"/>
                <a:cs typeface="Lucida Sans Unicode"/>
              </a:rPr>
              <a:t> case.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5551" y="3321050"/>
            <a:ext cx="207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choose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c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 32,</a:t>
            </a:r>
            <a:r>
              <a:rPr sz="1800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0</a:t>
            </a:r>
            <a:r>
              <a:rPr sz="1800" spc="225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 </a:t>
            </a:r>
            <a:r>
              <a:rPr sz="1800" spc="-50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61000" y="3431540"/>
            <a:ext cx="496570" cy="121920"/>
            <a:chOff x="5461000" y="3431540"/>
            <a:chExt cx="496570" cy="121920"/>
          </a:xfrm>
        </p:grpSpPr>
        <p:sp>
          <p:nvSpPr>
            <p:cNvPr id="10" name="object 10"/>
            <p:cNvSpPr/>
            <p:nvPr/>
          </p:nvSpPr>
          <p:spPr>
            <a:xfrm>
              <a:off x="5539739" y="3492500"/>
              <a:ext cx="417830" cy="0"/>
            </a:xfrm>
            <a:custGeom>
              <a:avLst/>
              <a:gdLst/>
              <a:ahLst/>
              <a:cxnLst/>
              <a:rect l="l" t="t" r="r" b="b"/>
              <a:pathLst>
                <a:path w="417829">
                  <a:moveTo>
                    <a:pt x="0" y="0"/>
                  </a:moveTo>
                  <a:lnTo>
                    <a:pt x="12700" y="0"/>
                  </a:lnTo>
                  <a:lnTo>
                    <a:pt x="417371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61000" y="34315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39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436100" y="2323767"/>
            <a:ext cx="2859405" cy="2210435"/>
            <a:chOff x="9436100" y="2323767"/>
            <a:chExt cx="2859405" cy="2210435"/>
          </a:xfrm>
        </p:grpSpPr>
        <p:sp>
          <p:nvSpPr>
            <p:cNvPr id="13" name="object 13"/>
            <p:cNvSpPr/>
            <p:nvPr/>
          </p:nvSpPr>
          <p:spPr>
            <a:xfrm>
              <a:off x="9461446" y="4495800"/>
              <a:ext cx="2783205" cy="0"/>
            </a:xfrm>
            <a:custGeom>
              <a:avLst/>
              <a:gdLst/>
              <a:ahLst/>
              <a:cxnLst/>
              <a:rect l="l" t="t" r="r" b="b"/>
              <a:pathLst>
                <a:path w="2783204">
                  <a:moveTo>
                    <a:pt x="0" y="0"/>
                  </a:moveTo>
                  <a:lnTo>
                    <a:pt x="2776397" y="0"/>
                  </a:lnTo>
                  <a:lnTo>
                    <a:pt x="27827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218795" y="4457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1905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74200" y="2374567"/>
              <a:ext cx="0" cy="2134235"/>
            </a:xfrm>
            <a:custGeom>
              <a:avLst/>
              <a:gdLst/>
              <a:ahLst/>
              <a:cxnLst/>
              <a:rect l="l" t="t" r="r" b="b"/>
              <a:pathLst>
                <a:path h="2134235">
                  <a:moveTo>
                    <a:pt x="0" y="2133932"/>
                  </a:moveTo>
                  <a:lnTo>
                    <a:pt x="0" y="6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36100" y="23237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38100" y="5715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79970" y="2667688"/>
              <a:ext cx="2362200" cy="1473200"/>
            </a:xfrm>
            <a:custGeom>
              <a:avLst/>
              <a:gdLst/>
              <a:ahLst/>
              <a:cxnLst/>
              <a:rect l="l" t="t" r="r" b="b"/>
              <a:pathLst>
                <a:path w="2362200" h="1473200">
                  <a:moveTo>
                    <a:pt x="0" y="1473200"/>
                  </a:moveTo>
                  <a:lnTo>
                    <a:pt x="78866" y="1386969"/>
                  </a:lnTo>
                  <a:lnTo>
                    <a:pt x="278622" y="1209328"/>
                  </a:lnTo>
                  <a:lnTo>
                    <a:pt x="543999" y="1061851"/>
                  </a:lnTo>
                  <a:lnTo>
                    <a:pt x="819728" y="1066112"/>
                  </a:lnTo>
                  <a:lnTo>
                    <a:pt x="1165107" y="947506"/>
                  </a:lnTo>
                  <a:lnTo>
                    <a:pt x="1683735" y="575699"/>
                  </a:lnTo>
                  <a:lnTo>
                    <a:pt x="2155978" y="182571"/>
                  </a:lnTo>
                  <a:lnTo>
                    <a:pt x="2362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769600" y="3518358"/>
              <a:ext cx="3175" cy="977900"/>
            </a:xfrm>
            <a:custGeom>
              <a:avLst/>
              <a:gdLst/>
              <a:ahLst/>
              <a:cxnLst/>
              <a:rect l="l" t="t" r="r" b="b"/>
              <a:pathLst>
                <a:path w="3175" h="977900">
                  <a:moveTo>
                    <a:pt x="2555" y="0"/>
                  </a:moveTo>
                  <a:lnTo>
                    <a:pt x="0" y="977441"/>
                  </a:lnTo>
                </a:path>
              </a:pathLst>
            </a:custGeom>
            <a:ln w="190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81431" y="3225899"/>
              <a:ext cx="2362200" cy="924560"/>
            </a:xfrm>
            <a:custGeom>
              <a:avLst/>
              <a:gdLst/>
              <a:ahLst/>
              <a:cxnLst/>
              <a:rect l="l" t="t" r="r" b="b"/>
              <a:pathLst>
                <a:path w="2362200" h="924560">
                  <a:moveTo>
                    <a:pt x="0" y="629098"/>
                  </a:moveTo>
                  <a:lnTo>
                    <a:pt x="46389" y="680210"/>
                  </a:lnTo>
                  <a:lnTo>
                    <a:pt x="155393" y="790010"/>
                  </a:lnTo>
                  <a:lnTo>
                    <a:pt x="281764" y="893196"/>
                  </a:lnTo>
                  <a:lnTo>
                    <a:pt x="380254" y="924465"/>
                  </a:lnTo>
                  <a:lnTo>
                    <a:pt x="408180" y="909496"/>
                  </a:lnTo>
                  <a:lnTo>
                    <a:pt x="453590" y="860565"/>
                  </a:lnTo>
                  <a:lnTo>
                    <a:pt x="489005" y="791544"/>
                  </a:lnTo>
                  <a:lnTo>
                    <a:pt x="504436" y="751462"/>
                  </a:lnTo>
                  <a:lnTo>
                    <a:pt x="519135" y="708713"/>
                  </a:lnTo>
                  <a:lnTo>
                    <a:pt x="533691" y="664081"/>
                  </a:lnTo>
                  <a:lnTo>
                    <a:pt x="548693" y="618352"/>
                  </a:lnTo>
                  <a:lnTo>
                    <a:pt x="564729" y="572311"/>
                  </a:lnTo>
                  <a:lnTo>
                    <a:pt x="582389" y="526743"/>
                  </a:lnTo>
                  <a:lnTo>
                    <a:pt x="602262" y="482432"/>
                  </a:lnTo>
                  <a:lnTo>
                    <a:pt x="624936" y="440164"/>
                  </a:lnTo>
                  <a:lnTo>
                    <a:pt x="651001" y="400724"/>
                  </a:lnTo>
                  <a:lnTo>
                    <a:pt x="681045" y="364898"/>
                  </a:lnTo>
                  <a:lnTo>
                    <a:pt x="715657" y="333469"/>
                  </a:lnTo>
                  <a:lnTo>
                    <a:pt x="755427" y="307223"/>
                  </a:lnTo>
                  <a:lnTo>
                    <a:pt x="769450" y="299158"/>
                  </a:lnTo>
                  <a:lnTo>
                    <a:pt x="786691" y="289028"/>
                  </a:lnTo>
                  <a:lnTo>
                    <a:pt x="830422" y="265281"/>
                  </a:lnTo>
                  <a:lnTo>
                    <a:pt x="885814" y="241398"/>
                  </a:lnTo>
                  <a:lnTo>
                    <a:pt x="952064" y="222794"/>
                  </a:lnTo>
                  <a:lnTo>
                    <a:pt x="1028364" y="214886"/>
                  </a:lnTo>
                  <a:lnTo>
                    <a:pt x="1070032" y="216635"/>
                  </a:lnTo>
                  <a:lnTo>
                    <a:pt x="1113911" y="223089"/>
                  </a:lnTo>
                  <a:lnTo>
                    <a:pt x="1159900" y="234924"/>
                  </a:lnTo>
                  <a:lnTo>
                    <a:pt x="1207899" y="252817"/>
                  </a:lnTo>
                  <a:lnTo>
                    <a:pt x="1257807" y="277447"/>
                  </a:lnTo>
                  <a:lnTo>
                    <a:pt x="1309523" y="309488"/>
                  </a:lnTo>
                  <a:lnTo>
                    <a:pt x="1362946" y="349620"/>
                  </a:lnTo>
                  <a:lnTo>
                    <a:pt x="1417977" y="398517"/>
                  </a:lnTo>
                  <a:lnTo>
                    <a:pt x="1474514" y="456858"/>
                  </a:lnTo>
                  <a:lnTo>
                    <a:pt x="1499645" y="479962"/>
                  </a:lnTo>
                  <a:lnTo>
                    <a:pt x="1527139" y="496725"/>
                  </a:lnTo>
                  <a:lnTo>
                    <a:pt x="1556801" y="507524"/>
                  </a:lnTo>
                  <a:lnTo>
                    <a:pt x="1588436" y="512738"/>
                  </a:lnTo>
                  <a:lnTo>
                    <a:pt x="1621848" y="512742"/>
                  </a:lnTo>
                  <a:lnTo>
                    <a:pt x="1656841" y="507915"/>
                  </a:lnTo>
                  <a:lnTo>
                    <a:pt x="1730789" y="485275"/>
                  </a:lnTo>
                  <a:lnTo>
                    <a:pt x="1769354" y="468217"/>
                  </a:lnTo>
                  <a:lnTo>
                    <a:pt x="1808718" y="447837"/>
                  </a:lnTo>
                  <a:lnTo>
                    <a:pt x="1848687" y="424511"/>
                  </a:lnTo>
                  <a:lnTo>
                    <a:pt x="1889064" y="398618"/>
                  </a:lnTo>
                  <a:lnTo>
                    <a:pt x="1929654" y="370534"/>
                  </a:lnTo>
                  <a:lnTo>
                    <a:pt x="1970261" y="340636"/>
                  </a:lnTo>
                  <a:lnTo>
                    <a:pt x="2010691" y="309303"/>
                  </a:lnTo>
                  <a:lnTo>
                    <a:pt x="2050747" y="276911"/>
                  </a:lnTo>
                  <a:lnTo>
                    <a:pt x="2090235" y="243838"/>
                  </a:lnTo>
                  <a:lnTo>
                    <a:pt x="2128958" y="210461"/>
                  </a:lnTo>
                  <a:lnTo>
                    <a:pt x="2166722" y="177157"/>
                  </a:lnTo>
                  <a:lnTo>
                    <a:pt x="2203330" y="144303"/>
                  </a:lnTo>
                  <a:lnTo>
                    <a:pt x="2238587" y="112278"/>
                  </a:lnTo>
                  <a:lnTo>
                    <a:pt x="2272298" y="81457"/>
                  </a:lnTo>
                  <a:lnTo>
                    <a:pt x="2304268" y="52219"/>
                  </a:lnTo>
                  <a:lnTo>
                    <a:pt x="2334300" y="24941"/>
                  </a:lnTo>
                  <a:lnTo>
                    <a:pt x="2362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895800" y="2298700"/>
            <a:ext cx="3397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10" dirty="0">
                <a:latin typeface="Times New Roman"/>
                <a:cs typeface="Times New Roman"/>
              </a:rPr>
              <a:t>f</a:t>
            </a:r>
            <a:r>
              <a:rPr sz="1600" i="1" spc="-2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(</a:t>
            </a: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12127672" y="4610100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40483" y="4610100"/>
            <a:ext cx="2457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575" spc="-37" baseline="-7936" dirty="0">
                <a:latin typeface="Times New Roman"/>
                <a:cs typeface="Times New Roman"/>
              </a:rPr>
              <a:t>0</a:t>
            </a:r>
            <a:endParaRPr sz="1575" baseline="-7936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13311" y="2959100"/>
            <a:ext cx="6070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-5" dirty="0">
                <a:latin typeface="Times New Roman"/>
                <a:cs typeface="Times New Roman"/>
              </a:rPr>
              <a:t> </a:t>
            </a:r>
            <a:r>
              <a:rPr sz="1600" spc="-145" dirty="0">
                <a:latin typeface="Times New Roman"/>
                <a:cs typeface="Times New Roman"/>
              </a:rPr>
              <a:t>·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-65" dirty="0"/>
              <a:t> </a:t>
            </a:r>
            <a:r>
              <a:rPr spc="-10" dirty="0"/>
              <a:t>Theta</a:t>
            </a:r>
            <a:r>
              <a:rPr spc="-65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221740"/>
            <a:ext cx="11141075" cy="9906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19"/>
              </a:spcBef>
              <a:tabLst>
                <a:tab pos="2326640" algn="l"/>
                <a:tab pos="1094994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Tight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Θ(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 there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 constants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300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30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 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150" baseline="-19097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919"/>
              </a:spcBef>
              <a:tabLst>
                <a:tab pos="2080260" algn="l"/>
                <a:tab pos="3206115" algn="l"/>
                <a:tab pos="3526154" algn="l"/>
                <a:tab pos="4149090" algn="l"/>
                <a:tab pos="4468495" algn="l"/>
                <a:tab pos="5594350" algn="l"/>
                <a:tab pos="6859905" algn="l"/>
                <a:tab pos="7179309" algn="l"/>
              </a:tabLst>
            </a:pP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300" baseline="-6944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300" baseline="-6944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-19097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2786380"/>
            <a:ext cx="343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788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32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292" baseline="295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086100"/>
            <a:ext cx="227838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Θ(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568700"/>
            <a:ext cx="472122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5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neither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Θ(</a:t>
            </a:r>
            <a:r>
              <a:rPr sz="2400" i="1" spc="60" dirty="0">
                <a:latin typeface="Times New Roman"/>
                <a:cs typeface="Times New Roman"/>
              </a:rPr>
              <a:t>n</a:t>
            </a:r>
            <a:r>
              <a:rPr sz="2400" spc="9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nor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Θ(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951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100" y="6164579"/>
            <a:ext cx="10687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045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Mergesort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Θ(</a:t>
            </a:r>
            <a:r>
              <a:rPr sz="2400" i="1" spc="80" dirty="0">
                <a:latin typeface="Times New Roman"/>
                <a:cs typeface="Times New Roman"/>
              </a:rPr>
              <a:t>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compares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elements.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0573" y="3346450"/>
            <a:ext cx="2914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choose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c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r>
              <a:rPr sz="1800" spc="225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32,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c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r>
              <a:rPr sz="1800" spc="225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50,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0</a:t>
            </a:r>
            <a:r>
              <a:rPr sz="1800" spc="225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29000" y="3431540"/>
            <a:ext cx="496570" cy="121920"/>
            <a:chOff x="3429000" y="3431540"/>
            <a:chExt cx="496570" cy="121920"/>
          </a:xfrm>
        </p:grpSpPr>
        <p:sp>
          <p:nvSpPr>
            <p:cNvPr id="11" name="object 11"/>
            <p:cNvSpPr/>
            <p:nvPr/>
          </p:nvSpPr>
          <p:spPr>
            <a:xfrm>
              <a:off x="3507739" y="3492500"/>
              <a:ext cx="417830" cy="0"/>
            </a:xfrm>
            <a:custGeom>
              <a:avLst/>
              <a:gdLst/>
              <a:ahLst/>
              <a:cxnLst/>
              <a:rect l="l" t="t" r="r" b="b"/>
              <a:pathLst>
                <a:path w="417829">
                  <a:moveTo>
                    <a:pt x="0" y="0"/>
                  </a:moveTo>
                  <a:lnTo>
                    <a:pt x="12700" y="0"/>
                  </a:lnTo>
                  <a:lnTo>
                    <a:pt x="417371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9000" y="34315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39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436100" y="2323767"/>
            <a:ext cx="2859405" cy="2210435"/>
            <a:chOff x="9436100" y="2323767"/>
            <a:chExt cx="2859405" cy="2210435"/>
          </a:xfrm>
        </p:grpSpPr>
        <p:sp>
          <p:nvSpPr>
            <p:cNvPr id="14" name="object 14"/>
            <p:cNvSpPr/>
            <p:nvPr/>
          </p:nvSpPr>
          <p:spPr>
            <a:xfrm>
              <a:off x="9461446" y="4495800"/>
              <a:ext cx="2783205" cy="0"/>
            </a:xfrm>
            <a:custGeom>
              <a:avLst/>
              <a:gdLst/>
              <a:ahLst/>
              <a:cxnLst/>
              <a:rect l="l" t="t" r="r" b="b"/>
              <a:pathLst>
                <a:path w="2783204">
                  <a:moveTo>
                    <a:pt x="0" y="0"/>
                  </a:moveTo>
                  <a:lnTo>
                    <a:pt x="2776397" y="0"/>
                  </a:lnTo>
                  <a:lnTo>
                    <a:pt x="278274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18795" y="4457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19050" y="38100"/>
                  </a:ln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74200" y="2374567"/>
              <a:ext cx="0" cy="2134235"/>
            </a:xfrm>
            <a:custGeom>
              <a:avLst/>
              <a:gdLst/>
              <a:ahLst/>
              <a:cxnLst/>
              <a:rect l="l" t="t" r="r" b="b"/>
              <a:pathLst>
                <a:path h="2134235">
                  <a:moveTo>
                    <a:pt x="0" y="2133932"/>
                  </a:moveTo>
                  <a:lnTo>
                    <a:pt x="0" y="6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36100" y="23237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38100" y="5715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79970" y="2667688"/>
              <a:ext cx="2362200" cy="1473200"/>
            </a:xfrm>
            <a:custGeom>
              <a:avLst/>
              <a:gdLst/>
              <a:ahLst/>
              <a:cxnLst/>
              <a:rect l="l" t="t" r="r" b="b"/>
              <a:pathLst>
                <a:path w="2362200" h="1473200">
                  <a:moveTo>
                    <a:pt x="0" y="1473200"/>
                  </a:moveTo>
                  <a:lnTo>
                    <a:pt x="110192" y="1368826"/>
                  </a:lnTo>
                  <a:lnTo>
                    <a:pt x="374747" y="1157771"/>
                  </a:lnTo>
                  <a:lnTo>
                    <a:pt x="694632" y="993134"/>
                  </a:lnTo>
                  <a:lnTo>
                    <a:pt x="970815" y="1028012"/>
                  </a:lnTo>
                  <a:lnTo>
                    <a:pt x="1331163" y="987303"/>
                  </a:lnTo>
                  <a:lnTo>
                    <a:pt x="1793569" y="620599"/>
                  </a:lnTo>
                  <a:lnTo>
                    <a:pt x="2192444" y="200599"/>
                  </a:lnTo>
                  <a:lnTo>
                    <a:pt x="2362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26700" y="3682982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217"/>
                  </a:lnTo>
                </a:path>
              </a:pathLst>
            </a:custGeom>
            <a:ln w="190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81431" y="3225899"/>
              <a:ext cx="2362200" cy="854710"/>
            </a:xfrm>
            <a:custGeom>
              <a:avLst/>
              <a:gdLst/>
              <a:ahLst/>
              <a:cxnLst/>
              <a:rect l="l" t="t" r="r" b="b"/>
              <a:pathLst>
                <a:path w="2362200" h="854710">
                  <a:moveTo>
                    <a:pt x="0" y="629098"/>
                  </a:moveTo>
                  <a:lnTo>
                    <a:pt x="98048" y="660694"/>
                  </a:lnTo>
                  <a:lnTo>
                    <a:pt x="322256" y="731189"/>
                  </a:lnTo>
                  <a:lnTo>
                    <a:pt x="567718" y="804141"/>
                  </a:lnTo>
                  <a:lnTo>
                    <a:pt x="729530" y="843111"/>
                  </a:lnTo>
                  <a:lnTo>
                    <a:pt x="776161" y="847936"/>
                  </a:lnTo>
                  <a:lnTo>
                    <a:pt x="834610" y="852130"/>
                  </a:lnTo>
                  <a:lnTo>
                    <a:pt x="903028" y="854189"/>
                  </a:lnTo>
                  <a:lnTo>
                    <a:pt x="940397" y="853948"/>
                  </a:lnTo>
                  <a:lnTo>
                    <a:pt x="979566" y="852608"/>
                  </a:lnTo>
                  <a:lnTo>
                    <a:pt x="1020301" y="849981"/>
                  </a:lnTo>
                  <a:lnTo>
                    <a:pt x="1062374" y="845880"/>
                  </a:lnTo>
                  <a:lnTo>
                    <a:pt x="1105551" y="840116"/>
                  </a:lnTo>
                  <a:lnTo>
                    <a:pt x="1149602" y="832501"/>
                  </a:lnTo>
                  <a:lnTo>
                    <a:pt x="1194297" y="822846"/>
                  </a:lnTo>
                  <a:lnTo>
                    <a:pt x="1239403" y="810965"/>
                  </a:lnTo>
                  <a:lnTo>
                    <a:pt x="1284690" y="796668"/>
                  </a:lnTo>
                  <a:lnTo>
                    <a:pt x="1329926" y="779767"/>
                  </a:lnTo>
                  <a:lnTo>
                    <a:pt x="1374880" y="760074"/>
                  </a:lnTo>
                  <a:lnTo>
                    <a:pt x="1419321" y="737401"/>
                  </a:lnTo>
                  <a:lnTo>
                    <a:pt x="1463018" y="711561"/>
                  </a:lnTo>
                  <a:lnTo>
                    <a:pt x="1505740" y="682363"/>
                  </a:lnTo>
                  <a:lnTo>
                    <a:pt x="1547256" y="649622"/>
                  </a:lnTo>
                  <a:lnTo>
                    <a:pt x="1587334" y="613148"/>
                  </a:lnTo>
                  <a:lnTo>
                    <a:pt x="1625743" y="572752"/>
                  </a:lnTo>
                  <a:lnTo>
                    <a:pt x="1662252" y="528248"/>
                  </a:lnTo>
                  <a:lnTo>
                    <a:pt x="1696630" y="479447"/>
                  </a:lnTo>
                  <a:lnTo>
                    <a:pt x="1728646" y="426161"/>
                  </a:lnTo>
                  <a:lnTo>
                    <a:pt x="1758068" y="368201"/>
                  </a:lnTo>
                  <a:lnTo>
                    <a:pt x="1781457" y="324397"/>
                  </a:lnTo>
                  <a:lnTo>
                    <a:pt x="1807367" y="287403"/>
                  </a:lnTo>
                  <a:lnTo>
                    <a:pt x="1835595" y="256411"/>
                  </a:lnTo>
                  <a:lnTo>
                    <a:pt x="1865944" y="230611"/>
                  </a:lnTo>
                  <a:lnTo>
                    <a:pt x="1898211" y="209197"/>
                  </a:lnTo>
                  <a:lnTo>
                    <a:pt x="1932197" y="191359"/>
                  </a:lnTo>
                  <a:lnTo>
                    <a:pt x="1967701" y="176289"/>
                  </a:lnTo>
                  <a:lnTo>
                    <a:pt x="2004524" y="163179"/>
                  </a:lnTo>
                  <a:lnTo>
                    <a:pt x="2042464" y="151220"/>
                  </a:lnTo>
                  <a:lnTo>
                    <a:pt x="2081322" y="139605"/>
                  </a:lnTo>
                  <a:lnTo>
                    <a:pt x="2120898" y="127524"/>
                  </a:lnTo>
                  <a:lnTo>
                    <a:pt x="2160991" y="114169"/>
                  </a:lnTo>
                  <a:lnTo>
                    <a:pt x="2201400" y="98733"/>
                  </a:lnTo>
                  <a:lnTo>
                    <a:pt x="2241926" y="80406"/>
                  </a:lnTo>
                  <a:lnTo>
                    <a:pt x="2282368" y="58380"/>
                  </a:lnTo>
                  <a:lnTo>
                    <a:pt x="2322526" y="31847"/>
                  </a:lnTo>
                  <a:lnTo>
                    <a:pt x="2362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946600" y="2489200"/>
            <a:ext cx="3397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10" dirty="0">
                <a:latin typeface="Times New Roman"/>
                <a:cs typeface="Times New Roman"/>
              </a:rPr>
              <a:t>f</a:t>
            </a:r>
            <a:r>
              <a:rPr sz="1600" i="1" spc="-2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(</a:t>
            </a: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27672" y="4610100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10283" y="4610100"/>
            <a:ext cx="2457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575" spc="-37" baseline="-7936" dirty="0">
                <a:latin typeface="Times New Roman"/>
                <a:cs typeface="Times New Roman"/>
              </a:rPr>
              <a:t>0</a:t>
            </a:r>
            <a:endParaRPr sz="1575" baseline="-7936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54043" y="3009900"/>
            <a:ext cx="725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575" baseline="-7936" dirty="0">
                <a:latin typeface="Times New Roman"/>
                <a:cs typeface="Times New Roman"/>
              </a:rPr>
              <a:t>1</a:t>
            </a:r>
            <a:r>
              <a:rPr sz="1575" spc="202" baseline="-7936" dirty="0">
                <a:latin typeface="Times New Roman"/>
                <a:cs typeface="Times New Roman"/>
              </a:rPr>
              <a:t> </a:t>
            </a:r>
            <a:r>
              <a:rPr sz="1600" spc="-145" dirty="0">
                <a:latin typeface="Times New Roman"/>
                <a:cs typeface="Times New Roman"/>
              </a:rPr>
              <a:t>·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461500" y="2177169"/>
            <a:ext cx="2387600" cy="1597025"/>
          </a:xfrm>
          <a:custGeom>
            <a:avLst/>
            <a:gdLst/>
            <a:ahLst/>
            <a:cxnLst/>
            <a:rect l="l" t="t" r="r" b="b"/>
            <a:pathLst>
              <a:path w="2387600" h="1597025">
                <a:moveTo>
                  <a:pt x="2387600" y="0"/>
                </a:moveTo>
                <a:lnTo>
                  <a:pt x="2329921" y="71834"/>
                </a:lnTo>
                <a:lnTo>
                  <a:pt x="2198928" y="234713"/>
                </a:lnTo>
                <a:lnTo>
                  <a:pt x="2057682" y="409702"/>
                </a:lnTo>
                <a:lnTo>
                  <a:pt x="1969246" y="517865"/>
                </a:lnTo>
                <a:lnTo>
                  <a:pt x="1960391" y="528473"/>
                </a:lnTo>
                <a:lnTo>
                  <a:pt x="1949200" y="542097"/>
                </a:lnTo>
                <a:lnTo>
                  <a:pt x="1935762" y="558564"/>
                </a:lnTo>
                <a:lnTo>
                  <a:pt x="1920168" y="577704"/>
                </a:lnTo>
                <a:lnTo>
                  <a:pt x="1902509" y="599344"/>
                </a:lnTo>
                <a:lnTo>
                  <a:pt x="1861356" y="649438"/>
                </a:lnTo>
                <a:lnTo>
                  <a:pt x="1813025" y="707470"/>
                </a:lnTo>
                <a:lnTo>
                  <a:pt x="1786394" y="739033"/>
                </a:lnTo>
                <a:lnTo>
                  <a:pt x="1758240" y="772066"/>
                </a:lnTo>
                <a:lnTo>
                  <a:pt x="1728653" y="806396"/>
                </a:lnTo>
                <a:lnTo>
                  <a:pt x="1697725" y="841852"/>
                </a:lnTo>
                <a:lnTo>
                  <a:pt x="1665544" y="878261"/>
                </a:lnTo>
                <a:lnTo>
                  <a:pt x="1632202" y="915452"/>
                </a:lnTo>
                <a:lnTo>
                  <a:pt x="1597789" y="953253"/>
                </a:lnTo>
                <a:lnTo>
                  <a:pt x="1562395" y="991492"/>
                </a:lnTo>
                <a:lnTo>
                  <a:pt x="1526111" y="1029997"/>
                </a:lnTo>
                <a:lnTo>
                  <a:pt x="1489028" y="1068597"/>
                </a:lnTo>
                <a:lnTo>
                  <a:pt x="1451235" y="1107119"/>
                </a:lnTo>
                <a:lnTo>
                  <a:pt x="1412823" y="1145392"/>
                </a:lnTo>
                <a:lnTo>
                  <a:pt x="1373883" y="1183243"/>
                </a:lnTo>
                <a:lnTo>
                  <a:pt x="1334504" y="1220502"/>
                </a:lnTo>
                <a:lnTo>
                  <a:pt x="1294778" y="1256996"/>
                </a:lnTo>
                <a:lnTo>
                  <a:pt x="1254795" y="1292553"/>
                </a:lnTo>
                <a:lnTo>
                  <a:pt x="1214645" y="1327002"/>
                </a:lnTo>
                <a:lnTo>
                  <a:pt x="1174418" y="1360170"/>
                </a:lnTo>
                <a:lnTo>
                  <a:pt x="1134205" y="1391886"/>
                </a:lnTo>
                <a:lnTo>
                  <a:pt x="1094097" y="1421977"/>
                </a:lnTo>
                <a:lnTo>
                  <a:pt x="1054183" y="1450273"/>
                </a:lnTo>
                <a:lnTo>
                  <a:pt x="1014555" y="1476601"/>
                </a:lnTo>
                <a:lnTo>
                  <a:pt x="975302" y="1500790"/>
                </a:lnTo>
                <a:lnTo>
                  <a:pt x="936516" y="1522666"/>
                </a:lnTo>
                <a:lnTo>
                  <a:pt x="898285" y="1542060"/>
                </a:lnTo>
                <a:lnTo>
                  <a:pt x="860702" y="1558798"/>
                </a:lnTo>
                <a:lnTo>
                  <a:pt x="823856" y="1572710"/>
                </a:lnTo>
                <a:lnTo>
                  <a:pt x="752738" y="1591364"/>
                </a:lnTo>
                <a:lnTo>
                  <a:pt x="685653" y="1596648"/>
                </a:lnTo>
                <a:lnTo>
                  <a:pt x="653850" y="1593846"/>
                </a:lnTo>
                <a:lnTo>
                  <a:pt x="594173" y="1576497"/>
                </a:lnTo>
                <a:lnTo>
                  <a:pt x="540338" y="1542340"/>
                </a:lnTo>
                <a:lnTo>
                  <a:pt x="474714" y="1473229"/>
                </a:lnTo>
                <a:lnTo>
                  <a:pt x="436301" y="1431882"/>
                </a:lnTo>
                <a:lnTo>
                  <a:pt x="400084" y="1394895"/>
                </a:lnTo>
                <a:lnTo>
                  <a:pt x="365552" y="1362671"/>
                </a:lnTo>
                <a:lnTo>
                  <a:pt x="332191" y="1335616"/>
                </a:lnTo>
                <a:lnTo>
                  <a:pt x="299489" y="1314135"/>
                </a:lnTo>
                <a:lnTo>
                  <a:pt x="234006" y="1289514"/>
                </a:lnTo>
                <a:lnTo>
                  <a:pt x="200200" y="1287184"/>
                </a:lnTo>
                <a:lnTo>
                  <a:pt x="165000" y="1292047"/>
                </a:lnTo>
                <a:lnTo>
                  <a:pt x="127892" y="1304508"/>
                </a:lnTo>
                <a:lnTo>
                  <a:pt x="88365" y="1324972"/>
                </a:lnTo>
                <a:lnTo>
                  <a:pt x="45905" y="1353845"/>
                </a:lnTo>
                <a:lnTo>
                  <a:pt x="0" y="139153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866743" y="2057400"/>
            <a:ext cx="725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575" baseline="-7936" dirty="0">
                <a:latin typeface="Times New Roman"/>
                <a:cs typeface="Times New Roman"/>
              </a:rPr>
              <a:t>2</a:t>
            </a:r>
            <a:r>
              <a:rPr sz="1575" spc="202" baseline="-7936" dirty="0">
                <a:latin typeface="Times New Roman"/>
                <a:cs typeface="Times New Roman"/>
              </a:rPr>
              <a:t> </a:t>
            </a:r>
            <a:r>
              <a:rPr sz="1600" spc="-145" dirty="0">
                <a:latin typeface="Times New Roman"/>
                <a:cs typeface="Times New Roman"/>
              </a:rPr>
              <a:t>·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g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n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1014" y="7346945"/>
            <a:ext cx="1920875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between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½</a:t>
            </a:r>
            <a:r>
              <a:rPr sz="1800" spc="1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800" i="1" spc="1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log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r>
              <a:rPr sz="1800" spc="247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800" i="1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log</a:t>
            </a:r>
            <a:r>
              <a:rPr sz="1800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r>
              <a:rPr sz="1800" spc="209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654187" y="6701281"/>
            <a:ext cx="292100" cy="648335"/>
            <a:chOff x="5654187" y="6701281"/>
            <a:chExt cx="292100" cy="648335"/>
          </a:xfrm>
        </p:grpSpPr>
        <p:sp>
          <p:nvSpPr>
            <p:cNvPr id="29" name="object 29"/>
            <p:cNvSpPr/>
            <p:nvPr/>
          </p:nvSpPr>
          <p:spPr>
            <a:xfrm>
              <a:off x="5666887" y="6801771"/>
              <a:ext cx="227965" cy="535305"/>
            </a:xfrm>
            <a:custGeom>
              <a:avLst/>
              <a:gdLst/>
              <a:ahLst/>
              <a:cxnLst/>
              <a:rect l="l" t="t" r="r" b="b"/>
              <a:pathLst>
                <a:path w="227964" h="535304">
                  <a:moveTo>
                    <a:pt x="0" y="534684"/>
                  </a:moveTo>
                  <a:lnTo>
                    <a:pt x="222690" y="11684"/>
                  </a:lnTo>
                  <a:lnTo>
                    <a:pt x="227665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33491" y="6701281"/>
              <a:ext cx="112395" cy="136525"/>
            </a:xfrm>
            <a:custGeom>
              <a:avLst/>
              <a:gdLst/>
              <a:ahLst/>
              <a:cxnLst/>
              <a:rect l="l" t="t" r="r" b="b"/>
              <a:pathLst>
                <a:path w="112395" h="136525">
                  <a:moveTo>
                    <a:pt x="103850" y="0"/>
                  </a:moveTo>
                  <a:lnTo>
                    <a:pt x="0" y="88292"/>
                  </a:lnTo>
                  <a:lnTo>
                    <a:pt x="112174" y="136056"/>
                  </a:lnTo>
                  <a:lnTo>
                    <a:pt x="10385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19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Asymptotic</a:t>
            </a:r>
            <a:r>
              <a:rPr spc="130" dirty="0"/>
              <a:t> </a:t>
            </a:r>
            <a:r>
              <a:rPr dirty="0"/>
              <a:t>bounds</a:t>
            </a:r>
            <a:r>
              <a:rPr spc="135" dirty="0"/>
              <a:t> </a:t>
            </a:r>
            <a:r>
              <a:rPr spc="60" dirty="0"/>
              <a:t>and</a:t>
            </a:r>
            <a:r>
              <a:rPr spc="130" dirty="0"/>
              <a:t> </a:t>
            </a:r>
            <a:r>
              <a:rPr spc="-10" dirty="0"/>
              <a:t>limits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219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247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If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5257" y="1338580"/>
            <a:ext cx="70110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01340" algn="l"/>
                <a:tab pos="3425825" algn="l"/>
                <a:tab pos="3713479" algn="l"/>
              </a:tabLst>
            </a:pP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&lt;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3600" baseline="-2314" dirty="0">
                <a:latin typeface="Times New Roman"/>
                <a:cs typeface="Times New Roman"/>
              </a:rPr>
              <a:t>∞</a:t>
            </a:r>
            <a:r>
              <a:rPr sz="3600" spc="44" baseline="-23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7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Θ(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2303780"/>
            <a:ext cx="9973310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35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50" dirty="0">
                <a:latin typeface="Lucida Sans Unicode"/>
                <a:cs typeface="Lucida Sans Unicode"/>
              </a:rPr>
              <a:t>By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definition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20" dirty="0">
                <a:latin typeface="Times New Roman"/>
                <a:cs typeface="Times New Roman"/>
              </a:rPr>
              <a:t> &gt;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494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that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4716779"/>
            <a:ext cx="338518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>
              <a:lnSpc>
                <a:spcPts val="2615"/>
              </a:lnSpc>
              <a:spcBef>
                <a:spcPts val="100"/>
              </a:spcBef>
              <a:tabLst>
                <a:tab pos="1760220" algn="l"/>
                <a:tab pos="2080260" algn="l"/>
              </a:tabLst>
            </a:pP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-19097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355"/>
              </a:lnSpc>
              <a:tabLst>
                <a:tab pos="2773045" algn="l"/>
                <a:tab pos="309753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Choose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½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5499100"/>
            <a:ext cx="425450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Multiplying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75" dirty="0">
                <a:latin typeface="Times New Roman"/>
                <a:cs typeface="Times New Roman"/>
              </a:rPr>
              <a:t>) </a:t>
            </a:r>
            <a:r>
              <a:rPr sz="2400" spc="-10" dirty="0">
                <a:latin typeface="Lucida Sans Unicode"/>
                <a:cs typeface="Lucida Sans Unicode"/>
              </a:rPr>
              <a:t>yields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2232" y="5681979"/>
            <a:ext cx="6254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27810" algn="l"/>
                <a:tab pos="1847214" algn="l"/>
                <a:tab pos="2470150" algn="l"/>
                <a:tab pos="2789555" algn="l"/>
                <a:tab pos="4279900" algn="l"/>
                <a:tab pos="5544820" algn="l"/>
                <a:tab pos="5864860" algn="l"/>
              </a:tabLst>
            </a:pPr>
            <a:r>
              <a:rPr sz="2400" dirty="0">
                <a:latin typeface="Times New Roman"/>
                <a:cs typeface="Times New Roman"/>
              </a:rPr>
              <a:t>1/2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3/2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37" baseline="-19097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5981700"/>
            <a:ext cx="973455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54151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Thus,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Θ(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definition,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spc="31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1/2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31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3/2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6672" y="1349313"/>
            <a:ext cx="605790" cy="509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9220">
              <a:lnSpc>
                <a:spcPts val="2270"/>
              </a:lnSpc>
              <a:spcBef>
                <a:spcPts val="135"/>
              </a:spcBef>
            </a:pPr>
            <a:r>
              <a:rPr sz="2150" spc="80" dirty="0">
                <a:latin typeface="Calibri"/>
                <a:cs typeface="Calibri"/>
              </a:rPr>
              <a:t>lim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1490"/>
              </a:lnSpc>
            </a:pPr>
            <a:r>
              <a:rPr sz="1500" i="1" spc="370" dirty="0">
                <a:latin typeface="Calibri"/>
                <a:cs typeface="Calibri"/>
              </a:rPr>
              <a:t>n</a:t>
            </a:r>
            <a:r>
              <a:rPr sz="1500" i="1" spc="370" dirty="0">
                <a:latin typeface="Arial"/>
                <a:cs typeface="Arial"/>
              </a:rPr>
              <a:t>→∞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3791" y="1161338"/>
            <a:ext cx="574040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i="1" spc="415" dirty="0">
                <a:latin typeface="Calibri"/>
                <a:cs typeface="Calibri"/>
              </a:rPr>
              <a:t>f</a:t>
            </a:r>
            <a:r>
              <a:rPr sz="2150" i="1" spc="-250" dirty="0">
                <a:latin typeface="Calibri"/>
                <a:cs typeface="Calibri"/>
              </a:rPr>
              <a:t> </a:t>
            </a:r>
            <a:r>
              <a:rPr sz="2150" spc="170" dirty="0">
                <a:latin typeface="Calibri"/>
                <a:cs typeface="Calibri"/>
              </a:rPr>
              <a:t>(</a:t>
            </a:r>
            <a:r>
              <a:rPr sz="2150" i="1" spc="170" dirty="0">
                <a:latin typeface="Calibri"/>
                <a:cs typeface="Calibri"/>
              </a:rPr>
              <a:t>n</a:t>
            </a:r>
            <a:r>
              <a:rPr sz="2150" spc="17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86491" y="1570152"/>
            <a:ext cx="549275" cy="0"/>
          </a:xfrm>
          <a:custGeom>
            <a:avLst/>
            <a:gdLst/>
            <a:ahLst/>
            <a:cxnLst/>
            <a:rect l="l" t="t" r="r" b="b"/>
            <a:pathLst>
              <a:path w="549275">
                <a:moveTo>
                  <a:pt x="0" y="0"/>
                </a:moveTo>
                <a:lnTo>
                  <a:pt x="548865" y="0"/>
                </a:lnTo>
              </a:path>
            </a:pathLst>
          </a:custGeom>
          <a:ln w="11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785504" y="1539798"/>
            <a:ext cx="550545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i="1" spc="130" dirty="0">
                <a:latin typeface="Calibri"/>
                <a:cs typeface="Calibri"/>
              </a:rPr>
              <a:t>g</a:t>
            </a:r>
            <a:r>
              <a:rPr sz="2150" spc="130" dirty="0">
                <a:latin typeface="Calibri"/>
                <a:cs typeface="Calibri"/>
              </a:rPr>
              <a:t>(</a:t>
            </a:r>
            <a:r>
              <a:rPr sz="2150" i="1" spc="130" dirty="0">
                <a:latin typeface="Calibri"/>
                <a:cs typeface="Calibri"/>
              </a:rPr>
              <a:t>n</a:t>
            </a:r>
            <a:r>
              <a:rPr sz="2150" spc="13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0352" y="1349313"/>
            <a:ext cx="516255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82905" algn="l"/>
              </a:tabLst>
            </a:pPr>
            <a:r>
              <a:rPr sz="2150" spc="570" dirty="0">
                <a:latin typeface="Calibri"/>
                <a:cs typeface="Calibri"/>
              </a:rPr>
              <a:t>=</a:t>
            </a:r>
            <a:r>
              <a:rPr sz="2150" dirty="0">
                <a:latin typeface="Calibri"/>
                <a:cs typeface="Calibri"/>
              </a:rPr>
              <a:t>	</a:t>
            </a:r>
            <a:r>
              <a:rPr sz="2150" i="1" spc="-50" dirty="0">
                <a:latin typeface="Calibri"/>
                <a:cs typeface="Calibri"/>
              </a:rPr>
              <a:t>c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43209" y="3826418"/>
            <a:ext cx="114046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1540" algn="l"/>
              </a:tabLst>
            </a:pPr>
            <a:r>
              <a:rPr sz="2400" i="1" dirty="0">
                <a:latin typeface="Calibri"/>
                <a:cs typeface="Calibri"/>
              </a:rPr>
              <a:t>c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55" dirty="0">
                <a:latin typeface="Arial"/>
                <a:cs typeface="Arial"/>
              </a:rPr>
              <a:t>—</a:t>
            </a:r>
            <a:r>
              <a:rPr sz="2400" i="1" spc="-120" dirty="0">
                <a:latin typeface="Arial"/>
                <a:cs typeface="Arial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ϵ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484" dirty="0">
                <a:latin typeface="Arial"/>
                <a:cs typeface="Arial"/>
              </a:rPr>
              <a:t>≤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47728" y="3620983"/>
            <a:ext cx="6254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425" dirty="0">
                <a:latin typeface="Calibri"/>
                <a:cs typeface="Calibri"/>
              </a:rPr>
              <a:t>f</a:t>
            </a:r>
            <a:r>
              <a:rPr sz="2400" i="1" spc="-285" dirty="0">
                <a:latin typeface="Calibri"/>
                <a:cs typeface="Calibri"/>
              </a:rPr>
              <a:t> </a:t>
            </a:r>
            <a:r>
              <a:rPr sz="2400" spc="165" dirty="0">
                <a:latin typeface="Calibri"/>
                <a:cs typeface="Calibri"/>
              </a:rPr>
              <a:t>(</a:t>
            </a:r>
            <a:r>
              <a:rPr sz="2400" i="1" spc="165" dirty="0">
                <a:latin typeface="Calibri"/>
                <a:cs typeface="Calibri"/>
              </a:rPr>
              <a:t>n</a:t>
            </a:r>
            <a:r>
              <a:rPr sz="2400" spc="16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60428" y="4066590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>
                <a:moveTo>
                  <a:pt x="0" y="0"/>
                </a:moveTo>
                <a:lnTo>
                  <a:pt x="599846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60529" y="4034597"/>
            <a:ext cx="600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14" dirty="0">
                <a:latin typeface="Calibri"/>
                <a:cs typeface="Calibri"/>
              </a:rPr>
              <a:t>g</a:t>
            </a:r>
            <a:r>
              <a:rPr sz="2400" spc="114" dirty="0">
                <a:latin typeface="Calibri"/>
                <a:cs typeface="Calibri"/>
              </a:rPr>
              <a:t>(</a:t>
            </a:r>
            <a:r>
              <a:rPr sz="2400" i="1" spc="114" dirty="0">
                <a:latin typeface="Calibri"/>
                <a:cs typeface="Calibri"/>
              </a:rPr>
              <a:t>n</a:t>
            </a:r>
            <a:r>
              <a:rPr sz="2400" spc="114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7134" y="3826418"/>
            <a:ext cx="114046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01650" algn="l"/>
              </a:tabLst>
            </a:pPr>
            <a:r>
              <a:rPr sz="2400" i="1" spc="484" dirty="0">
                <a:latin typeface="Arial"/>
                <a:cs typeface="Arial"/>
              </a:rPr>
              <a:t>≤</a:t>
            </a:r>
            <a:r>
              <a:rPr sz="2400" i="1" dirty="0">
                <a:latin typeface="Arial"/>
                <a:cs typeface="Arial"/>
              </a:rPr>
              <a:t>	</a:t>
            </a:r>
            <a:r>
              <a:rPr sz="2400" i="1" dirty="0">
                <a:latin typeface="Calibri"/>
                <a:cs typeface="Calibri"/>
              </a:rPr>
              <a:t>c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spc="645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ϵ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0100" y="8577580"/>
            <a:ext cx="289306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70"/>
              </a:lnSpc>
              <a:spcBef>
                <a:spcPts val="100"/>
              </a:spcBef>
              <a:tabLst>
                <a:tab pos="1982470" algn="l"/>
                <a:tab pos="23520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If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3600" spc="112" baseline="2314" dirty="0">
                <a:latin typeface="Calibri"/>
                <a:cs typeface="Calibri"/>
              </a:rPr>
              <a:t>lim</a:t>
            </a:r>
            <a:endParaRPr sz="3600" baseline="2314">
              <a:latin typeface="Calibri"/>
              <a:cs typeface="Calibri"/>
            </a:endParaRPr>
          </a:p>
          <a:p>
            <a:pPr marR="5080" algn="r">
              <a:lnSpc>
                <a:spcPts val="1570"/>
              </a:lnSpc>
            </a:pPr>
            <a:r>
              <a:rPr sz="1650" i="1" spc="400" dirty="0">
                <a:latin typeface="Calibri"/>
                <a:cs typeface="Calibri"/>
              </a:rPr>
              <a:t>n</a:t>
            </a:r>
            <a:r>
              <a:rPr sz="1650" i="1" spc="400" dirty="0">
                <a:latin typeface="Arial"/>
                <a:cs typeface="Arial"/>
              </a:rPr>
              <a:t>→∞</a:t>
            </a:r>
            <a:endParaRPr sz="1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9057" y="8357878"/>
            <a:ext cx="6254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425" dirty="0">
                <a:latin typeface="Calibri"/>
                <a:cs typeface="Calibri"/>
              </a:rPr>
              <a:t>f</a:t>
            </a:r>
            <a:r>
              <a:rPr sz="2400" i="1" spc="-285" dirty="0">
                <a:latin typeface="Calibri"/>
                <a:cs typeface="Calibri"/>
              </a:rPr>
              <a:t> </a:t>
            </a:r>
            <a:r>
              <a:rPr sz="2400" spc="165" dirty="0">
                <a:latin typeface="Calibri"/>
                <a:cs typeface="Calibri"/>
              </a:rPr>
              <a:t>(</a:t>
            </a:r>
            <a:r>
              <a:rPr sz="2400" i="1" spc="165" dirty="0">
                <a:latin typeface="Calibri"/>
                <a:cs typeface="Calibri"/>
              </a:rPr>
              <a:t>n</a:t>
            </a:r>
            <a:r>
              <a:rPr sz="2400" spc="16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51757" y="8803486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>
                <a:moveTo>
                  <a:pt x="0" y="0"/>
                </a:moveTo>
                <a:lnTo>
                  <a:pt x="599846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51859" y="8771492"/>
            <a:ext cx="600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14" dirty="0">
                <a:latin typeface="Calibri"/>
                <a:cs typeface="Calibri"/>
              </a:rPr>
              <a:t>g</a:t>
            </a:r>
            <a:r>
              <a:rPr sz="2400" spc="114" dirty="0">
                <a:latin typeface="Calibri"/>
                <a:cs typeface="Calibri"/>
              </a:rPr>
              <a:t>(</a:t>
            </a:r>
            <a:r>
              <a:rPr sz="2400" i="1" spc="114" dirty="0">
                <a:latin typeface="Calibri"/>
                <a:cs typeface="Calibri"/>
              </a:rPr>
              <a:t>n</a:t>
            </a:r>
            <a:r>
              <a:rPr sz="2400" spc="114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44034" y="8577580"/>
            <a:ext cx="5802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195" algn="l"/>
              </a:tabLst>
            </a:pPr>
            <a:r>
              <a:rPr sz="3600" spc="892" baseline="2314" dirty="0">
                <a:latin typeface="Calibri"/>
                <a:cs typeface="Calibri"/>
              </a:rPr>
              <a:t>=</a:t>
            </a:r>
            <a:r>
              <a:rPr sz="3600" baseline="2314" dirty="0">
                <a:latin typeface="Calibri"/>
                <a:cs typeface="Calibri"/>
              </a:rPr>
              <a:t>	</a:t>
            </a:r>
            <a:r>
              <a:rPr sz="3600" i="1" spc="997" baseline="2314" dirty="0">
                <a:latin typeface="Arial"/>
                <a:cs typeface="Arial"/>
              </a:rPr>
              <a:t>∞</a:t>
            </a:r>
            <a:r>
              <a:rPr sz="3600" i="1" spc="-705" baseline="2314" dirty="0">
                <a:latin typeface="Arial"/>
                <a:cs typeface="Arial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Ω(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0100" y="7612380"/>
            <a:ext cx="2842260" cy="52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15"/>
              </a:lnSpc>
              <a:spcBef>
                <a:spcPts val="100"/>
              </a:spcBef>
              <a:tabLst>
                <a:tab pos="198247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150" dirty="0">
                <a:latin typeface="Lucida Sans Unicode"/>
                <a:cs typeface="Lucida Sans Unicode"/>
              </a:rPr>
              <a:t> </a:t>
            </a:r>
            <a:r>
              <a:rPr sz="3600" spc="112" baseline="5787" dirty="0">
                <a:latin typeface="Calibri"/>
                <a:cs typeface="Calibri"/>
              </a:rPr>
              <a:t>lim</a:t>
            </a:r>
            <a:endParaRPr sz="3600" baseline="5787">
              <a:latin typeface="Calibri"/>
              <a:cs typeface="Calibri"/>
            </a:endParaRPr>
          </a:p>
          <a:p>
            <a:pPr marR="5080" algn="r">
              <a:lnSpc>
                <a:spcPts val="1515"/>
              </a:lnSpc>
            </a:pPr>
            <a:r>
              <a:rPr sz="1650" i="1" spc="405" dirty="0">
                <a:latin typeface="Calibri"/>
                <a:cs typeface="Calibri"/>
              </a:rPr>
              <a:t>n</a:t>
            </a:r>
            <a:r>
              <a:rPr sz="1650" i="1" spc="405" dirty="0">
                <a:latin typeface="Arial"/>
                <a:cs typeface="Arial"/>
              </a:rPr>
              <a:t>→∞</a:t>
            </a:r>
            <a:endParaRPr sz="1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87820" y="7378900"/>
            <a:ext cx="6254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425" dirty="0">
                <a:latin typeface="Calibri"/>
                <a:cs typeface="Calibri"/>
              </a:rPr>
              <a:t>f</a:t>
            </a:r>
            <a:r>
              <a:rPr sz="2400" i="1" spc="-285" dirty="0">
                <a:latin typeface="Calibri"/>
                <a:cs typeface="Calibri"/>
              </a:rPr>
              <a:t> </a:t>
            </a:r>
            <a:r>
              <a:rPr sz="2400" spc="165" dirty="0">
                <a:latin typeface="Calibri"/>
                <a:cs typeface="Calibri"/>
              </a:rPr>
              <a:t>(</a:t>
            </a:r>
            <a:r>
              <a:rPr sz="2400" i="1" spc="165" dirty="0">
                <a:latin typeface="Calibri"/>
                <a:cs typeface="Calibri"/>
              </a:rPr>
              <a:t>n</a:t>
            </a:r>
            <a:r>
              <a:rPr sz="2400" spc="16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800521" y="7824508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>
                <a:moveTo>
                  <a:pt x="0" y="0"/>
                </a:moveTo>
                <a:lnTo>
                  <a:pt x="599846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00622" y="7792514"/>
            <a:ext cx="60007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14" dirty="0">
                <a:latin typeface="Calibri"/>
                <a:cs typeface="Calibri"/>
              </a:rPr>
              <a:t>g</a:t>
            </a:r>
            <a:r>
              <a:rPr sz="2400" spc="114" dirty="0">
                <a:latin typeface="Calibri"/>
                <a:cs typeface="Calibri"/>
              </a:rPr>
              <a:t>(</a:t>
            </a:r>
            <a:r>
              <a:rPr sz="2400" i="1" spc="114" dirty="0">
                <a:latin typeface="Calibri"/>
                <a:cs typeface="Calibri"/>
              </a:rPr>
              <a:t>n</a:t>
            </a:r>
            <a:r>
              <a:rPr sz="2400" spc="114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21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2797" y="7612380"/>
            <a:ext cx="566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195" algn="l"/>
              </a:tabLst>
            </a:pPr>
            <a:r>
              <a:rPr sz="3600" spc="892" baseline="5787" dirty="0">
                <a:latin typeface="Calibri"/>
                <a:cs typeface="Calibri"/>
              </a:rPr>
              <a:t>=</a:t>
            </a:r>
            <a:r>
              <a:rPr sz="3600" baseline="5787" dirty="0">
                <a:latin typeface="Calibri"/>
                <a:cs typeface="Calibri"/>
              </a:rPr>
              <a:t>	</a:t>
            </a:r>
            <a:r>
              <a:rPr sz="3600" spc="-44" baseline="5787" dirty="0">
                <a:latin typeface="Calibri"/>
                <a:cs typeface="Calibri"/>
              </a:rPr>
              <a:t>0</a:t>
            </a:r>
            <a:r>
              <a:rPr sz="3600" spc="-390" baseline="5787" dirty="0">
                <a:latin typeface="Calibri"/>
                <a:cs typeface="Calibri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8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Ω(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Asymptotic</a:t>
            </a:r>
            <a:r>
              <a:rPr spc="30" dirty="0"/>
              <a:t> </a:t>
            </a:r>
            <a:r>
              <a:rPr dirty="0"/>
              <a:t>bounds</a:t>
            </a:r>
            <a:r>
              <a:rPr spc="30" dirty="0"/>
              <a:t> </a:t>
            </a:r>
            <a:r>
              <a:rPr spc="95" dirty="0"/>
              <a:t>for</a:t>
            </a:r>
            <a:r>
              <a:rPr spc="30" dirty="0"/>
              <a:t> </a:t>
            </a:r>
            <a:r>
              <a:rPr spc="-20" dirty="0"/>
              <a:t>some</a:t>
            </a:r>
            <a:r>
              <a:rPr spc="30" dirty="0"/>
              <a:t> </a:t>
            </a:r>
            <a:r>
              <a:rPr dirty="0"/>
              <a:t>common</a:t>
            </a:r>
            <a:r>
              <a:rPr spc="3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21740"/>
            <a:ext cx="1072324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  <a:tabLst>
                <a:tab pos="2104390" algn="l"/>
                <a:tab pos="6212840" algn="l"/>
                <a:tab pos="766127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 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1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 … 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19097" dirty="0">
                <a:latin typeface="Times New Roman"/>
                <a:cs typeface="Times New Roman"/>
              </a:rPr>
              <a:t>d</a:t>
            </a:r>
            <a:r>
              <a:rPr sz="2400" i="1" spc="-7" baseline="-19097" dirty="0">
                <a:latin typeface="Times New Roman"/>
                <a:cs typeface="Times New Roman"/>
              </a:rPr>
              <a:t> </a:t>
            </a:r>
            <a:r>
              <a:rPr sz="2400" i="1" spc="95" dirty="0">
                <a:latin typeface="Times New Roman"/>
                <a:cs typeface="Times New Roman"/>
              </a:rPr>
              <a:t>n</a:t>
            </a:r>
            <a:r>
              <a:rPr sz="2400" i="1" spc="142" baseline="24305" dirty="0">
                <a:latin typeface="Times New Roman"/>
                <a:cs typeface="Times New Roman"/>
              </a:rPr>
              <a:t>d</a:t>
            </a:r>
            <a:r>
              <a:rPr sz="2400" i="1" baseline="24305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19097" dirty="0">
                <a:latin typeface="Times New Roman"/>
                <a:cs typeface="Times New Roman"/>
              </a:rPr>
              <a:t>d</a:t>
            </a:r>
            <a:r>
              <a:rPr sz="2400" i="1" spc="209" baseline="-19097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0</a:t>
            </a:r>
            <a:r>
              <a:rPr sz="2400" dirty="0">
                <a:latin typeface="Lucida Sans Unicode"/>
                <a:cs typeface="Lucida Sans Unicode"/>
              </a:rPr>
              <a:t>.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Θ(</a:t>
            </a:r>
            <a:r>
              <a:rPr sz="2400" i="1" spc="120" dirty="0">
                <a:latin typeface="Times New Roman"/>
                <a:cs typeface="Times New Roman"/>
              </a:rPr>
              <a:t>n</a:t>
            </a:r>
            <a:r>
              <a:rPr sz="2400" i="1" spc="179" baseline="24305" dirty="0">
                <a:latin typeface="Times New Roman"/>
                <a:cs typeface="Times New Roman"/>
              </a:rPr>
              <a:t>d</a:t>
            </a:r>
            <a:r>
              <a:rPr sz="2400" i="1" spc="-359" baseline="243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3177540"/>
            <a:ext cx="178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Logarithms.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7248" y="3177540"/>
            <a:ext cx="7115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48454" algn="l"/>
                <a:tab pos="6503670" algn="l"/>
                <a:tab pos="6828155" algn="l"/>
              </a:tabLst>
            </a:pP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i="1" baseline="-19097" dirty="0">
                <a:latin typeface="Times New Roman"/>
                <a:cs typeface="Times New Roman"/>
              </a:rPr>
              <a:t>a</a:t>
            </a:r>
            <a:r>
              <a:rPr sz="2400" i="1" spc="44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Θ(log</a:t>
            </a:r>
            <a:r>
              <a:rPr sz="2400" i="1" baseline="-19097" dirty="0">
                <a:latin typeface="Times New Roman"/>
                <a:cs typeface="Times New Roman"/>
              </a:rPr>
              <a:t>b</a:t>
            </a:r>
            <a:r>
              <a:rPr sz="2400" i="1" spc="52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a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b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100" y="3649979"/>
            <a:ext cx="402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57495" y="4955540"/>
            <a:ext cx="66141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723004" algn="l"/>
                <a:tab pos="6078220" algn="l"/>
              </a:tabLst>
            </a:pP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i="1" baseline="-6944" dirty="0">
                <a:latin typeface="Times New Roman"/>
                <a:cs typeface="Times New Roman"/>
              </a:rPr>
              <a:t>a</a:t>
            </a:r>
            <a:r>
              <a:rPr sz="2400" i="1" spc="322" baseline="-694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i="1" spc="50" dirty="0">
                <a:latin typeface="Times New Roman"/>
                <a:cs typeface="Times New Roman"/>
              </a:rPr>
              <a:t>O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50" dirty="0">
                <a:latin typeface="Times New Roman"/>
                <a:cs typeface="Times New Roman"/>
              </a:rPr>
              <a:t>n</a:t>
            </a:r>
            <a:r>
              <a:rPr sz="2400" i="1" spc="75" baseline="24305" dirty="0">
                <a:latin typeface="Times New Roman"/>
                <a:cs typeface="Times New Roman"/>
              </a:rPr>
              <a:t>d</a:t>
            </a:r>
            <a:r>
              <a:rPr sz="2400" i="1" spc="-352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a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100" y="4848860"/>
            <a:ext cx="432879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Logarithms</a:t>
            </a:r>
            <a:r>
              <a:rPr sz="24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polynomials.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9404" y="6646433"/>
            <a:ext cx="360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i="1" spc="142" baseline="-16203" dirty="0">
                <a:latin typeface="Times New Roman"/>
                <a:cs typeface="Times New Roman"/>
              </a:rPr>
              <a:t>n</a:t>
            </a:r>
            <a:r>
              <a:rPr sz="1600" i="1" spc="95" dirty="0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6604" y="6733540"/>
            <a:ext cx="5737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46705" algn="l"/>
                <a:tab pos="5201920" algn="l"/>
              </a:tabLst>
            </a:pP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i="1" spc="50" dirty="0">
                <a:latin typeface="Times New Roman"/>
                <a:cs typeface="Times New Roman"/>
              </a:rPr>
              <a:t>O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50" dirty="0">
                <a:latin typeface="Times New Roman"/>
                <a:cs typeface="Times New Roman"/>
              </a:rPr>
              <a:t>r</a:t>
            </a:r>
            <a:r>
              <a:rPr sz="2400" i="1" spc="75" baseline="24305" dirty="0">
                <a:latin typeface="Times New Roman"/>
                <a:cs typeface="Times New Roman"/>
              </a:rPr>
              <a:t>n</a:t>
            </a:r>
            <a:r>
              <a:rPr sz="2400" i="1" spc="-352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&gt;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0100" y="8511540"/>
            <a:ext cx="153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Factorials.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8836" y="8422640"/>
            <a:ext cx="1884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i="1" baseline="-16203" dirty="0">
                <a:latin typeface="Times New Roman"/>
                <a:cs typeface="Times New Roman"/>
              </a:rPr>
              <a:t>n</a:t>
            </a:r>
            <a:r>
              <a:rPr sz="3600" baseline="-16203" dirty="0">
                <a:latin typeface="Times New Roman"/>
                <a:cs typeface="Times New Roman"/>
              </a:rPr>
              <a:t>!</a:t>
            </a:r>
            <a:r>
              <a:rPr sz="3600" spc="292" baseline="-16203" dirty="0">
                <a:latin typeface="Times New Roman"/>
                <a:cs typeface="Times New Roman"/>
              </a:rPr>
              <a:t> </a:t>
            </a:r>
            <a:r>
              <a:rPr sz="3600" baseline="-16203" dirty="0">
                <a:latin typeface="Lucida Sans Unicode"/>
                <a:cs typeface="Lucida Sans Unicode"/>
              </a:rPr>
              <a:t>is</a:t>
            </a:r>
            <a:r>
              <a:rPr sz="3600" spc="52" baseline="-16203" dirty="0">
                <a:latin typeface="Lucida Sans Unicode"/>
                <a:cs typeface="Lucida Sans Unicode"/>
              </a:rPr>
              <a:t> </a:t>
            </a:r>
            <a:r>
              <a:rPr sz="3600" baseline="-16203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Θ(</a:t>
            </a:r>
            <a:r>
              <a:rPr sz="1600" i="1" dirty="0">
                <a:latin typeface="Times New Roman"/>
                <a:cs typeface="Times New Roman"/>
              </a:rPr>
              <a:t>n</a:t>
            </a:r>
            <a:r>
              <a:rPr sz="1600" i="1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Times New Roman"/>
                <a:cs typeface="Times New Roman"/>
              </a:rPr>
              <a:t>)</a:t>
            </a:r>
            <a:r>
              <a:rPr sz="3600" spc="-37" baseline="-16203" dirty="0">
                <a:latin typeface="Lucida Sans Unicode"/>
                <a:cs typeface="Lucida Sans Unicode"/>
              </a:rPr>
              <a:t>.</a:t>
            </a:r>
            <a:endParaRPr sz="3600" baseline="-16203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0100" y="8983980"/>
            <a:ext cx="3212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16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latin typeface="Lucida Sans Unicode"/>
                <a:cs typeface="Lucida Sans Unicode"/>
              </a:rPr>
              <a:t>Stirling’s</a:t>
            </a:r>
            <a:r>
              <a:rPr sz="2400" spc="-114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formula: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7630" y="9330537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Lucida Sans Unicode"/>
                <a:cs typeface="Lucida Sans Unicode"/>
              </a:rPr>
              <a:t>22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5144" y="3739503"/>
            <a:ext cx="262001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4460">
              <a:lnSpc>
                <a:spcPct val="1063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need to specify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base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(assuming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it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75597" y="3625660"/>
            <a:ext cx="535940" cy="334645"/>
            <a:chOff x="4775597" y="3625660"/>
            <a:chExt cx="535940" cy="334645"/>
          </a:xfrm>
        </p:grpSpPr>
        <p:sp>
          <p:nvSpPr>
            <p:cNvPr id="18" name="object 18"/>
            <p:cNvSpPr/>
            <p:nvPr/>
          </p:nvSpPr>
          <p:spPr>
            <a:xfrm>
              <a:off x="4842666" y="3666911"/>
              <a:ext cx="455930" cy="280670"/>
            </a:xfrm>
            <a:custGeom>
              <a:avLst/>
              <a:gdLst/>
              <a:ahLst/>
              <a:cxnLst/>
              <a:rect l="l" t="t" r="r" b="b"/>
              <a:pathLst>
                <a:path w="455929" h="280670">
                  <a:moveTo>
                    <a:pt x="0" y="0"/>
                  </a:moveTo>
                  <a:lnTo>
                    <a:pt x="10817" y="6653"/>
                  </a:lnTo>
                  <a:lnTo>
                    <a:pt x="455575" y="280200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75597" y="3625660"/>
              <a:ext cx="135890" cy="116205"/>
            </a:xfrm>
            <a:custGeom>
              <a:avLst/>
              <a:gdLst/>
              <a:ahLst/>
              <a:cxnLst/>
              <a:rect l="l" t="t" r="r" b="b"/>
              <a:pathLst>
                <a:path w="135889" h="116204">
                  <a:moveTo>
                    <a:pt x="0" y="0"/>
                  </a:moveTo>
                  <a:lnTo>
                    <a:pt x="71912" y="115797"/>
                  </a:lnTo>
                  <a:lnTo>
                    <a:pt x="77886" y="47904"/>
                  </a:lnTo>
                  <a:lnTo>
                    <a:pt x="135785" y="119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722436" y="2266942"/>
            <a:ext cx="627380" cy="5270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3030">
              <a:lnSpc>
                <a:spcPts val="2380"/>
              </a:lnSpc>
              <a:spcBef>
                <a:spcPts val="114"/>
              </a:spcBef>
            </a:pPr>
            <a:r>
              <a:rPr sz="2250" spc="75" dirty="0">
                <a:latin typeface="Calibri"/>
                <a:cs typeface="Calibri"/>
              </a:rPr>
              <a:t>lim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ts val="1540"/>
              </a:lnSpc>
            </a:pPr>
            <a:r>
              <a:rPr sz="1550" i="1" spc="395" dirty="0">
                <a:latin typeface="Calibri"/>
                <a:cs typeface="Calibri"/>
              </a:rPr>
              <a:t>n</a:t>
            </a:r>
            <a:r>
              <a:rPr sz="1550" i="1" spc="395" dirty="0">
                <a:latin typeface="Arial"/>
                <a:cs typeface="Arial"/>
              </a:rPr>
              <a:t>→∞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1371" y="2072100"/>
            <a:ext cx="278320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250" i="1" dirty="0">
                <a:latin typeface="Calibri"/>
                <a:cs typeface="Calibri"/>
              </a:rPr>
              <a:t>a</a:t>
            </a:r>
            <a:r>
              <a:rPr sz="2325" baseline="-12544" dirty="0">
                <a:latin typeface="Roboto"/>
                <a:cs typeface="Roboto"/>
              </a:rPr>
              <a:t>0</a:t>
            </a:r>
            <a:r>
              <a:rPr sz="2325" spc="359" baseline="-12544" dirty="0">
                <a:latin typeface="Roboto"/>
                <a:cs typeface="Roboto"/>
              </a:rPr>
              <a:t> </a:t>
            </a:r>
            <a:r>
              <a:rPr sz="2250" spc="630" dirty="0">
                <a:latin typeface="Calibri"/>
                <a:cs typeface="Calibri"/>
              </a:rPr>
              <a:t>+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i="1" spc="120" dirty="0">
                <a:latin typeface="Calibri"/>
                <a:cs typeface="Calibri"/>
              </a:rPr>
              <a:t>a</a:t>
            </a:r>
            <a:r>
              <a:rPr sz="2325" spc="179" baseline="-12544" dirty="0">
                <a:latin typeface="Roboto"/>
                <a:cs typeface="Roboto"/>
              </a:rPr>
              <a:t>1</a:t>
            </a:r>
            <a:r>
              <a:rPr sz="2250" i="1" spc="120" dirty="0">
                <a:latin typeface="Calibri"/>
                <a:cs typeface="Calibri"/>
              </a:rPr>
              <a:t>n</a:t>
            </a:r>
            <a:r>
              <a:rPr sz="2250" i="1" dirty="0">
                <a:latin typeface="Calibri"/>
                <a:cs typeface="Calibri"/>
              </a:rPr>
              <a:t> </a:t>
            </a:r>
            <a:r>
              <a:rPr sz="2250" spc="630" dirty="0">
                <a:latin typeface="Calibri"/>
                <a:cs typeface="Calibri"/>
              </a:rPr>
              <a:t>+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i="1" spc="245" dirty="0">
                <a:latin typeface="Calibri"/>
                <a:cs typeface="Calibri"/>
              </a:rPr>
              <a:t>..</a:t>
            </a:r>
            <a:r>
              <a:rPr sz="2250" i="1" spc="-125" dirty="0">
                <a:latin typeface="Calibri"/>
                <a:cs typeface="Calibri"/>
              </a:rPr>
              <a:t> </a:t>
            </a:r>
            <a:r>
              <a:rPr sz="2250" i="1" spc="60" dirty="0">
                <a:latin typeface="Calibri"/>
                <a:cs typeface="Calibri"/>
              </a:rPr>
              <a:t>.</a:t>
            </a:r>
            <a:r>
              <a:rPr sz="2250" i="1" spc="5" dirty="0">
                <a:latin typeface="Calibri"/>
                <a:cs typeface="Calibri"/>
              </a:rPr>
              <a:t> </a:t>
            </a:r>
            <a:r>
              <a:rPr sz="2250" spc="630" dirty="0">
                <a:latin typeface="Calibri"/>
                <a:cs typeface="Calibri"/>
              </a:rPr>
              <a:t>+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i="1" spc="130" dirty="0">
                <a:latin typeface="Calibri"/>
                <a:cs typeface="Calibri"/>
              </a:rPr>
              <a:t>a</a:t>
            </a:r>
            <a:r>
              <a:rPr sz="2325" i="1" spc="195" baseline="-12544" dirty="0">
                <a:latin typeface="Calibri"/>
                <a:cs typeface="Calibri"/>
              </a:rPr>
              <a:t>d</a:t>
            </a:r>
            <a:r>
              <a:rPr sz="2250" i="1" spc="130" dirty="0">
                <a:latin typeface="Calibri"/>
                <a:cs typeface="Calibri"/>
              </a:rPr>
              <a:t>n</a:t>
            </a:r>
            <a:r>
              <a:rPr sz="2325" i="1" spc="195" baseline="28673" dirty="0">
                <a:latin typeface="Calibri"/>
                <a:cs typeface="Calibri"/>
              </a:rPr>
              <a:t>d</a:t>
            </a:r>
            <a:endParaRPr sz="2325" baseline="28673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99471" y="2495674"/>
            <a:ext cx="2721610" cy="0"/>
          </a:xfrm>
          <a:custGeom>
            <a:avLst/>
            <a:gdLst/>
            <a:ahLst/>
            <a:cxnLst/>
            <a:rect l="l" t="t" r="r" b="b"/>
            <a:pathLst>
              <a:path w="2721610">
                <a:moveTo>
                  <a:pt x="0" y="0"/>
                </a:moveTo>
                <a:lnTo>
                  <a:pt x="2721426" y="0"/>
                </a:lnTo>
              </a:path>
            </a:pathLst>
          </a:custGeom>
          <a:ln w="11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93981" y="2464675"/>
            <a:ext cx="19875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i="1" spc="145" dirty="0">
                <a:latin typeface="Calibri"/>
                <a:cs typeface="Calibri"/>
              </a:rPr>
              <a:t>n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66853" y="2467826"/>
            <a:ext cx="14541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85" dirty="0">
                <a:latin typeface="Calibri"/>
                <a:cs typeface="Calibri"/>
              </a:rPr>
              <a:t>d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64650" y="2266942"/>
            <a:ext cx="1447800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434340" algn="l"/>
                <a:tab pos="880744" algn="l"/>
                <a:tab pos="1264920" algn="l"/>
              </a:tabLst>
            </a:pPr>
            <a:r>
              <a:rPr sz="2250" spc="580" dirty="0">
                <a:latin typeface="Calibri"/>
                <a:cs typeface="Calibri"/>
              </a:rPr>
              <a:t>=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i="1" spc="60" dirty="0">
                <a:latin typeface="Calibri"/>
                <a:cs typeface="Calibri"/>
              </a:rPr>
              <a:t>a</a:t>
            </a:r>
            <a:r>
              <a:rPr sz="2325" i="1" spc="89" baseline="-12544" dirty="0">
                <a:latin typeface="Calibri"/>
                <a:cs typeface="Calibri"/>
              </a:rPr>
              <a:t>d</a:t>
            </a:r>
            <a:r>
              <a:rPr sz="2325" i="1" baseline="-12544" dirty="0">
                <a:latin typeface="Calibri"/>
                <a:cs typeface="Calibri"/>
              </a:rPr>
              <a:t>	</a:t>
            </a:r>
            <a:r>
              <a:rPr sz="2250" i="1" spc="580" dirty="0">
                <a:latin typeface="Calibri"/>
                <a:cs typeface="Calibri"/>
              </a:rPr>
              <a:t>&gt;</a:t>
            </a:r>
            <a:r>
              <a:rPr sz="2250" i="1" dirty="0">
                <a:latin typeface="Calibri"/>
                <a:cs typeface="Calibri"/>
              </a:rPr>
              <a:t>	</a:t>
            </a:r>
            <a:r>
              <a:rPr sz="2250" spc="-50" dirty="0">
                <a:latin typeface="Calibri"/>
                <a:cs typeface="Calibri"/>
              </a:rPr>
              <a:t>0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4700" y="6626859"/>
            <a:ext cx="460883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9200"/>
              </a:lnSpc>
              <a:spcBef>
                <a:spcPts val="100"/>
              </a:spcBef>
              <a:tabLst>
                <a:tab pos="15716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Exponentials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polynomials.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3525" i="1" spc="217" baseline="-18912" dirty="0">
                <a:latin typeface="Calibri"/>
                <a:cs typeface="Calibri"/>
              </a:rPr>
              <a:t>n</a:t>
            </a:r>
            <a:r>
              <a:rPr sz="2475" i="1" spc="217" baseline="1683" dirty="0">
                <a:latin typeface="Calibri"/>
                <a:cs typeface="Calibri"/>
              </a:rPr>
              <a:t>d</a:t>
            </a:r>
            <a:endParaRPr sz="2475" baseline="1683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46386" y="7752784"/>
            <a:ext cx="322580" cy="0"/>
          </a:xfrm>
          <a:custGeom>
            <a:avLst/>
            <a:gdLst/>
            <a:ahLst/>
            <a:cxnLst/>
            <a:rect l="l" t="t" r="r" b="b"/>
            <a:pathLst>
              <a:path w="322580">
                <a:moveTo>
                  <a:pt x="0" y="0"/>
                </a:moveTo>
                <a:lnTo>
                  <a:pt x="322185" y="0"/>
                </a:lnTo>
              </a:path>
            </a:pathLst>
          </a:custGeom>
          <a:ln w="12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32617" y="7694833"/>
            <a:ext cx="969644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19785" algn="l"/>
              </a:tabLst>
            </a:pPr>
            <a:r>
              <a:rPr sz="1650" i="1" spc="400" dirty="0">
                <a:latin typeface="Calibri"/>
                <a:cs typeface="Calibri"/>
              </a:rPr>
              <a:t>n</a:t>
            </a:r>
            <a:r>
              <a:rPr sz="1650" i="1" spc="400" dirty="0">
                <a:latin typeface="Arial"/>
                <a:cs typeface="Arial"/>
              </a:rPr>
              <a:t>→∞</a:t>
            </a:r>
            <a:r>
              <a:rPr sz="1650" i="1" dirty="0">
                <a:latin typeface="Arial"/>
                <a:cs typeface="Arial"/>
              </a:rPr>
              <a:t>	</a:t>
            </a:r>
            <a:r>
              <a:rPr sz="3525" i="1" spc="330" baseline="-4728" dirty="0">
                <a:latin typeface="Calibri"/>
                <a:cs typeface="Calibri"/>
              </a:rPr>
              <a:t>r</a:t>
            </a:r>
            <a:endParaRPr sz="3525" baseline="-4728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84928" y="7724202"/>
            <a:ext cx="174625" cy="2794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50" i="1" spc="270" dirty="0">
                <a:latin typeface="Calibri"/>
                <a:cs typeface="Calibri"/>
              </a:rPr>
              <a:t>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38092" y="7513585"/>
            <a:ext cx="180086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33805" algn="l"/>
                <a:tab pos="1636395" algn="l"/>
              </a:tabLst>
            </a:pPr>
            <a:r>
              <a:rPr sz="2350" spc="80" dirty="0">
                <a:latin typeface="Calibri"/>
                <a:cs typeface="Calibri"/>
              </a:rPr>
              <a:t>lim</a:t>
            </a:r>
            <a:r>
              <a:rPr sz="2350" dirty="0">
                <a:latin typeface="Calibri"/>
                <a:cs typeface="Calibri"/>
              </a:rPr>
              <a:t>	</a:t>
            </a:r>
            <a:r>
              <a:rPr sz="2350" spc="615" dirty="0">
                <a:latin typeface="Calibri"/>
                <a:cs typeface="Calibri"/>
              </a:rPr>
              <a:t>=</a:t>
            </a:r>
            <a:r>
              <a:rPr sz="2350" dirty="0">
                <a:latin typeface="Calibri"/>
                <a:cs typeface="Calibri"/>
              </a:rPr>
              <a:t>	</a:t>
            </a:r>
            <a:r>
              <a:rPr sz="2350" spc="-50" dirty="0">
                <a:latin typeface="Calibri"/>
                <a:cs typeface="Calibri"/>
              </a:rPr>
              <a:t>0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67231" y="8750856"/>
            <a:ext cx="27876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615" dirty="0">
                <a:latin typeface="Arial"/>
                <a:cs typeface="Arial"/>
              </a:rPr>
              <a:t>√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32915" y="9061132"/>
            <a:ext cx="518159" cy="0"/>
          </a:xfrm>
          <a:custGeom>
            <a:avLst/>
            <a:gdLst/>
            <a:ahLst/>
            <a:cxnLst/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226897" y="9016946"/>
            <a:ext cx="163703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7675" algn="l"/>
                <a:tab pos="1105535" algn="l"/>
              </a:tabLst>
            </a:pPr>
            <a:r>
              <a:rPr sz="2400" i="1" spc="-25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!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395" dirty="0">
                <a:latin typeface="Arial"/>
                <a:cs typeface="Arial"/>
              </a:rPr>
              <a:t>~</a:t>
            </a:r>
            <a:r>
              <a:rPr sz="2400" i="1" dirty="0">
                <a:latin typeface="Arial"/>
                <a:cs typeface="Arial"/>
              </a:rPr>
              <a:t>	</a:t>
            </a:r>
            <a:r>
              <a:rPr sz="2400" spc="60" dirty="0">
                <a:latin typeface="Calibri"/>
                <a:cs typeface="Calibri"/>
              </a:rPr>
              <a:t>2</a:t>
            </a:r>
            <a:r>
              <a:rPr sz="2400" i="1" spc="60" dirty="0">
                <a:latin typeface="Calibri"/>
                <a:cs typeface="Calibri"/>
              </a:rPr>
              <a:t>πn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06904" y="8762304"/>
            <a:ext cx="207645" cy="852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>
              <a:lnSpc>
                <a:spcPct val="113100"/>
              </a:lnSpc>
              <a:spcBef>
                <a:spcPts val="100"/>
              </a:spcBef>
            </a:pPr>
            <a:r>
              <a:rPr sz="2400" i="1" u="sng" spc="1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2400" i="1" spc="135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88972" y="8679837"/>
            <a:ext cx="643255" cy="389890"/>
          </a:xfrm>
          <a:prstGeom prst="rect">
            <a:avLst/>
          </a:prstGeom>
        </p:spPr>
        <p:txBody>
          <a:bodyPr vert="horz" wrap="square" lIns="0" tIns="316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90"/>
              </a:spcBef>
              <a:tabLst>
                <a:tab pos="448945" algn="l"/>
              </a:tabLst>
            </a:pPr>
            <a:r>
              <a:rPr sz="2400" dirty="0">
                <a:latin typeface="Arial MT"/>
                <a:cs typeface="Arial MT"/>
              </a:rPr>
              <a:t>	 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06802" y="8834035"/>
            <a:ext cx="17589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280" dirty="0">
                <a:latin typeface="Calibri"/>
                <a:cs typeface="Calibri"/>
              </a:rPr>
              <a:t>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37195" y="5719329"/>
            <a:ext cx="659765" cy="554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8745">
              <a:lnSpc>
                <a:spcPts val="2535"/>
              </a:lnSpc>
              <a:spcBef>
                <a:spcPts val="90"/>
              </a:spcBef>
            </a:pPr>
            <a:r>
              <a:rPr sz="2400" spc="75" dirty="0">
                <a:latin typeface="Calibri"/>
                <a:cs typeface="Calibri"/>
              </a:rPr>
              <a:t>lim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1635"/>
              </a:lnSpc>
            </a:pPr>
            <a:r>
              <a:rPr sz="1650" i="1" spc="400" dirty="0">
                <a:latin typeface="Calibri"/>
                <a:cs typeface="Calibri"/>
              </a:rPr>
              <a:t>n</a:t>
            </a:r>
            <a:r>
              <a:rPr sz="1650" i="1" spc="400" dirty="0">
                <a:latin typeface="Arial"/>
                <a:cs typeface="Arial"/>
              </a:rPr>
              <a:t>→∞</a:t>
            </a:r>
            <a:endParaRPr sz="1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33256" y="5513894"/>
            <a:ext cx="84836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00" spc="75" dirty="0">
                <a:latin typeface="Calibri"/>
                <a:cs typeface="Calibri"/>
              </a:rPr>
              <a:t>log</a:t>
            </a:r>
            <a:r>
              <a:rPr sz="2475" i="1" spc="112" baseline="-20202" dirty="0">
                <a:latin typeface="Calibri"/>
                <a:cs typeface="Calibri"/>
              </a:rPr>
              <a:t>a</a:t>
            </a:r>
            <a:r>
              <a:rPr sz="2475" i="1" spc="240" baseline="-20202" dirty="0">
                <a:latin typeface="Calibri"/>
                <a:cs typeface="Calibri"/>
              </a:rPr>
              <a:t> </a:t>
            </a:r>
            <a:r>
              <a:rPr sz="2400" i="1" spc="135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271357" y="5959806"/>
            <a:ext cx="772160" cy="0"/>
          </a:xfrm>
          <a:custGeom>
            <a:avLst/>
            <a:gdLst/>
            <a:ahLst/>
            <a:cxnLst/>
            <a:rect l="l" t="t" r="r" b="b"/>
            <a:pathLst>
              <a:path w="772160">
                <a:moveTo>
                  <a:pt x="0" y="0"/>
                </a:moveTo>
                <a:lnTo>
                  <a:pt x="771753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82684" y="5927812"/>
            <a:ext cx="20764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i="1" spc="135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64955" y="5931134"/>
            <a:ext cx="151765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85" dirty="0">
                <a:latin typeface="Calibri"/>
                <a:cs typeface="Calibri"/>
              </a:rPr>
              <a:t>d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35540" y="5719329"/>
            <a:ext cx="58229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7195" algn="l"/>
              </a:tabLst>
            </a:pPr>
            <a:r>
              <a:rPr sz="2400" spc="59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585604" y="4075525"/>
            <a:ext cx="772160" cy="0"/>
          </a:xfrm>
          <a:custGeom>
            <a:avLst/>
            <a:gdLst/>
            <a:ahLst/>
            <a:cxnLst/>
            <a:rect l="l" t="t" r="r" b="b"/>
            <a:pathLst>
              <a:path w="772160">
                <a:moveTo>
                  <a:pt x="0" y="0"/>
                </a:moveTo>
                <a:lnTo>
                  <a:pt x="772058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534803" y="3629612"/>
            <a:ext cx="1777364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586865" algn="l"/>
              </a:tabLst>
            </a:pPr>
            <a:r>
              <a:rPr sz="2400" spc="75" dirty="0">
                <a:latin typeface="Calibri"/>
                <a:cs typeface="Calibri"/>
              </a:rPr>
              <a:t>log</a:t>
            </a:r>
            <a:r>
              <a:rPr sz="2475" i="1" spc="112" baseline="-20202" dirty="0">
                <a:latin typeface="Calibri"/>
                <a:cs typeface="Calibri"/>
              </a:rPr>
              <a:t>a</a:t>
            </a:r>
            <a:r>
              <a:rPr sz="2475" i="1" spc="225" baseline="-20202" dirty="0">
                <a:latin typeface="Calibri"/>
                <a:cs typeface="Calibri"/>
              </a:rPr>
              <a:t> </a:t>
            </a:r>
            <a:r>
              <a:rPr sz="2400" i="1" spc="185" dirty="0">
                <a:latin typeface="Calibri"/>
                <a:cs typeface="Calibri"/>
              </a:rPr>
              <a:t>n</a:t>
            </a:r>
            <a:r>
              <a:rPr sz="2400" i="1" spc="409" dirty="0">
                <a:latin typeface="Calibri"/>
                <a:cs typeface="Calibri"/>
              </a:rPr>
              <a:t> </a:t>
            </a:r>
            <a:r>
              <a:rPr sz="3600" spc="892" baseline="-37037" dirty="0">
                <a:latin typeface="Calibri"/>
                <a:cs typeface="Calibri"/>
              </a:rPr>
              <a:t>=</a:t>
            </a:r>
            <a:r>
              <a:rPr sz="3600" baseline="-37037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835588" y="4075525"/>
            <a:ext cx="725170" cy="0"/>
          </a:xfrm>
          <a:custGeom>
            <a:avLst/>
            <a:gdLst/>
            <a:ahLst/>
            <a:cxnLst/>
            <a:rect l="l" t="t" r="r" b="b"/>
            <a:pathLst>
              <a:path w="725170">
                <a:moveTo>
                  <a:pt x="0" y="0"/>
                </a:moveTo>
                <a:lnTo>
                  <a:pt x="725119" y="0"/>
                </a:lnTo>
              </a:path>
            </a:pathLst>
          </a:custGeom>
          <a:ln w="121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47300" y="4043531"/>
            <a:ext cx="206438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87780" algn="l"/>
              </a:tabLst>
            </a:pPr>
            <a:r>
              <a:rPr sz="2400" dirty="0">
                <a:latin typeface="Calibri"/>
                <a:cs typeface="Calibri"/>
              </a:rPr>
              <a:t>log</a:t>
            </a:r>
            <a:r>
              <a:rPr sz="2475" i="1" baseline="-20202" dirty="0">
                <a:latin typeface="Calibri"/>
                <a:cs typeface="Calibri"/>
              </a:rPr>
              <a:t>b</a:t>
            </a:r>
            <a:r>
              <a:rPr sz="2475" i="1" spc="397" baseline="-20202" dirty="0">
                <a:latin typeface="Calibri"/>
                <a:cs typeface="Calibri"/>
              </a:rPr>
              <a:t> </a:t>
            </a:r>
            <a:r>
              <a:rPr sz="2400" i="1" spc="135" dirty="0">
                <a:latin typeface="Calibri"/>
                <a:cs typeface="Calibri"/>
              </a:rPr>
              <a:t>n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log</a:t>
            </a:r>
            <a:r>
              <a:rPr sz="2475" i="1" baseline="-20202" dirty="0">
                <a:latin typeface="Calibri"/>
                <a:cs typeface="Calibri"/>
              </a:rPr>
              <a:t>b</a:t>
            </a:r>
            <a:r>
              <a:rPr sz="2475" i="1" spc="397" baseline="-20202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</a:t>
            </a:r>
            <a:r>
              <a:rPr spc="150" dirty="0"/>
              <a:t> </a:t>
            </a:r>
            <a:r>
              <a:rPr spc="325" dirty="0"/>
              <a:t>O</a:t>
            </a:r>
            <a:r>
              <a:rPr spc="155" dirty="0"/>
              <a:t> </a:t>
            </a:r>
            <a:r>
              <a:rPr dirty="0"/>
              <a:t>notation</a:t>
            </a:r>
            <a:r>
              <a:rPr spc="155" dirty="0"/>
              <a:t> </a:t>
            </a:r>
            <a:r>
              <a:rPr spc="50" dirty="0"/>
              <a:t>with</a:t>
            </a:r>
            <a:r>
              <a:rPr spc="155" dirty="0"/>
              <a:t> </a:t>
            </a:r>
            <a:r>
              <a:rPr dirty="0"/>
              <a:t>multiple</a:t>
            </a:r>
            <a:r>
              <a:rPr spc="15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600" y="1221740"/>
            <a:ext cx="10928985" cy="485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467359">
              <a:lnSpc>
                <a:spcPct val="131900"/>
              </a:lnSpc>
              <a:spcBef>
                <a:spcPts val="100"/>
              </a:spcBef>
              <a:tabLst>
                <a:tab pos="1370965" algn="l"/>
                <a:tab pos="2455545" algn="l"/>
                <a:tab pos="3617595" algn="l"/>
                <a:tab pos="4612640" algn="l"/>
                <a:tab pos="4932680" algn="l"/>
                <a:tab pos="6379845" algn="l"/>
                <a:tab pos="7645400" algn="l"/>
                <a:tab pos="7964805" algn="l"/>
                <a:tab pos="9095740" algn="l"/>
                <a:tab pos="9415780" algn="l"/>
                <a:tab pos="1020381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))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127" baseline="-19097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254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·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509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m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37" baseline="-19097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615"/>
              </a:lnSpc>
              <a:tabLst>
                <a:tab pos="7169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32</a:t>
            </a:r>
            <a:r>
              <a:rPr sz="2400" i="1" dirty="0">
                <a:latin typeface="Times New Roman"/>
                <a:cs typeface="Times New Roman"/>
              </a:rPr>
              <a:t>mn</a:t>
            </a:r>
            <a:r>
              <a:rPr sz="2400" baseline="27777" dirty="0">
                <a:latin typeface="Times New Roman"/>
                <a:cs typeface="Times New Roman"/>
              </a:rPr>
              <a:t>2</a:t>
            </a:r>
            <a:r>
              <a:rPr sz="2400" spc="277" baseline="2777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17</a:t>
            </a:r>
            <a:r>
              <a:rPr sz="2400" i="1" dirty="0">
                <a:latin typeface="Times New Roman"/>
                <a:cs typeface="Times New Roman"/>
              </a:rPr>
              <a:t>mn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32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27777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mn</a:t>
            </a:r>
            <a:r>
              <a:rPr sz="2400" baseline="27777" dirty="0">
                <a:latin typeface="Times New Roman"/>
                <a:cs typeface="Times New Roman"/>
              </a:rPr>
              <a:t>2</a:t>
            </a:r>
            <a:r>
              <a:rPr sz="2400" spc="270" baseline="2777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+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7777" dirty="0">
                <a:latin typeface="Times New Roman"/>
                <a:cs typeface="Times New Roman"/>
              </a:rPr>
              <a:t>3</a:t>
            </a:r>
            <a:r>
              <a:rPr sz="2400" spc="6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mn</a:t>
            </a:r>
            <a:r>
              <a:rPr sz="2400" spc="-15" baseline="27777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800"/>
              </a:lnSpc>
              <a:tabLst>
                <a:tab pos="9358630" algn="l"/>
              </a:tabLst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7777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precondition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implies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f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spc="6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neither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7777" dirty="0">
                <a:latin typeface="Times New Roman"/>
                <a:cs typeface="Times New Roman"/>
              </a:rPr>
              <a:t>3</a:t>
            </a:r>
            <a:r>
              <a:rPr sz="2400" spc="-1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nor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mn</a:t>
            </a:r>
            <a:r>
              <a:rPr sz="2400" spc="-15" baseline="27777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76200" marR="17780">
              <a:lnSpc>
                <a:spcPct val="131900"/>
              </a:lnSpc>
              <a:spcBef>
                <a:spcPts val="3515"/>
              </a:spcBef>
              <a:tabLst>
                <a:tab pos="239395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worst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-75" dirty="0">
                <a:latin typeface="Lucida Sans Unicode"/>
                <a:cs typeface="Lucida Sans Unicode"/>
              </a:rPr>
              <a:t>breadth-</a:t>
            </a:r>
            <a:r>
              <a:rPr sz="2400" spc="-20" dirty="0">
                <a:latin typeface="Lucida Sans Unicode"/>
                <a:cs typeface="Lucida Sans Unicode"/>
              </a:rPr>
              <a:t>first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 n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time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shortest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digraph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edges.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7630" y="9330537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Lucida Sans Unicode"/>
                <a:cs typeface="Lucida Sans Unicode"/>
              </a:rPr>
              <a:t>23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Efficient</a:t>
            </a:r>
            <a:r>
              <a:rPr spc="-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7691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906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Implement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baseline="1736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0000" y="2120900"/>
            <a:ext cx="8941435" cy="7080884"/>
            <a:chOff x="1270000" y="2120900"/>
            <a:chExt cx="8941435" cy="7080884"/>
          </a:xfrm>
        </p:grpSpPr>
        <p:sp>
          <p:nvSpPr>
            <p:cNvPr id="6" name="object 6"/>
            <p:cNvSpPr/>
            <p:nvPr/>
          </p:nvSpPr>
          <p:spPr>
            <a:xfrm>
              <a:off x="1270000" y="2120900"/>
              <a:ext cx="8941435" cy="7080884"/>
            </a:xfrm>
            <a:custGeom>
              <a:avLst/>
              <a:gdLst/>
              <a:ahLst/>
              <a:cxnLst/>
              <a:rect l="l" t="t" r="r" b="b"/>
              <a:pathLst>
                <a:path w="8941435" h="7080884">
                  <a:moveTo>
                    <a:pt x="8941155" y="0"/>
                  </a:moveTo>
                  <a:lnTo>
                    <a:pt x="0" y="0"/>
                  </a:lnTo>
                  <a:lnTo>
                    <a:pt x="0" y="7080448"/>
                  </a:lnTo>
                  <a:lnTo>
                    <a:pt x="8941155" y="7080448"/>
                  </a:lnTo>
                  <a:lnTo>
                    <a:pt x="894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62100" y="2944501"/>
              <a:ext cx="8356600" cy="12700"/>
            </a:xfrm>
            <a:custGeom>
              <a:avLst/>
              <a:gdLst/>
              <a:ahLst/>
              <a:cxnLst/>
              <a:rect l="l" t="t" r="r" b="b"/>
              <a:pathLst>
                <a:path w="8356600" h="12700">
                  <a:moveTo>
                    <a:pt x="0" y="0"/>
                  </a:moveTo>
                  <a:lnTo>
                    <a:pt x="8356600" y="0"/>
                  </a:lnTo>
                </a:path>
                <a:path w="8356600" h="12700">
                  <a:moveTo>
                    <a:pt x="0" y="12700"/>
                  </a:moveTo>
                  <a:lnTo>
                    <a:pt x="736600" y="127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70000" y="2120900"/>
            <a:ext cx="8941435" cy="708088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2100" marR="861060">
              <a:lnSpc>
                <a:spcPts val="5500"/>
              </a:lnSpc>
              <a:spcBef>
                <a:spcPts val="200"/>
              </a:spcBef>
              <a:tabLst>
                <a:tab pos="1737360" algn="l"/>
              </a:tabLst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G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ALE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–S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HAPLEY</a:t>
            </a:r>
            <a:r>
              <a:rPr sz="1900" spc="9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preference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lists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for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hospitals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students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NITIALIZE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 matching.</a:t>
            </a:r>
            <a:endParaRPr sz="24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600"/>
              </a:spcBef>
              <a:tabLst>
                <a:tab pos="128714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W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HILE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(some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hospital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unmatched)</a:t>
            </a:r>
            <a:endParaRPr sz="2400">
              <a:latin typeface="Times New Roman"/>
              <a:cs typeface="Times New Roman"/>
            </a:endParaRPr>
          </a:p>
          <a:p>
            <a:pPr marL="596900" marR="948690">
              <a:lnSpc>
                <a:spcPts val="4220"/>
              </a:lnSpc>
              <a:spcBef>
                <a:spcPts val="240"/>
              </a:spcBef>
              <a:tabLst>
                <a:tab pos="867410" algn="l"/>
                <a:tab pos="986155" algn="l"/>
              </a:tabLst>
            </a:pPr>
            <a:r>
              <a:rPr sz="2400" i="1" spc="-50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first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’s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proposed. </a:t>
            </a: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unmatched)</a:t>
            </a:r>
            <a:endParaRPr sz="2400">
              <a:latin typeface="Times New Roman"/>
              <a:cs typeface="Times New Roman"/>
            </a:endParaRPr>
          </a:p>
          <a:p>
            <a:pPr marL="977900">
              <a:lnSpc>
                <a:spcPct val="100000"/>
              </a:lnSpc>
              <a:spcBef>
                <a:spcPts val="855"/>
              </a:spcBef>
            </a:pP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977900" marR="3244850" indent="-342900">
              <a:lnSpc>
                <a:spcPts val="4220"/>
              </a:lnSpc>
              <a:spcBef>
                <a:spcPts val="245"/>
              </a:spcBef>
              <a:tabLst>
                <a:tab pos="1720214" algn="l"/>
              </a:tabLst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900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prefers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partner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640" dirty="0">
                <a:latin typeface="Times New Roman"/>
                <a:cs typeface="Times New Roman"/>
              </a:rPr>
              <a:t>h</a:t>
            </a:r>
            <a:r>
              <a:rPr sz="2400" spc="-640" dirty="0">
                <a:latin typeface="Symbol"/>
                <a:cs typeface="Symbol"/>
              </a:rPr>
              <a:t>ʹ</a:t>
            </a:r>
            <a:r>
              <a:rPr sz="2400" spc="-64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 Replace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-459" dirty="0">
                <a:latin typeface="Times New Roman"/>
                <a:cs typeface="Times New Roman"/>
              </a:rPr>
              <a:t>h</a:t>
            </a:r>
            <a:r>
              <a:rPr sz="2400" spc="-459" dirty="0">
                <a:latin typeface="Symbol"/>
                <a:cs typeface="Symbol"/>
              </a:rPr>
              <a:t>ʹ</a:t>
            </a:r>
            <a:r>
              <a:rPr sz="2400" spc="-459" dirty="0">
                <a:latin typeface="Times New Roman"/>
                <a:cs typeface="Times New Roman"/>
              </a:rPr>
              <a:t>–</a:t>
            </a:r>
            <a:r>
              <a:rPr sz="2400" i="1" spc="-459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969"/>
              </a:spcBef>
            </a:pPr>
            <a:r>
              <a:rPr sz="2400" cap="small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977900">
              <a:lnSpc>
                <a:spcPct val="100000"/>
              </a:lnSpc>
              <a:spcBef>
                <a:spcPts val="122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rejects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60"/>
              </a:spcBef>
            </a:pPr>
            <a:endParaRPr sz="24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spc="11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62100" y="8894649"/>
            <a:ext cx="8356600" cy="12700"/>
          </a:xfrm>
          <a:custGeom>
            <a:avLst/>
            <a:gdLst/>
            <a:ahLst/>
            <a:cxnLst/>
            <a:rect l="l" t="t" r="r" b="b"/>
            <a:pathLst>
              <a:path w="8356600" h="12700">
                <a:moveTo>
                  <a:pt x="0" y="0"/>
                </a:moveTo>
                <a:lnTo>
                  <a:pt x="8356600" y="0"/>
                </a:lnTo>
              </a:path>
              <a:path w="8356600" h="12700">
                <a:moveTo>
                  <a:pt x="0" y="12700"/>
                </a:moveTo>
                <a:lnTo>
                  <a:pt x="736600" y="127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460051" y="3581400"/>
            <a:ext cx="4055110" cy="492759"/>
            <a:chOff x="2460051" y="3581400"/>
            <a:chExt cx="4055110" cy="492759"/>
          </a:xfrm>
        </p:grpSpPr>
        <p:sp>
          <p:nvSpPr>
            <p:cNvPr id="11" name="object 11"/>
            <p:cNvSpPr/>
            <p:nvPr/>
          </p:nvSpPr>
          <p:spPr>
            <a:xfrm>
              <a:off x="2472751" y="3594100"/>
              <a:ext cx="4029710" cy="467359"/>
            </a:xfrm>
            <a:custGeom>
              <a:avLst/>
              <a:gdLst/>
              <a:ahLst/>
              <a:cxnLst/>
              <a:rect l="l" t="t" r="r" b="b"/>
              <a:pathLst>
                <a:path w="4029709" h="467360">
                  <a:moveTo>
                    <a:pt x="3738438" y="0"/>
                  </a:moveTo>
                  <a:lnTo>
                    <a:pt x="291211" y="0"/>
                  </a:lnTo>
                  <a:lnTo>
                    <a:pt x="234243" y="198"/>
                  </a:lnTo>
                  <a:lnTo>
                    <a:pt x="188302" y="1584"/>
                  </a:lnTo>
                  <a:lnTo>
                    <a:pt x="123197" y="12673"/>
                  </a:lnTo>
                  <a:lnTo>
                    <a:pt x="86887" y="30606"/>
                  </a:lnTo>
                  <a:lnTo>
                    <a:pt x="55683" y="55683"/>
                  </a:lnTo>
                  <a:lnTo>
                    <a:pt x="30606" y="86887"/>
                  </a:lnTo>
                  <a:lnTo>
                    <a:pt x="12673" y="123197"/>
                  </a:lnTo>
                  <a:lnTo>
                    <a:pt x="2676" y="172718"/>
                  </a:lnTo>
                  <a:lnTo>
                    <a:pt x="0" y="233368"/>
                  </a:lnTo>
                  <a:lnTo>
                    <a:pt x="607" y="262853"/>
                  </a:lnTo>
                  <a:lnTo>
                    <a:pt x="6575" y="322400"/>
                  </a:lnTo>
                  <a:lnTo>
                    <a:pt x="30606" y="379849"/>
                  </a:lnTo>
                  <a:lnTo>
                    <a:pt x="55683" y="411053"/>
                  </a:lnTo>
                  <a:lnTo>
                    <a:pt x="86887" y="436130"/>
                  </a:lnTo>
                  <a:lnTo>
                    <a:pt x="123197" y="454064"/>
                  </a:lnTo>
                  <a:lnTo>
                    <a:pt x="188302" y="465152"/>
                  </a:lnTo>
                  <a:lnTo>
                    <a:pt x="234243" y="466538"/>
                  </a:lnTo>
                  <a:lnTo>
                    <a:pt x="291211" y="466736"/>
                  </a:lnTo>
                  <a:lnTo>
                    <a:pt x="3738438" y="466736"/>
                  </a:lnTo>
                  <a:lnTo>
                    <a:pt x="3795405" y="466538"/>
                  </a:lnTo>
                  <a:lnTo>
                    <a:pt x="3841346" y="465152"/>
                  </a:lnTo>
                  <a:lnTo>
                    <a:pt x="3906451" y="454064"/>
                  </a:lnTo>
                  <a:lnTo>
                    <a:pt x="3942761" y="436130"/>
                  </a:lnTo>
                  <a:lnTo>
                    <a:pt x="3973965" y="411053"/>
                  </a:lnTo>
                  <a:lnTo>
                    <a:pt x="3999042" y="379849"/>
                  </a:lnTo>
                  <a:lnTo>
                    <a:pt x="4016975" y="343538"/>
                  </a:lnTo>
                  <a:lnTo>
                    <a:pt x="4026972" y="294018"/>
                  </a:lnTo>
                  <a:lnTo>
                    <a:pt x="4029649" y="233368"/>
                  </a:lnTo>
                  <a:lnTo>
                    <a:pt x="4029041" y="203883"/>
                  </a:lnTo>
                  <a:lnTo>
                    <a:pt x="4023073" y="144336"/>
                  </a:lnTo>
                  <a:lnTo>
                    <a:pt x="3999042" y="86887"/>
                  </a:lnTo>
                  <a:lnTo>
                    <a:pt x="3973965" y="55683"/>
                  </a:lnTo>
                  <a:lnTo>
                    <a:pt x="3942761" y="30606"/>
                  </a:lnTo>
                  <a:lnTo>
                    <a:pt x="3906451" y="12673"/>
                  </a:lnTo>
                  <a:lnTo>
                    <a:pt x="3841346" y="1584"/>
                  </a:lnTo>
                  <a:lnTo>
                    <a:pt x="3795405" y="198"/>
                  </a:lnTo>
                  <a:lnTo>
                    <a:pt x="3738438" y="0"/>
                  </a:lnTo>
                  <a:close/>
                </a:path>
              </a:pathLst>
            </a:custGeom>
            <a:solidFill>
              <a:srgbClr val="CCD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2751" y="3594100"/>
              <a:ext cx="4029710" cy="467359"/>
            </a:xfrm>
            <a:custGeom>
              <a:avLst/>
              <a:gdLst/>
              <a:ahLst/>
              <a:cxnLst/>
              <a:rect l="l" t="t" r="r" b="b"/>
              <a:pathLst>
                <a:path w="4029709" h="467360">
                  <a:moveTo>
                    <a:pt x="291210" y="0"/>
                  </a:moveTo>
                  <a:lnTo>
                    <a:pt x="3738438" y="0"/>
                  </a:lnTo>
                  <a:lnTo>
                    <a:pt x="3795405" y="198"/>
                  </a:lnTo>
                  <a:lnTo>
                    <a:pt x="3841346" y="1584"/>
                  </a:lnTo>
                  <a:lnTo>
                    <a:pt x="3906451" y="12672"/>
                  </a:lnTo>
                  <a:lnTo>
                    <a:pt x="3942761" y="30606"/>
                  </a:lnTo>
                  <a:lnTo>
                    <a:pt x="3973965" y="55683"/>
                  </a:lnTo>
                  <a:lnTo>
                    <a:pt x="3999042" y="86887"/>
                  </a:lnTo>
                  <a:lnTo>
                    <a:pt x="4016975" y="123197"/>
                  </a:lnTo>
                  <a:lnTo>
                    <a:pt x="4026972" y="172718"/>
                  </a:lnTo>
                  <a:lnTo>
                    <a:pt x="4029649" y="233368"/>
                  </a:lnTo>
                  <a:lnTo>
                    <a:pt x="4029041" y="262853"/>
                  </a:lnTo>
                  <a:lnTo>
                    <a:pt x="4023073" y="322400"/>
                  </a:lnTo>
                  <a:lnTo>
                    <a:pt x="3999042" y="379849"/>
                  </a:lnTo>
                  <a:lnTo>
                    <a:pt x="3973965" y="411052"/>
                  </a:lnTo>
                  <a:lnTo>
                    <a:pt x="3942761" y="436130"/>
                  </a:lnTo>
                  <a:lnTo>
                    <a:pt x="3906451" y="454063"/>
                  </a:lnTo>
                  <a:lnTo>
                    <a:pt x="3841346" y="465152"/>
                  </a:lnTo>
                  <a:lnTo>
                    <a:pt x="3795405" y="466538"/>
                  </a:lnTo>
                  <a:lnTo>
                    <a:pt x="3738438" y="466736"/>
                  </a:lnTo>
                  <a:lnTo>
                    <a:pt x="291210" y="466736"/>
                  </a:lnTo>
                  <a:lnTo>
                    <a:pt x="234243" y="466538"/>
                  </a:lnTo>
                  <a:lnTo>
                    <a:pt x="188302" y="465152"/>
                  </a:lnTo>
                  <a:lnTo>
                    <a:pt x="123197" y="454063"/>
                  </a:lnTo>
                  <a:lnTo>
                    <a:pt x="86887" y="436130"/>
                  </a:lnTo>
                  <a:lnTo>
                    <a:pt x="55683" y="411052"/>
                  </a:lnTo>
                  <a:lnTo>
                    <a:pt x="30606" y="379849"/>
                  </a:lnTo>
                  <a:lnTo>
                    <a:pt x="12672" y="343539"/>
                  </a:lnTo>
                  <a:lnTo>
                    <a:pt x="2676" y="294018"/>
                  </a:lnTo>
                  <a:lnTo>
                    <a:pt x="0" y="233368"/>
                  </a:lnTo>
                  <a:lnTo>
                    <a:pt x="607" y="203883"/>
                  </a:lnTo>
                  <a:lnTo>
                    <a:pt x="6575" y="144336"/>
                  </a:lnTo>
                  <a:lnTo>
                    <a:pt x="30606" y="86887"/>
                  </a:lnTo>
                  <a:lnTo>
                    <a:pt x="55683" y="55683"/>
                  </a:lnTo>
                  <a:lnTo>
                    <a:pt x="86887" y="30606"/>
                  </a:lnTo>
                  <a:lnTo>
                    <a:pt x="123197" y="12672"/>
                  </a:lnTo>
                  <a:lnTo>
                    <a:pt x="188302" y="1584"/>
                  </a:lnTo>
                  <a:lnTo>
                    <a:pt x="234243" y="198"/>
                  </a:lnTo>
                  <a:lnTo>
                    <a:pt x="29121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879549" y="5704613"/>
            <a:ext cx="4220210" cy="492759"/>
            <a:chOff x="2879549" y="5704613"/>
            <a:chExt cx="4220210" cy="492759"/>
          </a:xfrm>
        </p:grpSpPr>
        <p:sp>
          <p:nvSpPr>
            <p:cNvPr id="14" name="object 14"/>
            <p:cNvSpPr/>
            <p:nvPr/>
          </p:nvSpPr>
          <p:spPr>
            <a:xfrm>
              <a:off x="2892249" y="5717313"/>
              <a:ext cx="4194810" cy="467359"/>
            </a:xfrm>
            <a:custGeom>
              <a:avLst/>
              <a:gdLst/>
              <a:ahLst/>
              <a:cxnLst/>
              <a:rect l="l" t="t" r="r" b="b"/>
              <a:pathLst>
                <a:path w="4194809" h="467360">
                  <a:moveTo>
                    <a:pt x="3903421" y="0"/>
                  </a:moveTo>
                  <a:lnTo>
                    <a:pt x="291209" y="0"/>
                  </a:lnTo>
                  <a:lnTo>
                    <a:pt x="234242" y="198"/>
                  </a:lnTo>
                  <a:lnTo>
                    <a:pt x="188301" y="1584"/>
                  </a:lnTo>
                  <a:lnTo>
                    <a:pt x="123196" y="12672"/>
                  </a:lnTo>
                  <a:lnTo>
                    <a:pt x="86886" y="30605"/>
                  </a:lnTo>
                  <a:lnTo>
                    <a:pt x="55683" y="55683"/>
                  </a:lnTo>
                  <a:lnTo>
                    <a:pt x="30605" y="86886"/>
                  </a:lnTo>
                  <a:lnTo>
                    <a:pt x="12672" y="123196"/>
                  </a:lnTo>
                  <a:lnTo>
                    <a:pt x="2676" y="172717"/>
                  </a:lnTo>
                  <a:lnTo>
                    <a:pt x="0" y="233367"/>
                  </a:lnTo>
                  <a:lnTo>
                    <a:pt x="607" y="262853"/>
                  </a:lnTo>
                  <a:lnTo>
                    <a:pt x="6575" y="322400"/>
                  </a:lnTo>
                  <a:lnTo>
                    <a:pt x="30605" y="379849"/>
                  </a:lnTo>
                  <a:lnTo>
                    <a:pt x="55683" y="411052"/>
                  </a:lnTo>
                  <a:lnTo>
                    <a:pt x="86886" y="436129"/>
                  </a:lnTo>
                  <a:lnTo>
                    <a:pt x="123196" y="454063"/>
                  </a:lnTo>
                  <a:lnTo>
                    <a:pt x="188301" y="465152"/>
                  </a:lnTo>
                  <a:lnTo>
                    <a:pt x="234242" y="466538"/>
                  </a:lnTo>
                  <a:lnTo>
                    <a:pt x="291209" y="466736"/>
                  </a:lnTo>
                  <a:lnTo>
                    <a:pt x="3903421" y="466736"/>
                  </a:lnTo>
                  <a:lnTo>
                    <a:pt x="3960388" y="466538"/>
                  </a:lnTo>
                  <a:lnTo>
                    <a:pt x="4006329" y="465152"/>
                  </a:lnTo>
                  <a:lnTo>
                    <a:pt x="4071434" y="454063"/>
                  </a:lnTo>
                  <a:lnTo>
                    <a:pt x="4107744" y="436129"/>
                  </a:lnTo>
                  <a:lnTo>
                    <a:pt x="4138947" y="411052"/>
                  </a:lnTo>
                  <a:lnTo>
                    <a:pt x="4164025" y="379849"/>
                  </a:lnTo>
                  <a:lnTo>
                    <a:pt x="4181958" y="343538"/>
                  </a:lnTo>
                  <a:lnTo>
                    <a:pt x="4191954" y="294017"/>
                  </a:lnTo>
                  <a:lnTo>
                    <a:pt x="4194630" y="233367"/>
                  </a:lnTo>
                  <a:lnTo>
                    <a:pt x="4194023" y="203882"/>
                  </a:lnTo>
                  <a:lnTo>
                    <a:pt x="4188055" y="144335"/>
                  </a:lnTo>
                  <a:lnTo>
                    <a:pt x="4164025" y="86886"/>
                  </a:lnTo>
                  <a:lnTo>
                    <a:pt x="4138947" y="55683"/>
                  </a:lnTo>
                  <a:lnTo>
                    <a:pt x="4107744" y="30605"/>
                  </a:lnTo>
                  <a:lnTo>
                    <a:pt x="4071434" y="12672"/>
                  </a:lnTo>
                  <a:lnTo>
                    <a:pt x="4006329" y="1584"/>
                  </a:lnTo>
                  <a:lnTo>
                    <a:pt x="3960388" y="198"/>
                  </a:lnTo>
                  <a:lnTo>
                    <a:pt x="3903421" y="0"/>
                  </a:lnTo>
                  <a:close/>
                </a:path>
              </a:pathLst>
            </a:custGeom>
            <a:solidFill>
              <a:srgbClr val="CCD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92249" y="5717313"/>
              <a:ext cx="4194810" cy="467359"/>
            </a:xfrm>
            <a:custGeom>
              <a:avLst/>
              <a:gdLst/>
              <a:ahLst/>
              <a:cxnLst/>
              <a:rect l="l" t="t" r="r" b="b"/>
              <a:pathLst>
                <a:path w="4194809" h="467360">
                  <a:moveTo>
                    <a:pt x="291210" y="0"/>
                  </a:moveTo>
                  <a:lnTo>
                    <a:pt x="3903421" y="0"/>
                  </a:lnTo>
                  <a:lnTo>
                    <a:pt x="3960388" y="198"/>
                  </a:lnTo>
                  <a:lnTo>
                    <a:pt x="4006329" y="1584"/>
                  </a:lnTo>
                  <a:lnTo>
                    <a:pt x="4071434" y="12672"/>
                  </a:lnTo>
                  <a:lnTo>
                    <a:pt x="4107745" y="30606"/>
                  </a:lnTo>
                  <a:lnTo>
                    <a:pt x="4138948" y="55683"/>
                  </a:lnTo>
                  <a:lnTo>
                    <a:pt x="4164025" y="86887"/>
                  </a:lnTo>
                  <a:lnTo>
                    <a:pt x="4181958" y="123197"/>
                  </a:lnTo>
                  <a:lnTo>
                    <a:pt x="4191955" y="172718"/>
                  </a:lnTo>
                  <a:lnTo>
                    <a:pt x="4194632" y="233368"/>
                  </a:lnTo>
                  <a:lnTo>
                    <a:pt x="4194024" y="262853"/>
                  </a:lnTo>
                  <a:lnTo>
                    <a:pt x="4188056" y="322400"/>
                  </a:lnTo>
                  <a:lnTo>
                    <a:pt x="4164025" y="379849"/>
                  </a:lnTo>
                  <a:lnTo>
                    <a:pt x="4138948" y="411052"/>
                  </a:lnTo>
                  <a:lnTo>
                    <a:pt x="4107745" y="436130"/>
                  </a:lnTo>
                  <a:lnTo>
                    <a:pt x="4071434" y="454063"/>
                  </a:lnTo>
                  <a:lnTo>
                    <a:pt x="4006329" y="465152"/>
                  </a:lnTo>
                  <a:lnTo>
                    <a:pt x="3960388" y="466538"/>
                  </a:lnTo>
                  <a:lnTo>
                    <a:pt x="3903421" y="466736"/>
                  </a:lnTo>
                  <a:lnTo>
                    <a:pt x="291210" y="466736"/>
                  </a:lnTo>
                  <a:lnTo>
                    <a:pt x="234243" y="466538"/>
                  </a:lnTo>
                  <a:lnTo>
                    <a:pt x="188302" y="465152"/>
                  </a:lnTo>
                  <a:lnTo>
                    <a:pt x="123197" y="454063"/>
                  </a:lnTo>
                  <a:lnTo>
                    <a:pt x="86887" y="436130"/>
                  </a:lnTo>
                  <a:lnTo>
                    <a:pt x="55683" y="411052"/>
                  </a:lnTo>
                  <a:lnTo>
                    <a:pt x="30606" y="379849"/>
                  </a:lnTo>
                  <a:lnTo>
                    <a:pt x="12672" y="343539"/>
                  </a:lnTo>
                  <a:lnTo>
                    <a:pt x="2676" y="294018"/>
                  </a:lnTo>
                  <a:lnTo>
                    <a:pt x="0" y="233368"/>
                  </a:lnTo>
                  <a:lnTo>
                    <a:pt x="607" y="203883"/>
                  </a:lnTo>
                  <a:lnTo>
                    <a:pt x="6575" y="144336"/>
                  </a:lnTo>
                  <a:lnTo>
                    <a:pt x="30606" y="86887"/>
                  </a:lnTo>
                  <a:lnTo>
                    <a:pt x="55683" y="55683"/>
                  </a:lnTo>
                  <a:lnTo>
                    <a:pt x="86887" y="30606"/>
                  </a:lnTo>
                  <a:lnTo>
                    <a:pt x="123197" y="12672"/>
                  </a:lnTo>
                  <a:lnTo>
                    <a:pt x="188302" y="1584"/>
                  </a:lnTo>
                  <a:lnTo>
                    <a:pt x="234243" y="198"/>
                  </a:lnTo>
                  <a:lnTo>
                    <a:pt x="29121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202865" y="4124336"/>
            <a:ext cx="7180580" cy="1530985"/>
            <a:chOff x="2202865" y="4124336"/>
            <a:chExt cx="7180580" cy="1530985"/>
          </a:xfrm>
        </p:grpSpPr>
        <p:sp>
          <p:nvSpPr>
            <p:cNvPr id="17" name="object 17"/>
            <p:cNvSpPr/>
            <p:nvPr/>
          </p:nvSpPr>
          <p:spPr>
            <a:xfrm>
              <a:off x="2472750" y="4137036"/>
              <a:ext cx="6898005" cy="467359"/>
            </a:xfrm>
            <a:custGeom>
              <a:avLst/>
              <a:gdLst/>
              <a:ahLst/>
              <a:cxnLst/>
              <a:rect l="l" t="t" r="r" b="b"/>
              <a:pathLst>
                <a:path w="6898005" h="467360">
                  <a:moveTo>
                    <a:pt x="6606413" y="0"/>
                  </a:moveTo>
                  <a:lnTo>
                    <a:pt x="291211" y="0"/>
                  </a:lnTo>
                  <a:lnTo>
                    <a:pt x="234243" y="198"/>
                  </a:lnTo>
                  <a:lnTo>
                    <a:pt x="188302" y="1584"/>
                  </a:lnTo>
                  <a:lnTo>
                    <a:pt x="123197" y="12673"/>
                  </a:lnTo>
                  <a:lnTo>
                    <a:pt x="86887" y="30606"/>
                  </a:lnTo>
                  <a:lnTo>
                    <a:pt x="55683" y="55683"/>
                  </a:lnTo>
                  <a:lnTo>
                    <a:pt x="30606" y="86887"/>
                  </a:lnTo>
                  <a:lnTo>
                    <a:pt x="12673" y="123197"/>
                  </a:lnTo>
                  <a:lnTo>
                    <a:pt x="2676" y="172718"/>
                  </a:lnTo>
                  <a:lnTo>
                    <a:pt x="0" y="233368"/>
                  </a:lnTo>
                  <a:lnTo>
                    <a:pt x="607" y="262853"/>
                  </a:lnTo>
                  <a:lnTo>
                    <a:pt x="6575" y="322401"/>
                  </a:lnTo>
                  <a:lnTo>
                    <a:pt x="30606" y="379850"/>
                  </a:lnTo>
                  <a:lnTo>
                    <a:pt x="55683" y="411053"/>
                  </a:lnTo>
                  <a:lnTo>
                    <a:pt x="86887" y="436130"/>
                  </a:lnTo>
                  <a:lnTo>
                    <a:pt x="123197" y="454064"/>
                  </a:lnTo>
                  <a:lnTo>
                    <a:pt x="188302" y="465152"/>
                  </a:lnTo>
                  <a:lnTo>
                    <a:pt x="234243" y="466538"/>
                  </a:lnTo>
                  <a:lnTo>
                    <a:pt x="291211" y="466736"/>
                  </a:lnTo>
                  <a:lnTo>
                    <a:pt x="6606413" y="466736"/>
                  </a:lnTo>
                  <a:lnTo>
                    <a:pt x="6663379" y="466538"/>
                  </a:lnTo>
                  <a:lnTo>
                    <a:pt x="6709320" y="465152"/>
                  </a:lnTo>
                  <a:lnTo>
                    <a:pt x="6774425" y="454064"/>
                  </a:lnTo>
                  <a:lnTo>
                    <a:pt x="6810735" y="436130"/>
                  </a:lnTo>
                  <a:lnTo>
                    <a:pt x="6841939" y="411053"/>
                  </a:lnTo>
                  <a:lnTo>
                    <a:pt x="6867017" y="379850"/>
                  </a:lnTo>
                  <a:lnTo>
                    <a:pt x="6884950" y="343540"/>
                  </a:lnTo>
                  <a:lnTo>
                    <a:pt x="6894946" y="294018"/>
                  </a:lnTo>
                  <a:lnTo>
                    <a:pt x="6897622" y="233368"/>
                  </a:lnTo>
                  <a:lnTo>
                    <a:pt x="6897015" y="203883"/>
                  </a:lnTo>
                  <a:lnTo>
                    <a:pt x="6891047" y="144336"/>
                  </a:lnTo>
                  <a:lnTo>
                    <a:pt x="6867017" y="86887"/>
                  </a:lnTo>
                  <a:lnTo>
                    <a:pt x="6841939" y="55683"/>
                  </a:lnTo>
                  <a:lnTo>
                    <a:pt x="6810735" y="30606"/>
                  </a:lnTo>
                  <a:lnTo>
                    <a:pt x="6774425" y="12673"/>
                  </a:lnTo>
                  <a:lnTo>
                    <a:pt x="6709320" y="1584"/>
                  </a:lnTo>
                  <a:lnTo>
                    <a:pt x="6663379" y="198"/>
                  </a:lnTo>
                  <a:lnTo>
                    <a:pt x="6606413" y="0"/>
                  </a:lnTo>
                  <a:close/>
                </a:path>
              </a:pathLst>
            </a:custGeom>
            <a:solidFill>
              <a:srgbClr val="CCD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2750" y="4137036"/>
              <a:ext cx="6898005" cy="467359"/>
            </a:xfrm>
            <a:custGeom>
              <a:avLst/>
              <a:gdLst/>
              <a:ahLst/>
              <a:cxnLst/>
              <a:rect l="l" t="t" r="r" b="b"/>
              <a:pathLst>
                <a:path w="6898005" h="467360">
                  <a:moveTo>
                    <a:pt x="291210" y="0"/>
                  </a:moveTo>
                  <a:lnTo>
                    <a:pt x="6606413" y="0"/>
                  </a:lnTo>
                  <a:lnTo>
                    <a:pt x="6663379" y="198"/>
                  </a:lnTo>
                  <a:lnTo>
                    <a:pt x="6709320" y="1584"/>
                  </a:lnTo>
                  <a:lnTo>
                    <a:pt x="6774425" y="12672"/>
                  </a:lnTo>
                  <a:lnTo>
                    <a:pt x="6810735" y="30606"/>
                  </a:lnTo>
                  <a:lnTo>
                    <a:pt x="6841939" y="55683"/>
                  </a:lnTo>
                  <a:lnTo>
                    <a:pt x="6867017" y="86887"/>
                  </a:lnTo>
                  <a:lnTo>
                    <a:pt x="6884950" y="123197"/>
                  </a:lnTo>
                  <a:lnTo>
                    <a:pt x="6894946" y="172718"/>
                  </a:lnTo>
                  <a:lnTo>
                    <a:pt x="6897622" y="233368"/>
                  </a:lnTo>
                  <a:lnTo>
                    <a:pt x="6897015" y="262853"/>
                  </a:lnTo>
                  <a:lnTo>
                    <a:pt x="6891047" y="322400"/>
                  </a:lnTo>
                  <a:lnTo>
                    <a:pt x="6867017" y="379849"/>
                  </a:lnTo>
                  <a:lnTo>
                    <a:pt x="6841939" y="411052"/>
                  </a:lnTo>
                  <a:lnTo>
                    <a:pt x="6810735" y="436130"/>
                  </a:lnTo>
                  <a:lnTo>
                    <a:pt x="6774425" y="454063"/>
                  </a:lnTo>
                  <a:lnTo>
                    <a:pt x="6709320" y="465152"/>
                  </a:lnTo>
                  <a:lnTo>
                    <a:pt x="6663379" y="466538"/>
                  </a:lnTo>
                  <a:lnTo>
                    <a:pt x="6606413" y="466736"/>
                  </a:lnTo>
                  <a:lnTo>
                    <a:pt x="291210" y="466736"/>
                  </a:lnTo>
                  <a:lnTo>
                    <a:pt x="234243" y="466538"/>
                  </a:lnTo>
                  <a:lnTo>
                    <a:pt x="188302" y="465152"/>
                  </a:lnTo>
                  <a:lnTo>
                    <a:pt x="123197" y="454063"/>
                  </a:lnTo>
                  <a:lnTo>
                    <a:pt x="86887" y="436130"/>
                  </a:lnTo>
                  <a:lnTo>
                    <a:pt x="55683" y="411052"/>
                  </a:lnTo>
                  <a:lnTo>
                    <a:pt x="30606" y="379849"/>
                  </a:lnTo>
                  <a:lnTo>
                    <a:pt x="12672" y="343539"/>
                  </a:lnTo>
                  <a:lnTo>
                    <a:pt x="2676" y="294018"/>
                  </a:lnTo>
                  <a:lnTo>
                    <a:pt x="0" y="233368"/>
                  </a:lnTo>
                  <a:lnTo>
                    <a:pt x="607" y="203883"/>
                  </a:lnTo>
                  <a:lnTo>
                    <a:pt x="6575" y="144336"/>
                  </a:lnTo>
                  <a:lnTo>
                    <a:pt x="30606" y="86887"/>
                  </a:lnTo>
                  <a:lnTo>
                    <a:pt x="55683" y="55683"/>
                  </a:lnTo>
                  <a:lnTo>
                    <a:pt x="86887" y="30606"/>
                  </a:lnTo>
                  <a:lnTo>
                    <a:pt x="123197" y="12672"/>
                  </a:lnTo>
                  <a:lnTo>
                    <a:pt x="188302" y="1584"/>
                  </a:lnTo>
                  <a:lnTo>
                    <a:pt x="234243" y="198"/>
                  </a:lnTo>
                  <a:lnTo>
                    <a:pt x="29121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15565" y="4668830"/>
              <a:ext cx="2152650" cy="467359"/>
            </a:xfrm>
            <a:custGeom>
              <a:avLst/>
              <a:gdLst/>
              <a:ahLst/>
              <a:cxnLst/>
              <a:rect l="l" t="t" r="r" b="b"/>
              <a:pathLst>
                <a:path w="2152650" h="467360">
                  <a:moveTo>
                    <a:pt x="1860994" y="0"/>
                  </a:moveTo>
                  <a:lnTo>
                    <a:pt x="291210" y="0"/>
                  </a:lnTo>
                  <a:lnTo>
                    <a:pt x="234243" y="198"/>
                  </a:lnTo>
                  <a:lnTo>
                    <a:pt x="188302" y="1584"/>
                  </a:lnTo>
                  <a:lnTo>
                    <a:pt x="123197" y="12673"/>
                  </a:lnTo>
                  <a:lnTo>
                    <a:pt x="86887" y="30606"/>
                  </a:lnTo>
                  <a:lnTo>
                    <a:pt x="55684" y="55684"/>
                  </a:lnTo>
                  <a:lnTo>
                    <a:pt x="30606" y="86887"/>
                  </a:lnTo>
                  <a:lnTo>
                    <a:pt x="12673" y="123197"/>
                  </a:lnTo>
                  <a:lnTo>
                    <a:pt x="2676" y="172719"/>
                  </a:lnTo>
                  <a:lnTo>
                    <a:pt x="0" y="233368"/>
                  </a:lnTo>
                  <a:lnTo>
                    <a:pt x="607" y="262853"/>
                  </a:lnTo>
                  <a:lnTo>
                    <a:pt x="6575" y="322401"/>
                  </a:lnTo>
                  <a:lnTo>
                    <a:pt x="30606" y="379850"/>
                  </a:lnTo>
                  <a:lnTo>
                    <a:pt x="55684" y="411053"/>
                  </a:lnTo>
                  <a:lnTo>
                    <a:pt x="86887" y="436130"/>
                  </a:lnTo>
                  <a:lnTo>
                    <a:pt x="123197" y="454064"/>
                  </a:lnTo>
                  <a:lnTo>
                    <a:pt x="188302" y="465153"/>
                  </a:lnTo>
                  <a:lnTo>
                    <a:pt x="234243" y="466539"/>
                  </a:lnTo>
                  <a:lnTo>
                    <a:pt x="291210" y="466737"/>
                  </a:lnTo>
                  <a:lnTo>
                    <a:pt x="1860994" y="466737"/>
                  </a:lnTo>
                  <a:lnTo>
                    <a:pt x="1917961" y="466539"/>
                  </a:lnTo>
                  <a:lnTo>
                    <a:pt x="1963902" y="465153"/>
                  </a:lnTo>
                  <a:lnTo>
                    <a:pt x="2029007" y="454064"/>
                  </a:lnTo>
                  <a:lnTo>
                    <a:pt x="2065318" y="436130"/>
                  </a:lnTo>
                  <a:lnTo>
                    <a:pt x="2096521" y="411053"/>
                  </a:lnTo>
                  <a:lnTo>
                    <a:pt x="2121598" y="379850"/>
                  </a:lnTo>
                  <a:lnTo>
                    <a:pt x="2139532" y="343540"/>
                  </a:lnTo>
                  <a:lnTo>
                    <a:pt x="2149528" y="294018"/>
                  </a:lnTo>
                  <a:lnTo>
                    <a:pt x="2152205" y="233368"/>
                  </a:lnTo>
                  <a:lnTo>
                    <a:pt x="2151597" y="203883"/>
                  </a:lnTo>
                  <a:lnTo>
                    <a:pt x="2145629" y="144336"/>
                  </a:lnTo>
                  <a:lnTo>
                    <a:pt x="2121598" y="86887"/>
                  </a:lnTo>
                  <a:lnTo>
                    <a:pt x="2096521" y="55684"/>
                  </a:lnTo>
                  <a:lnTo>
                    <a:pt x="2065318" y="30606"/>
                  </a:lnTo>
                  <a:lnTo>
                    <a:pt x="2029007" y="12673"/>
                  </a:lnTo>
                  <a:lnTo>
                    <a:pt x="1963902" y="1584"/>
                  </a:lnTo>
                  <a:lnTo>
                    <a:pt x="1917961" y="198"/>
                  </a:lnTo>
                  <a:lnTo>
                    <a:pt x="1860994" y="0"/>
                  </a:lnTo>
                  <a:close/>
                </a:path>
              </a:pathLst>
            </a:custGeom>
            <a:solidFill>
              <a:srgbClr val="CCD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15565" y="4668830"/>
              <a:ext cx="2152650" cy="467359"/>
            </a:xfrm>
            <a:custGeom>
              <a:avLst/>
              <a:gdLst/>
              <a:ahLst/>
              <a:cxnLst/>
              <a:rect l="l" t="t" r="r" b="b"/>
              <a:pathLst>
                <a:path w="2152650" h="467360">
                  <a:moveTo>
                    <a:pt x="291210" y="0"/>
                  </a:moveTo>
                  <a:lnTo>
                    <a:pt x="1860994" y="0"/>
                  </a:lnTo>
                  <a:lnTo>
                    <a:pt x="1917961" y="198"/>
                  </a:lnTo>
                  <a:lnTo>
                    <a:pt x="1963902" y="1584"/>
                  </a:lnTo>
                  <a:lnTo>
                    <a:pt x="2029007" y="12672"/>
                  </a:lnTo>
                  <a:lnTo>
                    <a:pt x="2065317" y="30606"/>
                  </a:lnTo>
                  <a:lnTo>
                    <a:pt x="2096521" y="55683"/>
                  </a:lnTo>
                  <a:lnTo>
                    <a:pt x="2121598" y="86887"/>
                  </a:lnTo>
                  <a:lnTo>
                    <a:pt x="2139532" y="123197"/>
                  </a:lnTo>
                  <a:lnTo>
                    <a:pt x="2149528" y="172718"/>
                  </a:lnTo>
                  <a:lnTo>
                    <a:pt x="2152205" y="233368"/>
                  </a:lnTo>
                  <a:lnTo>
                    <a:pt x="2151597" y="262853"/>
                  </a:lnTo>
                  <a:lnTo>
                    <a:pt x="2145629" y="322400"/>
                  </a:lnTo>
                  <a:lnTo>
                    <a:pt x="2121598" y="379849"/>
                  </a:lnTo>
                  <a:lnTo>
                    <a:pt x="2096521" y="411052"/>
                  </a:lnTo>
                  <a:lnTo>
                    <a:pt x="2065317" y="436130"/>
                  </a:lnTo>
                  <a:lnTo>
                    <a:pt x="2029007" y="454063"/>
                  </a:lnTo>
                  <a:lnTo>
                    <a:pt x="1963902" y="465152"/>
                  </a:lnTo>
                  <a:lnTo>
                    <a:pt x="1917961" y="466538"/>
                  </a:lnTo>
                  <a:lnTo>
                    <a:pt x="1860994" y="466736"/>
                  </a:lnTo>
                  <a:lnTo>
                    <a:pt x="291210" y="466736"/>
                  </a:lnTo>
                  <a:lnTo>
                    <a:pt x="234243" y="466538"/>
                  </a:lnTo>
                  <a:lnTo>
                    <a:pt x="188302" y="465152"/>
                  </a:lnTo>
                  <a:lnTo>
                    <a:pt x="123197" y="454063"/>
                  </a:lnTo>
                  <a:lnTo>
                    <a:pt x="86887" y="436130"/>
                  </a:lnTo>
                  <a:lnTo>
                    <a:pt x="55683" y="411052"/>
                  </a:lnTo>
                  <a:lnTo>
                    <a:pt x="30606" y="379849"/>
                  </a:lnTo>
                  <a:lnTo>
                    <a:pt x="12672" y="343539"/>
                  </a:lnTo>
                  <a:lnTo>
                    <a:pt x="2676" y="294018"/>
                  </a:lnTo>
                  <a:lnTo>
                    <a:pt x="0" y="233368"/>
                  </a:lnTo>
                  <a:lnTo>
                    <a:pt x="607" y="203883"/>
                  </a:lnTo>
                  <a:lnTo>
                    <a:pt x="6575" y="144336"/>
                  </a:lnTo>
                  <a:lnTo>
                    <a:pt x="30606" y="86887"/>
                  </a:lnTo>
                  <a:lnTo>
                    <a:pt x="55683" y="55683"/>
                  </a:lnTo>
                  <a:lnTo>
                    <a:pt x="86887" y="30606"/>
                  </a:lnTo>
                  <a:lnTo>
                    <a:pt x="123197" y="12672"/>
                  </a:lnTo>
                  <a:lnTo>
                    <a:pt x="188302" y="1584"/>
                  </a:lnTo>
                  <a:lnTo>
                    <a:pt x="234243" y="198"/>
                  </a:lnTo>
                  <a:lnTo>
                    <a:pt x="29121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15565" y="5175337"/>
              <a:ext cx="3140075" cy="467359"/>
            </a:xfrm>
            <a:custGeom>
              <a:avLst/>
              <a:gdLst/>
              <a:ahLst/>
              <a:cxnLst/>
              <a:rect l="l" t="t" r="r" b="b"/>
              <a:pathLst>
                <a:path w="3140075" h="467360">
                  <a:moveTo>
                    <a:pt x="2848641" y="0"/>
                  </a:moveTo>
                  <a:lnTo>
                    <a:pt x="291210" y="0"/>
                  </a:lnTo>
                  <a:lnTo>
                    <a:pt x="234243" y="198"/>
                  </a:lnTo>
                  <a:lnTo>
                    <a:pt x="188302" y="1584"/>
                  </a:lnTo>
                  <a:lnTo>
                    <a:pt x="123197" y="12673"/>
                  </a:lnTo>
                  <a:lnTo>
                    <a:pt x="86887" y="30606"/>
                  </a:lnTo>
                  <a:lnTo>
                    <a:pt x="55684" y="55683"/>
                  </a:lnTo>
                  <a:lnTo>
                    <a:pt x="30606" y="86887"/>
                  </a:lnTo>
                  <a:lnTo>
                    <a:pt x="12673" y="123197"/>
                  </a:lnTo>
                  <a:lnTo>
                    <a:pt x="2676" y="172718"/>
                  </a:lnTo>
                  <a:lnTo>
                    <a:pt x="0" y="233368"/>
                  </a:lnTo>
                  <a:lnTo>
                    <a:pt x="607" y="262853"/>
                  </a:lnTo>
                  <a:lnTo>
                    <a:pt x="6575" y="322400"/>
                  </a:lnTo>
                  <a:lnTo>
                    <a:pt x="30606" y="379849"/>
                  </a:lnTo>
                  <a:lnTo>
                    <a:pt x="55684" y="411053"/>
                  </a:lnTo>
                  <a:lnTo>
                    <a:pt x="86887" y="436130"/>
                  </a:lnTo>
                  <a:lnTo>
                    <a:pt x="123197" y="454064"/>
                  </a:lnTo>
                  <a:lnTo>
                    <a:pt x="188302" y="465152"/>
                  </a:lnTo>
                  <a:lnTo>
                    <a:pt x="234243" y="466538"/>
                  </a:lnTo>
                  <a:lnTo>
                    <a:pt x="291210" y="466736"/>
                  </a:lnTo>
                  <a:lnTo>
                    <a:pt x="2848641" y="466736"/>
                  </a:lnTo>
                  <a:lnTo>
                    <a:pt x="2905608" y="466538"/>
                  </a:lnTo>
                  <a:lnTo>
                    <a:pt x="2951550" y="465152"/>
                  </a:lnTo>
                  <a:lnTo>
                    <a:pt x="3016655" y="454064"/>
                  </a:lnTo>
                  <a:lnTo>
                    <a:pt x="3052965" y="436130"/>
                  </a:lnTo>
                  <a:lnTo>
                    <a:pt x="3084169" y="411053"/>
                  </a:lnTo>
                  <a:lnTo>
                    <a:pt x="3109247" y="379849"/>
                  </a:lnTo>
                  <a:lnTo>
                    <a:pt x="3127180" y="343538"/>
                  </a:lnTo>
                  <a:lnTo>
                    <a:pt x="3137176" y="294018"/>
                  </a:lnTo>
                  <a:lnTo>
                    <a:pt x="3139852" y="233368"/>
                  </a:lnTo>
                  <a:lnTo>
                    <a:pt x="3139245" y="203883"/>
                  </a:lnTo>
                  <a:lnTo>
                    <a:pt x="3133277" y="144336"/>
                  </a:lnTo>
                  <a:lnTo>
                    <a:pt x="3109247" y="86887"/>
                  </a:lnTo>
                  <a:lnTo>
                    <a:pt x="3084169" y="55683"/>
                  </a:lnTo>
                  <a:lnTo>
                    <a:pt x="3052965" y="30606"/>
                  </a:lnTo>
                  <a:lnTo>
                    <a:pt x="3016655" y="12673"/>
                  </a:lnTo>
                  <a:lnTo>
                    <a:pt x="2951550" y="1584"/>
                  </a:lnTo>
                  <a:lnTo>
                    <a:pt x="2905608" y="198"/>
                  </a:lnTo>
                  <a:lnTo>
                    <a:pt x="2848641" y="0"/>
                  </a:lnTo>
                  <a:close/>
                </a:path>
              </a:pathLst>
            </a:custGeom>
            <a:solidFill>
              <a:srgbClr val="CCD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15565" y="5175337"/>
              <a:ext cx="3140075" cy="467359"/>
            </a:xfrm>
            <a:custGeom>
              <a:avLst/>
              <a:gdLst/>
              <a:ahLst/>
              <a:cxnLst/>
              <a:rect l="l" t="t" r="r" b="b"/>
              <a:pathLst>
                <a:path w="3140075" h="467360">
                  <a:moveTo>
                    <a:pt x="291210" y="0"/>
                  </a:moveTo>
                  <a:lnTo>
                    <a:pt x="2848641" y="0"/>
                  </a:lnTo>
                  <a:lnTo>
                    <a:pt x="2905608" y="198"/>
                  </a:lnTo>
                  <a:lnTo>
                    <a:pt x="2951549" y="1584"/>
                  </a:lnTo>
                  <a:lnTo>
                    <a:pt x="3016655" y="12672"/>
                  </a:lnTo>
                  <a:lnTo>
                    <a:pt x="3052965" y="30606"/>
                  </a:lnTo>
                  <a:lnTo>
                    <a:pt x="3084168" y="55683"/>
                  </a:lnTo>
                  <a:lnTo>
                    <a:pt x="3109246" y="86887"/>
                  </a:lnTo>
                  <a:lnTo>
                    <a:pt x="3127179" y="123197"/>
                  </a:lnTo>
                  <a:lnTo>
                    <a:pt x="3137176" y="172718"/>
                  </a:lnTo>
                  <a:lnTo>
                    <a:pt x="3139852" y="233368"/>
                  </a:lnTo>
                  <a:lnTo>
                    <a:pt x="3139245" y="262853"/>
                  </a:lnTo>
                  <a:lnTo>
                    <a:pt x="3133277" y="322400"/>
                  </a:lnTo>
                  <a:lnTo>
                    <a:pt x="3109246" y="379849"/>
                  </a:lnTo>
                  <a:lnTo>
                    <a:pt x="3084168" y="411052"/>
                  </a:lnTo>
                  <a:lnTo>
                    <a:pt x="3052965" y="436130"/>
                  </a:lnTo>
                  <a:lnTo>
                    <a:pt x="3016655" y="454063"/>
                  </a:lnTo>
                  <a:lnTo>
                    <a:pt x="2951549" y="465152"/>
                  </a:lnTo>
                  <a:lnTo>
                    <a:pt x="2905608" y="466538"/>
                  </a:lnTo>
                  <a:lnTo>
                    <a:pt x="2848641" y="466736"/>
                  </a:lnTo>
                  <a:lnTo>
                    <a:pt x="291210" y="466736"/>
                  </a:lnTo>
                  <a:lnTo>
                    <a:pt x="234243" y="466538"/>
                  </a:lnTo>
                  <a:lnTo>
                    <a:pt x="188302" y="465152"/>
                  </a:lnTo>
                  <a:lnTo>
                    <a:pt x="123197" y="454063"/>
                  </a:lnTo>
                  <a:lnTo>
                    <a:pt x="86887" y="436130"/>
                  </a:lnTo>
                  <a:lnTo>
                    <a:pt x="55683" y="411052"/>
                  </a:lnTo>
                  <a:lnTo>
                    <a:pt x="30606" y="379849"/>
                  </a:lnTo>
                  <a:lnTo>
                    <a:pt x="12672" y="343539"/>
                  </a:lnTo>
                  <a:lnTo>
                    <a:pt x="2676" y="294018"/>
                  </a:lnTo>
                  <a:lnTo>
                    <a:pt x="0" y="233368"/>
                  </a:lnTo>
                  <a:lnTo>
                    <a:pt x="607" y="203883"/>
                  </a:lnTo>
                  <a:lnTo>
                    <a:pt x="6575" y="144336"/>
                  </a:lnTo>
                  <a:lnTo>
                    <a:pt x="30606" y="86887"/>
                  </a:lnTo>
                  <a:lnTo>
                    <a:pt x="55683" y="55683"/>
                  </a:lnTo>
                  <a:lnTo>
                    <a:pt x="86887" y="30606"/>
                  </a:lnTo>
                  <a:lnTo>
                    <a:pt x="123197" y="12672"/>
                  </a:lnTo>
                  <a:lnTo>
                    <a:pt x="188302" y="1584"/>
                  </a:lnTo>
                  <a:lnTo>
                    <a:pt x="234243" y="198"/>
                  </a:lnTo>
                  <a:lnTo>
                    <a:pt x="29121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164765" y="6246588"/>
            <a:ext cx="4935220" cy="492759"/>
            <a:chOff x="2164765" y="6246588"/>
            <a:chExt cx="4935220" cy="492759"/>
          </a:xfrm>
        </p:grpSpPr>
        <p:sp>
          <p:nvSpPr>
            <p:cNvPr id="24" name="object 24"/>
            <p:cNvSpPr/>
            <p:nvPr/>
          </p:nvSpPr>
          <p:spPr>
            <a:xfrm>
              <a:off x="2177465" y="6259288"/>
              <a:ext cx="4909820" cy="467359"/>
            </a:xfrm>
            <a:custGeom>
              <a:avLst/>
              <a:gdLst/>
              <a:ahLst/>
              <a:cxnLst/>
              <a:rect l="l" t="t" r="r" b="b"/>
              <a:pathLst>
                <a:path w="4909820" h="467359">
                  <a:moveTo>
                    <a:pt x="4618205" y="0"/>
                  </a:moveTo>
                  <a:lnTo>
                    <a:pt x="291210" y="0"/>
                  </a:lnTo>
                  <a:lnTo>
                    <a:pt x="234243" y="198"/>
                  </a:lnTo>
                  <a:lnTo>
                    <a:pt x="188302" y="1584"/>
                  </a:lnTo>
                  <a:lnTo>
                    <a:pt x="123197" y="12673"/>
                  </a:lnTo>
                  <a:lnTo>
                    <a:pt x="86887" y="30606"/>
                  </a:lnTo>
                  <a:lnTo>
                    <a:pt x="55684" y="55683"/>
                  </a:lnTo>
                  <a:lnTo>
                    <a:pt x="30606" y="86887"/>
                  </a:lnTo>
                  <a:lnTo>
                    <a:pt x="12673" y="123197"/>
                  </a:lnTo>
                  <a:lnTo>
                    <a:pt x="2676" y="172718"/>
                  </a:lnTo>
                  <a:lnTo>
                    <a:pt x="0" y="233368"/>
                  </a:lnTo>
                  <a:lnTo>
                    <a:pt x="607" y="262853"/>
                  </a:lnTo>
                  <a:lnTo>
                    <a:pt x="6575" y="322401"/>
                  </a:lnTo>
                  <a:lnTo>
                    <a:pt x="30606" y="379850"/>
                  </a:lnTo>
                  <a:lnTo>
                    <a:pt x="55684" y="411053"/>
                  </a:lnTo>
                  <a:lnTo>
                    <a:pt x="86887" y="436130"/>
                  </a:lnTo>
                  <a:lnTo>
                    <a:pt x="123197" y="454064"/>
                  </a:lnTo>
                  <a:lnTo>
                    <a:pt x="188302" y="465152"/>
                  </a:lnTo>
                  <a:lnTo>
                    <a:pt x="234243" y="466538"/>
                  </a:lnTo>
                  <a:lnTo>
                    <a:pt x="291210" y="466736"/>
                  </a:lnTo>
                  <a:lnTo>
                    <a:pt x="4618205" y="466736"/>
                  </a:lnTo>
                  <a:lnTo>
                    <a:pt x="4675171" y="466538"/>
                  </a:lnTo>
                  <a:lnTo>
                    <a:pt x="4721112" y="465152"/>
                  </a:lnTo>
                  <a:lnTo>
                    <a:pt x="4786217" y="454064"/>
                  </a:lnTo>
                  <a:lnTo>
                    <a:pt x="4822527" y="436130"/>
                  </a:lnTo>
                  <a:lnTo>
                    <a:pt x="4853731" y="411053"/>
                  </a:lnTo>
                  <a:lnTo>
                    <a:pt x="4878809" y="379850"/>
                  </a:lnTo>
                  <a:lnTo>
                    <a:pt x="4896742" y="343540"/>
                  </a:lnTo>
                  <a:lnTo>
                    <a:pt x="4906738" y="294018"/>
                  </a:lnTo>
                  <a:lnTo>
                    <a:pt x="4909414" y="233368"/>
                  </a:lnTo>
                  <a:lnTo>
                    <a:pt x="4908807" y="203883"/>
                  </a:lnTo>
                  <a:lnTo>
                    <a:pt x="4902839" y="144336"/>
                  </a:lnTo>
                  <a:lnTo>
                    <a:pt x="4878809" y="86887"/>
                  </a:lnTo>
                  <a:lnTo>
                    <a:pt x="4853731" y="55683"/>
                  </a:lnTo>
                  <a:lnTo>
                    <a:pt x="4822527" y="30606"/>
                  </a:lnTo>
                  <a:lnTo>
                    <a:pt x="4786217" y="12673"/>
                  </a:lnTo>
                  <a:lnTo>
                    <a:pt x="4721112" y="1584"/>
                  </a:lnTo>
                  <a:lnTo>
                    <a:pt x="4675171" y="198"/>
                  </a:lnTo>
                  <a:lnTo>
                    <a:pt x="4618205" y="0"/>
                  </a:lnTo>
                  <a:close/>
                </a:path>
              </a:pathLst>
            </a:custGeom>
            <a:solidFill>
              <a:srgbClr val="CCD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77465" y="6259288"/>
              <a:ext cx="4909820" cy="467359"/>
            </a:xfrm>
            <a:custGeom>
              <a:avLst/>
              <a:gdLst/>
              <a:ahLst/>
              <a:cxnLst/>
              <a:rect l="l" t="t" r="r" b="b"/>
              <a:pathLst>
                <a:path w="4909820" h="467359">
                  <a:moveTo>
                    <a:pt x="291210" y="0"/>
                  </a:moveTo>
                  <a:lnTo>
                    <a:pt x="4618203" y="0"/>
                  </a:lnTo>
                  <a:lnTo>
                    <a:pt x="4675170" y="198"/>
                  </a:lnTo>
                  <a:lnTo>
                    <a:pt x="4721111" y="1584"/>
                  </a:lnTo>
                  <a:lnTo>
                    <a:pt x="4786217" y="12672"/>
                  </a:lnTo>
                  <a:lnTo>
                    <a:pt x="4822527" y="30606"/>
                  </a:lnTo>
                  <a:lnTo>
                    <a:pt x="4853730" y="55683"/>
                  </a:lnTo>
                  <a:lnTo>
                    <a:pt x="4878808" y="86887"/>
                  </a:lnTo>
                  <a:lnTo>
                    <a:pt x="4896741" y="123197"/>
                  </a:lnTo>
                  <a:lnTo>
                    <a:pt x="4906738" y="172718"/>
                  </a:lnTo>
                  <a:lnTo>
                    <a:pt x="4909414" y="233368"/>
                  </a:lnTo>
                  <a:lnTo>
                    <a:pt x="4908807" y="262853"/>
                  </a:lnTo>
                  <a:lnTo>
                    <a:pt x="4902839" y="322400"/>
                  </a:lnTo>
                  <a:lnTo>
                    <a:pt x="4878808" y="379849"/>
                  </a:lnTo>
                  <a:lnTo>
                    <a:pt x="4853730" y="411052"/>
                  </a:lnTo>
                  <a:lnTo>
                    <a:pt x="4822527" y="436130"/>
                  </a:lnTo>
                  <a:lnTo>
                    <a:pt x="4786217" y="454063"/>
                  </a:lnTo>
                  <a:lnTo>
                    <a:pt x="4721111" y="465152"/>
                  </a:lnTo>
                  <a:lnTo>
                    <a:pt x="4675170" y="466538"/>
                  </a:lnTo>
                  <a:lnTo>
                    <a:pt x="4618203" y="466736"/>
                  </a:lnTo>
                  <a:lnTo>
                    <a:pt x="291210" y="466736"/>
                  </a:lnTo>
                  <a:lnTo>
                    <a:pt x="234243" y="466538"/>
                  </a:lnTo>
                  <a:lnTo>
                    <a:pt x="188302" y="465152"/>
                  </a:lnTo>
                  <a:lnTo>
                    <a:pt x="123197" y="454063"/>
                  </a:lnTo>
                  <a:lnTo>
                    <a:pt x="86887" y="436130"/>
                  </a:lnTo>
                  <a:lnTo>
                    <a:pt x="55683" y="411052"/>
                  </a:lnTo>
                  <a:lnTo>
                    <a:pt x="30606" y="379849"/>
                  </a:lnTo>
                  <a:lnTo>
                    <a:pt x="12672" y="343539"/>
                  </a:lnTo>
                  <a:lnTo>
                    <a:pt x="2676" y="294018"/>
                  </a:lnTo>
                  <a:lnTo>
                    <a:pt x="0" y="233368"/>
                  </a:lnTo>
                  <a:lnTo>
                    <a:pt x="607" y="203883"/>
                  </a:lnTo>
                  <a:lnTo>
                    <a:pt x="6575" y="144336"/>
                  </a:lnTo>
                  <a:lnTo>
                    <a:pt x="30606" y="86887"/>
                  </a:lnTo>
                  <a:lnTo>
                    <a:pt x="55683" y="55683"/>
                  </a:lnTo>
                  <a:lnTo>
                    <a:pt x="86887" y="30606"/>
                  </a:lnTo>
                  <a:lnTo>
                    <a:pt x="123197" y="12672"/>
                  </a:lnTo>
                  <a:lnTo>
                    <a:pt x="188302" y="1584"/>
                  </a:lnTo>
                  <a:lnTo>
                    <a:pt x="234243" y="198"/>
                  </a:lnTo>
                  <a:lnTo>
                    <a:pt x="291210" y="0"/>
                  </a:lnTo>
                  <a:close/>
                </a:path>
              </a:pathLst>
            </a:custGeom>
            <a:ln w="25399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Efficient</a:t>
            </a:r>
            <a:r>
              <a:rPr spc="-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1176000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0160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Implement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baseline="1736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63500" marR="30480">
              <a:lnSpc>
                <a:spcPct val="263900"/>
              </a:lnSpc>
              <a:tabLst>
                <a:tab pos="575056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Representing</a:t>
            </a:r>
            <a:r>
              <a:rPr sz="2400" spc="-9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hospitals</a:t>
            </a:r>
            <a:r>
              <a:rPr sz="2400" spc="-9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2400" spc="-9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students.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Index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Representing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the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matching.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409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Maintain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student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spc="85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hospital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4500" y="4234179"/>
            <a:ext cx="7590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student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hospital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000" y="4071264"/>
            <a:ext cx="124460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4500" y="4716779"/>
            <a:ext cx="9281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designate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unmatched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000" y="5016500"/>
            <a:ext cx="9187815" cy="205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add/remove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4210"/>
              </a:lnSpc>
              <a:spcBef>
                <a:spcPts val="2980"/>
              </a:spcBef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Maintain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unmatched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queue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stack).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unmatched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65919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8379" algn="l"/>
              </a:tabLst>
            </a:pPr>
            <a:r>
              <a:rPr spc="55" dirty="0"/>
              <a:t>Data</a:t>
            </a:r>
            <a:r>
              <a:rPr spc="85" dirty="0"/>
              <a:t> </a:t>
            </a:r>
            <a:r>
              <a:rPr spc="-10" dirty="0"/>
              <a:t>representation:</a:t>
            </a:r>
            <a:r>
              <a:rPr dirty="0"/>
              <a:t>	making</a:t>
            </a:r>
            <a:r>
              <a:rPr spc="130" dirty="0"/>
              <a:t> </a:t>
            </a:r>
            <a:r>
              <a:rPr spc="105" dirty="0"/>
              <a:t>a</a:t>
            </a:r>
            <a:r>
              <a:rPr spc="135" dirty="0"/>
              <a:t> </a:t>
            </a:r>
            <a:r>
              <a:rPr spc="40" dirty="0"/>
              <a:t>proposal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10967085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Hospital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makes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proposal.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  <a:tabLst>
                <a:tab pos="299974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Key</a:t>
            </a:r>
            <a:r>
              <a:rPr sz="2400" spc="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operation:</a:t>
            </a:r>
            <a:r>
              <a:rPr sz="2400" dirty="0">
                <a:latin typeface="Lucida Sans Unicode"/>
                <a:cs typeface="Lucida Sans Unicode"/>
              </a:rPr>
              <a:t>	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hospital’s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next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favorite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  <a:tabLst>
                <a:tab pos="347599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hospital:</a:t>
            </a:r>
            <a:r>
              <a:rPr sz="2400" dirty="0">
                <a:latin typeface="Lucida Sans Unicode"/>
                <a:cs typeface="Lucida Sans Unicode"/>
              </a:rPr>
              <a:t>	maintain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students,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ordered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preference.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  <a:tabLst>
                <a:tab pos="347599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hospital:</a:t>
            </a:r>
            <a:r>
              <a:rPr sz="2400" dirty="0">
                <a:latin typeface="Lucida Sans Unicode"/>
                <a:cs typeface="Lucida Sans Unicode"/>
              </a:rPr>
              <a:t>	maintain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pointer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next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proposal.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8577580"/>
            <a:ext cx="7143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45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Making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proposal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5980" y="4236516"/>
            <a:ext cx="16579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next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proposal</a:t>
            </a:r>
            <a:r>
              <a:rPr sz="16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02939" y="4622800"/>
            <a:ext cx="121920" cy="368300"/>
            <a:chOff x="3202939" y="4622800"/>
            <a:chExt cx="121920" cy="368300"/>
          </a:xfrm>
        </p:grpSpPr>
        <p:sp>
          <p:nvSpPr>
            <p:cNvPr id="8" name="object 8"/>
            <p:cNvSpPr/>
            <p:nvPr/>
          </p:nvSpPr>
          <p:spPr>
            <a:xfrm>
              <a:off x="3263899" y="462280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289560"/>
                  </a:moveTo>
                  <a:lnTo>
                    <a:pt x="0" y="27686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2939" y="4869179"/>
              <a:ext cx="121920" cy="12192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62139" y="5143500"/>
            <a:ext cx="796925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2200" spc="-50" dirty="0">
                <a:latin typeface="Lucida Sans Unicode"/>
                <a:cs typeface="Lucida Sans Unicode"/>
              </a:rPr>
              <a:t>3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9715" y="5143500"/>
            <a:ext cx="796925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2200" spc="-50" dirty="0">
                <a:latin typeface="Lucida Sans Unicode"/>
                <a:cs typeface="Lucida Sans Unicode"/>
              </a:rPr>
              <a:t>4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7290" y="5143500"/>
            <a:ext cx="796925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2200" spc="-50" dirty="0">
                <a:latin typeface="Lucida Sans Unicode"/>
                <a:cs typeface="Lucida Sans Unicode"/>
              </a:rPr>
              <a:t>1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65018" y="5396865"/>
            <a:ext cx="718820" cy="121920"/>
            <a:chOff x="3665018" y="5396865"/>
            <a:chExt cx="718820" cy="121920"/>
          </a:xfrm>
        </p:grpSpPr>
        <p:sp>
          <p:nvSpPr>
            <p:cNvPr id="14" name="object 14"/>
            <p:cNvSpPr/>
            <p:nvPr/>
          </p:nvSpPr>
          <p:spPr>
            <a:xfrm>
              <a:off x="3665018" y="5457825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639607" y="0"/>
                  </a:moveTo>
                  <a:lnTo>
                    <a:pt x="639607" y="0"/>
                  </a:lnTo>
                  <a:lnTo>
                    <a:pt x="52242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61445" y="53968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30480" y="60960"/>
                  </a:ln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192593" y="5396865"/>
            <a:ext cx="718820" cy="121920"/>
            <a:chOff x="5192593" y="5396865"/>
            <a:chExt cx="718820" cy="121920"/>
          </a:xfrm>
        </p:grpSpPr>
        <p:sp>
          <p:nvSpPr>
            <p:cNvPr id="17" name="object 17"/>
            <p:cNvSpPr/>
            <p:nvPr/>
          </p:nvSpPr>
          <p:spPr>
            <a:xfrm>
              <a:off x="5192593" y="5457825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0" y="0"/>
                  </a:lnTo>
                  <a:lnTo>
                    <a:pt x="626907" y="0"/>
                  </a:lnTo>
                  <a:lnTo>
                    <a:pt x="639607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89020" y="53968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30480" y="60960"/>
                  </a:ln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44865" y="5143500"/>
            <a:ext cx="796925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2200" spc="-50" dirty="0">
                <a:latin typeface="Lucida Sans Unicode"/>
                <a:cs typeface="Lucida Sans Unicode"/>
              </a:rPr>
              <a:t>5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20168" y="5396865"/>
            <a:ext cx="718820" cy="121920"/>
            <a:chOff x="6720168" y="5396865"/>
            <a:chExt cx="718820" cy="121920"/>
          </a:xfrm>
        </p:grpSpPr>
        <p:sp>
          <p:nvSpPr>
            <p:cNvPr id="21" name="object 21"/>
            <p:cNvSpPr/>
            <p:nvPr/>
          </p:nvSpPr>
          <p:spPr>
            <a:xfrm>
              <a:off x="6720168" y="5457825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639607" y="0"/>
                  </a:moveTo>
                  <a:lnTo>
                    <a:pt x="639607" y="0"/>
                  </a:lnTo>
                  <a:lnTo>
                    <a:pt x="52242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6595" y="53968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30479" y="60960"/>
                  </a:ln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34310" y="5364162"/>
            <a:ext cx="1072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hospital</a:t>
            </a:r>
            <a:r>
              <a:rPr sz="1600" b="1" spc="20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72442" y="5143500"/>
            <a:ext cx="796925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2200" spc="-50" dirty="0">
                <a:latin typeface="Lucida Sans Unicode"/>
                <a:cs typeface="Lucida Sans Unicode"/>
              </a:rPr>
              <a:t>2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68306" y="5276850"/>
            <a:ext cx="4603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20" dirty="0">
                <a:latin typeface="Times New Roman"/>
                <a:cs typeface="Times New Roman"/>
              </a:rPr>
              <a:t>null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775319" y="5396865"/>
            <a:ext cx="725170" cy="121920"/>
            <a:chOff x="9775319" y="5396865"/>
            <a:chExt cx="725170" cy="121920"/>
          </a:xfrm>
        </p:grpSpPr>
        <p:sp>
          <p:nvSpPr>
            <p:cNvPr id="27" name="object 27"/>
            <p:cNvSpPr/>
            <p:nvPr/>
          </p:nvSpPr>
          <p:spPr>
            <a:xfrm>
              <a:off x="9775319" y="5457825"/>
              <a:ext cx="646430" cy="0"/>
            </a:xfrm>
            <a:custGeom>
              <a:avLst/>
              <a:gdLst/>
              <a:ahLst/>
              <a:cxnLst/>
              <a:rect l="l" t="t" r="r" b="b"/>
              <a:pathLst>
                <a:path w="646429">
                  <a:moveTo>
                    <a:pt x="645957" y="0"/>
                  </a:moveTo>
                  <a:lnTo>
                    <a:pt x="645957" y="0"/>
                  </a:lnTo>
                  <a:lnTo>
                    <a:pt x="52771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78097" y="53968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30479" y="60960"/>
                  </a:ln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247743" y="5396865"/>
            <a:ext cx="718820" cy="121920"/>
            <a:chOff x="8247743" y="5396865"/>
            <a:chExt cx="718820" cy="121920"/>
          </a:xfrm>
        </p:grpSpPr>
        <p:sp>
          <p:nvSpPr>
            <p:cNvPr id="30" name="object 30"/>
            <p:cNvSpPr/>
            <p:nvPr/>
          </p:nvSpPr>
          <p:spPr>
            <a:xfrm>
              <a:off x="8247743" y="5457825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0" y="0"/>
                  </a:lnTo>
                  <a:lnTo>
                    <a:pt x="626908" y="0"/>
                  </a:lnTo>
                  <a:lnTo>
                    <a:pt x="639608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44171" y="53968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30480" y="60960"/>
                  </a:lnTo>
                  <a:lnTo>
                    <a:pt x="0" y="121920"/>
                  </a:lnTo>
                  <a:lnTo>
                    <a:pt x="12192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862482" y="6093200"/>
            <a:ext cx="784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favorite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3" name="object 33"/>
          <p:cNvSpPr txBox="1"/>
          <p:nvPr/>
        </p:nvSpPr>
        <p:spPr>
          <a:xfrm>
            <a:off x="8714726" y="6000032"/>
            <a:ext cx="1312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least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favorite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35863" y="5784838"/>
            <a:ext cx="606425" cy="410209"/>
            <a:chOff x="6135863" y="5784838"/>
            <a:chExt cx="606425" cy="410209"/>
          </a:xfrm>
        </p:grpSpPr>
        <p:sp>
          <p:nvSpPr>
            <p:cNvPr id="3" name="object 3"/>
            <p:cNvSpPr/>
            <p:nvPr/>
          </p:nvSpPr>
          <p:spPr>
            <a:xfrm>
              <a:off x="6145388" y="5794363"/>
              <a:ext cx="587375" cy="391160"/>
            </a:xfrm>
            <a:custGeom>
              <a:avLst/>
              <a:gdLst/>
              <a:ahLst/>
              <a:cxnLst/>
              <a:rect l="l" t="t" r="r" b="b"/>
              <a:pathLst>
                <a:path w="587375" h="391160">
                  <a:moveTo>
                    <a:pt x="296164" y="0"/>
                  </a:moveTo>
                  <a:lnTo>
                    <a:pt x="291211" y="0"/>
                  </a:lnTo>
                  <a:lnTo>
                    <a:pt x="234890" y="181"/>
                  </a:lnTo>
                  <a:lnTo>
                    <a:pt x="189471" y="1452"/>
                  </a:lnTo>
                  <a:lnTo>
                    <a:pt x="125106" y="11620"/>
                  </a:lnTo>
                  <a:lnTo>
                    <a:pt x="87822" y="30034"/>
                  </a:lnTo>
                  <a:lnTo>
                    <a:pt x="55783" y="55783"/>
                  </a:lnTo>
                  <a:lnTo>
                    <a:pt x="30034" y="87822"/>
                  </a:lnTo>
                  <a:lnTo>
                    <a:pt x="11620" y="125106"/>
                  </a:lnTo>
                  <a:lnTo>
                    <a:pt x="720" y="177564"/>
                  </a:lnTo>
                  <a:lnTo>
                    <a:pt x="0" y="195267"/>
                  </a:lnTo>
                  <a:lnTo>
                    <a:pt x="720" y="212971"/>
                  </a:lnTo>
                  <a:lnTo>
                    <a:pt x="11620" y="265429"/>
                  </a:lnTo>
                  <a:lnTo>
                    <a:pt x="30034" y="302713"/>
                  </a:lnTo>
                  <a:lnTo>
                    <a:pt x="55783" y="334753"/>
                  </a:lnTo>
                  <a:lnTo>
                    <a:pt x="87822" y="360502"/>
                  </a:lnTo>
                  <a:lnTo>
                    <a:pt x="125106" y="378915"/>
                  </a:lnTo>
                  <a:lnTo>
                    <a:pt x="189471" y="389083"/>
                  </a:lnTo>
                  <a:lnTo>
                    <a:pt x="234890" y="390354"/>
                  </a:lnTo>
                  <a:lnTo>
                    <a:pt x="291211" y="390536"/>
                  </a:lnTo>
                  <a:lnTo>
                    <a:pt x="296164" y="390536"/>
                  </a:lnTo>
                  <a:lnTo>
                    <a:pt x="352484" y="390354"/>
                  </a:lnTo>
                  <a:lnTo>
                    <a:pt x="397903" y="389083"/>
                  </a:lnTo>
                  <a:lnTo>
                    <a:pt x="462268" y="378915"/>
                  </a:lnTo>
                  <a:lnTo>
                    <a:pt x="499551" y="360502"/>
                  </a:lnTo>
                  <a:lnTo>
                    <a:pt x="531591" y="334753"/>
                  </a:lnTo>
                  <a:lnTo>
                    <a:pt x="557340" y="302713"/>
                  </a:lnTo>
                  <a:lnTo>
                    <a:pt x="575754" y="265429"/>
                  </a:lnTo>
                  <a:lnTo>
                    <a:pt x="586654" y="212971"/>
                  </a:lnTo>
                  <a:lnTo>
                    <a:pt x="587375" y="195267"/>
                  </a:lnTo>
                  <a:lnTo>
                    <a:pt x="586654" y="177564"/>
                  </a:lnTo>
                  <a:lnTo>
                    <a:pt x="575754" y="125106"/>
                  </a:lnTo>
                  <a:lnTo>
                    <a:pt x="557340" y="87822"/>
                  </a:lnTo>
                  <a:lnTo>
                    <a:pt x="531591" y="55783"/>
                  </a:lnTo>
                  <a:lnTo>
                    <a:pt x="499551" y="30034"/>
                  </a:lnTo>
                  <a:lnTo>
                    <a:pt x="462268" y="11620"/>
                  </a:lnTo>
                  <a:lnTo>
                    <a:pt x="397903" y="1452"/>
                  </a:lnTo>
                  <a:lnTo>
                    <a:pt x="352484" y="181"/>
                  </a:lnTo>
                  <a:lnTo>
                    <a:pt x="296164" y="0"/>
                  </a:lnTo>
                  <a:close/>
                </a:path>
              </a:pathLst>
            </a:custGeom>
            <a:solidFill>
              <a:srgbClr val="CCD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45388" y="5794363"/>
              <a:ext cx="587375" cy="391160"/>
            </a:xfrm>
            <a:custGeom>
              <a:avLst/>
              <a:gdLst/>
              <a:ahLst/>
              <a:cxnLst/>
              <a:rect l="l" t="t" r="r" b="b"/>
              <a:pathLst>
                <a:path w="587375" h="391160">
                  <a:moveTo>
                    <a:pt x="291210" y="0"/>
                  </a:moveTo>
                  <a:lnTo>
                    <a:pt x="296164" y="0"/>
                  </a:lnTo>
                  <a:lnTo>
                    <a:pt x="352484" y="181"/>
                  </a:lnTo>
                  <a:lnTo>
                    <a:pt x="397903" y="1452"/>
                  </a:lnTo>
                  <a:lnTo>
                    <a:pt x="462268" y="11620"/>
                  </a:lnTo>
                  <a:lnTo>
                    <a:pt x="499552" y="30034"/>
                  </a:lnTo>
                  <a:lnTo>
                    <a:pt x="531591" y="55783"/>
                  </a:lnTo>
                  <a:lnTo>
                    <a:pt x="557340" y="87822"/>
                  </a:lnTo>
                  <a:lnTo>
                    <a:pt x="575754" y="125106"/>
                  </a:lnTo>
                  <a:lnTo>
                    <a:pt x="586654" y="177564"/>
                  </a:lnTo>
                  <a:lnTo>
                    <a:pt x="587375" y="195268"/>
                  </a:lnTo>
                  <a:lnTo>
                    <a:pt x="586654" y="212972"/>
                  </a:lnTo>
                  <a:lnTo>
                    <a:pt x="575754" y="265430"/>
                  </a:lnTo>
                  <a:lnTo>
                    <a:pt x="557340" y="302713"/>
                  </a:lnTo>
                  <a:lnTo>
                    <a:pt x="531591" y="334753"/>
                  </a:lnTo>
                  <a:lnTo>
                    <a:pt x="499552" y="360502"/>
                  </a:lnTo>
                  <a:lnTo>
                    <a:pt x="462268" y="378916"/>
                  </a:lnTo>
                  <a:lnTo>
                    <a:pt x="397903" y="389084"/>
                  </a:lnTo>
                  <a:lnTo>
                    <a:pt x="352484" y="390355"/>
                  </a:lnTo>
                  <a:lnTo>
                    <a:pt x="296164" y="390536"/>
                  </a:lnTo>
                  <a:lnTo>
                    <a:pt x="291210" y="390536"/>
                  </a:lnTo>
                  <a:lnTo>
                    <a:pt x="234890" y="390355"/>
                  </a:lnTo>
                  <a:lnTo>
                    <a:pt x="189471" y="389084"/>
                  </a:lnTo>
                  <a:lnTo>
                    <a:pt x="125106" y="378916"/>
                  </a:lnTo>
                  <a:lnTo>
                    <a:pt x="87822" y="360502"/>
                  </a:lnTo>
                  <a:lnTo>
                    <a:pt x="55783" y="334753"/>
                  </a:lnTo>
                  <a:lnTo>
                    <a:pt x="30034" y="302713"/>
                  </a:lnTo>
                  <a:lnTo>
                    <a:pt x="11620" y="265430"/>
                  </a:lnTo>
                  <a:lnTo>
                    <a:pt x="720" y="212972"/>
                  </a:lnTo>
                  <a:lnTo>
                    <a:pt x="0" y="195268"/>
                  </a:lnTo>
                  <a:lnTo>
                    <a:pt x="720" y="177564"/>
                  </a:lnTo>
                  <a:lnTo>
                    <a:pt x="11620" y="125106"/>
                  </a:lnTo>
                  <a:lnTo>
                    <a:pt x="30034" y="87822"/>
                  </a:lnTo>
                  <a:lnTo>
                    <a:pt x="55783" y="55783"/>
                  </a:lnTo>
                  <a:lnTo>
                    <a:pt x="87822" y="30034"/>
                  </a:lnTo>
                  <a:lnTo>
                    <a:pt x="125106" y="11620"/>
                  </a:lnTo>
                  <a:lnTo>
                    <a:pt x="189471" y="1452"/>
                  </a:lnTo>
                  <a:lnTo>
                    <a:pt x="234890" y="181"/>
                  </a:lnTo>
                  <a:lnTo>
                    <a:pt x="291210" y="0"/>
                  </a:lnTo>
                  <a:close/>
                </a:path>
              </a:pathLst>
            </a:custGeom>
            <a:ln w="1905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891263" y="5784838"/>
            <a:ext cx="606425" cy="410209"/>
            <a:chOff x="4891263" y="5784838"/>
            <a:chExt cx="606425" cy="410209"/>
          </a:xfrm>
        </p:grpSpPr>
        <p:sp>
          <p:nvSpPr>
            <p:cNvPr id="6" name="object 6"/>
            <p:cNvSpPr/>
            <p:nvPr/>
          </p:nvSpPr>
          <p:spPr>
            <a:xfrm>
              <a:off x="4900788" y="5794363"/>
              <a:ext cx="587375" cy="391160"/>
            </a:xfrm>
            <a:custGeom>
              <a:avLst/>
              <a:gdLst/>
              <a:ahLst/>
              <a:cxnLst/>
              <a:rect l="l" t="t" r="r" b="b"/>
              <a:pathLst>
                <a:path w="587375" h="391160">
                  <a:moveTo>
                    <a:pt x="296164" y="0"/>
                  </a:moveTo>
                  <a:lnTo>
                    <a:pt x="291211" y="0"/>
                  </a:lnTo>
                  <a:lnTo>
                    <a:pt x="234890" y="181"/>
                  </a:lnTo>
                  <a:lnTo>
                    <a:pt x="189471" y="1452"/>
                  </a:lnTo>
                  <a:lnTo>
                    <a:pt x="125106" y="11620"/>
                  </a:lnTo>
                  <a:lnTo>
                    <a:pt x="87822" y="30034"/>
                  </a:lnTo>
                  <a:lnTo>
                    <a:pt x="55783" y="55783"/>
                  </a:lnTo>
                  <a:lnTo>
                    <a:pt x="30034" y="87822"/>
                  </a:lnTo>
                  <a:lnTo>
                    <a:pt x="11620" y="125106"/>
                  </a:lnTo>
                  <a:lnTo>
                    <a:pt x="720" y="177564"/>
                  </a:lnTo>
                  <a:lnTo>
                    <a:pt x="0" y="195267"/>
                  </a:lnTo>
                  <a:lnTo>
                    <a:pt x="720" y="212971"/>
                  </a:lnTo>
                  <a:lnTo>
                    <a:pt x="11620" y="265429"/>
                  </a:lnTo>
                  <a:lnTo>
                    <a:pt x="30034" y="302713"/>
                  </a:lnTo>
                  <a:lnTo>
                    <a:pt x="55783" y="334753"/>
                  </a:lnTo>
                  <a:lnTo>
                    <a:pt x="87822" y="360502"/>
                  </a:lnTo>
                  <a:lnTo>
                    <a:pt x="125106" y="378915"/>
                  </a:lnTo>
                  <a:lnTo>
                    <a:pt x="189471" y="389083"/>
                  </a:lnTo>
                  <a:lnTo>
                    <a:pt x="234890" y="390354"/>
                  </a:lnTo>
                  <a:lnTo>
                    <a:pt x="291211" y="390536"/>
                  </a:lnTo>
                  <a:lnTo>
                    <a:pt x="296164" y="390536"/>
                  </a:lnTo>
                  <a:lnTo>
                    <a:pt x="352484" y="390354"/>
                  </a:lnTo>
                  <a:lnTo>
                    <a:pt x="397903" y="389083"/>
                  </a:lnTo>
                  <a:lnTo>
                    <a:pt x="462268" y="378915"/>
                  </a:lnTo>
                  <a:lnTo>
                    <a:pt x="499551" y="360502"/>
                  </a:lnTo>
                  <a:lnTo>
                    <a:pt x="531591" y="334753"/>
                  </a:lnTo>
                  <a:lnTo>
                    <a:pt x="557340" y="302713"/>
                  </a:lnTo>
                  <a:lnTo>
                    <a:pt x="575754" y="265429"/>
                  </a:lnTo>
                  <a:lnTo>
                    <a:pt x="586654" y="212971"/>
                  </a:lnTo>
                  <a:lnTo>
                    <a:pt x="587375" y="195267"/>
                  </a:lnTo>
                  <a:lnTo>
                    <a:pt x="586654" y="177564"/>
                  </a:lnTo>
                  <a:lnTo>
                    <a:pt x="575754" y="125106"/>
                  </a:lnTo>
                  <a:lnTo>
                    <a:pt x="557340" y="87822"/>
                  </a:lnTo>
                  <a:lnTo>
                    <a:pt x="531591" y="55783"/>
                  </a:lnTo>
                  <a:lnTo>
                    <a:pt x="499551" y="30034"/>
                  </a:lnTo>
                  <a:lnTo>
                    <a:pt x="462268" y="11620"/>
                  </a:lnTo>
                  <a:lnTo>
                    <a:pt x="397903" y="1452"/>
                  </a:lnTo>
                  <a:lnTo>
                    <a:pt x="352484" y="181"/>
                  </a:lnTo>
                  <a:lnTo>
                    <a:pt x="296164" y="0"/>
                  </a:lnTo>
                  <a:close/>
                </a:path>
              </a:pathLst>
            </a:custGeom>
            <a:solidFill>
              <a:srgbClr val="CCD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0788" y="5794363"/>
              <a:ext cx="587375" cy="391160"/>
            </a:xfrm>
            <a:custGeom>
              <a:avLst/>
              <a:gdLst/>
              <a:ahLst/>
              <a:cxnLst/>
              <a:rect l="l" t="t" r="r" b="b"/>
              <a:pathLst>
                <a:path w="587375" h="391160">
                  <a:moveTo>
                    <a:pt x="291210" y="0"/>
                  </a:moveTo>
                  <a:lnTo>
                    <a:pt x="296164" y="0"/>
                  </a:lnTo>
                  <a:lnTo>
                    <a:pt x="352484" y="181"/>
                  </a:lnTo>
                  <a:lnTo>
                    <a:pt x="397903" y="1452"/>
                  </a:lnTo>
                  <a:lnTo>
                    <a:pt x="462268" y="11620"/>
                  </a:lnTo>
                  <a:lnTo>
                    <a:pt x="499552" y="30034"/>
                  </a:lnTo>
                  <a:lnTo>
                    <a:pt x="531591" y="55783"/>
                  </a:lnTo>
                  <a:lnTo>
                    <a:pt x="557340" y="87822"/>
                  </a:lnTo>
                  <a:lnTo>
                    <a:pt x="575754" y="125106"/>
                  </a:lnTo>
                  <a:lnTo>
                    <a:pt x="586654" y="177564"/>
                  </a:lnTo>
                  <a:lnTo>
                    <a:pt x="587375" y="195268"/>
                  </a:lnTo>
                  <a:lnTo>
                    <a:pt x="586654" y="212972"/>
                  </a:lnTo>
                  <a:lnTo>
                    <a:pt x="575754" y="265430"/>
                  </a:lnTo>
                  <a:lnTo>
                    <a:pt x="557340" y="302713"/>
                  </a:lnTo>
                  <a:lnTo>
                    <a:pt x="531591" y="334753"/>
                  </a:lnTo>
                  <a:lnTo>
                    <a:pt x="499552" y="360502"/>
                  </a:lnTo>
                  <a:lnTo>
                    <a:pt x="462268" y="378916"/>
                  </a:lnTo>
                  <a:lnTo>
                    <a:pt x="397903" y="389084"/>
                  </a:lnTo>
                  <a:lnTo>
                    <a:pt x="352484" y="390355"/>
                  </a:lnTo>
                  <a:lnTo>
                    <a:pt x="296164" y="390536"/>
                  </a:lnTo>
                  <a:lnTo>
                    <a:pt x="291210" y="390536"/>
                  </a:lnTo>
                  <a:lnTo>
                    <a:pt x="234890" y="390355"/>
                  </a:lnTo>
                  <a:lnTo>
                    <a:pt x="189471" y="389084"/>
                  </a:lnTo>
                  <a:lnTo>
                    <a:pt x="125106" y="378916"/>
                  </a:lnTo>
                  <a:lnTo>
                    <a:pt x="87822" y="360502"/>
                  </a:lnTo>
                  <a:lnTo>
                    <a:pt x="55783" y="334753"/>
                  </a:lnTo>
                  <a:lnTo>
                    <a:pt x="30034" y="302713"/>
                  </a:lnTo>
                  <a:lnTo>
                    <a:pt x="11620" y="265430"/>
                  </a:lnTo>
                  <a:lnTo>
                    <a:pt x="720" y="212972"/>
                  </a:lnTo>
                  <a:lnTo>
                    <a:pt x="0" y="195268"/>
                  </a:lnTo>
                  <a:lnTo>
                    <a:pt x="720" y="177564"/>
                  </a:lnTo>
                  <a:lnTo>
                    <a:pt x="11620" y="125106"/>
                  </a:lnTo>
                  <a:lnTo>
                    <a:pt x="30034" y="87822"/>
                  </a:lnTo>
                  <a:lnTo>
                    <a:pt x="55783" y="55783"/>
                  </a:lnTo>
                  <a:lnTo>
                    <a:pt x="87822" y="30034"/>
                  </a:lnTo>
                  <a:lnTo>
                    <a:pt x="125106" y="11620"/>
                  </a:lnTo>
                  <a:lnTo>
                    <a:pt x="189471" y="1452"/>
                  </a:lnTo>
                  <a:lnTo>
                    <a:pt x="234890" y="181"/>
                  </a:lnTo>
                  <a:lnTo>
                    <a:pt x="291210" y="0"/>
                  </a:lnTo>
                  <a:close/>
                </a:path>
              </a:pathLst>
            </a:custGeom>
            <a:ln w="1905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923264" y="4044938"/>
            <a:ext cx="514350" cy="410209"/>
            <a:chOff x="6923264" y="4044938"/>
            <a:chExt cx="514350" cy="410209"/>
          </a:xfrm>
        </p:grpSpPr>
        <p:sp>
          <p:nvSpPr>
            <p:cNvPr id="9" name="object 9"/>
            <p:cNvSpPr/>
            <p:nvPr/>
          </p:nvSpPr>
          <p:spPr>
            <a:xfrm>
              <a:off x="6932789" y="4054463"/>
              <a:ext cx="495300" cy="391160"/>
            </a:xfrm>
            <a:custGeom>
              <a:avLst/>
              <a:gdLst/>
              <a:ahLst/>
              <a:cxnLst/>
              <a:rect l="l" t="t" r="r" b="b"/>
              <a:pathLst>
                <a:path w="495300" h="391160">
                  <a:moveTo>
                    <a:pt x="247497" y="0"/>
                  </a:moveTo>
                  <a:lnTo>
                    <a:pt x="178291" y="2106"/>
                  </a:lnTo>
                  <a:lnTo>
                    <a:pt x="125106" y="11620"/>
                  </a:lnTo>
                  <a:lnTo>
                    <a:pt x="87823" y="30034"/>
                  </a:lnTo>
                  <a:lnTo>
                    <a:pt x="55783" y="55783"/>
                  </a:lnTo>
                  <a:lnTo>
                    <a:pt x="30034" y="87822"/>
                  </a:lnTo>
                  <a:lnTo>
                    <a:pt x="11620" y="125106"/>
                  </a:lnTo>
                  <a:lnTo>
                    <a:pt x="720" y="177564"/>
                  </a:lnTo>
                  <a:lnTo>
                    <a:pt x="0" y="195267"/>
                  </a:lnTo>
                  <a:lnTo>
                    <a:pt x="720" y="212971"/>
                  </a:lnTo>
                  <a:lnTo>
                    <a:pt x="11620" y="265429"/>
                  </a:lnTo>
                  <a:lnTo>
                    <a:pt x="30034" y="302713"/>
                  </a:lnTo>
                  <a:lnTo>
                    <a:pt x="55783" y="334753"/>
                  </a:lnTo>
                  <a:lnTo>
                    <a:pt x="87823" y="360502"/>
                  </a:lnTo>
                  <a:lnTo>
                    <a:pt x="125106" y="378915"/>
                  </a:lnTo>
                  <a:lnTo>
                    <a:pt x="178291" y="388429"/>
                  </a:lnTo>
                  <a:lnTo>
                    <a:pt x="247497" y="390536"/>
                  </a:lnTo>
                  <a:lnTo>
                    <a:pt x="282079" y="390109"/>
                  </a:lnTo>
                  <a:lnTo>
                    <a:pt x="347323" y="384897"/>
                  </a:lnTo>
                  <a:lnTo>
                    <a:pt x="407172" y="360502"/>
                  </a:lnTo>
                  <a:lnTo>
                    <a:pt x="439211" y="334753"/>
                  </a:lnTo>
                  <a:lnTo>
                    <a:pt x="464961" y="302713"/>
                  </a:lnTo>
                  <a:lnTo>
                    <a:pt x="483374" y="265429"/>
                  </a:lnTo>
                  <a:lnTo>
                    <a:pt x="494275" y="212971"/>
                  </a:lnTo>
                  <a:lnTo>
                    <a:pt x="494995" y="195267"/>
                  </a:lnTo>
                  <a:lnTo>
                    <a:pt x="494275" y="177564"/>
                  </a:lnTo>
                  <a:lnTo>
                    <a:pt x="483374" y="125106"/>
                  </a:lnTo>
                  <a:lnTo>
                    <a:pt x="464961" y="87822"/>
                  </a:lnTo>
                  <a:lnTo>
                    <a:pt x="439211" y="55783"/>
                  </a:lnTo>
                  <a:lnTo>
                    <a:pt x="407172" y="30034"/>
                  </a:lnTo>
                  <a:lnTo>
                    <a:pt x="369888" y="11620"/>
                  </a:lnTo>
                  <a:lnTo>
                    <a:pt x="316704" y="2106"/>
                  </a:lnTo>
                  <a:lnTo>
                    <a:pt x="247497" y="0"/>
                  </a:lnTo>
                  <a:close/>
                </a:path>
              </a:pathLst>
            </a:custGeom>
            <a:solidFill>
              <a:srgbClr val="CCD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32789" y="4054463"/>
              <a:ext cx="495300" cy="391160"/>
            </a:xfrm>
            <a:custGeom>
              <a:avLst/>
              <a:gdLst/>
              <a:ahLst/>
              <a:cxnLst/>
              <a:rect l="l" t="t" r="r" b="b"/>
              <a:pathLst>
                <a:path w="495300" h="391160">
                  <a:moveTo>
                    <a:pt x="247497" y="0"/>
                  </a:moveTo>
                  <a:lnTo>
                    <a:pt x="316704" y="2106"/>
                  </a:lnTo>
                  <a:lnTo>
                    <a:pt x="369889" y="11620"/>
                  </a:lnTo>
                  <a:lnTo>
                    <a:pt x="407172" y="30034"/>
                  </a:lnTo>
                  <a:lnTo>
                    <a:pt x="439211" y="55783"/>
                  </a:lnTo>
                  <a:lnTo>
                    <a:pt x="464961" y="87822"/>
                  </a:lnTo>
                  <a:lnTo>
                    <a:pt x="483375" y="125106"/>
                  </a:lnTo>
                  <a:lnTo>
                    <a:pt x="494275" y="177564"/>
                  </a:lnTo>
                  <a:lnTo>
                    <a:pt x="494995" y="195268"/>
                  </a:lnTo>
                  <a:lnTo>
                    <a:pt x="494275" y="212972"/>
                  </a:lnTo>
                  <a:lnTo>
                    <a:pt x="483375" y="265430"/>
                  </a:lnTo>
                  <a:lnTo>
                    <a:pt x="464961" y="302713"/>
                  </a:lnTo>
                  <a:lnTo>
                    <a:pt x="439211" y="334753"/>
                  </a:lnTo>
                  <a:lnTo>
                    <a:pt x="407172" y="360502"/>
                  </a:lnTo>
                  <a:lnTo>
                    <a:pt x="369889" y="378916"/>
                  </a:lnTo>
                  <a:lnTo>
                    <a:pt x="316704" y="388429"/>
                  </a:lnTo>
                  <a:lnTo>
                    <a:pt x="247497" y="390536"/>
                  </a:lnTo>
                  <a:lnTo>
                    <a:pt x="212916" y="390109"/>
                  </a:lnTo>
                  <a:lnTo>
                    <a:pt x="147671" y="384898"/>
                  </a:lnTo>
                  <a:lnTo>
                    <a:pt x="87822" y="360502"/>
                  </a:lnTo>
                  <a:lnTo>
                    <a:pt x="55783" y="334753"/>
                  </a:lnTo>
                  <a:lnTo>
                    <a:pt x="30034" y="302713"/>
                  </a:lnTo>
                  <a:lnTo>
                    <a:pt x="11620" y="265430"/>
                  </a:lnTo>
                  <a:lnTo>
                    <a:pt x="720" y="212972"/>
                  </a:lnTo>
                  <a:lnTo>
                    <a:pt x="0" y="195268"/>
                  </a:lnTo>
                  <a:lnTo>
                    <a:pt x="720" y="177564"/>
                  </a:lnTo>
                  <a:lnTo>
                    <a:pt x="11620" y="125106"/>
                  </a:lnTo>
                  <a:lnTo>
                    <a:pt x="30034" y="87822"/>
                  </a:lnTo>
                  <a:lnTo>
                    <a:pt x="55783" y="55783"/>
                  </a:lnTo>
                  <a:lnTo>
                    <a:pt x="87822" y="30034"/>
                  </a:lnTo>
                  <a:lnTo>
                    <a:pt x="125106" y="11620"/>
                  </a:lnTo>
                  <a:lnTo>
                    <a:pt x="178291" y="2106"/>
                  </a:lnTo>
                  <a:lnTo>
                    <a:pt x="247497" y="0"/>
                  </a:lnTo>
                  <a:close/>
                </a:path>
              </a:pathLst>
            </a:custGeom>
            <a:ln w="1905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665963" y="4044938"/>
            <a:ext cx="514350" cy="410209"/>
            <a:chOff x="5665963" y="4044938"/>
            <a:chExt cx="514350" cy="410209"/>
          </a:xfrm>
        </p:grpSpPr>
        <p:sp>
          <p:nvSpPr>
            <p:cNvPr id="12" name="object 12"/>
            <p:cNvSpPr/>
            <p:nvPr/>
          </p:nvSpPr>
          <p:spPr>
            <a:xfrm>
              <a:off x="5675488" y="4054463"/>
              <a:ext cx="495300" cy="391160"/>
            </a:xfrm>
            <a:custGeom>
              <a:avLst/>
              <a:gdLst/>
              <a:ahLst/>
              <a:cxnLst/>
              <a:rect l="l" t="t" r="r" b="b"/>
              <a:pathLst>
                <a:path w="495300" h="391160">
                  <a:moveTo>
                    <a:pt x="247497" y="0"/>
                  </a:moveTo>
                  <a:lnTo>
                    <a:pt x="178291" y="2106"/>
                  </a:lnTo>
                  <a:lnTo>
                    <a:pt x="125106" y="11620"/>
                  </a:lnTo>
                  <a:lnTo>
                    <a:pt x="87822" y="30034"/>
                  </a:lnTo>
                  <a:lnTo>
                    <a:pt x="55783" y="55783"/>
                  </a:lnTo>
                  <a:lnTo>
                    <a:pt x="30034" y="87822"/>
                  </a:lnTo>
                  <a:lnTo>
                    <a:pt x="11620" y="125106"/>
                  </a:lnTo>
                  <a:lnTo>
                    <a:pt x="720" y="177564"/>
                  </a:lnTo>
                  <a:lnTo>
                    <a:pt x="0" y="195267"/>
                  </a:lnTo>
                  <a:lnTo>
                    <a:pt x="720" y="212971"/>
                  </a:lnTo>
                  <a:lnTo>
                    <a:pt x="11620" y="265429"/>
                  </a:lnTo>
                  <a:lnTo>
                    <a:pt x="30034" y="302713"/>
                  </a:lnTo>
                  <a:lnTo>
                    <a:pt x="55783" y="334753"/>
                  </a:lnTo>
                  <a:lnTo>
                    <a:pt x="87822" y="360502"/>
                  </a:lnTo>
                  <a:lnTo>
                    <a:pt x="125106" y="378915"/>
                  </a:lnTo>
                  <a:lnTo>
                    <a:pt x="178291" y="388429"/>
                  </a:lnTo>
                  <a:lnTo>
                    <a:pt x="247497" y="390536"/>
                  </a:lnTo>
                  <a:lnTo>
                    <a:pt x="282079" y="390109"/>
                  </a:lnTo>
                  <a:lnTo>
                    <a:pt x="347323" y="384897"/>
                  </a:lnTo>
                  <a:lnTo>
                    <a:pt x="407171" y="360502"/>
                  </a:lnTo>
                  <a:lnTo>
                    <a:pt x="439211" y="334753"/>
                  </a:lnTo>
                  <a:lnTo>
                    <a:pt x="464961" y="302713"/>
                  </a:lnTo>
                  <a:lnTo>
                    <a:pt x="483374" y="265429"/>
                  </a:lnTo>
                  <a:lnTo>
                    <a:pt x="494275" y="212971"/>
                  </a:lnTo>
                  <a:lnTo>
                    <a:pt x="494995" y="195267"/>
                  </a:lnTo>
                  <a:lnTo>
                    <a:pt x="494275" y="177564"/>
                  </a:lnTo>
                  <a:lnTo>
                    <a:pt x="483374" y="125106"/>
                  </a:lnTo>
                  <a:lnTo>
                    <a:pt x="464961" y="87822"/>
                  </a:lnTo>
                  <a:lnTo>
                    <a:pt x="439211" y="55783"/>
                  </a:lnTo>
                  <a:lnTo>
                    <a:pt x="407171" y="30034"/>
                  </a:lnTo>
                  <a:lnTo>
                    <a:pt x="369888" y="11620"/>
                  </a:lnTo>
                  <a:lnTo>
                    <a:pt x="316704" y="2106"/>
                  </a:lnTo>
                  <a:lnTo>
                    <a:pt x="247497" y="0"/>
                  </a:lnTo>
                  <a:close/>
                </a:path>
              </a:pathLst>
            </a:custGeom>
            <a:solidFill>
              <a:srgbClr val="CCD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75488" y="4054463"/>
              <a:ext cx="495300" cy="391160"/>
            </a:xfrm>
            <a:custGeom>
              <a:avLst/>
              <a:gdLst/>
              <a:ahLst/>
              <a:cxnLst/>
              <a:rect l="l" t="t" r="r" b="b"/>
              <a:pathLst>
                <a:path w="495300" h="391160">
                  <a:moveTo>
                    <a:pt x="247497" y="0"/>
                  </a:moveTo>
                  <a:lnTo>
                    <a:pt x="316704" y="2106"/>
                  </a:lnTo>
                  <a:lnTo>
                    <a:pt x="369889" y="11620"/>
                  </a:lnTo>
                  <a:lnTo>
                    <a:pt x="407172" y="30034"/>
                  </a:lnTo>
                  <a:lnTo>
                    <a:pt x="439211" y="55783"/>
                  </a:lnTo>
                  <a:lnTo>
                    <a:pt x="464961" y="87822"/>
                  </a:lnTo>
                  <a:lnTo>
                    <a:pt x="483375" y="125106"/>
                  </a:lnTo>
                  <a:lnTo>
                    <a:pt x="494275" y="177564"/>
                  </a:lnTo>
                  <a:lnTo>
                    <a:pt x="494995" y="195268"/>
                  </a:lnTo>
                  <a:lnTo>
                    <a:pt x="494275" y="212972"/>
                  </a:lnTo>
                  <a:lnTo>
                    <a:pt x="483375" y="265430"/>
                  </a:lnTo>
                  <a:lnTo>
                    <a:pt x="464961" y="302713"/>
                  </a:lnTo>
                  <a:lnTo>
                    <a:pt x="439211" y="334753"/>
                  </a:lnTo>
                  <a:lnTo>
                    <a:pt x="407172" y="360502"/>
                  </a:lnTo>
                  <a:lnTo>
                    <a:pt x="369889" y="378916"/>
                  </a:lnTo>
                  <a:lnTo>
                    <a:pt x="316704" y="388429"/>
                  </a:lnTo>
                  <a:lnTo>
                    <a:pt x="247497" y="390536"/>
                  </a:lnTo>
                  <a:lnTo>
                    <a:pt x="212916" y="390109"/>
                  </a:lnTo>
                  <a:lnTo>
                    <a:pt x="147671" y="384898"/>
                  </a:lnTo>
                  <a:lnTo>
                    <a:pt x="87822" y="360502"/>
                  </a:lnTo>
                  <a:lnTo>
                    <a:pt x="55783" y="334753"/>
                  </a:lnTo>
                  <a:lnTo>
                    <a:pt x="30034" y="302713"/>
                  </a:lnTo>
                  <a:lnTo>
                    <a:pt x="11620" y="265430"/>
                  </a:lnTo>
                  <a:lnTo>
                    <a:pt x="720" y="212972"/>
                  </a:lnTo>
                  <a:lnTo>
                    <a:pt x="0" y="195268"/>
                  </a:lnTo>
                  <a:lnTo>
                    <a:pt x="720" y="177564"/>
                  </a:lnTo>
                  <a:lnTo>
                    <a:pt x="11620" y="125106"/>
                  </a:lnTo>
                  <a:lnTo>
                    <a:pt x="30034" y="87822"/>
                  </a:lnTo>
                  <a:lnTo>
                    <a:pt x="55783" y="55783"/>
                  </a:lnTo>
                  <a:lnTo>
                    <a:pt x="87822" y="30034"/>
                  </a:lnTo>
                  <a:lnTo>
                    <a:pt x="125106" y="11620"/>
                  </a:lnTo>
                  <a:lnTo>
                    <a:pt x="178291" y="2106"/>
                  </a:lnTo>
                  <a:lnTo>
                    <a:pt x="247497" y="0"/>
                  </a:lnTo>
                  <a:close/>
                </a:path>
              </a:pathLst>
            </a:custGeom>
            <a:ln w="1905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4700" y="1338580"/>
            <a:ext cx="996950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Student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accepts/rejects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proposal.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spc="-915" dirty="0">
                <a:latin typeface="Times New Roman"/>
                <a:cs typeface="Times New Roman"/>
              </a:rPr>
              <a:t>h</a:t>
            </a:r>
            <a:r>
              <a:rPr sz="2400" spc="-915" dirty="0">
                <a:latin typeface="Symbol"/>
                <a:cs typeface="Symbol"/>
              </a:rPr>
              <a:t>ʹ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create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inverse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preference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4700" y="8460740"/>
            <a:ext cx="1128649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  <a:tabLst>
                <a:tab pos="20199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After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Θ(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preprocessing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create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ranking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arrays),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accept/reject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proposal.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86732" y="3425507"/>
            <a:ext cx="4931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47700" algn="l"/>
                <a:tab pos="1301115" algn="l"/>
                <a:tab pos="1940560" algn="l"/>
                <a:tab pos="2575560" algn="l"/>
                <a:tab pos="3211195" algn="l"/>
                <a:tab pos="3846829" algn="l"/>
                <a:tab pos="4474845" algn="l"/>
              </a:tabLst>
            </a:pPr>
            <a:r>
              <a:rPr sz="3000" spc="-37" baseline="-13888" dirty="0">
                <a:latin typeface="Lucida Sans Unicode"/>
                <a:cs typeface="Lucida Sans Unicode"/>
              </a:rPr>
              <a:t>1</a:t>
            </a:r>
            <a:r>
              <a:rPr sz="1300" spc="-25" dirty="0">
                <a:latin typeface="Lucida Sans Unicode"/>
                <a:cs typeface="Lucida Sans Unicode"/>
              </a:rPr>
              <a:t>st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2</a:t>
            </a:r>
            <a:r>
              <a:rPr sz="1300" spc="-25" dirty="0">
                <a:latin typeface="Lucida Sans Unicode"/>
                <a:cs typeface="Lucida Sans Unicode"/>
              </a:rPr>
              <a:t>nd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3</a:t>
            </a:r>
            <a:r>
              <a:rPr sz="1300" spc="-25" dirty="0">
                <a:latin typeface="Lucida Sans Unicode"/>
                <a:cs typeface="Lucida Sans Unicode"/>
              </a:rPr>
              <a:t>rd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4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5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6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7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8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99678" y="4056952"/>
            <a:ext cx="4620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0715" algn="l"/>
                <a:tab pos="1275715" algn="l"/>
                <a:tab pos="1911350" algn="l"/>
                <a:tab pos="2546985" algn="l"/>
                <a:tab pos="3182620" algn="l"/>
                <a:tab pos="3817620" algn="l"/>
                <a:tab pos="4446270" algn="l"/>
              </a:tabLst>
            </a:pPr>
            <a:r>
              <a:rPr sz="2000" spc="-50" dirty="0">
                <a:latin typeface="Lucida Sans Unicode"/>
                <a:cs typeface="Lucida Sans Unicode"/>
              </a:rPr>
              <a:t>8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3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7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1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4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5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6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2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55212" y="4031807"/>
            <a:ext cx="5109210" cy="0"/>
          </a:xfrm>
          <a:custGeom>
            <a:avLst/>
            <a:gdLst/>
            <a:ahLst/>
            <a:cxnLst/>
            <a:rect l="l" t="t" r="r" b="b"/>
            <a:pathLst>
              <a:path w="5109209">
                <a:moveTo>
                  <a:pt x="0" y="0"/>
                </a:moveTo>
                <a:lnTo>
                  <a:pt x="51087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59578" y="3652837"/>
            <a:ext cx="6064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latin typeface="Tahoma"/>
                <a:cs typeface="Tahoma"/>
              </a:rPr>
              <a:t>pref[]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8379" algn="l"/>
              </a:tabLst>
            </a:pPr>
            <a:r>
              <a:rPr spc="55" dirty="0"/>
              <a:t>Data</a:t>
            </a:r>
            <a:r>
              <a:rPr spc="85" dirty="0"/>
              <a:t> </a:t>
            </a:r>
            <a:r>
              <a:rPr spc="-10" dirty="0"/>
              <a:t>representation:</a:t>
            </a:r>
            <a:r>
              <a:rPr dirty="0"/>
              <a:t>	</a:t>
            </a:r>
            <a:r>
              <a:rPr spc="50" dirty="0"/>
              <a:t>accepting/rejecting</a:t>
            </a:r>
            <a:r>
              <a:rPr spc="120" dirty="0"/>
              <a:t> </a:t>
            </a:r>
            <a:r>
              <a:rPr spc="105" dirty="0"/>
              <a:t>a</a:t>
            </a:r>
            <a:r>
              <a:rPr spc="120" dirty="0"/>
              <a:t> </a:t>
            </a:r>
            <a:r>
              <a:rPr spc="40" dirty="0"/>
              <a:t>proposal</a:t>
            </a:r>
          </a:p>
        </p:txBody>
      </p:sp>
      <p:sp>
        <p:nvSpPr>
          <p:cNvPr id="22" name="object 22"/>
          <p:cNvSpPr/>
          <p:nvPr/>
        </p:nvSpPr>
        <p:spPr>
          <a:xfrm>
            <a:off x="3389488" y="6530340"/>
            <a:ext cx="4292600" cy="939800"/>
          </a:xfrm>
          <a:custGeom>
            <a:avLst/>
            <a:gdLst/>
            <a:ahLst/>
            <a:cxnLst/>
            <a:rect l="l" t="t" r="r" b="b"/>
            <a:pathLst>
              <a:path w="4292600" h="939800">
                <a:moveTo>
                  <a:pt x="4292599" y="0"/>
                </a:moveTo>
                <a:lnTo>
                  <a:pt x="0" y="0"/>
                </a:lnTo>
                <a:lnTo>
                  <a:pt x="0" y="939799"/>
                </a:lnTo>
                <a:lnTo>
                  <a:pt x="4292599" y="939799"/>
                </a:lnTo>
                <a:lnTo>
                  <a:pt x="42925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16052" y="5341683"/>
            <a:ext cx="4617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0080" algn="l"/>
                <a:tab pos="1275080" algn="l"/>
                <a:tab pos="1910080" algn="l"/>
                <a:tab pos="2545080" algn="l"/>
                <a:tab pos="3180080" algn="l"/>
                <a:tab pos="3815079" algn="l"/>
                <a:tab pos="4443095" algn="l"/>
              </a:tabLst>
            </a:pPr>
            <a:r>
              <a:rPr sz="2000" spc="-50" dirty="0">
                <a:latin typeface="Lucida Sans Unicode"/>
                <a:cs typeface="Lucida Sans Unicode"/>
              </a:rPr>
              <a:t>1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2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3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4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5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6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7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50" dirty="0">
                <a:latin typeface="Lucida Sans Unicode"/>
                <a:cs typeface="Lucida Sans Unicode"/>
              </a:rPr>
              <a:t>8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81093" y="5728970"/>
            <a:ext cx="4954270" cy="160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690880" algn="l"/>
                <a:tab pos="1304290" algn="l"/>
                <a:tab pos="1960880" algn="l"/>
                <a:tab pos="2595880" algn="l"/>
                <a:tab pos="3230880" algn="l"/>
                <a:tab pos="3862070" algn="l"/>
                <a:tab pos="4503420" algn="l"/>
              </a:tabLst>
            </a:pPr>
            <a:r>
              <a:rPr sz="3000" spc="-37" baseline="-13888" dirty="0">
                <a:latin typeface="Lucida Sans Unicode"/>
                <a:cs typeface="Lucida Sans Unicode"/>
              </a:rPr>
              <a:t>4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8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2</a:t>
            </a:r>
            <a:r>
              <a:rPr sz="1300" spc="-25" dirty="0">
                <a:latin typeface="Lucida Sans Unicode"/>
                <a:cs typeface="Lucida Sans Unicode"/>
              </a:rPr>
              <a:t>nd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5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6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7</a:t>
            </a:r>
            <a:r>
              <a:rPr sz="1300" spc="-25" dirty="0">
                <a:latin typeface="Lucida Sans Unicode"/>
                <a:cs typeface="Lucida Sans Unicode"/>
              </a:rPr>
              <a:t>th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3</a:t>
            </a:r>
            <a:r>
              <a:rPr sz="1300" spc="-25" dirty="0">
                <a:latin typeface="Lucida Sans Unicode"/>
                <a:cs typeface="Lucida Sans Unicode"/>
              </a:rPr>
              <a:t>rd</a:t>
            </a:r>
            <a:r>
              <a:rPr sz="1300" dirty="0">
                <a:latin typeface="Lucida Sans Unicode"/>
                <a:cs typeface="Lucida Sans Unicode"/>
              </a:rPr>
              <a:t>	</a:t>
            </a:r>
            <a:r>
              <a:rPr sz="3000" spc="-37" baseline="-13888" dirty="0">
                <a:latin typeface="Lucida Sans Unicode"/>
                <a:cs typeface="Lucida Sans Unicode"/>
              </a:rPr>
              <a:t>1</a:t>
            </a:r>
            <a:r>
              <a:rPr sz="1300" spc="-25" dirty="0">
                <a:latin typeface="Lucida Sans Unicode"/>
                <a:cs typeface="Lucida Sans Unicode"/>
              </a:rPr>
              <a:t>st</a:t>
            </a:r>
            <a:endParaRPr sz="1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1205865" marR="1140460" indent="-612140">
              <a:lnSpc>
                <a:spcPct val="127800"/>
              </a:lnSpc>
            </a:pPr>
            <a:r>
              <a:rPr sz="2000" dirty="0">
                <a:solidFill>
                  <a:srgbClr val="0048AA"/>
                </a:solidFill>
                <a:latin typeface="Lucida Console"/>
                <a:cs typeface="Lucida Console"/>
              </a:rPr>
              <a:t>for</a:t>
            </a:r>
            <a:r>
              <a:rPr sz="2000" spc="-5" dirty="0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10000"/>
                </a:solidFill>
                <a:latin typeface="Lucida Console"/>
                <a:cs typeface="Lucida Console"/>
              </a:rPr>
              <a:t>i</a:t>
            </a:r>
            <a:r>
              <a:rPr sz="2000" spc="-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10000"/>
                </a:solidFill>
                <a:latin typeface="Lucida Console"/>
                <a:cs typeface="Lucida Console"/>
              </a:rPr>
              <a:t>=</a:t>
            </a:r>
            <a:r>
              <a:rPr sz="2000" spc="-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10000"/>
                </a:solidFill>
                <a:latin typeface="Lucida Console"/>
                <a:cs typeface="Lucida Console"/>
              </a:rPr>
              <a:t>1</a:t>
            </a:r>
            <a:r>
              <a:rPr sz="2000" spc="-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10000"/>
                </a:solidFill>
                <a:latin typeface="Lucida Console"/>
                <a:cs typeface="Lucida Console"/>
              </a:rPr>
              <a:t>to</a:t>
            </a:r>
            <a:r>
              <a:rPr sz="2000" spc="-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2000" spc="-50" dirty="0">
                <a:solidFill>
                  <a:srgbClr val="010000"/>
                </a:solidFill>
                <a:latin typeface="Lucida Console"/>
                <a:cs typeface="Lucida Console"/>
              </a:rPr>
              <a:t>n </a:t>
            </a:r>
            <a:r>
              <a:rPr sz="2000" dirty="0">
                <a:solidFill>
                  <a:srgbClr val="010000"/>
                </a:solidFill>
                <a:latin typeface="Lucida Console"/>
                <a:cs typeface="Lucida Console"/>
              </a:rPr>
              <a:t>rank[pref[i]]</a:t>
            </a:r>
            <a:r>
              <a:rPr sz="2000" spc="-1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2000" dirty="0">
                <a:solidFill>
                  <a:srgbClr val="010000"/>
                </a:solidFill>
                <a:latin typeface="Lucida Console"/>
                <a:cs typeface="Lucida Console"/>
              </a:rPr>
              <a:t>=</a:t>
            </a:r>
            <a:r>
              <a:rPr sz="2000" spc="-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2000" spc="-60" dirty="0">
                <a:solidFill>
                  <a:srgbClr val="010000"/>
                </a:solidFill>
                <a:latin typeface="Lucida Console"/>
                <a:cs typeface="Lucida Console"/>
              </a:rPr>
              <a:t>i</a:t>
            </a:r>
            <a:endParaRPr sz="2000">
              <a:latin typeface="Lucida Console"/>
              <a:cs typeface="Lucida Consol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71800" y="5765800"/>
            <a:ext cx="5105400" cy="0"/>
          </a:xfrm>
          <a:custGeom>
            <a:avLst/>
            <a:gdLst/>
            <a:ahLst/>
            <a:cxnLst/>
            <a:rect l="l" t="t" r="r" b="b"/>
            <a:pathLst>
              <a:path w="5105400">
                <a:moveTo>
                  <a:pt x="0" y="0"/>
                </a:moveTo>
                <a:lnTo>
                  <a:pt x="5105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775586" y="5532437"/>
            <a:ext cx="6502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30" dirty="0">
                <a:latin typeface="Tahoma"/>
                <a:cs typeface="Tahoma"/>
              </a:rPr>
              <a:t>rank[]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17240" y="4559300"/>
            <a:ext cx="121920" cy="368300"/>
            <a:chOff x="3317240" y="4559300"/>
            <a:chExt cx="121920" cy="368300"/>
          </a:xfrm>
        </p:grpSpPr>
        <p:sp>
          <p:nvSpPr>
            <p:cNvPr id="28" name="object 28"/>
            <p:cNvSpPr/>
            <p:nvPr/>
          </p:nvSpPr>
          <p:spPr>
            <a:xfrm>
              <a:off x="3378200" y="4638039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0"/>
                  </a:moveTo>
                  <a:lnTo>
                    <a:pt x="0" y="12700"/>
                  </a:lnTo>
                  <a:lnTo>
                    <a:pt x="0" y="28956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7240" y="4559300"/>
              <a:ext cx="121920" cy="12192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8617059" y="4078669"/>
            <a:ext cx="34169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5080" indent="-335280">
              <a:lnSpc>
                <a:spcPct val="124900"/>
              </a:lnSpc>
              <a:spcBef>
                <a:spcPts val="100"/>
              </a:spcBef>
            </a:pP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student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prefers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hospital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4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8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6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since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Console"/>
                <a:cs typeface="Lucida Console"/>
              </a:rPr>
              <a:t>rank[4]</a:t>
            </a:r>
            <a:r>
              <a:rPr sz="1600" spc="-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Console"/>
                <a:cs typeface="Lucida Console"/>
              </a:rPr>
              <a:t>&lt;</a:t>
            </a:r>
            <a:r>
              <a:rPr sz="1600" spc="-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Console"/>
                <a:cs typeface="Lucida Console"/>
              </a:rPr>
              <a:t>rank[6]</a:t>
            </a:r>
            <a:endParaRPr sz="1600">
              <a:latin typeface="Lucida Console"/>
              <a:cs typeface="Lucida Console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4407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8145" algn="l"/>
              </a:tabLst>
            </a:pPr>
            <a:r>
              <a:rPr dirty="0"/>
              <a:t>Stable</a:t>
            </a:r>
            <a:r>
              <a:rPr spc="145" dirty="0"/>
              <a:t> </a:t>
            </a:r>
            <a:r>
              <a:rPr spc="-10" dirty="0"/>
              <a:t>matching:</a:t>
            </a:r>
            <a:r>
              <a:rPr dirty="0"/>
              <a:t>	</a:t>
            </a:r>
            <a:r>
              <a:rPr spc="-10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9300" y="1221740"/>
            <a:ext cx="11178540" cy="340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2223135">
              <a:lnSpc>
                <a:spcPct val="131900"/>
              </a:lnSpc>
              <a:spcBef>
                <a:spcPts val="100"/>
              </a:spcBef>
              <a:tabLst>
                <a:tab pos="16700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implement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679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Times New Roman"/>
                <a:cs typeface="Times New Roman"/>
              </a:rPr>
              <a:t>Θ(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7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preprocessing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create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ranking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arrays.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  <a:tabLst>
                <a:tab pos="10972800" algn="l"/>
              </a:tabLst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proposals;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proposal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 marL="63500" marR="80010">
              <a:lnSpc>
                <a:spcPct val="131900"/>
              </a:lnSpc>
              <a:spcBef>
                <a:spcPts val="3510"/>
              </a:spcBef>
              <a:tabLst>
                <a:tab pos="16700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must </a:t>
            </a:r>
            <a:r>
              <a:rPr sz="2400" dirty="0">
                <a:latin typeface="Lucida Sans Unicode"/>
                <a:cs typeface="Lucida Sans Unicode"/>
              </a:rPr>
              <a:t>query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hospital’s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preference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Ω(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Constant</a:t>
            </a:r>
            <a:r>
              <a:rPr spc="-13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5482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8188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Constant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(1)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2303780"/>
            <a:ext cx="4843145" cy="235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Examples.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Conditional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branch.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Arithmetic/logic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operation.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Declare/initialize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variable.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Follow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link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linked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list.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4533900"/>
            <a:ext cx="7341234" cy="157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Access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</a:t>
            </a:r>
            <a:r>
              <a:rPr sz="2200" i="1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Compare/exchange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50" dirty="0">
                <a:latin typeface="Lucida Sans Unicode"/>
                <a:cs typeface="Lucida Sans Unicode"/>
              </a:rPr>
              <a:t>…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1001" y="2135991"/>
            <a:ext cx="3866515" cy="5848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bounded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by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constant,</a:t>
            </a:r>
            <a:endParaRPr sz="16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which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does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depend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size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81455" y="1817034"/>
            <a:ext cx="385445" cy="385445"/>
            <a:chOff x="5981455" y="1817034"/>
            <a:chExt cx="385445" cy="385445"/>
          </a:xfrm>
        </p:grpSpPr>
        <p:sp>
          <p:nvSpPr>
            <p:cNvPr id="9" name="object 9"/>
            <p:cNvSpPr/>
            <p:nvPr/>
          </p:nvSpPr>
          <p:spPr>
            <a:xfrm>
              <a:off x="6037133" y="1872712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4" h="316864">
                  <a:moveTo>
                    <a:pt x="316586" y="316586"/>
                  </a:moveTo>
                  <a:lnTo>
                    <a:pt x="8980" y="898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1455" y="181703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0" y="0"/>
                  </a:moveTo>
                  <a:lnTo>
                    <a:pt x="43106" y="129315"/>
                  </a:lnTo>
                  <a:lnTo>
                    <a:pt x="64658" y="64658"/>
                  </a:lnTo>
                  <a:lnTo>
                    <a:pt x="129316" y="4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20" dirty="0"/>
              <a:t> 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1016615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0072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365887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Merge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two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sorted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lists.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Combine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linked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175" baseline="-19157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175" baseline="-19157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…,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175" i="1" baseline="-19157" dirty="0">
                <a:latin typeface="Times New Roman"/>
                <a:cs typeface="Times New Roman"/>
              </a:rPr>
              <a:t>n</a:t>
            </a:r>
            <a:r>
              <a:rPr sz="2175" i="1" spc="254" baseline="-19157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and</a:t>
            </a: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919"/>
              </a:spcBef>
              <a:tabLst>
                <a:tab pos="2120900" algn="l"/>
              </a:tabLst>
            </a:pPr>
            <a:r>
              <a:rPr sz="2200" i="1" dirty="0">
                <a:latin typeface="Times New Roman"/>
                <a:cs typeface="Times New Roman"/>
              </a:rPr>
              <a:t>B </a:t>
            </a:r>
            <a:r>
              <a:rPr sz="2200" dirty="0">
                <a:latin typeface="Times New Roman"/>
                <a:cs typeface="Times New Roman"/>
              </a:rPr>
              <a:t>= </a:t>
            </a:r>
            <a:r>
              <a:rPr sz="2200" i="1" dirty="0">
                <a:latin typeface="Times New Roman"/>
                <a:cs typeface="Times New Roman"/>
              </a:rPr>
              <a:t>b</a:t>
            </a:r>
            <a:r>
              <a:rPr sz="2175" baseline="-19157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, </a:t>
            </a:r>
            <a:r>
              <a:rPr sz="2200" i="1" dirty="0">
                <a:latin typeface="Times New Roman"/>
                <a:cs typeface="Times New Roman"/>
              </a:rPr>
              <a:t>b</a:t>
            </a:r>
            <a:r>
              <a:rPr sz="2175" baseline="-19157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, …, </a:t>
            </a:r>
            <a:r>
              <a:rPr sz="2200" i="1" spc="-25" dirty="0">
                <a:latin typeface="Times New Roman"/>
                <a:cs typeface="Times New Roman"/>
              </a:rPr>
              <a:t>b</a:t>
            </a:r>
            <a:r>
              <a:rPr sz="2175" i="1" spc="-37" baseline="-19157" dirty="0">
                <a:latin typeface="Times New Roman"/>
                <a:cs typeface="Times New Roman"/>
              </a:rPr>
              <a:t>n</a:t>
            </a:r>
            <a:r>
              <a:rPr sz="2175" i="1" baseline="-19157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into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whole.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24574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Merge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mergesort.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7893" y="4500535"/>
            <a:ext cx="4933245" cy="153754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10031" y="6627217"/>
            <a:ext cx="8409305" cy="2821940"/>
          </a:xfrm>
          <a:custGeom>
            <a:avLst/>
            <a:gdLst/>
            <a:ahLst/>
            <a:cxnLst/>
            <a:rect l="l" t="t" r="r" b="b"/>
            <a:pathLst>
              <a:path w="8409305" h="2821940">
                <a:moveTo>
                  <a:pt x="8408879" y="0"/>
                </a:moveTo>
                <a:lnTo>
                  <a:pt x="0" y="0"/>
                </a:lnTo>
                <a:lnTo>
                  <a:pt x="0" y="2821583"/>
                </a:lnTo>
                <a:lnTo>
                  <a:pt x="8408879" y="2821583"/>
                </a:lnTo>
                <a:lnTo>
                  <a:pt x="8408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38631" y="6609793"/>
            <a:ext cx="7632700" cy="265874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435"/>
              </a:spcBef>
              <a:tabLst>
                <a:tab pos="287655" algn="l"/>
                <a:tab pos="1054100" algn="l"/>
                <a:tab pos="1290955" algn="l"/>
              </a:tabLst>
            </a:pPr>
            <a:r>
              <a:rPr sz="2400" i="1" spc="-50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j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40"/>
              </a:spcBef>
              <a:tabLst>
                <a:tab pos="1045844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W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HILE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(both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nonempty)</a:t>
            </a:r>
            <a:endParaRPr sz="2400">
              <a:latin typeface="Times New Roman"/>
              <a:cs typeface="Times New Roman"/>
            </a:endParaRPr>
          </a:p>
          <a:p>
            <a:pPr marL="393700" marR="765175">
              <a:lnSpc>
                <a:spcPts val="4100"/>
              </a:lnSpc>
              <a:spcBef>
                <a:spcPts val="340"/>
              </a:spcBef>
              <a:tabLst>
                <a:tab pos="782955" algn="l"/>
                <a:tab pos="1245870" algn="l"/>
                <a:tab pos="1565275" algn="l"/>
                <a:tab pos="2007870" algn="l"/>
                <a:tab pos="2028189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400" i="1" spc="-37" baseline="-6944" dirty="0">
                <a:latin typeface="Times New Roman"/>
                <a:cs typeface="Times New Roman"/>
              </a:rPr>
              <a:t>i</a:t>
            </a:r>
            <a:r>
              <a:rPr sz="2400" i="1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b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	append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284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Times New Roman"/>
                <a:cs typeface="Times New Roman"/>
              </a:rPr>
              <a:t>. </a:t>
            </a:r>
            <a:r>
              <a:rPr sz="2400" spc="-2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900" spc="-2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	</a:t>
            </a:r>
            <a:r>
              <a:rPr sz="2400" dirty="0">
                <a:latin typeface="Times New Roman"/>
                <a:cs typeface="Times New Roman"/>
              </a:rPr>
              <a:t>append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284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80"/>
              </a:spcBef>
            </a:pPr>
            <a:r>
              <a:rPr sz="2400" dirty="0">
                <a:latin typeface="Times New Roman"/>
                <a:cs typeface="Times New Roman"/>
              </a:rPr>
              <a:t>Append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remaining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nonempty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list.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85" dirty="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sz="4000" b="1" cap="small" spc="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5" dirty="0">
                <a:solidFill>
                  <a:srgbClr val="FFFFFF"/>
                </a:solidFill>
                <a:latin typeface="Tahoma"/>
                <a:cs typeface="Tahoma"/>
              </a:rPr>
              <a:t>Sum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802" y="1778000"/>
            <a:ext cx="1067435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  <a:tabLst>
                <a:tab pos="1922145" algn="l"/>
              </a:tabLst>
            </a:pPr>
            <a:r>
              <a:rPr sz="2400" spc="-45" dirty="0">
                <a:solidFill>
                  <a:srgbClr val="005493"/>
                </a:solidFill>
                <a:latin typeface="Lucida Sans Unicode"/>
                <a:cs typeface="Lucida Sans Unicode"/>
              </a:rPr>
              <a:t>T</a:t>
            </a:r>
            <a:r>
              <a:rPr sz="1900" spc="-45" dirty="0">
                <a:solidFill>
                  <a:srgbClr val="005493"/>
                </a:solidFill>
                <a:latin typeface="Lucida Sans Unicode"/>
                <a:cs typeface="Lucida Sans Unicode"/>
              </a:rPr>
              <a:t>ARGET</a:t>
            </a:r>
            <a:r>
              <a:rPr sz="2400" spc="-45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UM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distinct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spc="-2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exactly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8400" y="5918200"/>
            <a:ext cx="80200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−20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2818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10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0885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20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8955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30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7023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35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5090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40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3159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60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1227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70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46468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54535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62605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70673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78740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86809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94877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02944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398863" y="6008109"/>
            <a:ext cx="7575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T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60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70683" y="6637138"/>
            <a:ext cx="121920" cy="366395"/>
            <a:chOff x="4370683" y="6637138"/>
            <a:chExt cx="121920" cy="366395"/>
          </a:xfrm>
        </p:grpSpPr>
        <p:sp>
          <p:nvSpPr>
            <p:cNvPr id="24" name="object 24"/>
            <p:cNvSpPr/>
            <p:nvPr/>
          </p:nvSpPr>
          <p:spPr>
            <a:xfrm>
              <a:off x="4431643" y="671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287539"/>
                  </a:moveTo>
                  <a:lnTo>
                    <a:pt x="0" y="127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70683" y="663713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60960" y="0"/>
                  </a:moveTo>
                  <a:lnTo>
                    <a:pt x="0" y="121920"/>
                  </a:lnTo>
                  <a:lnTo>
                    <a:pt x="60960" y="91440"/>
                  </a:lnTo>
                  <a:lnTo>
                    <a:pt x="121919" y="121920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387036" y="7053374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18690" y="6637138"/>
            <a:ext cx="121920" cy="366395"/>
            <a:chOff x="6818690" y="6637138"/>
            <a:chExt cx="121920" cy="366395"/>
          </a:xfrm>
        </p:grpSpPr>
        <p:sp>
          <p:nvSpPr>
            <p:cNvPr id="28" name="object 28"/>
            <p:cNvSpPr/>
            <p:nvPr/>
          </p:nvSpPr>
          <p:spPr>
            <a:xfrm>
              <a:off x="6879650" y="671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287539"/>
                  </a:moveTo>
                  <a:lnTo>
                    <a:pt x="0" y="127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18690" y="663713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60959" y="0"/>
                  </a:moveTo>
                  <a:lnTo>
                    <a:pt x="0" y="121920"/>
                  </a:lnTo>
                  <a:lnTo>
                    <a:pt x="60959" y="91440"/>
                  </a:lnTo>
                  <a:lnTo>
                    <a:pt x="121920" y="121920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35347" y="7053374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32" name="object 32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50836" y="5924768"/>
            <a:ext cx="8489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6525">
              <a:lnSpc>
                <a:spcPct val="1125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A34431"/>
                </a:solidFill>
                <a:latin typeface="Tahoma"/>
                <a:cs typeface="Tahoma"/>
              </a:rPr>
              <a:t>input </a:t>
            </a:r>
            <a:r>
              <a:rPr sz="1600" b="1" spc="-25" dirty="0">
                <a:solidFill>
                  <a:srgbClr val="A34431"/>
                </a:solidFill>
                <a:latin typeface="Tahoma"/>
                <a:cs typeface="Tahoma"/>
              </a:rPr>
              <a:t>(sorted)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26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85" dirty="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sz="4000" b="1" cap="small" spc="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5" dirty="0">
                <a:solidFill>
                  <a:srgbClr val="FFFFFF"/>
                </a:solidFill>
                <a:latin typeface="Tahoma"/>
                <a:cs typeface="Tahoma"/>
              </a:rPr>
              <a:t>Sum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1778000"/>
            <a:ext cx="10809605" cy="294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 marR="30480">
              <a:lnSpc>
                <a:spcPct val="135400"/>
              </a:lnSpc>
              <a:spcBef>
                <a:spcPts val="100"/>
              </a:spcBef>
              <a:tabLst>
                <a:tab pos="2031364" algn="l"/>
              </a:tabLst>
            </a:pPr>
            <a:r>
              <a:rPr sz="2400" spc="-45" dirty="0">
                <a:solidFill>
                  <a:srgbClr val="005493"/>
                </a:solidFill>
                <a:latin typeface="Lucida Sans Unicode"/>
                <a:cs typeface="Lucida Sans Unicode"/>
              </a:rPr>
              <a:t>T</a:t>
            </a:r>
            <a:r>
              <a:rPr sz="1900" spc="-45" dirty="0">
                <a:solidFill>
                  <a:srgbClr val="005493"/>
                </a:solidFill>
                <a:latin typeface="Lucida Sans Unicode"/>
                <a:cs typeface="Lucida Sans Unicode"/>
              </a:rPr>
              <a:t>ARGET</a:t>
            </a:r>
            <a:r>
              <a:rPr sz="2400" spc="-45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UM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distinct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spc="-2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exactly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5590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9513" dirty="0">
                <a:solidFill>
                  <a:srgbClr val="0048AA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Try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pairs.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24574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Exploit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order.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8196580"/>
            <a:ext cx="1058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464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Invariant.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left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right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8400" y="5918200"/>
            <a:ext cx="1616710" cy="635000"/>
          </a:xfrm>
          <a:custGeom>
            <a:avLst/>
            <a:gdLst/>
            <a:ahLst/>
            <a:cxnLst/>
            <a:rect l="l" t="t" r="r" b="b"/>
            <a:pathLst>
              <a:path w="1616710" h="635000">
                <a:moveTo>
                  <a:pt x="1616125" y="0"/>
                </a:moveTo>
                <a:lnTo>
                  <a:pt x="808062" y="0"/>
                </a:lnTo>
                <a:lnTo>
                  <a:pt x="0" y="0"/>
                </a:lnTo>
                <a:lnTo>
                  <a:pt x="0" y="635000"/>
                </a:lnTo>
                <a:lnTo>
                  <a:pt x="808062" y="635000"/>
                </a:lnTo>
                <a:lnTo>
                  <a:pt x="1616125" y="635000"/>
                </a:lnTo>
                <a:lnTo>
                  <a:pt x="1616125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86803" y="5918200"/>
            <a:ext cx="1616710" cy="635000"/>
          </a:xfrm>
          <a:custGeom>
            <a:avLst/>
            <a:gdLst/>
            <a:ahLst/>
            <a:cxnLst/>
            <a:rect l="l" t="t" r="r" b="b"/>
            <a:pathLst>
              <a:path w="1616709" h="635000">
                <a:moveTo>
                  <a:pt x="1616138" y="0"/>
                </a:moveTo>
                <a:lnTo>
                  <a:pt x="808062" y="0"/>
                </a:lnTo>
                <a:lnTo>
                  <a:pt x="0" y="0"/>
                </a:lnTo>
                <a:lnTo>
                  <a:pt x="0" y="635000"/>
                </a:lnTo>
                <a:lnTo>
                  <a:pt x="808062" y="635000"/>
                </a:lnTo>
                <a:lnTo>
                  <a:pt x="1616138" y="635000"/>
                </a:lnTo>
                <a:lnTo>
                  <a:pt x="161613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38400" y="6040183"/>
            <a:ext cx="16103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  <a:tabLst>
                <a:tab pos="1050925" algn="l"/>
              </a:tabLst>
            </a:pPr>
            <a:r>
              <a:rPr sz="2000" spc="-25" dirty="0">
                <a:latin typeface="Lucida Sans Unicode"/>
                <a:cs typeface="Lucida Sans Unicode"/>
              </a:rPr>
              <a:t>−20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25" dirty="0">
                <a:latin typeface="Lucida Sans Unicode"/>
                <a:cs typeface="Lucida Sans Unicode"/>
              </a:rPr>
              <a:t>10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0885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20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8955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30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77023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35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5090" y="5918200"/>
            <a:ext cx="795655" cy="635000"/>
          </a:xfrm>
          <a:prstGeom prst="rect">
            <a:avLst/>
          </a:prstGeom>
          <a:solidFill>
            <a:srgbClr val="D5D5D5"/>
          </a:solidFill>
        </p:spPr>
        <p:txBody>
          <a:bodyPr vert="horz" wrap="square" lIns="0" tIns="13462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60"/>
              </a:spcBef>
            </a:pPr>
            <a:r>
              <a:rPr sz="2000" spc="-25" dirty="0">
                <a:latin typeface="Lucida Sans Unicode"/>
                <a:cs typeface="Lucida Sans Unicode"/>
              </a:rPr>
              <a:t>40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3159" y="6040183"/>
            <a:ext cx="1604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  <a:tabLst>
                <a:tab pos="1044575" algn="l"/>
              </a:tabLst>
            </a:pPr>
            <a:r>
              <a:rPr sz="2000" spc="-25" dirty="0">
                <a:latin typeface="Lucida Sans Unicode"/>
                <a:cs typeface="Lucida Sans Unicode"/>
              </a:rPr>
              <a:t>60</a:t>
            </a:r>
            <a:r>
              <a:rPr sz="2000" dirty="0">
                <a:latin typeface="Lucida Sans Unicode"/>
                <a:cs typeface="Lucida Sans Unicode"/>
              </a:rPr>
              <a:t>	</a:t>
            </a:r>
            <a:r>
              <a:rPr sz="2000" spc="-25" dirty="0">
                <a:latin typeface="Lucida Sans Unicode"/>
                <a:cs typeface="Lucida Sans Unicode"/>
              </a:rPr>
              <a:t>70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46468" y="5905500"/>
            <a:ext cx="808355" cy="660400"/>
          </a:xfrm>
          <a:custGeom>
            <a:avLst/>
            <a:gdLst/>
            <a:ahLst/>
            <a:cxnLst/>
            <a:rect l="l" t="t" r="r" b="b"/>
            <a:pathLst>
              <a:path w="808354" h="660400">
                <a:moveTo>
                  <a:pt x="0" y="0"/>
                </a:moveTo>
                <a:lnTo>
                  <a:pt x="0" y="660400"/>
                </a:lnTo>
              </a:path>
              <a:path w="808354" h="660400">
                <a:moveTo>
                  <a:pt x="808067" y="0"/>
                </a:moveTo>
                <a:lnTo>
                  <a:pt x="808067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62605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70673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78740" y="5905500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86809" y="5905500"/>
            <a:ext cx="1616710" cy="660400"/>
          </a:xfrm>
          <a:custGeom>
            <a:avLst/>
            <a:gdLst/>
            <a:ahLst/>
            <a:cxnLst/>
            <a:rect l="l" t="t" r="r" b="b"/>
            <a:pathLst>
              <a:path w="1616709" h="660400">
                <a:moveTo>
                  <a:pt x="0" y="0"/>
                </a:moveTo>
                <a:lnTo>
                  <a:pt x="0" y="660400"/>
                </a:lnTo>
              </a:path>
              <a:path w="1616709" h="660400">
                <a:moveTo>
                  <a:pt x="808067" y="0"/>
                </a:moveTo>
                <a:lnTo>
                  <a:pt x="808067" y="660400"/>
                </a:lnTo>
              </a:path>
              <a:path w="1616709" h="660400">
                <a:moveTo>
                  <a:pt x="1616135" y="0"/>
                </a:moveTo>
                <a:lnTo>
                  <a:pt x="1616135" y="660400"/>
                </a:lnTo>
              </a:path>
            </a:pathLst>
          </a:custGeom>
          <a:ln w="12700">
            <a:solidFill>
              <a:srgbClr val="E7EA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350836" y="5924768"/>
            <a:ext cx="8489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6525">
              <a:lnSpc>
                <a:spcPct val="1125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A34431"/>
                </a:solidFill>
                <a:latin typeface="Tahoma"/>
                <a:cs typeface="Tahoma"/>
              </a:rPr>
              <a:t>input </a:t>
            </a:r>
            <a:r>
              <a:rPr sz="1600" b="1" spc="-25" dirty="0">
                <a:solidFill>
                  <a:srgbClr val="A34431"/>
                </a:solidFill>
                <a:latin typeface="Tahoma"/>
                <a:cs typeface="Tahoma"/>
              </a:rPr>
              <a:t>(sorted)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98863" y="6008109"/>
            <a:ext cx="7575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T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60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83183" y="6637138"/>
            <a:ext cx="121920" cy="366395"/>
            <a:chOff x="2783183" y="6637138"/>
            <a:chExt cx="121920" cy="366395"/>
          </a:xfrm>
        </p:grpSpPr>
        <p:sp>
          <p:nvSpPr>
            <p:cNvPr id="23" name="object 23"/>
            <p:cNvSpPr/>
            <p:nvPr/>
          </p:nvSpPr>
          <p:spPr>
            <a:xfrm>
              <a:off x="2844143" y="671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287539"/>
                  </a:moveTo>
                  <a:lnTo>
                    <a:pt x="0" y="127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83183" y="663713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60959" y="0"/>
                  </a:moveTo>
                  <a:lnTo>
                    <a:pt x="0" y="121920"/>
                  </a:lnTo>
                  <a:lnTo>
                    <a:pt x="60959" y="91440"/>
                  </a:lnTo>
                  <a:lnTo>
                    <a:pt x="121919" y="121920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799535" y="7053374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56990" y="6637138"/>
            <a:ext cx="121920" cy="366395"/>
            <a:chOff x="8456990" y="6637138"/>
            <a:chExt cx="121920" cy="366395"/>
          </a:xfrm>
        </p:grpSpPr>
        <p:sp>
          <p:nvSpPr>
            <p:cNvPr id="27" name="object 27"/>
            <p:cNvSpPr/>
            <p:nvPr/>
          </p:nvSpPr>
          <p:spPr>
            <a:xfrm>
              <a:off x="8517950" y="671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287539"/>
                  </a:moveTo>
                  <a:lnTo>
                    <a:pt x="0" y="127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56990" y="663713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60959" y="0"/>
                  </a:moveTo>
                  <a:lnTo>
                    <a:pt x="0" y="121920"/>
                  </a:lnTo>
                  <a:lnTo>
                    <a:pt x="60959" y="91440"/>
                  </a:lnTo>
                  <a:lnTo>
                    <a:pt x="121920" y="121920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73647" y="7053374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64610" y="5976359"/>
            <a:ext cx="584200" cy="469900"/>
          </a:xfrm>
          <a:custGeom>
            <a:avLst/>
            <a:gdLst/>
            <a:ahLst/>
            <a:cxnLst/>
            <a:rect l="l" t="t" r="r" b="b"/>
            <a:pathLst>
              <a:path w="584200" h="469900">
                <a:moveTo>
                  <a:pt x="584175" y="0"/>
                </a:moveTo>
                <a:lnTo>
                  <a:pt x="0" y="0"/>
                </a:lnTo>
                <a:lnTo>
                  <a:pt x="0" y="469900"/>
                </a:lnTo>
                <a:lnTo>
                  <a:pt x="584175" y="469900"/>
                </a:lnTo>
                <a:lnTo>
                  <a:pt x="584175" y="0"/>
                </a:lnTo>
                <a:close/>
              </a:path>
            </a:pathLst>
          </a:custGeom>
          <a:solidFill>
            <a:srgbClr val="D5D5D5">
              <a:alpha val="745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26610" y="5976359"/>
            <a:ext cx="584200" cy="469900"/>
          </a:xfrm>
          <a:custGeom>
            <a:avLst/>
            <a:gdLst/>
            <a:ahLst/>
            <a:cxnLst/>
            <a:rect l="l" t="t" r="r" b="b"/>
            <a:pathLst>
              <a:path w="584200" h="469900">
                <a:moveTo>
                  <a:pt x="584175" y="0"/>
                </a:moveTo>
                <a:lnTo>
                  <a:pt x="0" y="0"/>
                </a:lnTo>
                <a:lnTo>
                  <a:pt x="0" y="469900"/>
                </a:lnTo>
                <a:lnTo>
                  <a:pt x="584175" y="469900"/>
                </a:lnTo>
                <a:lnTo>
                  <a:pt x="584175" y="0"/>
                </a:lnTo>
                <a:close/>
              </a:path>
            </a:pathLst>
          </a:custGeom>
          <a:solidFill>
            <a:srgbClr val="D5D5D5">
              <a:alpha val="745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52610" y="5976359"/>
            <a:ext cx="584200" cy="469900"/>
          </a:xfrm>
          <a:custGeom>
            <a:avLst/>
            <a:gdLst/>
            <a:ahLst/>
            <a:cxnLst/>
            <a:rect l="l" t="t" r="r" b="b"/>
            <a:pathLst>
              <a:path w="584200" h="469900">
                <a:moveTo>
                  <a:pt x="584175" y="0"/>
                </a:moveTo>
                <a:lnTo>
                  <a:pt x="0" y="0"/>
                </a:lnTo>
                <a:lnTo>
                  <a:pt x="0" y="469900"/>
                </a:lnTo>
                <a:lnTo>
                  <a:pt x="584175" y="469900"/>
                </a:lnTo>
                <a:lnTo>
                  <a:pt x="584175" y="0"/>
                </a:lnTo>
                <a:close/>
              </a:path>
            </a:pathLst>
          </a:custGeom>
          <a:solidFill>
            <a:srgbClr val="D5D5D5">
              <a:alpha val="745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90610" y="5976359"/>
            <a:ext cx="584200" cy="469900"/>
          </a:xfrm>
          <a:custGeom>
            <a:avLst/>
            <a:gdLst/>
            <a:ahLst/>
            <a:cxnLst/>
            <a:rect l="l" t="t" r="r" b="b"/>
            <a:pathLst>
              <a:path w="584200" h="469900">
                <a:moveTo>
                  <a:pt x="584175" y="0"/>
                </a:moveTo>
                <a:lnTo>
                  <a:pt x="0" y="0"/>
                </a:lnTo>
                <a:lnTo>
                  <a:pt x="0" y="469900"/>
                </a:lnTo>
                <a:lnTo>
                  <a:pt x="584175" y="469900"/>
                </a:lnTo>
                <a:lnTo>
                  <a:pt x="584175" y="0"/>
                </a:lnTo>
                <a:close/>
              </a:path>
            </a:pathLst>
          </a:custGeom>
          <a:solidFill>
            <a:srgbClr val="D5D5D5">
              <a:alpha val="745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35" name="object 35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27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Logarithmic</a:t>
            </a:r>
            <a:r>
              <a:rPr spc="16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1339195" cy="183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797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Logarithmic</a:t>
            </a:r>
            <a:r>
              <a:rPr sz="2400" spc="-1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(log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tabLst>
                <a:tab pos="380746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Search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sorted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array.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distinct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an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index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3751579"/>
            <a:ext cx="4961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274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(log</a:t>
            </a:r>
            <a:r>
              <a:rPr sz="2400" spc="-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3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Binary</a:t>
            </a:r>
            <a:r>
              <a:rPr sz="2400" spc="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search.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4051300"/>
            <a:ext cx="7788909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Invariant: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lo </a:t>
            </a:r>
            <a:r>
              <a:rPr sz="2400" dirty="0">
                <a:latin typeface="Times New Roman"/>
                <a:cs typeface="Times New Roman"/>
              </a:rPr>
              <a:t>.. </a:t>
            </a:r>
            <a:r>
              <a:rPr sz="2400" i="1" spc="-20" dirty="0">
                <a:latin typeface="Times New Roman"/>
                <a:cs typeface="Times New Roman"/>
              </a:rPr>
              <a:t>hi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  <a:tabLst>
                <a:tab pos="6767830" algn="l"/>
                <a:tab pos="708787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After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iterations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WHILE</a:t>
            </a:r>
            <a:r>
              <a:rPr sz="1900" spc="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loop,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hi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lo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n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</a:t>
            </a:r>
            <a:r>
              <a:rPr sz="2400" i="1" spc="-37" baseline="17361" dirty="0">
                <a:latin typeface="Times New Roman"/>
                <a:cs typeface="Times New Roman"/>
              </a:rPr>
              <a:t>k</a:t>
            </a:r>
            <a:endParaRPr sz="2400" baseline="1736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1618" y="4716779"/>
            <a:ext cx="2461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09270" algn="l"/>
                <a:tab pos="796925" algn="l"/>
                <a:tab pos="1116965" algn="l"/>
              </a:tabLst>
            </a:pPr>
            <a:r>
              <a:rPr sz="2400" spc="-50" dirty="0">
                <a:latin typeface="Lucida Sans Unicode"/>
                <a:cs typeface="Lucida Sans Unicode"/>
              </a:rPr>
              <a:t>→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 log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spc="300" baseline="-6944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36433" y="5541168"/>
            <a:ext cx="5827395" cy="3907790"/>
          </a:xfrm>
          <a:custGeom>
            <a:avLst/>
            <a:gdLst/>
            <a:ahLst/>
            <a:cxnLst/>
            <a:rect l="l" t="t" r="r" b="b"/>
            <a:pathLst>
              <a:path w="5827395" h="3907790">
                <a:moveTo>
                  <a:pt x="5827353" y="0"/>
                </a:moveTo>
                <a:lnTo>
                  <a:pt x="0" y="0"/>
                </a:lnTo>
                <a:lnTo>
                  <a:pt x="0" y="3907631"/>
                </a:lnTo>
                <a:lnTo>
                  <a:pt x="5827353" y="3907631"/>
                </a:lnTo>
                <a:lnTo>
                  <a:pt x="58273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03133" y="5693568"/>
            <a:ext cx="210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955" algn="l"/>
                <a:tab pos="1481455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lo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1;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hi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684083" y="6318051"/>
          <a:ext cx="4996815" cy="1375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640"/>
                <a:gridCol w="2195830"/>
                <a:gridCol w="1871345"/>
              </a:tblGrid>
              <a:tr h="948055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400" cap="small" spc="-10" dirty="0">
                          <a:solidFill>
                            <a:srgbClr val="003F83"/>
                          </a:solidFill>
                          <a:latin typeface="Times New Roman"/>
                          <a:cs typeface="Times New Roman"/>
                        </a:rPr>
                        <a:t>While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7465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mid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280"/>
                        </a:lnSpc>
                        <a:tabLst>
                          <a:tab pos="588010" algn="l"/>
                          <a:tab pos="908050" algn="l"/>
                        </a:tabLst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≤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hi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2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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24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hi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00" spc="-25" dirty="0">
                          <a:latin typeface="Symbol"/>
                          <a:cs typeface="Symbol"/>
                        </a:rPr>
                        <a:t>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7355">
                <a:tc>
                  <a:txBody>
                    <a:bodyPr/>
                    <a:lstStyle/>
                    <a:p>
                      <a:pPr marL="565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cap="small" spc="-25" dirty="0">
                          <a:solidFill>
                            <a:srgbClr val="003F83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838835" algn="l"/>
                          <a:tab pos="1158240" algn="l"/>
                        </a:tabLst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i="1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400" i="1" spc="-10" dirty="0">
                          <a:latin typeface="Times New Roman"/>
                          <a:cs typeface="Times New Roman"/>
                        </a:rPr>
                        <a:t>mid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])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452120" algn="l"/>
                        </a:tabLst>
                      </a:pPr>
                      <a:r>
                        <a:rPr sz="2400" i="1" spc="-25" dirty="0">
                          <a:latin typeface="Times New Roman"/>
                          <a:cs typeface="Times New Roman"/>
                        </a:rPr>
                        <a:t>hi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dirty="0">
                          <a:latin typeface="Times New Roman"/>
                          <a:cs typeface="Times New Roman"/>
                        </a:rPr>
                        <a:t>mid</a:t>
                      </a:r>
                      <a:r>
                        <a:rPr sz="24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−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703133" y="7651193"/>
            <a:ext cx="4958715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46400"/>
              </a:lnSpc>
              <a:spcBef>
                <a:spcPts val="100"/>
              </a:spcBef>
              <a:tabLst>
                <a:tab pos="1127125" algn="l"/>
                <a:tab pos="1749425" algn="l"/>
                <a:tab pos="2068195" algn="l"/>
                <a:tab pos="3168650" algn="l"/>
                <a:tab pos="3557904" algn="l"/>
              </a:tabLst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900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8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mid</a:t>
            </a:r>
            <a:r>
              <a:rPr sz="2400" spc="-10" dirty="0">
                <a:latin typeface="Times New Roman"/>
                <a:cs typeface="Times New Roman"/>
              </a:rPr>
              <a:t>])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lo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mid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25" dirty="0">
                <a:latin typeface="Times New Roman"/>
                <a:cs typeface="Times New Roman"/>
              </a:rPr>
              <a:t>1. </a:t>
            </a:r>
            <a:r>
              <a:rPr sz="2400" spc="-2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900" spc="-2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spc="13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mid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cap="small" spc="13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cap="small" spc="-25" dirty="0">
                <a:latin typeface="Times New Roman"/>
                <a:cs typeface="Times New Roman"/>
              </a:rPr>
              <a:t>−1.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78443" y="3560546"/>
            <a:ext cx="19780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remaining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elements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37403" y="3883876"/>
            <a:ext cx="317500" cy="317500"/>
            <a:chOff x="8037403" y="3883876"/>
            <a:chExt cx="317500" cy="317500"/>
          </a:xfrm>
        </p:grpSpPr>
        <p:sp>
          <p:nvSpPr>
            <p:cNvPr id="14" name="object 14"/>
            <p:cNvSpPr/>
            <p:nvPr/>
          </p:nvSpPr>
          <p:spPr>
            <a:xfrm>
              <a:off x="8093080" y="3896576"/>
              <a:ext cx="248920" cy="248920"/>
            </a:xfrm>
            <a:custGeom>
              <a:avLst/>
              <a:gdLst/>
              <a:ahLst/>
              <a:cxnLst/>
              <a:rect l="l" t="t" r="r" b="b"/>
              <a:pathLst>
                <a:path w="248920" h="248920">
                  <a:moveTo>
                    <a:pt x="248646" y="0"/>
                  </a:moveTo>
                  <a:lnTo>
                    <a:pt x="8980" y="239666"/>
                  </a:lnTo>
                  <a:lnTo>
                    <a:pt x="0" y="248646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37403" y="4071585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43105" y="0"/>
                  </a:moveTo>
                  <a:lnTo>
                    <a:pt x="0" y="129315"/>
                  </a:lnTo>
                  <a:lnTo>
                    <a:pt x="129315" y="86210"/>
                  </a:lnTo>
                  <a:lnTo>
                    <a:pt x="64656" y="64658"/>
                  </a:lnTo>
                  <a:lnTo>
                    <a:pt x="4310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2759" y="5747535"/>
            <a:ext cx="746220" cy="6858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35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Logarithmic</a:t>
            </a:r>
            <a:r>
              <a:rPr spc="16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time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532767" y="2441740"/>
            <a:ext cx="7472045" cy="7312025"/>
            <a:chOff x="5532767" y="2441740"/>
            <a:chExt cx="7472045" cy="7312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372" y="2441740"/>
              <a:ext cx="7305427" cy="73118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2767" y="5449970"/>
              <a:ext cx="5130634" cy="13462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93563" y="9145587"/>
            <a:ext cx="5157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AAAAAA"/>
                </a:solidFill>
                <a:latin typeface="Tahoma"/>
                <a:cs typeface="Tahoma"/>
              </a:rPr>
              <a:t>https://</a:t>
            </a:r>
            <a:r>
              <a:rPr sz="1600" b="1" spc="-10" dirty="0">
                <a:solidFill>
                  <a:srgbClr val="AAAAAA"/>
                </a:solidFill>
                <a:latin typeface="Tahoma"/>
                <a:cs typeface="Tahoma"/>
                <a:hlinkClick r:id="rId4"/>
              </a:rPr>
              <a:t>www.facebook.com/pg/npcompleteteens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0867" y="5462670"/>
            <a:ext cx="5054600" cy="12700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8685"/>
              </a:lnSpc>
            </a:pPr>
            <a:r>
              <a:rPr sz="7600" i="1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7600" dirty="0">
                <a:solidFill>
                  <a:srgbClr val="FFFFFF"/>
                </a:solidFill>
                <a:latin typeface="Times New Roman"/>
                <a:cs typeface="Times New Roman"/>
              </a:rPr>
              <a:t>(log</a:t>
            </a:r>
            <a:r>
              <a:rPr sz="7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76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600" spc="-2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7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35" dirty="0">
                <a:solidFill>
                  <a:srgbClr val="FFFFFF"/>
                </a:solidFill>
                <a:latin typeface="Tahoma"/>
                <a:cs typeface="Tahoma"/>
              </a:rPr>
              <a:t>Search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75" dirty="0">
                <a:solidFill>
                  <a:srgbClr val="FFFFFF"/>
                </a:solidFill>
                <a:latin typeface="Tahoma"/>
                <a:cs typeface="Tahoma"/>
              </a:rPr>
              <a:t>sorted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50" dirty="0">
                <a:solidFill>
                  <a:srgbClr val="FFFFFF"/>
                </a:solidFill>
                <a:latin typeface="Tahoma"/>
                <a:cs typeface="Tahoma"/>
              </a:rPr>
              <a:t>rotated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15" dirty="0">
                <a:solidFill>
                  <a:srgbClr val="FFFFFF"/>
                </a:solidFill>
                <a:latin typeface="Tahoma"/>
                <a:cs typeface="Tahoma"/>
              </a:rPr>
              <a:t>array</a:t>
            </a:r>
            <a:endParaRPr sz="40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998000" y="8148597"/>
          <a:ext cx="9700252" cy="63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8355"/>
                <a:gridCol w="808355"/>
                <a:gridCol w="808354"/>
                <a:gridCol w="808355"/>
                <a:gridCol w="808355"/>
                <a:gridCol w="808354"/>
                <a:gridCol w="808354"/>
                <a:gridCol w="808354"/>
                <a:gridCol w="808354"/>
                <a:gridCol w="808354"/>
                <a:gridCol w="808354"/>
                <a:gridCol w="808354"/>
              </a:tblGrid>
              <a:tr h="635000"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80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85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90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95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20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30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35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50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60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65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67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000" spc="-25" dirty="0">
                          <a:latin typeface="Lucida Sans Unicode"/>
                          <a:cs typeface="Lucida Sans Unicode"/>
                        </a:rPr>
                        <a:t>75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CBCBCB"/>
                      </a:solidFill>
                      <a:prstDash val="solid"/>
                    </a:lnL>
                    <a:lnR w="12700">
                      <a:solidFill>
                        <a:srgbClr val="CBCBCB"/>
                      </a:solidFill>
                      <a:prstDash val="solid"/>
                    </a:lnR>
                    <a:lnT w="12700">
                      <a:solidFill>
                        <a:srgbClr val="CBCBCB"/>
                      </a:solidFill>
                      <a:prstDash val="solid"/>
                    </a:lnT>
                    <a:lnB w="12700">
                      <a:solidFill>
                        <a:srgbClr val="CBCBC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203699" y="3504734"/>
            <a:ext cx="3397885" cy="3397885"/>
            <a:chOff x="4203699" y="3504734"/>
            <a:chExt cx="3397885" cy="3397885"/>
          </a:xfrm>
        </p:grpSpPr>
        <p:sp>
          <p:nvSpPr>
            <p:cNvPr id="7" name="object 7"/>
            <p:cNvSpPr/>
            <p:nvPr/>
          </p:nvSpPr>
          <p:spPr>
            <a:xfrm>
              <a:off x="5286263" y="6141612"/>
              <a:ext cx="616585" cy="605155"/>
            </a:xfrm>
            <a:custGeom>
              <a:avLst/>
              <a:gdLst/>
              <a:ahLst/>
              <a:cxnLst/>
              <a:rect l="l" t="t" r="r" b="b"/>
              <a:pathLst>
                <a:path w="616585" h="605154">
                  <a:moveTo>
                    <a:pt x="378477" y="0"/>
                  </a:moveTo>
                  <a:lnTo>
                    <a:pt x="0" y="340782"/>
                  </a:lnTo>
                  <a:lnTo>
                    <a:pt x="237719" y="604798"/>
                  </a:lnTo>
                  <a:lnTo>
                    <a:pt x="616197" y="264015"/>
                  </a:lnTo>
                  <a:lnTo>
                    <a:pt x="378477" y="0"/>
                  </a:lnTo>
                  <a:close/>
                </a:path>
              </a:pathLst>
            </a:custGeom>
            <a:solidFill>
              <a:srgbClr val="CCD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17739" y="3518772"/>
              <a:ext cx="3369945" cy="3369945"/>
            </a:xfrm>
            <a:custGeom>
              <a:avLst/>
              <a:gdLst/>
              <a:ahLst/>
              <a:cxnLst/>
              <a:rect l="l" t="t" r="r" b="b"/>
              <a:pathLst>
                <a:path w="3369945" h="3369945">
                  <a:moveTo>
                    <a:pt x="1684721" y="0"/>
                  </a:moveTo>
                  <a:lnTo>
                    <a:pt x="1636754" y="669"/>
                  </a:lnTo>
                  <a:lnTo>
                    <a:pt x="1589119" y="2666"/>
                  </a:lnTo>
                  <a:lnTo>
                    <a:pt x="1541834" y="5973"/>
                  </a:lnTo>
                  <a:lnTo>
                    <a:pt x="1494917" y="10572"/>
                  </a:lnTo>
                  <a:lnTo>
                    <a:pt x="1448385" y="16445"/>
                  </a:lnTo>
                  <a:lnTo>
                    <a:pt x="1402256" y="23575"/>
                  </a:lnTo>
                  <a:lnTo>
                    <a:pt x="1356548" y="31943"/>
                  </a:lnTo>
                  <a:lnTo>
                    <a:pt x="1311278" y="41532"/>
                  </a:lnTo>
                  <a:lnTo>
                    <a:pt x="1266465" y="52325"/>
                  </a:lnTo>
                  <a:lnTo>
                    <a:pt x="1222127" y="64302"/>
                  </a:lnTo>
                  <a:lnTo>
                    <a:pt x="1178280" y="77447"/>
                  </a:lnTo>
                  <a:lnTo>
                    <a:pt x="1134943" y="91742"/>
                  </a:lnTo>
                  <a:lnTo>
                    <a:pt x="1092134" y="107169"/>
                  </a:lnTo>
                  <a:lnTo>
                    <a:pt x="1049870" y="123710"/>
                  </a:lnTo>
                  <a:lnTo>
                    <a:pt x="1008169" y="141347"/>
                  </a:lnTo>
                  <a:lnTo>
                    <a:pt x="967049" y="160063"/>
                  </a:lnTo>
                  <a:lnTo>
                    <a:pt x="926528" y="179840"/>
                  </a:lnTo>
                  <a:lnTo>
                    <a:pt x="886623" y="200660"/>
                  </a:lnTo>
                  <a:lnTo>
                    <a:pt x="847353" y="222506"/>
                  </a:lnTo>
                  <a:lnTo>
                    <a:pt x="808734" y="245358"/>
                  </a:lnTo>
                  <a:lnTo>
                    <a:pt x="770785" y="269201"/>
                  </a:lnTo>
                  <a:lnTo>
                    <a:pt x="733524" y="294016"/>
                  </a:lnTo>
                  <a:lnTo>
                    <a:pt x="696968" y="319785"/>
                  </a:lnTo>
                  <a:lnTo>
                    <a:pt x="661135" y="346490"/>
                  </a:lnTo>
                  <a:lnTo>
                    <a:pt x="626043" y="374114"/>
                  </a:lnTo>
                  <a:lnTo>
                    <a:pt x="591710" y="402639"/>
                  </a:lnTo>
                  <a:lnTo>
                    <a:pt x="558153" y="432047"/>
                  </a:lnTo>
                  <a:lnTo>
                    <a:pt x="525391" y="462320"/>
                  </a:lnTo>
                  <a:lnTo>
                    <a:pt x="493440" y="493441"/>
                  </a:lnTo>
                  <a:lnTo>
                    <a:pt x="462319" y="525391"/>
                  </a:lnTo>
                  <a:lnTo>
                    <a:pt x="432046" y="558154"/>
                  </a:lnTo>
                  <a:lnTo>
                    <a:pt x="402638" y="591711"/>
                  </a:lnTo>
                  <a:lnTo>
                    <a:pt x="374113" y="626044"/>
                  </a:lnTo>
                  <a:lnTo>
                    <a:pt x="346489" y="661136"/>
                  </a:lnTo>
                  <a:lnTo>
                    <a:pt x="319784" y="696969"/>
                  </a:lnTo>
                  <a:lnTo>
                    <a:pt x="294015" y="733525"/>
                  </a:lnTo>
                  <a:lnTo>
                    <a:pt x="269201" y="770786"/>
                  </a:lnTo>
                  <a:lnTo>
                    <a:pt x="245358" y="808735"/>
                  </a:lnTo>
                  <a:lnTo>
                    <a:pt x="222505" y="847354"/>
                  </a:lnTo>
                  <a:lnTo>
                    <a:pt x="200660" y="886624"/>
                  </a:lnTo>
                  <a:lnTo>
                    <a:pt x="179840" y="926529"/>
                  </a:lnTo>
                  <a:lnTo>
                    <a:pt x="160063" y="967050"/>
                  </a:lnTo>
                  <a:lnTo>
                    <a:pt x="141347" y="1008170"/>
                  </a:lnTo>
                  <a:lnTo>
                    <a:pt x="123709" y="1049871"/>
                  </a:lnTo>
                  <a:lnTo>
                    <a:pt x="107169" y="1092135"/>
                  </a:lnTo>
                  <a:lnTo>
                    <a:pt x="91742" y="1134944"/>
                  </a:lnTo>
                  <a:lnTo>
                    <a:pt x="77447" y="1178281"/>
                  </a:lnTo>
                  <a:lnTo>
                    <a:pt x="64302" y="1222128"/>
                  </a:lnTo>
                  <a:lnTo>
                    <a:pt x="52324" y="1266467"/>
                  </a:lnTo>
                  <a:lnTo>
                    <a:pt x="41532" y="1311279"/>
                  </a:lnTo>
                  <a:lnTo>
                    <a:pt x="31943" y="1356549"/>
                  </a:lnTo>
                  <a:lnTo>
                    <a:pt x="23575" y="1402257"/>
                  </a:lnTo>
                  <a:lnTo>
                    <a:pt x="16445" y="1448386"/>
                  </a:lnTo>
                  <a:lnTo>
                    <a:pt x="10572" y="1494918"/>
                  </a:lnTo>
                  <a:lnTo>
                    <a:pt x="5973" y="1541835"/>
                  </a:lnTo>
                  <a:lnTo>
                    <a:pt x="2666" y="1589120"/>
                  </a:lnTo>
                  <a:lnTo>
                    <a:pt x="669" y="1636755"/>
                  </a:lnTo>
                  <a:lnTo>
                    <a:pt x="0" y="1684722"/>
                  </a:lnTo>
                  <a:lnTo>
                    <a:pt x="669" y="1732689"/>
                  </a:lnTo>
                  <a:lnTo>
                    <a:pt x="2666" y="1780323"/>
                  </a:lnTo>
                  <a:lnTo>
                    <a:pt x="5973" y="1827608"/>
                  </a:lnTo>
                  <a:lnTo>
                    <a:pt x="10572" y="1874526"/>
                  </a:lnTo>
                  <a:lnTo>
                    <a:pt x="16445" y="1921058"/>
                  </a:lnTo>
                  <a:lnTo>
                    <a:pt x="23575" y="1967186"/>
                  </a:lnTo>
                  <a:lnTo>
                    <a:pt x="31943" y="2012894"/>
                  </a:lnTo>
                  <a:lnTo>
                    <a:pt x="41532" y="2058164"/>
                  </a:lnTo>
                  <a:lnTo>
                    <a:pt x="52324" y="2102977"/>
                  </a:lnTo>
                  <a:lnTo>
                    <a:pt x="64302" y="2147315"/>
                  </a:lnTo>
                  <a:lnTo>
                    <a:pt x="77447" y="2191162"/>
                  </a:lnTo>
                  <a:lnTo>
                    <a:pt x="91742" y="2234499"/>
                  </a:lnTo>
                  <a:lnTo>
                    <a:pt x="107169" y="2277308"/>
                  </a:lnTo>
                  <a:lnTo>
                    <a:pt x="123709" y="2319572"/>
                  </a:lnTo>
                  <a:lnTo>
                    <a:pt x="141347" y="2361273"/>
                  </a:lnTo>
                  <a:lnTo>
                    <a:pt x="160063" y="2402393"/>
                  </a:lnTo>
                  <a:lnTo>
                    <a:pt x="179840" y="2442914"/>
                  </a:lnTo>
                  <a:lnTo>
                    <a:pt x="200660" y="2482819"/>
                  </a:lnTo>
                  <a:lnTo>
                    <a:pt x="222505" y="2522089"/>
                  </a:lnTo>
                  <a:lnTo>
                    <a:pt x="245358" y="2560708"/>
                  </a:lnTo>
                  <a:lnTo>
                    <a:pt x="269201" y="2598657"/>
                  </a:lnTo>
                  <a:lnTo>
                    <a:pt x="294015" y="2635918"/>
                  </a:lnTo>
                  <a:lnTo>
                    <a:pt x="319784" y="2672474"/>
                  </a:lnTo>
                  <a:lnTo>
                    <a:pt x="346489" y="2708306"/>
                  </a:lnTo>
                  <a:lnTo>
                    <a:pt x="374113" y="2743398"/>
                  </a:lnTo>
                  <a:lnTo>
                    <a:pt x="402638" y="2777732"/>
                  </a:lnTo>
                  <a:lnTo>
                    <a:pt x="432046" y="2811288"/>
                  </a:lnTo>
                  <a:lnTo>
                    <a:pt x="462319" y="2844051"/>
                  </a:lnTo>
                  <a:lnTo>
                    <a:pt x="493440" y="2876002"/>
                  </a:lnTo>
                  <a:lnTo>
                    <a:pt x="525391" y="2907122"/>
                  </a:lnTo>
                  <a:lnTo>
                    <a:pt x="558153" y="2937396"/>
                  </a:lnTo>
                  <a:lnTo>
                    <a:pt x="591710" y="2966804"/>
                  </a:lnTo>
                  <a:lnTo>
                    <a:pt x="626043" y="2995329"/>
                  </a:lnTo>
                  <a:lnTo>
                    <a:pt x="661135" y="3022952"/>
                  </a:lnTo>
                  <a:lnTo>
                    <a:pt x="696968" y="3049658"/>
                  </a:lnTo>
                  <a:lnTo>
                    <a:pt x="733524" y="3075427"/>
                  </a:lnTo>
                  <a:lnTo>
                    <a:pt x="770785" y="3100241"/>
                  </a:lnTo>
                  <a:lnTo>
                    <a:pt x="808734" y="3124084"/>
                  </a:lnTo>
                  <a:lnTo>
                    <a:pt x="847353" y="3146937"/>
                  </a:lnTo>
                  <a:lnTo>
                    <a:pt x="886623" y="3168782"/>
                  </a:lnTo>
                  <a:lnTo>
                    <a:pt x="926528" y="3189602"/>
                  </a:lnTo>
                  <a:lnTo>
                    <a:pt x="967049" y="3209379"/>
                  </a:lnTo>
                  <a:lnTo>
                    <a:pt x="1008169" y="3228095"/>
                  </a:lnTo>
                  <a:lnTo>
                    <a:pt x="1049870" y="3245733"/>
                  </a:lnTo>
                  <a:lnTo>
                    <a:pt x="1092134" y="3262274"/>
                  </a:lnTo>
                  <a:lnTo>
                    <a:pt x="1134943" y="3277700"/>
                  </a:lnTo>
                  <a:lnTo>
                    <a:pt x="1178280" y="3291995"/>
                  </a:lnTo>
                  <a:lnTo>
                    <a:pt x="1222127" y="3305140"/>
                  </a:lnTo>
                  <a:lnTo>
                    <a:pt x="1266465" y="3317118"/>
                  </a:lnTo>
                  <a:lnTo>
                    <a:pt x="1311278" y="3327910"/>
                  </a:lnTo>
                  <a:lnTo>
                    <a:pt x="1356548" y="3337499"/>
                  </a:lnTo>
                  <a:lnTo>
                    <a:pt x="1402256" y="3345867"/>
                  </a:lnTo>
                  <a:lnTo>
                    <a:pt x="1448385" y="3352997"/>
                  </a:lnTo>
                  <a:lnTo>
                    <a:pt x="1494917" y="3358870"/>
                  </a:lnTo>
                  <a:lnTo>
                    <a:pt x="1541834" y="3363469"/>
                  </a:lnTo>
                  <a:lnTo>
                    <a:pt x="1589119" y="3366776"/>
                  </a:lnTo>
                  <a:lnTo>
                    <a:pt x="1636754" y="3368773"/>
                  </a:lnTo>
                  <a:lnTo>
                    <a:pt x="1684721" y="3369443"/>
                  </a:lnTo>
                  <a:lnTo>
                    <a:pt x="1732687" y="3368773"/>
                  </a:lnTo>
                  <a:lnTo>
                    <a:pt x="1780322" y="3366776"/>
                  </a:lnTo>
                  <a:lnTo>
                    <a:pt x="1827607" y="3363469"/>
                  </a:lnTo>
                  <a:lnTo>
                    <a:pt x="1874524" y="3358870"/>
                  </a:lnTo>
                  <a:lnTo>
                    <a:pt x="1921057" y="3352997"/>
                  </a:lnTo>
                  <a:lnTo>
                    <a:pt x="1967185" y="3345867"/>
                  </a:lnTo>
                  <a:lnTo>
                    <a:pt x="2012893" y="3337499"/>
                  </a:lnTo>
                  <a:lnTo>
                    <a:pt x="2058163" y="3327910"/>
                  </a:lnTo>
                  <a:lnTo>
                    <a:pt x="2102976" y="3317118"/>
                  </a:lnTo>
                  <a:lnTo>
                    <a:pt x="2147314" y="3305140"/>
                  </a:lnTo>
                  <a:lnTo>
                    <a:pt x="2191161" y="3291995"/>
                  </a:lnTo>
                  <a:lnTo>
                    <a:pt x="2234498" y="3277700"/>
                  </a:lnTo>
                  <a:lnTo>
                    <a:pt x="2277307" y="3262274"/>
                  </a:lnTo>
                  <a:lnTo>
                    <a:pt x="2319571" y="3245733"/>
                  </a:lnTo>
                  <a:lnTo>
                    <a:pt x="2361272" y="3228095"/>
                  </a:lnTo>
                  <a:lnTo>
                    <a:pt x="2402392" y="3209379"/>
                  </a:lnTo>
                  <a:lnTo>
                    <a:pt x="2442913" y="3189602"/>
                  </a:lnTo>
                  <a:lnTo>
                    <a:pt x="2482818" y="3168782"/>
                  </a:lnTo>
                  <a:lnTo>
                    <a:pt x="2522088" y="3146937"/>
                  </a:lnTo>
                  <a:lnTo>
                    <a:pt x="2560707" y="3124084"/>
                  </a:lnTo>
                  <a:lnTo>
                    <a:pt x="2598656" y="3100241"/>
                  </a:lnTo>
                  <a:lnTo>
                    <a:pt x="2635917" y="3075427"/>
                  </a:lnTo>
                  <a:lnTo>
                    <a:pt x="2672473" y="3049658"/>
                  </a:lnTo>
                  <a:lnTo>
                    <a:pt x="2708306" y="3022952"/>
                  </a:lnTo>
                  <a:lnTo>
                    <a:pt x="2743398" y="2995329"/>
                  </a:lnTo>
                  <a:lnTo>
                    <a:pt x="2777731" y="2966804"/>
                  </a:lnTo>
                  <a:lnTo>
                    <a:pt x="2811288" y="2937396"/>
                  </a:lnTo>
                  <a:lnTo>
                    <a:pt x="2844050" y="2907122"/>
                  </a:lnTo>
                  <a:lnTo>
                    <a:pt x="2876001" y="2876002"/>
                  </a:lnTo>
                  <a:lnTo>
                    <a:pt x="2907122" y="2844051"/>
                  </a:lnTo>
                  <a:lnTo>
                    <a:pt x="2937395" y="2811288"/>
                  </a:lnTo>
                  <a:lnTo>
                    <a:pt x="2966803" y="2777732"/>
                  </a:lnTo>
                  <a:lnTo>
                    <a:pt x="2995328" y="2743398"/>
                  </a:lnTo>
                  <a:lnTo>
                    <a:pt x="3022952" y="2708306"/>
                  </a:lnTo>
                  <a:lnTo>
                    <a:pt x="3049657" y="2672474"/>
                  </a:lnTo>
                  <a:lnTo>
                    <a:pt x="3075426" y="2635918"/>
                  </a:lnTo>
                  <a:lnTo>
                    <a:pt x="3100240" y="2598657"/>
                  </a:lnTo>
                  <a:lnTo>
                    <a:pt x="3124083" y="2560708"/>
                  </a:lnTo>
                  <a:lnTo>
                    <a:pt x="3146936" y="2522089"/>
                  </a:lnTo>
                  <a:lnTo>
                    <a:pt x="3168781" y="2482819"/>
                  </a:lnTo>
                  <a:lnTo>
                    <a:pt x="3189601" y="2442914"/>
                  </a:lnTo>
                  <a:lnTo>
                    <a:pt x="3209378" y="2402393"/>
                  </a:lnTo>
                  <a:lnTo>
                    <a:pt x="3228094" y="2361273"/>
                  </a:lnTo>
                  <a:lnTo>
                    <a:pt x="3245732" y="2319572"/>
                  </a:lnTo>
                  <a:lnTo>
                    <a:pt x="3262273" y="2277308"/>
                  </a:lnTo>
                  <a:lnTo>
                    <a:pt x="3277699" y="2234499"/>
                  </a:lnTo>
                  <a:lnTo>
                    <a:pt x="3291994" y="2191162"/>
                  </a:lnTo>
                  <a:lnTo>
                    <a:pt x="3305139" y="2147315"/>
                  </a:lnTo>
                  <a:lnTo>
                    <a:pt x="3317117" y="2102977"/>
                  </a:lnTo>
                  <a:lnTo>
                    <a:pt x="3327909" y="2058164"/>
                  </a:lnTo>
                  <a:lnTo>
                    <a:pt x="3337498" y="2012894"/>
                  </a:lnTo>
                  <a:lnTo>
                    <a:pt x="3345866" y="1967186"/>
                  </a:lnTo>
                  <a:lnTo>
                    <a:pt x="3352996" y="1921058"/>
                  </a:lnTo>
                  <a:lnTo>
                    <a:pt x="3358869" y="1874526"/>
                  </a:lnTo>
                  <a:lnTo>
                    <a:pt x="3363468" y="1827608"/>
                  </a:lnTo>
                  <a:lnTo>
                    <a:pt x="3366775" y="1780323"/>
                  </a:lnTo>
                  <a:lnTo>
                    <a:pt x="3368772" y="1732689"/>
                  </a:lnTo>
                  <a:lnTo>
                    <a:pt x="3369442" y="1684722"/>
                  </a:lnTo>
                  <a:lnTo>
                    <a:pt x="3368772" y="1636755"/>
                  </a:lnTo>
                  <a:lnTo>
                    <a:pt x="3366775" y="1589120"/>
                  </a:lnTo>
                  <a:lnTo>
                    <a:pt x="3363468" y="1541835"/>
                  </a:lnTo>
                  <a:lnTo>
                    <a:pt x="3358869" y="1494918"/>
                  </a:lnTo>
                  <a:lnTo>
                    <a:pt x="3352996" y="1448386"/>
                  </a:lnTo>
                  <a:lnTo>
                    <a:pt x="3345866" y="1402257"/>
                  </a:lnTo>
                  <a:lnTo>
                    <a:pt x="3337498" y="1356549"/>
                  </a:lnTo>
                  <a:lnTo>
                    <a:pt x="3327909" y="1311279"/>
                  </a:lnTo>
                  <a:lnTo>
                    <a:pt x="3317117" y="1266467"/>
                  </a:lnTo>
                  <a:lnTo>
                    <a:pt x="3305139" y="1222128"/>
                  </a:lnTo>
                  <a:lnTo>
                    <a:pt x="3291994" y="1178281"/>
                  </a:lnTo>
                  <a:lnTo>
                    <a:pt x="3277699" y="1134944"/>
                  </a:lnTo>
                  <a:lnTo>
                    <a:pt x="3262273" y="1092135"/>
                  </a:lnTo>
                  <a:lnTo>
                    <a:pt x="3245732" y="1049871"/>
                  </a:lnTo>
                  <a:lnTo>
                    <a:pt x="3228094" y="1008170"/>
                  </a:lnTo>
                  <a:lnTo>
                    <a:pt x="3209378" y="967050"/>
                  </a:lnTo>
                  <a:lnTo>
                    <a:pt x="3189601" y="926529"/>
                  </a:lnTo>
                  <a:lnTo>
                    <a:pt x="3168781" y="886624"/>
                  </a:lnTo>
                  <a:lnTo>
                    <a:pt x="3146936" y="847354"/>
                  </a:lnTo>
                  <a:lnTo>
                    <a:pt x="3124083" y="808735"/>
                  </a:lnTo>
                  <a:lnTo>
                    <a:pt x="3100240" y="770786"/>
                  </a:lnTo>
                  <a:lnTo>
                    <a:pt x="3075426" y="733525"/>
                  </a:lnTo>
                  <a:lnTo>
                    <a:pt x="3049657" y="696969"/>
                  </a:lnTo>
                  <a:lnTo>
                    <a:pt x="3022952" y="661136"/>
                  </a:lnTo>
                  <a:lnTo>
                    <a:pt x="2995328" y="626044"/>
                  </a:lnTo>
                  <a:lnTo>
                    <a:pt x="2966803" y="591711"/>
                  </a:lnTo>
                  <a:lnTo>
                    <a:pt x="2937395" y="558154"/>
                  </a:lnTo>
                  <a:lnTo>
                    <a:pt x="2907122" y="525391"/>
                  </a:lnTo>
                  <a:lnTo>
                    <a:pt x="2876001" y="493441"/>
                  </a:lnTo>
                  <a:lnTo>
                    <a:pt x="2844050" y="462320"/>
                  </a:lnTo>
                  <a:lnTo>
                    <a:pt x="2811288" y="432047"/>
                  </a:lnTo>
                  <a:lnTo>
                    <a:pt x="2777731" y="402639"/>
                  </a:lnTo>
                  <a:lnTo>
                    <a:pt x="2743398" y="374114"/>
                  </a:lnTo>
                  <a:lnTo>
                    <a:pt x="2708306" y="346490"/>
                  </a:lnTo>
                  <a:lnTo>
                    <a:pt x="2672473" y="319785"/>
                  </a:lnTo>
                  <a:lnTo>
                    <a:pt x="2635917" y="294016"/>
                  </a:lnTo>
                  <a:lnTo>
                    <a:pt x="2598656" y="269201"/>
                  </a:lnTo>
                  <a:lnTo>
                    <a:pt x="2560707" y="245358"/>
                  </a:lnTo>
                  <a:lnTo>
                    <a:pt x="2522088" y="222506"/>
                  </a:lnTo>
                  <a:lnTo>
                    <a:pt x="2482818" y="200660"/>
                  </a:lnTo>
                  <a:lnTo>
                    <a:pt x="2442913" y="179840"/>
                  </a:lnTo>
                  <a:lnTo>
                    <a:pt x="2402392" y="160063"/>
                  </a:lnTo>
                  <a:lnTo>
                    <a:pt x="2361272" y="141347"/>
                  </a:lnTo>
                  <a:lnTo>
                    <a:pt x="2319571" y="123710"/>
                  </a:lnTo>
                  <a:lnTo>
                    <a:pt x="2277307" y="107169"/>
                  </a:lnTo>
                  <a:lnTo>
                    <a:pt x="2234498" y="91742"/>
                  </a:lnTo>
                  <a:lnTo>
                    <a:pt x="2191161" y="77447"/>
                  </a:lnTo>
                  <a:lnTo>
                    <a:pt x="2147314" y="64302"/>
                  </a:lnTo>
                  <a:lnTo>
                    <a:pt x="2102976" y="52325"/>
                  </a:lnTo>
                  <a:lnTo>
                    <a:pt x="2058163" y="41532"/>
                  </a:lnTo>
                  <a:lnTo>
                    <a:pt x="2012893" y="31943"/>
                  </a:lnTo>
                  <a:lnTo>
                    <a:pt x="1967185" y="23575"/>
                  </a:lnTo>
                  <a:lnTo>
                    <a:pt x="1921057" y="16445"/>
                  </a:lnTo>
                  <a:lnTo>
                    <a:pt x="1874524" y="10572"/>
                  </a:lnTo>
                  <a:lnTo>
                    <a:pt x="1827607" y="5973"/>
                  </a:lnTo>
                  <a:lnTo>
                    <a:pt x="1780322" y="2666"/>
                  </a:lnTo>
                  <a:lnTo>
                    <a:pt x="1732687" y="669"/>
                  </a:lnTo>
                  <a:lnTo>
                    <a:pt x="1684721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17738" y="3518773"/>
              <a:ext cx="3369945" cy="3369945"/>
            </a:xfrm>
            <a:custGeom>
              <a:avLst/>
              <a:gdLst/>
              <a:ahLst/>
              <a:cxnLst/>
              <a:rect l="l" t="t" r="r" b="b"/>
              <a:pathLst>
                <a:path w="3369945" h="3369945">
                  <a:moveTo>
                    <a:pt x="3369442" y="1684721"/>
                  </a:moveTo>
                  <a:lnTo>
                    <a:pt x="3368773" y="1732688"/>
                  </a:lnTo>
                  <a:lnTo>
                    <a:pt x="3366776" y="1780323"/>
                  </a:lnTo>
                  <a:lnTo>
                    <a:pt x="3363469" y="1827608"/>
                  </a:lnTo>
                  <a:lnTo>
                    <a:pt x="3358870" y="1874525"/>
                  </a:lnTo>
                  <a:lnTo>
                    <a:pt x="3352996" y="1921057"/>
                  </a:lnTo>
                  <a:lnTo>
                    <a:pt x="3345867" y="1967186"/>
                  </a:lnTo>
                  <a:lnTo>
                    <a:pt x="3337499" y="2012894"/>
                  </a:lnTo>
                  <a:lnTo>
                    <a:pt x="3327910" y="2058163"/>
                  </a:lnTo>
                  <a:lnTo>
                    <a:pt x="3317117" y="2102976"/>
                  </a:lnTo>
                  <a:lnTo>
                    <a:pt x="3305140" y="2147315"/>
                  </a:lnTo>
                  <a:lnTo>
                    <a:pt x="3291995" y="2191162"/>
                  </a:lnTo>
                  <a:lnTo>
                    <a:pt x="3277700" y="2234498"/>
                  </a:lnTo>
                  <a:lnTo>
                    <a:pt x="3262273" y="2277308"/>
                  </a:lnTo>
                  <a:lnTo>
                    <a:pt x="3245732" y="2319572"/>
                  </a:lnTo>
                  <a:lnTo>
                    <a:pt x="3228095" y="2361272"/>
                  </a:lnTo>
                  <a:lnTo>
                    <a:pt x="3209379" y="2402392"/>
                  </a:lnTo>
                  <a:lnTo>
                    <a:pt x="3189602" y="2442914"/>
                  </a:lnTo>
                  <a:lnTo>
                    <a:pt x="3168782" y="2482818"/>
                  </a:lnTo>
                  <a:lnTo>
                    <a:pt x="3146937" y="2522089"/>
                  </a:lnTo>
                  <a:lnTo>
                    <a:pt x="3124084" y="2560708"/>
                  </a:lnTo>
                  <a:lnTo>
                    <a:pt x="3100241" y="2598656"/>
                  </a:lnTo>
                  <a:lnTo>
                    <a:pt x="3075427" y="2635918"/>
                  </a:lnTo>
                  <a:lnTo>
                    <a:pt x="3049658" y="2672474"/>
                  </a:lnTo>
                  <a:lnTo>
                    <a:pt x="3022952" y="2708306"/>
                  </a:lnTo>
                  <a:lnTo>
                    <a:pt x="2995328" y="2743398"/>
                  </a:lnTo>
                  <a:lnTo>
                    <a:pt x="2966804" y="2777732"/>
                  </a:lnTo>
                  <a:lnTo>
                    <a:pt x="2937396" y="2811288"/>
                  </a:lnTo>
                  <a:lnTo>
                    <a:pt x="2907122" y="2844051"/>
                  </a:lnTo>
                  <a:lnTo>
                    <a:pt x="2876002" y="2876002"/>
                  </a:lnTo>
                  <a:lnTo>
                    <a:pt x="2844051" y="2907122"/>
                  </a:lnTo>
                  <a:lnTo>
                    <a:pt x="2811288" y="2937396"/>
                  </a:lnTo>
                  <a:lnTo>
                    <a:pt x="2777732" y="2966804"/>
                  </a:lnTo>
                  <a:lnTo>
                    <a:pt x="2743398" y="2995328"/>
                  </a:lnTo>
                  <a:lnTo>
                    <a:pt x="2708306" y="3022952"/>
                  </a:lnTo>
                  <a:lnTo>
                    <a:pt x="2672474" y="3049658"/>
                  </a:lnTo>
                  <a:lnTo>
                    <a:pt x="2635918" y="3075427"/>
                  </a:lnTo>
                  <a:lnTo>
                    <a:pt x="2598656" y="3100241"/>
                  </a:lnTo>
                  <a:lnTo>
                    <a:pt x="2560708" y="3124084"/>
                  </a:lnTo>
                  <a:lnTo>
                    <a:pt x="2522089" y="3146937"/>
                  </a:lnTo>
                  <a:lnTo>
                    <a:pt x="2482818" y="3168782"/>
                  </a:lnTo>
                  <a:lnTo>
                    <a:pt x="2442914" y="3189602"/>
                  </a:lnTo>
                  <a:lnTo>
                    <a:pt x="2402392" y="3209379"/>
                  </a:lnTo>
                  <a:lnTo>
                    <a:pt x="2361272" y="3228095"/>
                  </a:lnTo>
                  <a:lnTo>
                    <a:pt x="2319572" y="3245732"/>
                  </a:lnTo>
                  <a:lnTo>
                    <a:pt x="2277308" y="3262273"/>
                  </a:lnTo>
                  <a:lnTo>
                    <a:pt x="2234498" y="3277700"/>
                  </a:lnTo>
                  <a:lnTo>
                    <a:pt x="2191162" y="3291995"/>
                  </a:lnTo>
                  <a:lnTo>
                    <a:pt x="2147315" y="3305140"/>
                  </a:lnTo>
                  <a:lnTo>
                    <a:pt x="2102976" y="3317117"/>
                  </a:lnTo>
                  <a:lnTo>
                    <a:pt x="2058163" y="3327910"/>
                  </a:lnTo>
                  <a:lnTo>
                    <a:pt x="2012894" y="3337499"/>
                  </a:lnTo>
                  <a:lnTo>
                    <a:pt x="1967186" y="3345867"/>
                  </a:lnTo>
                  <a:lnTo>
                    <a:pt x="1921057" y="3352996"/>
                  </a:lnTo>
                  <a:lnTo>
                    <a:pt x="1874525" y="3358870"/>
                  </a:lnTo>
                  <a:lnTo>
                    <a:pt x="1827608" y="3363469"/>
                  </a:lnTo>
                  <a:lnTo>
                    <a:pt x="1780323" y="3366776"/>
                  </a:lnTo>
                  <a:lnTo>
                    <a:pt x="1732688" y="3368773"/>
                  </a:lnTo>
                  <a:lnTo>
                    <a:pt x="1684721" y="3369442"/>
                  </a:lnTo>
                  <a:lnTo>
                    <a:pt x="1636754" y="3368773"/>
                  </a:lnTo>
                  <a:lnTo>
                    <a:pt x="1589119" y="3366776"/>
                  </a:lnTo>
                  <a:lnTo>
                    <a:pt x="1541834" y="3363469"/>
                  </a:lnTo>
                  <a:lnTo>
                    <a:pt x="1494917" y="3358870"/>
                  </a:lnTo>
                  <a:lnTo>
                    <a:pt x="1448385" y="3352996"/>
                  </a:lnTo>
                  <a:lnTo>
                    <a:pt x="1402256" y="3345867"/>
                  </a:lnTo>
                  <a:lnTo>
                    <a:pt x="1356548" y="3337499"/>
                  </a:lnTo>
                  <a:lnTo>
                    <a:pt x="1311279" y="3327910"/>
                  </a:lnTo>
                  <a:lnTo>
                    <a:pt x="1266466" y="3317117"/>
                  </a:lnTo>
                  <a:lnTo>
                    <a:pt x="1222127" y="3305140"/>
                  </a:lnTo>
                  <a:lnTo>
                    <a:pt x="1178280" y="3291995"/>
                  </a:lnTo>
                  <a:lnTo>
                    <a:pt x="1134944" y="3277700"/>
                  </a:lnTo>
                  <a:lnTo>
                    <a:pt x="1092134" y="3262273"/>
                  </a:lnTo>
                  <a:lnTo>
                    <a:pt x="1049870" y="3245732"/>
                  </a:lnTo>
                  <a:lnTo>
                    <a:pt x="1008169" y="3228095"/>
                  </a:lnTo>
                  <a:lnTo>
                    <a:pt x="967050" y="3209379"/>
                  </a:lnTo>
                  <a:lnTo>
                    <a:pt x="926528" y="3189602"/>
                  </a:lnTo>
                  <a:lnTo>
                    <a:pt x="886623" y="3168782"/>
                  </a:lnTo>
                  <a:lnTo>
                    <a:pt x="847353" y="3146937"/>
                  </a:lnTo>
                  <a:lnTo>
                    <a:pt x="808734" y="3124084"/>
                  </a:lnTo>
                  <a:lnTo>
                    <a:pt x="770785" y="3100241"/>
                  </a:lnTo>
                  <a:lnTo>
                    <a:pt x="733524" y="3075427"/>
                  </a:lnTo>
                  <a:lnTo>
                    <a:pt x="696968" y="3049658"/>
                  </a:lnTo>
                  <a:lnTo>
                    <a:pt x="661136" y="3022952"/>
                  </a:lnTo>
                  <a:lnTo>
                    <a:pt x="626044" y="2995328"/>
                  </a:lnTo>
                  <a:lnTo>
                    <a:pt x="591710" y="2966804"/>
                  </a:lnTo>
                  <a:lnTo>
                    <a:pt x="558154" y="2937396"/>
                  </a:lnTo>
                  <a:lnTo>
                    <a:pt x="525391" y="2907122"/>
                  </a:lnTo>
                  <a:lnTo>
                    <a:pt x="493440" y="2876002"/>
                  </a:lnTo>
                  <a:lnTo>
                    <a:pt x="462320" y="2844051"/>
                  </a:lnTo>
                  <a:lnTo>
                    <a:pt x="432046" y="2811288"/>
                  </a:lnTo>
                  <a:lnTo>
                    <a:pt x="402638" y="2777732"/>
                  </a:lnTo>
                  <a:lnTo>
                    <a:pt x="374114" y="2743398"/>
                  </a:lnTo>
                  <a:lnTo>
                    <a:pt x="346490" y="2708306"/>
                  </a:lnTo>
                  <a:lnTo>
                    <a:pt x="319784" y="2672474"/>
                  </a:lnTo>
                  <a:lnTo>
                    <a:pt x="294015" y="2635918"/>
                  </a:lnTo>
                  <a:lnTo>
                    <a:pt x="269201" y="2598656"/>
                  </a:lnTo>
                  <a:lnTo>
                    <a:pt x="245358" y="2560708"/>
                  </a:lnTo>
                  <a:lnTo>
                    <a:pt x="222505" y="2522089"/>
                  </a:lnTo>
                  <a:lnTo>
                    <a:pt x="200660" y="2482818"/>
                  </a:lnTo>
                  <a:lnTo>
                    <a:pt x="179840" y="2442914"/>
                  </a:lnTo>
                  <a:lnTo>
                    <a:pt x="160063" y="2402392"/>
                  </a:lnTo>
                  <a:lnTo>
                    <a:pt x="141347" y="2361272"/>
                  </a:lnTo>
                  <a:lnTo>
                    <a:pt x="123710" y="2319572"/>
                  </a:lnTo>
                  <a:lnTo>
                    <a:pt x="107169" y="2277308"/>
                  </a:lnTo>
                  <a:lnTo>
                    <a:pt x="91742" y="2234498"/>
                  </a:lnTo>
                  <a:lnTo>
                    <a:pt x="77447" y="2191162"/>
                  </a:lnTo>
                  <a:lnTo>
                    <a:pt x="64302" y="2147315"/>
                  </a:lnTo>
                  <a:lnTo>
                    <a:pt x="52325" y="2102976"/>
                  </a:lnTo>
                  <a:lnTo>
                    <a:pt x="41532" y="2058163"/>
                  </a:lnTo>
                  <a:lnTo>
                    <a:pt x="31943" y="2012894"/>
                  </a:lnTo>
                  <a:lnTo>
                    <a:pt x="23575" y="1967186"/>
                  </a:lnTo>
                  <a:lnTo>
                    <a:pt x="16445" y="1921057"/>
                  </a:lnTo>
                  <a:lnTo>
                    <a:pt x="10572" y="1874525"/>
                  </a:lnTo>
                  <a:lnTo>
                    <a:pt x="5973" y="1827608"/>
                  </a:lnTo>
                  <a:lnTo>
                    <a:pt x="2666" y="1780323"/>
                  </a:lnTo>
                  <a:lnTo>
                    <a:pt x="669" y="1732688"/>
                  </a:lnTo>
                  <a:lnTo>
                    <a:pt x="0" y="1684721"/>
                  </a:lnTo>
                  <a:lnTo>
                    <a:pt x="669" y="1636754"/>
                  </a:lnTo>
                  <a:lnTo>
                    <a:pt x="2666" y="1589119"/>
                  </a:lnTo>
                  <a:lnTo>
                    <a:pt x="5973" y="1541834"/>
                  </a:lnTo>
                  <a:lnTo>
                    <a:pt x="10572" y="1494917"/>
                  </a:lnTo>
                  <a:lnTo>
                    <a:pt x="16445" y="1448385"/>
                  </a:lnTo>
                  <a:lnTo>
                    <a:pt x="23575" y="1402256"/>
                  </a:lnTo>
                  <a:lnTo>
                    <a:pt x="31943" y="1356548"/>
                  </a:lnTo>
                  <a:lnTo>
                    <a:pt x="41532" y="1311279"/>
                  </a:lnTo>
                  <a:lnTo>
                    <a:pt x="52325" y="1266466"/>
                  </a:lnTo>
                  <a:lnTo>
                    <a:pt x="64302" y="1222127"/>
                  </a:lnTo>
                  <a:lnTo>
                    <a:pt x="77447" y="1178280"/>
                  </a:lnTo>
                  <a:lnTo>
                    <a:pt x="91742" y="1134944"/>
                  </a:lnTo>
                  <a:lnTo>
                    <a:pt x="107169" y="1092134"/>
                  </a:lnTo>
                  <a:lnTo>
                    <a:pt x="123710" y="1049870"/>
                  </a:lnTo>
                  <a:lnTo>
                    <a:pt x="141347" y="1008169"/>
                  </a:lnTo>
                  <a:lnTo>
                    <a:pt x="160063" y="967050"/>
                  </a:lnTo>
                  <a:lnTo>
                    <a:pt x="179840" y="926528"/>
                  </a:lnTo>
                  <a:lnTo>
                    <a:pt x="200660" y="886623"/>
                  </a:lnTo>
                  <a:lnTo>
                    <a:pt x="222505" y="847353"/>
                  </a:lnTo>
                  <a:lnTo>
                    <a:pt x="245358" y="808734"/>
                  </a:lnTo>
                  <a:lnTo>
                    <a:pt x="269201" y="770785"/>
                  </a:lnTo>
                  <a:lnTo>
                    <a:pt x="294015" y="733524"/>
                  </a:lnTo>
                  <a:lnTo>
                    <a:pt x="319784" y="696968"/>
                  </a:lnTo>
                  <a:lnTo>
                    <a:pt x="346490" y="661136"/>
                  </a:lnTo>
                  <a:lnTo>
                    <a:pt x="374114" y="626044"/>
                  </a:lnTo>
                  <a:lnTo>
                    <a:pt x="402638" y="591710"/>
                  </a:lnTo>
                  <a:lnTo>
                    <a:pt x="432046" y="558154"/>
                  </a:lnTo>
                  <a:lnTo>
                    <a:pt x="462320" y="525391"/>
                  </a:lnTo>
                  <a:lnTo>
                    <a:pt x="493440" y="493440"/>
                  </a:lnTo>
                  <a:lnTo>
                    <a:pt x="525391" y="462320"/>
                  </a:lnTo>
                  <a:lnTo>
                    <a:pt x="558154" y="432046"/>
                  </a:lnTo>
                  <a:lnTo>
                    <a:pt x="591710" y="402638"/>
                  </a:lnTo>
                  <a:lnTo>
                    <a:pt x="626044" y="374114"/>
                  </a:lnTo>
                  <a:lnTo>
                    <a:pt x="661136" y="346490"/>
                  </a:lnTo>
                  <a:lnTo>
                    <a:pt x="696968" y="319784"/>
                  </a:lnTo>
                  <a:lnTo>
                    <a:pt x="733524" y="294015"/>
                  </a:lnTo>
                  <a:lnTo>
                    <a:pt x="770785" y="269201"/>
                  </a:lnTo>
                  <a:lnTo>
                    <a:pt x="808734" y="245358"/>
                  </a:lnTo>
                  <a:lnTo>
                    <a:pt x="847353" y="222505"/>
                  </a:lnTo>
                  <a:lnTo>
                    <a:pt x="886623" y="200660"/>
                  </a:lnTo>
                  <a:lnTo>
                    <a:pt x="926528" y="179840"/>
                  </a:lnTo>
                  <a:lnTo>
                    <a:pt x="967050" y="160063"/>
                  </a:lnTo>
                  <a:lnTo>
                    <a:pt x="1008169" y="141347"/>
                  </a:lnTo>
                  <a:lnTo>
                    <a:pt x="1049870" y="123710"/>
                  </a:lnTo>
                  <a:lnTo>
                    <a:pt x="1092134" y="107169"/>
                  </a:lnTo>
                  <a:lnTo>
                    <a:pt x="1134944" y="91742"/>
                  </a:lnTo>
                  <a:lnTo>
                    <a:pt x="1178280" y="77447"/>
                  </a:lnTo>
                  <a:lnTo>
                    <a:pt x="1222127" y="64302"/>
                  </a:lnTo>
                  <a:lnTo>
                    <a:pt x="1266466" y="52325"/>
                  </a:lnTo>
                  <a:lnTo>
                    <a:pt x="1311279" y="41532"/>
                  </a:lnTo>
                  <a:lnTo>
                    <a:pt x="1356548" y="31943"/>
                  </a:lnTo>
                  <a:lnTo>
                    <a:pt x="1402256" y="23575"/>
                  </a:lnTo>
                  <a:lnTo>
                    <a:pt x="1448385" y="16445"/>
                  </a:lnTo>
                  <a:lnTo>
                    <a:pt x="1494917" y="10572"/>
                  </a:lnTo>
                  <a:lnTo>
                    <a:pt x="1541834" y="5973"/>
                  </a:lnTo>
                  <a:lnTo>
                    <a:pt x="1589119" y="2666"/>
                  </a:lnTo>
                  <a:lnTo>
                    <a:pt x="1636754" y="669"/>
                  </a:lnTo>
                  <a:lnTo>
                    <a:pt x="1684721" y="0"/>
                  </a:lnTo>
                  <a:lnTo>
                    <a:pt x="1732688" y="669"/>
                  </a:lnTo>
                  <a:lnTo>
                    <a:pt x="1780323" y="2666"/>
                  </a:lnTo>
                  <a:lnTo>
                    <a:pt x="1827608" y="5973"/>
                  </a:lnTo>
                  <a:lnTo>
                    <a:pt x="1874525" y="10572"/>
                  </a:lnTo>
                  <a:lnTo>
                    <a:pt x="1921057" y="16445"/>
                  </a:lnTo>
                  <a:lnTo>
                    <a:pt x="1967186" y="23575"/>
                  </a:lnTo>
                  <a:lnTo>
                    <a:pt x="2012894" y="31943"/>
                  </a:lnTo>
                  <a:lnTo>
                    <a:pt x="2058163" y="41532"/>
                  </a:lnTo>
                  <a:lnTo>
                    <a:pt x="2102976" y="52325"/>
                  </a:lnTo>
                  <a:lnTo>
                    <a:pt x="2147315" y="64302"/>
                  </a:lnTo>
                  <a:lnTo>
                    <a:pt x="2191162" y="77447"/>
                  </a:lnTo>
                  <a:lnTo>
                    <a:pt x="2234498" y="91742"/>
                  </a:lnTo>
                  <a:lnTo>
                    <a:pt x="2277308" y="107169"/>
                  </a:lnTo>
                  <a:lnTo>
                    <a:pt x="2319572" y="123710"/>
                  </a:lnTo>
                  <a:lnTo>
                    <a:pt x="2361272" y="141347"/>
                  </a:lnTo>
                  <a:lnTo>
                    <a:pt x="2402392" y="160063"/>
                  </a:lnTo>
                  <a:lnTo>
                    <a:pt x="2442914" y="179840"/>
                  </a:lnTo>
                  <a:lnTo>
                    <a:pt x="2482818" y="200660"/>
                  </a:lnTo>
                  <a:lnTo>
                    <a:pt x="2522089" y="222505"/>
                  </a:lnTo>
                  <a:lnTo>
                    <a:pt x="2560708" y="245358"/>
                  </a:lnTo>
                  <a:lnTo>
                    <a:pt x="2598656" y="269201"/>
                  </a:lnTo>
                  <a:lnTo>
                    <a:pt x="2635918" y="294015"/>
                  </a:lnTo>
                  <a:lnTo>
                    <a:pt x="2672474" y="319784"/>
                  </a:lnTo>
                  <a:lnTo>
                    <a:pt x="2708306" y="346490"/>
                  </a:lnTo>
                  <a:lnTo>
                    <a:pt x="2743398" y="374114"/>
                  </a:lnTo>
                  <a:lnTo>
                    <a:pt x="2777732" y="402638"/>
                  </a:lnTo>
                  <a:lnTo>
                    <a:pt x="2811288" y="432046"/>
                  </a:lnTo>
                  <a:lnTo>
                    <a:pt x="2844051" y="462320"/>
                  </a:lnTo>
                  <a:lnTo>
                    <a:pt x="2876002" y="493440"/>
                  </a:lnTo>
                  <a:lnTo>
                    <a:pt x="2907122" y="525391"/>
                  </a:lnTo>
                  <a:lnTo>
                    <a:pt x="2937396" y="558154"/>
                  </a:lnTo>
                  <a:lnTo>
                    <a:pt x="2966804" y="591710"/>
                  </a:lnTo>
                  <a:lnTo>
                    <a:pt x="2995328" y="626044"/>
                  </a:lnTo>
                  <a:lnTo>
                    <a:pt x="3022952" y="661136"/>
                  </a:lnTo>
                  <a:lnTo>
                    <a:pt x="3049658" y="696968"/>
                  </a:lnTo>
                  <a:lnTo>
                    <a:pt x="3075427" y="733524"/>
                  </a:lnTo>
                  <a:lnTo>
                    <a:pt x="3100241" y="770785"/>
                  </a:lnTo>
                  <a:lnTo>
                    <a:pt x="3124084" y="808734"/>
                  </a:lnTo>
                  <a:lnTo>
                    <a:pt x="3146937" y="847353"/>
                  </a:lnTo>
                  <a:lnTo>
                    <a:pt x="3168782" y="886623"/>
                  </a:lnTo>
                  <a:lnTo>
                    <a:pt x="3189602" y="926528"/>
                  </a:lnTo>
                  <a:lnTo>
                    <a:pt x="3209379" y="967050"/>
                  </a:lnTo>
                  <a:lnTo>
                    <a:pt x="3228095" y="1008169"/>
                  </a:lnTo>
                  <a:lnTo>
                    <a:pt x="3245732" y="1049870"/>
                  </a:lnTo>
                  <a:lnTo>
                    <a:pt x="3262273" y="1092134"/>
                  </a:lnTo>
                  <a:lnTo>
                    <a:pt x="3277700" y="1134944"/>
                  </a:lnTo>
                  <a:lnTo>
                    <a:pt x="3291995" y="1178280"/>
                  </a:lnTo>
                  <a:lnTo>
                    <a:pt x="3305140" y="1222127"/>
                  </a:lnTo>
                  <a:lnTo>
                    <a:pt x="3317117" y="1266466"/>
                  </a:lnTo>
                  <a:lnTo>
                    <a:pt x="3327910" y="1311279"/>
                  </a:lnTo>
                  <a:lnTo>
                    <a:pt x="3337499" y="1356548"/>
                  </a:lnTo>
                  <a:lnTo>
                    <a:pt x="3345867" y="1402256"/>
                  </a:lnTo>
                  <a:lnTo>
                    <a:pt x="3352996" y="1448385"/>
                  </a:lnTo>
                  <a:lnTo>
                    <a:pt x="3358870" y="1494917"/>
                  </a:lnTo>
                  <a:lnTo>
                    <a:pt x="3363469" y="1541834"/>
                  </a:lnTo>
                  <a:lnTo>
                    <a:pt x="3366776" y="1589119"/>
                  </a:lnTo>
                  <a:lnTo>
                    <a:pt x="3368773" y="1636754"/>
                  </a:lnTo>
                  <a:lnTo>
                    <a:pt x="3369442" y="1684721"/>
                  </a:lnTo>
                  <a:close/>
                </a:path>
              </a:pathLst>
            </a:custGeom>
            <a:ln w="28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73896" y="3574930"/>
              <a:ext cx="3257550" cy="3257550"/>
            </a:xfrm>
            <a:custGeom>
              <a:avLst/>
              <a:gdLst/>
              <a:ahLst/>
              <a:cxnLst/>
              <a:rect l="l" t="t" r="r" b="b"/>
              <a:pathLst>
                <a:path w="3257550" h="3257550">
                  <a:moveTo>
                    <a:pt x="1628564" y="1628564"/>
                  </a:moveTo>
                  <a:lnTo>
                    <a:pt x="2807869" y="2807869"/>
                  </a:lnTo>
                </a:path>
                <a:path w="3257550" h="3257550">
                  <a:moveTo>
                    <a:pt x="1628564" y="1628564"/>
                  </a:moveTo>
                  <a:lnTo>
                    <a:pt x="449259" y="449259"/>
                  </a:lnTo>
                </a:path>
                <a:path w="3257550" h="3257550">
                  <a:moveTo>
                    <a:pt x="1628564" y="1628564"/>
                  </a:moveTo>
                  <a:lnTo>
                    <a:pt x="2807869" y="449259"/>
                  </a:lnTo>
                </a:path>
                <a:path w="3257550" h="3257550">
                  <a:moveTo>
                    <a:pt x="1628564" y="1628564"/>
                  </a:moveTo>
                  <a:lnTo>
                    <a:pt x="449259" y="2807869"/>
                  </a:lnTo>
                </a:path>
                <a:path w="3257550" h="3257550">
                  <a:moveTo>
                    <a:pt x="1628564" y="1628564"/>
                  </a:moveTo>
                  <a:lnTo>
                    <a:pt x="0" y="2059104"/>
                  </a:lnTo>
                </a:path>
                <a:path w="3257550" h="3257550">
                  <a:moveTo>
                    <a:pt x="1628564" y="1628564"/>
                  </a:moveTo>
                  <a:lnTo>
                    <a:pt x="1198024" y="3257128"/>
                  </a:lnTo>
                </a:path>
                <a:path w="3257550" h="3257550">
                  <a:moveTo>
                    <a:pt x="1628564" y="1628564"/>
                  </a:moveTo>
                  <a:lnTo>
                    <a:pt x="2059104" y="3257128"/>
                  </a:lnTo>
                </a:path>
                <a:path w="3257550" h="3257550">
                  <a:moveTo>
                    <a:pt x="1628564" y="1628564"/>
                  </a:moveTo>
                  <a:lnTo>
                    <a:pt x="3257128" y="2059104"/>
                  </a:lnTo>
                </a:path>
                <a:path w="3257550" h="3257550">
                  <a:moveTo>
                    <a:pt x="1628564" y="1628564"/>
                  </a:moveTo>
                  <a:lnTo>
                    <a:pt x="3257128" y="1198024"/>
                  </a:lnTo>
                </a:path>
                <a:path w="3257550" h="3257550">
                  <a:moveTo>
                    <a:pt x="1628564" y="1628564"/>
                  </a:moveTo>
                  <a:lnTo>
                    <a:pt x="2059104" y="0"/>
                  </a:lnTo>
                </a:path>
                <a:path w="3257550" h="3257550">
                  <a:moveTo>
                    <a:pt x="1628564" y="1628564"/>
                  </a:moveTo>
                  <a:lnTo>
                    <a:pt x="1198024" y="0"/>
                  </a:lnTo>
                </a:path>
                <a:path w="3257550" h="3257550">
                  <a:moveTo>
                    <a:pt x="1628564" y="1628564"/>
                  </a:moveTo>
                  <a:lnTo>
                    <a:pt x="0" y="1198024"/>
                  </a:lnTo>
                </a:path>
              </a:pathLst>
            </a:custGeom>
            <a:ln w="28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10766" y="4111795"/>
              <a:ext cx="2183765" cy="2183765"/>
            </a:xfrm>
            <a:custGeom>
              <a:avLst/>
              <a:gdLst/>
              <a:ahLst/>
              <a:cxnLst/>
              <a:rect l="l" t="t" r="r" b="b"/>
              <a:pathLst>
                <a:path w="2183765" h="2183765">
                  <a:moveTo>
                    <a:pt x="1091699" y="0"/>
                  </a:moveTo>
                  <a:lnTo>
                    <a:pt x="1043069" y="1063"/>
                  </a:lnTo>
                  <a:lnTo>
                    <a:pt x="994985" y="4225"/>
                  </a:lnTo>
                  <a:lnTo>
                    <a:pt x="947489" y="9440"/>
                  </a:lnTo>
                  <a:lnTo>
                    <a:pt x="900627" y="16664"/>
                  </a:lnTo>
                  <a:lnTo>
                    <a:pt x="854443" y="25852"/>
                  </a:lnTo>
                  <a:lnTo>
                    <a:pt x="808981" y="36961"/>
                  </a:lnTo>
                  <a:lnTo>
                    <a:pt x="764286" y="49946"/>
                  </a:lnTo>
                  <a:lnTo>
                    <a:pt x="720402" y="64763"/>
                  </a:lnTo>
                  <a:lnTo>
                    <a:pt x="677373" y="81366"/>
                  </a:lnTo>
                  <a:lnTo>
                    <a:pt x="635244" y="99713"/>
                  </a:lnTo>
                  <a:lnTo>
                    <a:pt x="594059" y="119758"/>
                  </a:lnTo>
                  <a:lnTo>
                    <a:pt x="553863" y="141457"/>
                  </a:lnTo>
                  <a:lnTo>
                    <a:pt x="514699" y="164765"/>
                  </a:lnTo>
                  <a:lnTo>
                    <a:pt x="476613" y="189639"/>
                  </a:lnTo>
                  <a:lnTo>
                    <a:pt x="439649" y="216034"/>
                  </a:lnTo>
                  <a:lnTo>
                    <a:pt x="403850" y="243905"/>
                  </a:lnTo>
                  <a:lnTo>
                    <a:pt x="369262" y="273209"/>
                  </a:lnTo>
                  <a:lnTo>
                    <a:pt x="335928" y="303900"/>
                  </a:lnTo>
                  <a:lnTo>
                    <a:pt x="303894" y="335935"/>
                  </a:lnTo>
                  <a:lnTo>
                    <a:pt x="273203" y="369269"/>
                  </a:lnTo>
                  <a:lnTo>
                    <a:pt x="243900" y="403857"/>
                  </a:lnTo>
                  <a:lnTo>
                    <a:pt x="216029" y="439656"/>
                  </a:lnTo>
                  <a:lnTo>
                    <a:pt x="189634" y="476621"/>
                  </a:lnTo>
                  <a:lnTo>
                    <a:pt x="164761" y="514707"/>
                  </a:lnTo>
                  <a:lnTo>
                    <a:pt x="141453" y="553871"/>
                  </a:lnTo>
                  <a:lnTo>
                    <a:pt x="119754" y="594067"/>
                  </a:lnTo>
                  <a:lnTo>
                    <a:pt x="99710" y="635252"/>
                  </a:lnTo>
                  <a:lnTo>
                    <a:pt x="81364" y="677380"/>
                  </a:lnTo>
                  <a:lnTo>
                    <a:pt x="64761" y="720409"/>
                  </a:lnTo>
                  <a:lnTo>
                    <a:pt x="49945" y="764292"/>
                  </a:lnTo>
                  <a:lnTo>
                    <a:pt x="36960" y="808987"/>
                  </a:lnTo>
                  <a:lnTo>
                    <a:pt x="25851" y="854448"/>
                  </a:lnTo>
                  <a:lnTo>
                    <a:pt x="16663" y="900632"/>
                  </a:lnTo>
                  <a:lnTo>
                    <a:pt x="9439" y="947493"/>
                  </a:lnTo>
                  <a:lnTo>
                    <a:pt x="4225" y="994987"/>
                  </a:lnTo>
                  <a:lnTo>
                    <a:pt x="1063" y="1043071"/>
                  </a:lnTo>
                  <a:lnTo>
                    <a:pt x="0" y="1091699"/>
                  </a:lnTo>
                  <a:lnTo>
                    <a:pt x="1063" y="1140327"/>
                  </a:lnTo>
                  <a:lnTo>
                    <a:pt x="4225" y="1188411"/>
                  </a:lnTo>
                  <a:lnTo>
                    <a:pt x="9439" y="1235905"/>
                  </a:lnTo>
                  <a:lnTo>
                    <a:pt x="16663" y="1282766"/>
                  </a:lnTo>
                  <a:lnTo>
                    <a:pt x="25851" y="1328950"/>
                  </a:lnTo>
                  <a:lnTo>
                    <a:pt x="36960" y="1374411"/>
                  </a:lnTo>
                  <a:lnTo>
                    <a:pt x="49945" y="1419105"/>
                  </a:lnTo>
                  <a:lnTo>
                    <a:pt x="64761" y="1462989"/>
                  </a:lnTo>
                  <a:lnTo>
                    <a:pt x="81364" y="1506017"/>
                  </a:lnTo>
                  <a:lnTo>
                    <a:pt x="99710" y="1548146"/>
                  </a:lnTo>
                  <a:lnTo>
                    <a:pt x="119754" y="1589330"/>
                  </a:lnTo>
                  <a:lnTo>
                    <a:pt x="141453" y="1629527"/>
                  </a:lnTo>
                  <a:lnTo>
                    <a:pt x="164761" y="1668690"/>
                  </a:lnTo>
                  <a:lnTo>
                    <a:pt x="189634" y="1706776"/>
                  </a:lnTo>
                  <a:lnTo>
                    <a:pt x="216029" y="1743741"/>
                  </a:lnTo>
                  <a:lnTo>
                    <a:pt x="243900" y="1779540"/>
                  </a:lnTo>
                  <a:lnTo>
                    <a:pt x="273203" y="1814128"/>
                  </a:lnTo>
                  <a:lnTo>
                    <a:pt x="303894" y="1847462"/>
                  </a:lnTo>
                  <a:lnTo>
                    <a:pt x="335928" y="1879497"/>
                  </a:lnTo>
                  <a:lnTo>
                    <a:pt x="369262" y="1910188"/>
                  </a:lnTo>
                  <a:lnTo>
                    <a:pt x="403850" y="1939492"/>
                  </a:lnTo>
                  <a:lnTo>
                    <a:pt x="439649" y="1967363"/>
                  </a:lnTo>
                  <a:lnTo>
                    <a:pt x="476613" y="1993758"/>
                  </a:lnTo>
                  <a:lnTo>
                    <a:pt x="514699" y="2018632"/>
                  </a:lnTo>
                  <a:lnTo>
                    <a:pt x="553863" y="2041940"/>
                  </a:lnTo>
                  <a:lnTo>
                    <a:pt x="594059" y="2063639"/>
                  </a:lnTo>
                  <a:lnTo>
                    <a:pt x="635244" y="2083684"/>
                  </a:lnTo>
                  <a:lnTo>
                    <a:pt x="677373" y="2102031"/>
                  </a:lnTo>
                  <a:lnTo>
                    <a:pt x="720402" y="2118634"/>
                  </a:lnTo>
                  <a:lnTo>
                    <a:pt x="764286" y="2133451"/>
                  </a:lnTo>
                  <a:lnTo>
                    <a:pt x="808981" y="2146436"/>
                  </a:lnTo>
                  <a:lnTo>
                    <a:pt x="854443" y="2157545"/>
                  </a:lnTo>
                  <a:lnTo>
                    <a:pt x="900627" y="2166733"/>
                  </a:lnTo>
                  <a:lnTo>
                    <a:pt x="947489" y="2173957"/>
                  </a:lnTo>
                  <a:lnTo>
                    <a:pt x="994985" y="2179172"/>
                  </a:lnTo>
                  <a:lnTo>
                    <a:pt x="1043069" y="2182334"/>
                  </a:lnTo>
                  <a:lnTo>
                    <a:pt x="1091699" y="2183397"/>
                  </a:lnTo>
                  <a:lnTo>
                    <a:pt x="1140327" y="2182334"/>
                  </a:lnTo>
                  <a:lnTo>
                    <a:pt x="1188411" y="2179172"/>
                  </a:lnTo>
                  <a:lnTo>
                    <a:pt x="1235906" y="2173957"/>
                  </a:lnTo>
                  <a:lnTo>
                    <a:pt x="1282767" y="2166733"/>
                  </a:lnTo>
                  <a:lnTo>
                    <a:pt x="1328950" y="2157545"/>
                  </a:lnTo>
                  <a:lnTo>
                    <a:pt x="1374411" y="2146436"/>
                  </a:lnTo>
                  <a:lnTo>
                    <a:pt x="1419106" y="2133451"/>
                  </a:lnTo>
                  <a:lnTo>
                    <a:pt x="1462989" y="2118634"/>
                  </a:lnTo>
                  <a:lnTo>
                    <a:pt x="1506018" y="2102031"/>
                  </a:lnTo>
                  <a:lnTo>
                    <a:pt x="1548147" y="2083684"/>
                  </a:lnTo>
                  <a:lnTo>
                    <a:pt x="1589331" y="2063639"/>
                  </a:lnTo>
                  <a:lnTo>
                    <a:pt x="1629528" y="2041940"/>
                  </a:lnTo>
                  <a:lnTo>
                    <a:pt x="1668691" y="2018632"/>
                  </a:lnTo>
                  <a:lnTo>
                    <a:pt x="1706777" y="1993758"/>
                  </a:lnTo>
                  <a:lnTo>
                    <a:pt x="1743742" y="1967363"/>
                  </a:lnTo>
                  <a:lnTo>
                    <a:pt x="1779541" y="1939492"/>
                  </a:lnTo>
                  <a:lnTo>
                    <a:pt x="1814129" y="1910188"/>
                  </a:lnTo>
                  <a:lnTo>
                    <a:pt x="1847463" y="1879497"/>
                  </a:lnTo>
                  <a:lnTo>
                    <a:pt x="1879498" y="1847462"/>
                  </a:lnTo>
                  <a:lnTo>
                    <a:pt x="1910189" y="1814128"/>
                  </a:lnTo>
                  <a:lnTo>
                    <a:pt x="1939493" y="1779540"/>
                  </a:lnTo>
                  <a:lnTo>
                    <a:pt x="1967364" y="1743741"/>
                  </a:lnTo>
                  <a:lnTo>
                    <a:pt x="1993759" y="1706776"/>
                  </a:lnTo>
                  <a:lnTo>
                    <a:pt x="2018633" y="1668690"/>
                  </a:lnTo>
                  <a:lnTo>
                    <a:pt x="2041942" y="1629527"/>
                  </a:lnTo>
                  <a:lnTo>
                    <a:pt x="2063641" y="1589330"/>
                  </a:lnTo>
                  <a:lnTo>
                    <a:pt x="2083685" y="1548146"/>
                  </a:lnTo>
                  <a:lnTo>
                    <a:pt x="2102032" y="1506017"/>
                  </a:lnTo>
                  <a:lnTo>
                    <a:pt x="2118636" y="1462989"/>
                  </a:lnTo>
                  <a:lnTo>
                    <a:pt x="2133452" y="1419105"/>
                  </a:lnTo>
                  <a:lnTo>
                    <a:pt x="2146437" y="1374411"/>
                  </a:lnTo>
                  <a:lnTo>
                    <a:pt x="2157546" y="1328950"/>
                  </a:lnTo>
                  <a:lnTo>
                    <a:pt x="2166735" y="1282766"/>
                  </a:lnTo>
                  <a:lnTo>
                    <a:pt x="2173959" y="1235905"/>
                  </a:lnTo>
                  <a:lnTo>
                    <a:pt x="2179174" y="1188411"/>
                  </a:lnTo>
                  <a:lnTo>
                    <a:pt x="2182335" y="1140327"/>
                  </a:lnTo>
                  <a:lnTo>
                    <a:pt x="2183399" y="1091699"/>
                  </a:lnTo>
                  <a:lnTo>
                    <a:pt x="2182335" y="1043071"/>
                  </a:lnTo>
                  <a:lnTo>
                    <a:pt x="2179174" y="994987"/>
                  </a:lnTo>
                  <a:lnTo>
                    <a:pt x="2173959" y="947493"/>
                  </a:lnTo>
                  <a:lnTo>
                    <a:pt x="2166735" y="900632"/>
                  </a:lnTo>
                  <a:lnTo>
                    <a:pt x="2157546" y="854448"/>
                  </a:lnTo>
                  <a:lnTo>
                    <a:pt x="2146437" y="808987"/>
                  </a:lnTo>
                  <a:lnTo>
                    <a:pt x="2133452" y="764292"/>
                  </a:lnTo>
                  <a:lnTo>
                    <a:pt x="2118636" y="720409"/>
                  </a:lnTo>
                  <a:lnTo>
                    <a:pt x="2102032" y="677380"/>
                  </a:lnTo>
                  <a:lnTo>
                    <a:pt x="2083685" y="635252"/>
                  </a:lnTo>
                  <a:lnTo>
                    <a:pt x="2063641" y="594067"/>
                  </a:lnTo>
                  <a:lnTo>
                    <a:pt x="2041942" y="553871"/>
                  </a:lnTo>
                  <a:lnTo>
                    <a:pt x="2018633" y="514707"/>
                  </a:lnTo>
                  <a:lnTo>
                    <a:pt x="1993759" y="476621"/>
                  </a:lnTo>
                  <a:lnTo>
                    <a:pt x="1967364" y="439656"/>
                  </a:lnTo>
                  <a:lnTo>
                    <a:pt x="1939493" y="403857"/>
                  </a:lnTo>
                  <a:lnTo>
                    <a:pt x="1910189" y="369269"/>
                  </a:lnTo>
                  <a:lnTo>
                    <a:pt x="1879498" y="335935"/>
                  </a:lnTo>
                  <a:lnTo>
                    <a:pt x="1847463" y="303900"/>
                  </a:lnTo>
                  <a:lnTo>
                    <a:pt x="1814129" y="273209"/>
                  </a:lnTo>
                  <a:lnTo>
                    <a:pt x="1779541" y="243905"/>
                  </a:lnTo>
                  <a:lnTo>
                    <a:pt x="1743742" y="216034"/>
                  </a:lnTo>
                  <a:lnTo>
                    <a:pt x="1706777" y="189639"/>
                  </a:lnTo>
                  <a:lnTo>
                    <a:pt x="1668691" y="164765"/>
                  </a:lnTo>
                  <a:lnTo>
                    <a:pt x="1629528" y="141457"/>
                  </a:lnTo>
                  <a:lnTo>
                    <a:pt x="1589331" y="119758"/>
                  </a:lnTo>
                  <a:lnTo>
                    <a:pt x="1548147" y="99713"/>
                  </a:lnTo>
                  <a:lnTo>
                    <a:pt x="1506018" y="81366"/>
                  </a:lnTo>
                  <a:lnTo>
                    <a:pt x="1462989" y="64763"/>
                  </a:lnTo>
                  <a:lnTo>
                    <a:pt x="1419106" y="49946"/>
                  </a:lnTo>
                  <a:lnTo>
                    <a:pt x="1374411" y="36961"/>
                  </a:lnTo>
                  <a:lnTo>
                    <a:pt x="1328950" y="25852"/>
                  </a:lnTo>
                  <a:lnTo>
                    <a:pt x="1282767" y="16664"/>
                  </a:lnTo>
                  <a:lnTo>
                    <a:pt x="1235906" y="9440"/>
                  </a:lnTo>
                  <a:lnTo>
                    <a:pt x="1188411" y="4225"/>
                  </a:lnTo>
                  <a:lnTo>
                    <a:pt x="1140327" y="1063"/>
                  </a:lnTo>
                  <a:lnTo>
                    <a:pt x="1091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10766" y="4111795"/>
              <a:ext cx="2183765" cy="2183765"/>
            </a:xfrm>
            <a:custGeom>
              <a:avLst/>
              <a:gdLst/>
              <a:ahLst/>
              <a:cxnLst/>
              <a:rect l="l" t="t" r="r" b="b"/>
              <a:pathLst>
                <a:path w="2183765" h="2183765">
                  <a:moveTo>
                    <a:pt x="2183399" y="1091699"/>
                  </a:moveTo>
                  <a:lnTo>
                    <a:pt x="2182335" y="1140327"/>
                  </a:lnTo>
                  <a:lnTo>
                    <a:pt x="2179173" y="1188411"/>
                  </a:lnTo>
                  <a:lnTo>
                    <a:pt x="2173958" y="1235905"/>
                  </a:lnTo>
                  <a:lnTo>
                    <a:pt x="2166734" y="1282766"/>
                  </a:lnTo>
                  <a:lnTo>
                    <a:pt x="2157546" y="1328950"/>
                  </a:lnTo>
                  <a:lnTo>
                    <a:pt x="2146437" y="1374411"/>
                  </a:lnTo>
                  <a:lnTo>
                    <a:pt x="2133452" y="1419105"/>
                  </a:lnTo>
                  <a:lnTo>
                    <a:pt x="2118635" y="1462989"/>
                  </a:lnTo>
                  <a:lnTo>
                    <a:pt x="2102032" y="1506018"/>
                  </a:lnTo>
                  <a:lnTo>
                    <a:pt x="2083685" y="1548146"/>
                  </a:lnTo>
                  <a:lnTo>
                    <a:pt x="2063640" y="1589331"/>
                  </a:lnTo>
                  <a:lnTo>
                    <a:pt x="2041941" y="1629527"/>
                  </a:lnTo>
                  <a:lnTo>
                    <a:pt x="2018633" y="1668691"/>
                  </a:lnTo>
                  <a:lnTo>
                    <a:pt x="1993759" y="1706777"/>
                  </a:lnTo>
                  <a:lnTo>
                    <a:pt x="1967364" y="1743742"/>
                  </a:lnTo>
                  <a:lnTo>
                    <a:pt x="1939493" y="1779540"/>
                  </a:lnTo>
                  <a:lnTo>
                    <a:pt x="1910189" y="1814129"/>
                  </a:lnTo>
                  <a:lnTo>
                    <a:pt x="1879498" y="1847463"/>
                  </a:lnTo>
                  <a:lnTo>
                    <a:pt x="1847463" y="1879498"/>
                  </a:lnTo>
                  <a:lnTo>
                    <a:pt x="1814129" y="1910189"/>
                  </a:lnTo>
                  <a:lnTo>
                    <a:pt x="1779540" y="1939493"/>
                  </a:lnTo>
                  <a:lnTo>
                    <a:pt x="1743742" y="1967364"/>
                  </a:lnTo>
                  <a:lnTo>
                    <a:pt x="1706777" y="1993759"/>
                  </a:lnTo>
                  <a:lnTo>
                    <a:pt x="1668691" y="2018633"/>
                  </a:lnTo>
                  <a:lnTo>
                    <a:pt x="1629527" y="2041941"/>
                  </a:lnTo>
                  <a:lnTo>
                    <a:pt x="1589331" y="2063640"/>
                  </a:lnTo>
                  <a:lnTo>
                    <a:pt x="1548146" y="2083685"/>
                  </a:lnTo>
                  <a:lnTo>
                    <a:pt x="1506018" y="2102032"/>
                  </a:lnTo>
                  <a:lnTo>
                    <a:pt x="1462989" y="2118635"/>
                  </a:lnTo>
                  <a:lnTo>
                    <a:pt x="1419105" y="2133452"/>
                  </a:lnTo>
                  <a:lnTo>
                    <a:pt x="1374411" y="2146437"/>
                  </a:lnTo>
                  <a:lnTo>
                    <a:pt x="1328950" y="2157546"/>
                  </a:lnTo>
                  <a:lnTo>
                    <a:pt x="1282766" y="2166734"/>
                  </a:lnTo>
                  <a:lnTo>
                    <a:pt x="1235905" y="2173958"/>
                  </a:lnTo>
                  <a:lnTo>
                    <a:pt x="1188411" y="2179173"/>
                  </a:lnTo>
                  <a:lnTo>
                    <a:pt x="1140327" y="2182335"/>
                  </a:lnTo>
                  <a:lnTo>
                    <a:pt x="1091699" y="2183399"/>
                  </a:lnTo>
                  <a:lnTo>
                    <a:pt x="1043069" y="2182335"/>
                  </a:lnTo>
                  <a:lnTo>
                    <a:pt x="994985" y="2179173"/>
                  </a:lnTo>
                  <a:lnTo>
                    <a:pt x="947489" y="2173958"/>
                  </a:lnTo>
                  <a:lnTo>
                    <a:pt x="900627" y="2166734"/>
                  </a:lnTo>
                  <a:lnTo>
                    <a:pt x="854443" y="2157546"/>
                  </a:lnTo>
                  <a:lnTo>
                    <a:pt x="808981" y="2146437"/>
                  </a:lnTo>
                  <a:lnTo>
                    <a:pt x="764286" y="2133452"/>
                  </a:lnTo>
                  <a:lnTo>
                    <a:pt x="720401" y="2118635"/>
                  </a:lnTo>
                  <a:lnTo>
                    <a:pt x="677373" y="2102032"/>
                  </a:lnTo>
                  <a:lnTo>
                    <a:pt x="635244" y="2083685"/>
                  </a:lnTo>
                  <a:lnTo>
                    <a:pt x="594059" y="2063640"/>
                  </a:lnTo>
                  <a:lnTo>
                    <a:pt x="553863" y="2041941"/>
                  </a:lnTo>
                  <a:lnTo>
                    <a:pt x="514699" y="2018633"/>
                  </a:lnTo>
                  <a:lnTo>
                    <a:pt x="476613" y="1993759"/>
                  </a:lnTo>
                  <a:lnTo>
                    <a:pt x="439648" y="1967364"/>
                  </a:lnTo>
                  <a:lnTo>
                    <a:pt x="403850" y="1939493"/>
                  </a:lnTo>
                  <a:lnTo>
                    <a:pt x="369261" y="1910189"/>
                  </a:lnTo>
                  <a:lnTo>
                    <a:pt x="335928" y="1879498"/>
                  </a:lnTo>
                  <a:lnTo>
                    <a:pt x="303894" y="1847463"/>
                  </a:lnTo>
                  <a:lnTo>
                    <a:pt x="273203" y="1814129"/>
                  </a:lnTo>
                  <a:lnTo>
                    <a:pt x="243899" y="1779540"/>
                  </a:lnTo>
                  <a:lnTo>
                    <a:pt x="216029" y="1743742"/>
                  </a:lnTo>
                  <a:lnTo>
                    <a:pt x="189634" y="1706777"/>
                  </a:lnTo>
                  <a:lnTo>
                    <a:pt x="164761" y="1668691"/>
                  </a:lnTo>
                  <a:lnTo>
                    <a:pt x="141453" y="1629527"/>
                  </a:lnTo>
                  <a:lnTo>
                    <a:pt x="119754" y="1589331"/>
                  </a:lnTo>
                  <a:lnTo>
                    <a:pt x="99710" y="1548146"/>
                  </a:lnTo>
                  <a:lnTo>
                    <a:pt x="81364" y="1506018"/>
                  </a:lnTo>
                  <a:lnTo>
                    <a:pt x="64761" y="1462989"/>
                  </a:lnTo>
                  <a:lnTo>
                    <a:pt x="49945" y="1419105"/>
                  </a:lnTo>
                  <a:lnTo>
                    <a:pt x="36960" y="1374411"/>
                  </a:lnTo>
                  <a:lnTo>
                    <a:pt x="25851" y="1328950"/>
                  </a:lnTo>
                  <a:lnTo>
                    <a:pt x="16663" y="1282766"/>
                  </a:lnTo>
                  <a:lnTo>
                    <a:pt x="9439" y="1235905"/>
                  </a:lnTo>
                  <a:lnTo>
                    <a:pt x="4225" y="1188411"/>
                  </a:lnTo>
                  <a:lnTo>
                    <a:pt x="1063" y="1140327"/>
                  </a:lnTo>
                  <a:lnTo>
                    <a:pt x="0" y="1091699"/>
                  </a:lnTo>
                  <a:lnTo>
                    <a:pt x="1063" y="1043071"/>
                  </a:lnTo>
                  <a:lnTo>
                    <a:pt x="4225" y="994987"/>
                  </a:lnTo>
                  <a:lnTo>
                    <a:pt x="9439" y="947493"/>
                  </a:lnTo>
                  <a:lnTo>
                    <a:pt x="16663" y="900632"/>
                  </a:lnTo>
                  <a:lnTo>
                    <a:pt x="25851" y="854448"/>
                  </a:lnTo>
                  <a:lnTo>
                    <a:pt x="36960" y="808987"/>
                  </a:lnTo>
                  <a:lnTo>
                    <a:pt x="49945" y="764293"/>
                  </a:lnTo>
                  <a:lnTo>
                    <a:pt x="64761" y="720409"/>
                  </a:lnTo>
                  <a:lnTo>
                    <a:pt x="81364" y="677381"/>
                  </a:lnTo>
                  <a:lnTo>
                    <a:pt x="99710" y="635252"/>
                  </a:lnTo>
                  <a:lnTo>
                    <a:pt x="119754" y="594067"/>
                  </a:lnTo>
                  <a:lnTo>
                    <a:pt x="141453" y="553871"/>
                  </a:lnTo>
                  <a:lnTo>
                    <a:pt x="164761" y="514707"/>
                  </a:lnTo>
                  <a:lnTo>
                    <a:pt x="189634" y="476621"/>
                  </a:lnTo>
                  <a:lnTo>
                    <a:pt x="216029" y="439656"/>
                  </a:lnTo>
                  <a:lnTo>
                    <a:pt x="243899" y="403858"/>
                  </a:lnTo>
                  <a:lnTo>
                    <a:pt x="273203" y="369269"/>
                  </a:lnTo>
                  <a:lnTo>
                    <a:pt x="303894" y="335935"/>
                  </a:lnTo>
                  <a:lnTo>
                    <a:pt x="335928" y="303900"/>
                  </a:lnTo>
                  <a:lnTo>
                    <a:pt x="369261" y="273209"/>
                  </a:lnTo>
                  <a:lnTo>
                    <a:pt x="403850" y="243905"/>
                  </a:lnTo>
                  <a:lnTo>
                    <a:pt x="439648" y="216034"/>
                  </a:lnTo>
                  <a:lnTo>
                    <a:pt x="476613" y="189639"/>
                  </a:lnTo>
                  <a:lnTo>
                    <a:pt x="514699" y="164765"/>
                  </a:lnTo>
                  <a:lnTo>
                    <a:pt x="553863" y="141457"/>
                  </a:lnTo>
                  <a:lnTo>
                    <a:pt x="594059" y="119758"/>
                  </a:lnTo>
                  <a:lnTo>
                    <a:pt x="635244" y="99713"/>
                  </a:lnTo>
                  <a:lnTo>
                    <a:pt x="677373" y="81366"/>
                  </a:lnTo>
                  <a:lnTo>
                    <a:pt x="720401" y="64763"/>
                  </a:lnTo>
                  <a:lnTo>
                    <a:pt x="764286" y="49946"/>
                  </a:lnTo>
                  <a:lnTo>
                    <a:pt x="808981" y="36961"/>
                  </a:lnTo>
                  <a:lnTo>
                    <a:pt x="854443" y="25852"/>
                  </a:lnTo>
                  <a:lnTo>
                    <a:pt x="900627" y="16664"/>
                  </a:lnTo>
                  <a:lnTo>
                    <a:pt x="947489" y="9440"/>
                  </a:lnTo>
                  <a:lnTo>
                    <a:pt x="994985" y="4225"/>
                  </a:lnTo>
                  <a:lnTo>
                    <a:pt x="1043069" y="1063"/>
                  </a:lnTo>
                  <a:lnTo>
                    <a:pt x="1091699" y="0"/>
                  </a:lnTo>
                  <a:lnTo>
                    <a:pt x="1140327" y="1063"/>
                  </a:lnTo>
                  <a:lnTo>
                    <a:pt x="1188411" y="4225"/>
                  </a:lnTo>
                  <a:lnTo>
                    <a:pt x="1235905" y="9440"/>
                  </a:lnTo>
                  <a:lnTo>
                    <a:pt x="1282766" y="16664"/>
                  </a:lnTo>
                  <a:lnTo>
                    <a:pt x="1328950" y="25852"/>
                  </a:lnTo>
                  <a:lnTo>
                    <a:pt x="1374411" y="36961"/>
                  </a:lnTo>
                  <a:lnTo>
                    <a:pt x="1419105" y="49946"/>
                  </a:lnTo>
                  <a:lnTo>
                    <a:pt x="1462989" y="64763"/>
                  </a:lnTo>
                  <a:lnTo>
                    <a:pt x="1506018" y="81366"/>
                  </a:lnTo>
                  <a:lnTo>
                    <a:pt x="1548146" y="99713"/>
                  </a:lnTo>
                  <a:lnTo>
                    <a:pt x="1589331" y="119758"/>
                  </a:lnTo>
                  <a:lnTo>
                    <a:pt x="1629527" y="141457"/>
                  </a:lnTo>
                  <a:lnTo>
                    <a:pt x="1668691" y="164765"/>
                  </a:lnTo>
                  <a:lnTo>
                    <a:pt x="1706777" y="189639"/>
                  </a:lnTo>
                  <a:lnTo>
                    <a:pt x="1743742" y="216034"/>
                  </a:lnTo>
                  <a:lnTo>
                    <a:pt x="1779540" y="243905"/>
                  </a:lnTo>
                  <a:lnTo>
                    <a:pt x="1814129" y="273209"/>
                  </a:lnTo>
                  <a:lnTo>
                    <a:pt x="1847463" y="303900"/>
                  </a:lnTo>
                  <a:lnTo>
                    <a:pt x="1879498" y="335935"/>
                  </a:lnTo>
                  <a:lnTo>
                    <a:pt x="1910189" y="369269"/>
                  </a:lnTo>
                  <a:lnTo>
                    <a:pt x="1939493" y="403858"/>
                  </a:lnTo>
                  <a:lnTo>
                    <a:pt x="1967364" y="439656"/>
                  </a:lnTo>
                  <a:lnTo>
                    <a:pt x="1993759" y="476621"/>
                  </a:lnTo>
                  <a:lnTo>
                    <a:pt x="2018633" y="514707"/>
                  </a:lnTo>
                  <a:lnTo>
                    <a:pt x="2041941" y="553871"/>
                  </a:lnTo>
                  <a:lnTo>
                    <a:pt x="2063640" y="594067"/>
                  </a:lnTo>
                  <a:lnTo>
                    <a:pt x="2083685" y="635252"/>
                  </a:lnTo>
                  <a:lnTo>
                    <a:pt x="2102032" y="677381"/>
                  </a:lnTo>
                  <a:lnTo>
                    <a:pt x="2118635" y="720409"/>
                  </a:lnTo>
                  <a:lnTo>
                    <a:pt x="2133452" y="764293"/>
                  </a:lnTo>
                  <a:lnTo>
                    <a:pt x="2146437" y="808987"/>
                  </a:lnTo>
                  <a:lnTo>
                    <a:pt x="2157546" y="854448"/>
                  </a:lnTo>
                  <a:lnTo>
                    <a:pt x="2166734" y="900632"/>
                  </a:lnTo>
                  <a:lnTo>
                    <a:pt x="2173958" y="947493"/>
                  </a:lnTo>
                  <a:lnTo>
                    <a:pt x="2179173" y="994987"/>
                  </a:lnTo>
                  <a:lnTo>
                    <a:pt x="2182335" y="1043071"/>
                  </a:lnTo>
                  <a:lnTo>
                    <a:pt x="2183399" y="1091699"/>
                  </a:lnTo>
                  <a:close/>
                </a:path>
              </a:pathLst>
            </a:custGeom>
            <a:ln w="280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38515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9441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47509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5577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3645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71713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9782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7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87850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8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95918" y="8867213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9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39673" y="8867213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47741" y="8867213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55809" y="8867213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12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6686" y="7612943"/>
            <a:ext cx="2134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sorted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rotated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array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8802" y="1778000"/>
            <a:ext cx="10942955" cy="21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  <a:tabLst>
                <a:tab pos="4923790" algn="l"/>
              </a:tabLst>
            </a:pP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EARCH</a:t>
            </a: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80" dirty="0">
                <a:solidFill>
                  <a:srgbClr val="005493"/>
                </a:solidFill>
                <a:latin typeface="Lucida Sans Unicode"/>
                <a:cs typeface="Lucida Sans Unicode"/>
              </a:rPr>
              <a:t>I</a:t>
            </a:r>
            <a:r>
              <a:rPr sz="1900" spc="-180" dirty="0">
                <a:solidFill>
                  <a:srgbClr val="005493"/>
                </a:solidFill>
                <a:latin typeface="Lucida Sans Unicode"/>
                <a:cs typeface="Lucida Sans Unicode"/>
              </a:rPr>
              <a:t>N</a:t>
            </a:r>
            <a:r>
              <a:rPr sz="2400" spc="-18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8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80" dirty="0">
                <a:solidFill>
                  <a:srgbClr val="005493"/>
                </a:solidFill>
                <a:latin typeface="Lucida Sans Unicode"/>
                <a:cs typeface="Lucida Sans Unicode"/>
              </a:rPr>
              <a:t>ORTED</a:t>
            </a:r>
            <a:r>
              <a:rPr sz="2400" spc="-8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R</a:t>
            </a:r>
            <a:r>
              <a:rPr sz="19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OTATED</a:t>
            </a:r>
            <a:r>
              <a:rPr sz="24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RRAY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rotated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distinct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determine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14554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ahoma"/>
                <a:cs typeface="Tahoma"/>
              </a:rPr>
              <a:t>sorted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circular</a:t>
            </a:r>
            <a:r>
              <a:rPr sz="1600" b="1" spc="160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array</a:t>
            </a:r>
            <a:endParaRPr sz="1600">
              <a:latin typeface="Tahoma"/>
              <a:cs typeface="Tahoma"/>
            </a:endParaRPr>
          </a:p>
          <a:p>
            <a:pPr marR="831215" algn="ctr">
              <a:lnSpc>
                <a:spcPct val="100000"/>
              </a:lnSpc>
              <a:spcBef>
                <a:spcPts val="690"/>
              </a:spcBef>
            </a:pPr>
            <a:r>
              <a:rPr sz="1800" spc="-25" dirty="0">
                <a:latin typeface="Lucida Sans Unicode"/>
                <a:cs typeface="Lucida Sans Unicode"/>
              </a:rPr>
              <a:t>20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 rot="1800000">
            <a:off x="6453396" y="3904043"/>
            <a:ext cx="368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spc="-25" dirty="0">
                <a:latin typeface="Lucida Sans Unicode"/>
                <a:cs typeface="Lucida Sans Unicode"/>
              </a:rPr>
              <a:t>30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 rot="3540000">
            <a:off x="6969373" y="4421924"/>
            <a:ext cx="372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800" spc="-25" dirty="0">
                <a:latin typeface="Lucida Sans Unicode"/>
                <a:cs typeface="Lucida Sans Unicode"/>
              </a:rPr>
              <a:t>35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58488" y="5057735"/>
            <a:ext cx="296545" cy="3149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145"/>
              </a:lnSpc>
            </a:pPr>
            <a:r>
              <a:rPr sz="1800" spc="-25" dirty="0">
                <a:latin typeface="Lucida Sans Unicode"/>
                <a:cs typeface="Lucida Sans Unicode"/>
              </a:rPr>
              <a:t>50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 rot="7200000">
            <a:off x="6934253" y="5794852"/>
            <a:ext cx="368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spc="-25" dirty="0">
                <a:latin typeface="Lucida Sans Unicode"/>
                <a:cs typeface="Lucida Sans Unicode"/>
              </a:rPr>
              <a:t>60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 rot="8940000">
            <a:off x="6399987" y="6293950"/>
            <a:ext cx="372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800" spc="-25" dirty="0">
                <a:latin typeface="Lucida Sans Unicode"/>
                <a:cs typeface="Lucida Sans Unicode"/>
              </a:rPr>
              <a:t>65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 rot="10800000">
            <a:off x="5738844" y="6457360"/>
            <a:ext cx="368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spc="-25" dirty="0">
                <a:latin typeface="Lucida Sans Unicode"/>
                <a:cs typeface="Lucida Sans Unicode"/>
              </a:rPr>
              <a:t>67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 rot="12660000">
            <a:off x="5047697" y="6287118"/>
            <a:ext cx="372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800" spc="-25" dirty="0">
                <a:latin typeface="Lucida Sans Unicode"/>
                <a:cs typeface="Lucida Sans Unicode"/>
              </a:rPr>
              <a:t>75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 rot="14400000">
            <a:off x="4539276" y="5769452"/>
            <a:ext cx="368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spc="-25" dirty="0">
                <a:latin typeface="Lucida Sans Unicode"/>
                <a:cs typeface="Lucida Sans Unicode"/>
              </a:rPr>
              <a:t>80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78124" y="5070435"/>
            <a:ext cx="296545" cy="3149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45"/>
              </a:lnSpc>
            </a:pPr>
            <a:r>
              <a:rPr sz="1800" spc="-25" dirty="0">
                <a:latin typeface="Lucida Sans Unicode"/>
                <a:cs typeface="Lucida Sans Unicode"/>
              </a:rPr>
              <a:t>85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 rot="18060000">
            <a:off x="4512856" y="4421924"/>
            <a:ext cx="372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800" spc="-25" dirty="0">
                <a:latin typeface="Lucida Sans Unicode"/>
                <a:cs typeface="Lucida Sans Unicode"/>
              </a:rPr>
              <a:t>90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 rot="19800000">
            <a:off x="5041718" y="3878643"/>
            <a:ext cx="368921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1800" spc="-25" dirty="0">
                <a:latin typeface="Lucida Sans Unicode"/>
                <a:cs typeface="Lucida Sans Unicode"/>
              </a:rPr>
              <a:t>95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818640" y="3052524"/>
            <a:ext cx="167640" cy="372745"/>
            <a:chOff x="5818640" y="3052524"/>
            <a:chExt cx="167640" cy="372745"/>
          </a:xfrm>
        </p:grpSpPr>
        <p:sp>
          <p:nvSpPr>
            <p:cNvPr id="39" name="object 39"/>
            <p:cNvSpPr/>
            <p:nvPr/>
          </p:nvSpPr>
          <p:spPr>
            <a:xfrm>
              <a:off x="5902460" y="3052524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0"/>
                  </a:moveTo>
                  <a:lnTo>
                    <a:pt x="0" y="204924"/>
                  </a:lnTo>
                  <a:lnTo>
                    <a:pt x="0" y="2239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18640" y="3257449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39" h="167639">
                  <a:moveTo>
                    <a:pt x="167639" y="0"/>
                  </a:moveTo>
                  <a:lnTo>
                    <a:pt x="0" y="0"/>
                  </a:lnTo>
                  <a:lnTo>
                    <a:pt x="83819" y="167639"/>
                  </a:lnTo>
                  <a:lnTo>
                    <a:pt x="167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42" name="object 42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30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35" dirty="0">
                <a:solidFill>
                  <a:srgbClr val="FFFFFF"/>
                </a:solidFill>
                <a:latin typeface="Tahoma"/>
                <a:cs typeface="Tahoma"/>
              </a:rPr>
              <a:t>Search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75" dirty="0">
                <a:solidFill>
                  <a:srgbClr val="FFFFFF"/>
                </a:solidFill>
                <a:latin typeface="Tahoma"/>
                <a:cs typeface="Tahoma"/>
              </a:rPr>
              <a:t>sorted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50" dirty="0">
                <a:solidFill>
                  <a:srgbClr val="FFFFFF"/>
                </a:solidFill>
                <a:latin typeface="Tahoma"/>
                <a:cs typeface="Tahoma"/>
              </a:rPr>
              <a:t>rotated</a:t>
            </a:r>
            <a:r>
              <a:rPr sz="4000" b="1" cap="small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15" dirty="0">
                <a:solidFill>
                  <a:srgbClr val="FFFFFF"/>
                </a:solidFill>
                <a:latin typeface="Tahoma"/>
                <a:cs typeface="Tahoma"/>
              </a:rPr>
              <a:t>array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4066" y="5648624"/>
            <a:ext cx="8602980" cy="3907790"/>
          </a:xfrm>
          <a:custGeom>
            <a:avLst/>
            <a:gdLst/>
            <a:ahLst/>
            <a:cxnLst/>
            <a:rect l="l" t="t" r="r" b="b"/>
            <a:pathLst>
              <a:path w="8602980" h="3907790">
                <a:moveTo>
                  <a:pt x="8602468" y="0"/>
                </a:moveTo>
                <a:lnTo>
                  <a:pt x="0" y="0"/>
                </a:lnTo>
                <a:lnTo>
                  <a:pt x="0" y="3907631"/>
                </a:lnTo>
                <a:lnTo>
                  <a:pt x="8602468" y="3907631"/>
                </a:lnTo>
                <a:lnTo>
                  <a:pt x="86024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03466" y="5631202"/>
            <a:ext cx="3797935" cy="109664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35"/>
              </a:spcBef>
              <a:tabLst>
                <a:tab pos="389255" algn="l"/>
                <a:tab pos="1468755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lo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1;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hi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tabLst>
                <a:tab pos="389255" algn="l"/>
                <a:tab pos="1269365" algn="l"/>
                <a:tab pos="1583690" algn="l"/>
                <a:tab pos="2463800" algn="l"/>
                <a:tab pos="3632200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lo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hi</a:t>
            </a:r>
            <a:r>
              <a:rPr sz="2400" spc="-10" dirty="0">
                <a:latin typeface="Times New Roman"/>
                <a:cs typeface="Times New Roman"/>
              </a:rPr>
              <a:t>])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3466" y="6702366"/>
            <a:ext cx="3043555" cy="106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marR="5080" indent="-342900">
              <a:lnSpc>
                <a:spcPct val="142400"/>
              </a:lnSpc>
              <a:spcBef>
                <a:spcPts val="95"/>
              </a:spcBef>
              <a:tabLst>
                <a:tab pos="951865" algn="l"/>
                <a:tab pos="995044" algn="l"/>
                <a:tab pos="1996439" algn="l"/>
                <a:tab pos="231584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W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HILE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lo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hi</a:t>
            </a:r>
            <a:r>
              <a:rPr sz="2400" spc="-25" dirty="0">
                <a:latin typeface="Times New Roman"/>
                <a:cs typeface="Times New Roman"/>
              </a:rPr>
              <a:t>) </a:t>
            </a:r>
            <a:r>
              <a:rPr sz="2400" i="1" spc="-25" dirty="0">
                <a:latin typeface="Times New Roman"/>
                <a:cs typeface="Times New Roman"/>
              </a:rPr>
              <a:t>mid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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lo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hi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</a:t>
            </a:r>
            <a:r>
              <a:rPr sz="2400" spc="-25" dirty="0">
                <a:latin typeface="Symbol"/>
                <a:cs typeface="Symbol"/>
              </a:rPr>
              <a:t>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6471" y="7743766"/>
            <a:ext cx="1318895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marR="5080" indent="-6350">
              <a:lnSpc>
                <a:spcPct val="146400"/>
              </a:lnSpc>
              <a:spcBef>
                <a:spcPts val="100"/>
              </a:spcBef>
              <a:tabLst>
                <a:tab pos="389255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hi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mid. </a:t>
            </a:r>
            <a:r>
              <a:rPr sz="2400" i="1" spc="-25" dirty="0">
                <a:latin typeface="Times New Roman"/>
                <a:cs typeface="Times New Roman"/>
              </a:rPr>
              <a:t>lo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mid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3466" y="7743766"/>
            <a:ext cx="3547110" cy="163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5080">
              <a:lnSpc>
                <a:spcPct val="146400"/>
              </a:lnSpc>
              <a:spcBef>
                <a:spcPts val="100"/>
              </a:spcBef>
              <a:tabLst>
                <a:tab pos="1423670" algn="l"/>
                <a:tab pos="2524125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mid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&lt;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hi</a:t>
            </a:r>
            <a:r>
              <a:rPr sz="2400" spc="-10" dirty="0">
                <a:latin typeface="Times New Roman"/>
                <a:cs typeface="Times New Roman"/>
              </a:rPr>
              <a:t>]) 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LSE</a:t>
            </a:r>
            <a:r>
              <a:rPr sz="1900" spc="114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AAAAAA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AAAAAA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AAAAAA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AAAAAA"/>
                </a:solidFill>
                <a:latin typeface="Times New Roman"/>
                <a:cs typeface="Times New Roman"/>
              </a:rPr>
              <a:t>(</a:t>
            </a:r>
            <a:r>
              <a:rPr sz="2400" i="1" spc="-10" dirty="0">
                <a:solidFill>
                  <a:srgbClr val="AAAAAA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AAAAAA"/>
                </a:solidFill>
                <a:latin typeface="Times New Roman"/>
                <a:cs typeface="Times New Roman"/>
              </a:rPr>
              <a:t>[</a:t>
            </a:r>
            <a:r>
              <a:rPr sz="2400" i="1" spc="-10" dirty="0">
                <a:solidFill>
                  <a:srgbClr val="AAAAAA"/>
                </a:solidFill>
                <a:latin typeface="Times New Roman"/>
                <a:cs typeface="Times New Roman"/>
              </a:rPr>
              <a:t>mid</a:t>
            </a:r>
            <a:r>
              <a:rPr sz="2400" spc="-10" dirty="0">
                <a:solidFill>
                  <a:srgbClr val="AAAAAA"/>
                </a:solidFill>
                <a:latin typeface="Times New Roman"/>
                <a:cs typeface="Times New Roman"/>
              </a:rPr>
              <a:t>]</a:t>
            </a:r>
            <a:r>
              <a:rPr sz="2400" dirty="0">
                <a:solidFill>
                  <a:srgbClr val="AAAAAA"/>
                </a:solidFill>
                <a:latin typeface="Times New Roman"/>
                <a:cs typeface="Times New Roman"/>
              </a:rPr>
              <a:t>	&gt; </a:t>
            </a:r>
            <a:r>
              <a:rPr sz="2400" i="1" spc="-10" dirty="0">
                <a:solidFill>
                  <a:srgbClr val="AAAAAA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AAAAAA"/>
                </a:solidFill>
                <a:latin typeface="Times New Roman"/>
                <a:cs typeface="Times New Roman"/>
              </a:rPr>
              <a:t>[</a:t>
            </a:r>
            <a:r>
              <a:rPr sz="2400" i="1" spc="-10" dirty="0">
                <a:solidFill>
                  <a:srgbClr val="AAAAAA"/>
                </a:solidFill>
                <a:latin typeface="Times New Roman"/>
                <a:cs typeface="Times New Roman"/>
              </a:rPr>
              <a:t>hi</a:t>
            </a:r>
            <a:r>
              <a:rPr sz="2400" spc="-10" dirty="0">
                <a:solidFill>
                  <a:srgbClr val="AAAAAA"/>
                </a:solidFill>
                <a:latin typeface="Times New Roman"/>
                <a:cs typeface="Times New Roman"/>
              </a:rPr>
              <a:t>])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  <a:tabLst>
                <a:tab pos="1167765" algn="l"/>
              </a:tabLst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hi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16111" y="5797527"/>
            <a:ext cx="5212080" cy="3050540"/>
            <a:chOff x="4816111" y="5797527"/>
            <a:chExt cx="5212080" cy="30505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1556" y="5797527"/>
              <a:ext cx="746220" cy="685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48786" y="7144612"/>
              <a:ext cx="0" cy="1661795"/>
            </a:xfrm>
            <a:custGeom>
              <a:avLst/>
              <a:gdLst/>
              <a:ahLst/>
              <a:cxnLst/>
              <a:rect l="l" t="t" r="r" b="b"/>
              <a:pathLst>
                <a:path h="1661795">
                  <a:moveTo>
                    <a:pt x="0" y="1661380"/>
                  </a:moveTo>
                  <a:lnTo>
                    <a:pt x="0" y="1648680"/>
                  </a:lnTo>
                  <a:lnTo>
                    <a:pt x="0" y="12699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87817" y="7103097"/>
              <a:ext cx="121920" cy="1744980"/>
            </a:xfrm>
            <a:custGeom>
              <a:avLst/>
              <a:gdLst/>
              <a:ahLst/>
              <a:cxnLst/>
              <a:rect l="l" t="t" r="r" b="b"/>
              <a:pathLst>
                <a:path w="121920" h="1744979">
                  <a:moveTo>
                    <a:pt x="121920" y="1744433"/>
                  </a:moveTo>
                  <a:lnTo>
                    <a:pt x="60960" y="1683473"/>
                  </a:lnTo>
                  <a:lnTo>
                    <a:pt x="0" y="1744433"/>
                  </a:lnTo>
                  <a:lnTo>
                    <a:pt x="121920" y="1744433"/>
                  </a:lnTo>
                  <a:close/>
                </a:path>
                <a:path w="121920" h="1744979">
                  <a:moveTo>
                    <a:pt x="121920" y="0"/>
                  </a:moveTo>
                  <a:lnTo>
                    <a:pt x="0" y="0"/>
                  </a:lnTo>
                  <a:lnTo>
                    <a:pt x="60960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4851" y="7085611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79">
                  <a:moveTo>
                    <a:pt x="487274" y="0"/>
                  </a:moveTo>
                  <a:lnTo>
                    <a:pt x="1269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16111" y="702465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59"/>
                  </a:lnTo>
                  <a:lnTo>
                    <a:pt x="121919" y="121919"/>
                  </a:lnTo>
                  <a:lnTo>
                    <a:pt x="91439" y="6095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78640" y="6563794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79">
                  <a:moveTo>
                    <a:pt x="487274" y="0"/>
                  </a:moveTo>
                  <a:lnTo>
                    <a:pt x="1269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99900" y="650283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59"/>
                  </a:lnTo>
                  <a:lnTo>
                    <a:pt x="121919" y="121919"/>
                  </a:lnTo>
                  <a:lnTo>
                    <a:pt x="91439" y="6095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54373" y="7613618"/>
            <a:ext cx="1382395" cy="6203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loop</a:t>
            </a:r>
            <a:r>
              <a:rPr sz="16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invariant</a:t>
            </a:r>
            <a:endParaRPr sz="1600">
              <a:latin typeface="Lucida Sans Unicode"/>
              <a:cs typeface="Lucida Sans Unicode"/>
            </a:endParaRPr>
          </a:p>
          <a:p>
            <a:pPr marL="93345">
              <a:lnSpc>
                <a:spcPct val="100000"/>
              </a:lnSpc>
              <a:spcBef>
                <a:spcPts val="320"/>
              </a:spcBef>
            </a:pP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A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[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lo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]</a:t>
            </a:r>
            <a:r>
              <a:rPr sz="1800" spc="-1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&gt;</a:t>
            </a:r>
            <a:r>
              <a:rPr sz="1800" spc="-1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spc="-20" dirty="0">
                <a:solidFill>
                  <a:srgbClr val="8D3124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8D3124"/>
                </a:solidFill>
                <a:latin typeface="Times New Roman"/>
                <a:cs typeface="Times New Roman"/>
              </a:rPr>
              <a:t>[</a:t>
            </a:r>
            <a:r>
              <a:rPr sz="1800" i="1" spc="-20" dirty="0">
                <a:solidFill>
                  <a:srgbClr val="8D3124"/>
                </a:solidFill>
                <a:latin typeface="Times New Roman"/>
                <a:cs typeface="Times New Roman"/>
              </a:rPr>
              <a:t>hi</a:t>
            </a:r>
            <a:r>
              <a:rPr sz="1800" spc="-20" dirty="0">
                <a:solidFill>
                  <a:srgbClr val="8D3124"/>
                </a:solidFill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02776" y="6923661"/>
            <a:ext cx="1879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at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least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3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elements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8802" y="1778000"/>
            <a:ext cx="10942955" cy="371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  <a:tabLst>
                <a:tab pos="4923790" algn="l"/>
              </a:tabLst>
            </a:pP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EARCH</a:t>
            </a: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80" dirty="0">
                <a:solidFill>
                  <a:srgbClr val="005493"/>
                </a:solidFill>
                <a:latin typeface="Lucida Sans Unicode"/>
                <a:cs typeface="Lucida Sans Unicode"/>
              </a:rPr>
              <a:t>I</a:t>
            </a:r>
            <a:r>
              <a:rPr sz="1900" spc="-180" dirty="0">
                <a:solidFill>
                  <a:srgbClr val="005493"/>
                </a:solidFill>
                <a:latin typeface="Lucida Sans Unicode"/>
                <a:cs typeface="Lucida Sans Unicode"/>
              </a:rPr>
              <a:t>N</a:t>
            </a:r>
            <a:r>
              <a:rPr sz="2400" spc="-18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8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80" dirty="0">
                <a:solidFill>
                  <a:srgbClr val="005493"/>
                </a:solidFill>
                <a:latin typeface="Lucida Sans Unicode"/>
                <a:cs typeface="Lucida Sans Unicode"/>
              </a:rPr>
              <a:t>ORTED</a:t>
            </a:r>
            <a:r>
              <a:rPr sz="2400" spc="-8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R</a:t>
            </a:r>
            <a:r>
              <a:rPr sz="19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OTATED</a:t>
            </a:r>
            <a:r>
              <a:rPr sz="2400" spc="-7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RRAY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rotated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distinct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determine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ts val="2625"/>
              </a:lnSpc>
            </a:pP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5493"/>
                </a:solidFill>
                <a:latin typeface="Times New Roman"/>
                <a:cs typeface="Times New Roman"/>
              </a:rPr>
              <a:t>(log</a:t>
            </a:r>
            <a:r>
              <a:rPr sz="2400" spc="-20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5493"/>
                </a:solidFill>
                <a:latin typeface="Times New Roman"/>
                <a:cs typeface="Times New Roman"/>
              </a:rPr>
              <a:t>)</a:t>
            </a:r>
            <a:r>
              <a:rPr sz="2400" spc="135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80645">
              <a:lnSpc>
                <a:spcPts val="3954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index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smallest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element.</a:t>
            </a:r>
            <a:endParaRPr sz="2400">
              <a:latin typeface="Lucida Sans Unicode"/>
              <a:cs typeface="Lucida Sans Unicode"/>
            </a:endParaRPr>
          </a:p>
          <a:p>
            <a:pPr marL="80645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Binary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either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[1</a:t>
            </a:r>
            <a:r>
              <a:rPr sz="2400" spc="-5" dirty="0">
                <a:latin typeface="Times New Roman"/>
                <a:cs typeface="Times New Roman"/>
              </a:rPr>
              <a:t> ..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−1]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..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]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925830">
              <a:lnSpc>
                <a:spcPct val="100000"/>
              </a:lnSpc>
              <a:spcBef>
                <a:spcPts val="3595"/>
              </a:spcBef>
            </a:pPr>
            <a:r>
              <a:rPr sz="1600" b="1" dirty="0">
                <a:latin typeface="Tahoma"/>
                <a:cs typeface="Tahoma"/>
              </a:rPr>
              <a:t>find</a:t>
            </a:r>
            <a:r>
              <a:rPr sz="1600" b="1" spc="1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index</a:t>
            </a:r>
            <a:r>
              <a:rPr sz="1600" b="1" spc="1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smallest</a:t>
            </a:r>
            <a:r>
              <a:rPr sz="1600" b="1" spc="13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element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22" name="object 22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83313" y="6401844"/>
            <a:ext cx="6419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sorted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31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Linearithmic</a:t>
            </a:r>
            <a:r>
              <a:rPr spc="-40" dirty="0"/>
              <a:t> </a:t>
            </a:r>
            <a:r>
              <a:rPr spc="-20" dirty="0"/>
              <a:t>time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39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1038205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78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Linearithmic</a:t>
            </a:r>
            <a:r>
              <a:rPr sz="2400" spc="-1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35826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Sorting.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elements,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rearrange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ascending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order.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10134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i="1" spc="-1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log</a:t>
            </a:r>
            <a:r>
              <a:rPr sz="2400" spc="-1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4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Lucida Sans Unicode"/>
                <a:cs typeface="Lucida Sans Unicode"/>
              </a:rPr>
              <a:t>Mergesort.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68450" y="4095132"/>
          <a:ext cx="6674485" cy="510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785"/>
                <a:gridCol w="428625"/>
                <a:gridCol w="428625"/>
                <a:gridCol w="428625"/>
                <a:gridCol w="428625"/>
                <a:gridCol w="428625"/>
                <a:gridCol w="428625"/>
                <a:gridCol w="428625"/>
                <a:gridCol w="428625"/>
                <a:gridCol w="356870"/>
                <a:gridCol w="428625"/>
                <a:gridCol w="428625"/>
                <a:gridCol w="428625"/>
                <a:gridCol w="428625"/>
                <a:gridCol w="428625"/>
                <a:gridCol w="433705"/>
              </a:tblGrid>
              <a:tr h="295275">
                <a:tc>
                  <a:txBody>
                    <a:bodyPr/>
                    <a:lstStyle/>
                    <a:p>
                      <a:pPr marL="25400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0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7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8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10"/>
                        </a:lnSpc>
                      </a:pPr>
                      <a:r>
                        <a:rPr sz="1850" spc="-50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9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10"/>
                        </a:lnSpc>
                      </a:pPr>
                      <a:r>
                        <a:rPr sz="1850" spc="-25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10"/>
                        </a:lnSpc>
                      </a:pPr>
                      <a:r>
                        <a:rPr sz="1850" spc="-25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11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10"/>
                        </a:lnSpc>
                      </a:pPr>
                      <a:r>
                        <a:rPr sz="1850" spc="-25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12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10"/>
                        </a:lnSpc>
                      </a:pPr>
                      <a:r>
                        <a:rPr sz="1850" spc="-25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13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10"/>
                        </a:lnSpc>
                      </a:pPr>
                      <a:r>
                        <a:rPr sz="1850" spc="-25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14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10"/>
                        </a:lnSpc>
                      </a:pPr>
                      <a:r>
                        <a:rPr sz="1850" spc="-25" dirty="0">
                          <a:solidFill>
                            <a:srgbClr val="BF311A"/>
                          </a:solidFill>
                          <a:latin typeface="Lucida Console"/>
                          <a:cs typeface="Lucida Console"/>
                        </a:rPr>
                        <a:t>15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B w="19050">
                      <a:solidFill>
                        <a:srgbClr val="BF311A"/>
                      </a:solidFill>
                      <a:prstDash val="solid"/>
                    </a:lnB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17780" marB="0">
                    <a:lnT w="19050">
                      <a:solidFill>
                        <a:srgbClr val="BF311A"/>
                      </a:solidFill>
                      <a:prstDash val="solid"/>
                    </a:lnT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9525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9781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BBBDC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288925">
                <a:tc>
                  <a:txBody>
                    <a:bodyPr/>
                    <a:lstStyle/>
                    <a:p>
                      <a:pPr marL="25400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A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E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G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L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M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O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R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S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T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180"/>
                        </a:lnSpc>
                      </a:pPr>
                      <a:r>
                        <a:rPr sz="1850" spc="-50" dirty="0">
                          <a:solidFill>
                            <a:srgbClr val="231F20"/>
                          </a:solidFill>
                          <a:latin typeface="Lucida Console"/>
                          <a:cs typeface="Lucida Console"/>
                        </a:rPr>
                        <a:t>X</a:t>
                      </a:r>
                      <a:endParaRPr sz="185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cap="small" spc="-375" dirty="0">
                <a:solidFill>
                  <a:srgbClr val="FFFFFF"/>
                </a:solidFill>
                <a:latin typeface="Tahoma"/>
                <a:cs typeface="Tahoma"/>
              </a:rPr>
              <a:t>Largest</a:t>
            </a:r>
            <a:r>
              <a:rPr sz="4000" b="1" cap="small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95" dirty="0">
                <a:solidFill>
                  <a:srgbClr val="FFFFFF"/>
                </a:solidFill>
                <a:latin typeface="Tahoma"/>
                <a:cs typeface="Tahoma"/>
              </a:rPr>
              <a:t>Empty</a:t>
            </a:r>
            <a:r>
              <a:rPr sz="4000" b="1" cap="small" spc="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9" dirty="0">
                <a:solidFill>
                  <a:srgbClr val="FFFFFF"/>
                </a:solidFill>
                <a:latin typeface="Tahoma"/>
                <a:cs typeface="Tahoma"/>
              </a:rPr>
              <a:t>interval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3402" y="1778000"/>
            <a:ext cx="1116076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5400"/>
              </a:lnSpc>
              <a:spcBef>
                <a:spcPts val="100"/>
              </a:spcBef>
              <a:tabLst>
                <a:tab pos="3587115" algn="l"/>
              </a:tabLst>
            </a:pPr>
            <a:r>
              <a:rPr sz="24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L</a:t>
            </a:r>
            <a:r>
              <a:rPr sz="19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ARGEST</a:t>
            </a:r>
            <a:r>
              <a:rPr sz="24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20" dirty="0">
                <a:solidFill>
                  <a:srgbClr val="005493"/>
                </a:solidFill>
                <a:latin typeface="Lucida Sans Unicode"/>
                <a:cs typeface="Lucida Sans Unicode"/>
              </a:rPr>
              <a:t>E</a:t>
            </a:r>
            <a:r>
              <a:rPr sz="1900" spc="-120" dirty="0">
                <a:solidFill>
                  <a:srgbClr val="005493"/>
                </a:solidFill>
                <a:latin typeface="Lucida Sans Unicode"/>
                <a:cs typeface="Lucida Sans Unicode"/>
              </a:rPr>
              <a:t>MPTY</a:t>
            </a:r>
            <a:r>
              <a:rPr sz="2400" spc="-12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I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NTERVAL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timestamps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n</a:t>
            </a:r>
            <a:r>
              <a:rPr sz="2400" i="1" spc="53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copies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file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arrive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server,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largest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interval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copies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file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arrive?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5" name="object 5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33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75" dirty="0">
                <a:solidFill>
                  <a:srgbClr val="FFFFFF"/>
                </a:solidFill>
                <a:latin typeface="Tahoma"/>
                <a:cs typeface="Tahoma"/>
              </a:rPr>
              <a:t>Largest</a:t>
            </a:r>
            <a:r>
              <a:rPr sz="4000" b="1" cap="small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95" dirty="0">
                <a:solidFill>
                  <a:srgbClr val="FFFFFF"/>
                </a:solidFill>
                <a:latin typeface="Tahoma"/>
                <a:cs typeface="Tahoma"/>
              </a:rPr>
              <a:t>Empty</a:t>
            </a:r>
            <a:r>
              <a:rPr sz="4000" b="1" cap="small" spc="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409" dirty="0">
                <a:solidFill>
                  <a:srgbClr val="FFFFFF"/>
                </a:solidFill>
                <a:latin typeface="Tahoma"/>
                <a:cs typeface="Tahoma"/>
              </a:rPr>
              <a:t>interval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1778000"/>
            <a:ext cx="11244580" cy="343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43180">
              <a:lnSpc>
                <a:spcPct val="135400"/>
              </a:lnSpc>
              <a:spcBef>
                <a:spcPts val="100"/>
              </a:spcBef>
              <a:tabLst>
                <a:tab pos="3658870" algn="l"/>
              </a:tabLst>
            </a:pPr>
            <a:r>
              <a:rPr sz="24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L</a:t>
            </a:r>
            <a:r>
              <a:rPr sz="19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ARGEST</a:t>
            </a:r>
            <a:r>
              <a:rPr sz="24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20" dirty="0">
                <a:solidFill>
                  <a:srgbClr val="005493"/>
                </a:solidFill>
                <a:latin typeface="Lucida Sans Unicode"/>
                <a:cs typeface="Lucida Sans Unicode"/>
              </a:rPr>
              <a:t>E</a:t>
            </a:r>
            <a:r>
              <a:rPr sz="1900" spc="-120" dirty="0">
                <a:solidFill>
                  <a:srgbClr val="005493"/>
                </a:solidFill>
                <a:latin typeface="Lucida Sans Unicode"/>
                <a:cs typeface="Lucida Sans Unicode"/>
              </a:rPr>
              <a:t>MPTY</a:t>
            </a:r>
            <a:r>
              <a:rPr sz="2400" spc="-12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I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NTERVAL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timestamps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n</a:t>
            </a:r>
            <a:r>
              <a:rPr sz="2400" i="1" spc="53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copies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file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arrive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server,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largest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interval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copies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file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arrive?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i="1" spc="-1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log</a:t>
            </a:r>
            <a:r>
              <a:rPr sz="2400" spc="-1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4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0" marR="532765" indent="-457200">
              <a:lnSpc>
                <a:spcPts val="3800"/>
              </a:lnSpc>
              <a:spcBef>
                <a:spcPts val="220"/>
              </a:spcBef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Scan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sorted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identifying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gap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between </a:t>
            </a:r>
            <a:r>
              <a:rPr sz="2400" dirty="0">
                <a:latin typeface="Lucida Sans Unicode"/>
                <a:cs typeface="Lucida Sans Unicode"/>
              </a:rPr>
              <a:t>successive</a:t>
            </a:r>
            <a:r>
              <a:rPr sz="2400" spc="114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timestamps.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7" name="object 7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34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Quadratic</a:t>
            </a:r>
            <a:r>
              <a:rPr spc="120" dirty="0"/>
              <a:t> </a:t>
            </a:r>
            <a:r>
              <a:rPr spc="-20" dirty="0"/>
              <a:t>time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1204575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54381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Quadratic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19097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 marR="55880">
              <a:lnSpc>
                <a:spcPct val="131900"/>
              </a:lnSpc>
              <a:tabLst>
                <a:tab pos="3519804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Closest</a:t>
            </a: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pair</a:t>
            </a:r>
            <a:r>
              <a:rPr sz="24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r>
              <a:rPr sz="24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points.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plane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),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y</a:t>
            </a:r>
            <a:r>
              <a:rPr sz="2400" i="1" spc="-30" baseline="-19097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closest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other.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5590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7777" dirty="0">
                <a:solidFill>
                  <a:srgbClr val="0048AA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Enumerate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(with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).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8577580"/>
            <a:ext cx="1045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45260" algn="l"/>
                <a:tab pos="893508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Ω(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seems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inevitable,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just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10" dirty="0">
                <a:latin typeface="Lucida Sans Unicode"/>
                <a:cs typeface="Lucida Sans Unicode"/>
              </a:rPr>
              <a:t> illusion.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[see</a:t>
            </a:r>
            <a:r>
              <a:rPr sz="24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§5.4]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5364" y="4597185"/>
            <a:ext cx="4844415" cy="33724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640" rIns="0" bIns="0" rtlCol="0">
            <a:spAutoFit/>
          </a:bodyPr>
          <a:lstStyle/>
          <a:p>
            <a:pPr marL="279400" marR="2709545">
              <a:lnSpc>
                <a:spcPts val="4220"/>
              </a:lnSpc>
              <a:spcBef>
                <a:spcPts val="320"/>
              </a:spcBef>
              <a:tabLst>
                <a:tab pos="888365" algn="l"/>
                <a:tab pos="939800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min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∞.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855"/>
              </a:spcBef>
              <a:tabLst>
                <a:tab pos="1282700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1220"/>
              </a:spcBef>
              <a:tabLst>
                <a:tab pos="1269365" algn="l"/>
              </a:tabLst>
            </a:pPr>
            <a:r>
              <a:rPr sz="2400" i="1" spc="-50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-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baseline="19097" dirty="0">
                <a:latin typeface="Times New Roman"/>
                <a:cs typeface="Times New Roman"/>
              </a:rPr>
              <a:t>2</a:t>
            </a:r>
            <a:r>
              <a:rPr sz="2400" spc="284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-1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y</a:t>
            </a:r>
            <a:r>
              <a:rPr sz="2400" i="1" spc="-30" baseline="-6944" dirty="0">
                <a:latin typeface="Times New Roman"/>
                <a:cs typeface="Times New Roman"/>
              </a:rPr>
              <a:t>j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30" baseline="19097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308100" marR="2178685" indent="-342900">
              <a:lnSpc>
                <a:spcPct val="142400"/>
              </a:lnSpc>
              <a:spcBef>
                <a:spcPts val="114"/>
              </a:spcBef>
              <a:tabLst>
                <a:tab pos="1334135" algn="l"/>
                <a:tab pos="1740535" algn="l"/>
                <a:tab pos="1917064" algn="l"/>
                <a:tab pos="2098675" algn="l"/>
              </a:tabLst>
            </a:pP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spc="-25" dirty="0">
                <a:latin typeface="Times New Roman"/>
                <a:cs typeface="Times New Roman"/>
              </a:rPr>
              <a:t>(</a:t>
            </a:r>
            <a:r>
              <a:rPr sz="2400" i="1" spc="-25" dirty="0">
                <a:latin typeface="Times New Roman"/>
                <a:cs typeface="Times New Roman"/>
              </a:rPr>
              <a:t>d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&lt;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min</a:t>
            </a:r>
            <a:r>
              <a:rPr sz="2400" spc="-20" dirty="0">
                <a:latin typeface="Times New Roman"/>
                <a:cs typeface="Times New Roman"/>
              </a:rPr>
              <a:t>) </a:t>
            </a:r>
            <a:r>
              <a:rPr sz="2400" i="1" spc="-25" dirty="0">
                <a:latin typeface="Times New Roman"/>
                <a:cs typeface="Times New Roman"/>
              </a:rPr>
              <a:t>min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d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Cubic</a:t>
            </a:r>
            <a:r>
              <a:rPr spc="60" dirty="0"/>
              <a:t> </a:t>
            </a:r>
            <a:r>
              <a:rPr spc="-20" dirty="0"/>
              <a:t>time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0339070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Cubic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spc="-15" baseline="19097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1187450" algn="l"/>
              </a:tabLst>
            </a:pPr>
            <a:r>
              <a:rPr sz="2400" spc="-305" dirty="0">
                <a:solidFill>
                  <a:srgbClr val="0048AA"/>
                </a:solidFill>
                <a:latin typeface="Lucida Sans Unicode"/>
                <a:cs typeface="Lucida Sans Unicode"/>
              </a:rPr>
              <a:t>3-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UM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distinct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three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0.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25590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7777" dirty="0">
                <a:solidFill>
                  <a:srgbClr val="0048AA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Enumerate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triples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(with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).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8577580"/>
            <a:ext cx="10442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45260" algn="l"/>
                <a:tab pos="815213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Ω(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seems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inevitable,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hard.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[see</a:t>
            </a:r>
            <a:r>
              <a:rPr sz="2400" spc="-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next</a:t>
            </a:r>
            <a:r>
              <a:rPr sz="2400" spc="-3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slide]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5364" y="4597184"/>
            <a:ext cx="4844415" cy="28067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51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00"/>
              </a:spcBef>
              <a:tabLst>
                <a:tab pos="939800" algn="l"/>
                <a:tab pos="1176655" algn="l"/>
                <a:tab pos="1729739" algn="l"/>
                <a:tab pos="2202815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cap="small" dirty="0">
                <a:latin typeface="Times New Roman"/>
                <a:cs typeface="Times New Roman"/>
              </a:rPr>
              <a:t>= </a:t>
            </a:r>
            <a:r>
              <a:rPr sz="2400" cap="small" spc="-50" dirty="0">
                <a:latin typeface="Times New Roman"/>
                <a:cs typeface="Times New Roman"/>
              </a:rPr>
              <a:t>1</a:t>
            </a:r>
            <a:r>
              <a:rPr sz="2400" cap="small" dirty="0">
                <a:latin typeface="Times New Roman"/>
                <a:cs typeface="Times New Roman"/>
              </a:rPr>
              <a:t>	</a:t>
            </a: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220"/>
              </a:spcBef>
              <a:tabLst>
                <a:tab pos="1282700" algn="l"/>
                <a:tab pos="1519555" algn="l"/>
                <a:tab pos="1844039" algn="l"/>
                <a:tab pos="2557780" algn="l"/>
                <a:tab pos="3030855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j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i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1220"/>
              </a:spcBef>
              <a:tabLst>
                <a:tab pos="1625600" algn="l"/>
                <a:tab pos="2161540" algn="l"/>
                <a:tab pos="2875280" algn="l"/>
                <a:tab pos="3348354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OR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 </a:t>
            </a:r>
            <a:r>
              <a:rPr sz="2400" dirty="0">
                <a:latin typeface="Times New Roman"/>
                <a:cs typeface="Times New Roman"/>
              </a:rPr>
              <a:t>+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308100" marR="1115695" indent="-342900">
              <a:lnSpc>
                <a:spcPts val="4100"/>
              </a:lnSpc>
              <a:spcBef>
                <a:spcPts val="340"/>
              </a:spcBef>
              <a:tabLst>
                <a:tab pos="1354455" algn="l"/>
                <a:tab pos="2475865" algn="l"/>
                <a:tab pos="3232785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277" baseline="-694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spc="284" baseline="-694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k</a:t>
            </a:r>
            <a:r>
              <a:rPr sz="2400" i="1" spc="277" baseline="-694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0) 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j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a</a:t>
            </a:r>
            <a:r>
              <a:rPr sz="2400" i="1" spc="-30" baseline="-6944" dirty="0">
                <a:latin typeface="Times New Roman"/>
                <a:cs typeface="Times New Roman"/>
              </a:rPr>
              <a:t>k</a:t>
            </a:r>
            <a:r>
              <a:rPr sz="2400" spc="-2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spc="-345" dirty="0">
                <a:solidFill>
                  <a:srgbClr val="FFFFFF"/>
                </a:solidFill>
                <a:latin typeface="Tahoma"/>
                <a:cs typeface="Tahoma"/>
              </a:rPr>
              <a:t>3-</a:t>
            </a:r>
            <a:r>
              <a:rPr sz="4000" b="1" spc="-33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200" b="1" spc="-335" dirty="0">
                <a:solidFill>
                  <a:srgbClr val="FFFFFF"/>
                </a:solidFill>
                <a:latin typeface="Tahoma"/>
                <a:cs typeface="Tahoma"/>
              </a:rPr>
              <a:t>UM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1907540"/>
            <a:ext cx="10398125" cy="23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  <a:tabLst>
                <a:tab pos="1245870" algn="l"/>
              </a:tabLst>
            </a:pPr>
            <a:r>
              <a:rPr sz="2400" spc="-305" dirty="0">
                <a:solidFill>
                  <a:srgbClr val="005493"/>
                </a:solidFill>
                <a:latin typeface="Lucida Sans Unicode"/>
                <a:cs typeface="Lucida Sans Unicode"/>
              </a:rPr>
              <a:t>3-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UM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distinct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three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0.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5590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9513" dirty="0">
                <a:solidFill>
                  <a:srgbClr val="0048AA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Try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triples.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9513" dirty="0">
                <a:solidFill>
                  <a:srgbClr val="0048AA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7" name="object 7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37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spc="-345" dirty="0">
                <a:solidFill>
                  <a:srgbClr val="FFFFFF"/>
                </a:solidFill>
                <a:latin typeface="Tahoma"/>
                <a:cs typeface="Tahoma"/>
              </a:rPr>
              <a:t>3-</a:t>
            </a:r>
            <a:r>
              <a:rPr sz="4000" b="1" spc="-33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200" b="1" spc="-335" dirty="0">
                <a:solidFill>
                  <a:srgbClr val="FFFFFF"/>
                </a:solidFill>
                <a:latin typeface="Tahoma"/>
                <a:cs typeface="Tahoma"/>
              </a:rPr>
              <a:t>UM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1907540"/>
            <a:ext cx="10398125" cy="377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  <a:tabLst>
                <a:tab pos="1245870" algn="l"/>
              </a:tabLst>
            </a:pPr>
            <a:r>
              <a:rPr sz="2400" spc="-305" dirty="0">
                <a:solidFill>
                  <a:srgbClr val="005493"/>
                </a:solidFill>
                <a:latin typeface="Lucida Sans Unicode"/>
                <a:cs typeface="Lucida Sans Unicode"/>
              </a:rPr>
              <a:t>3-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UM</a:t>
            </a:r>
            <a:r>
              <a:rPr sz="2400" spc="-2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distinct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three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0.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5590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9513" dirty="0">
                <a:solidFill>
                  <a:srgbClr val="0048AA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Try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triples.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ts val="2615"/>
              </a:lnSpc>
              <a:spcBef>
                <a:spcPts val="5"/>
              </a:spcBef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9513" dirty="0">
                <a:solidFill>
                  <a:srgbClr val="0048AA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2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47700" marR="279400" indent="-457200">
              <a:lnSpc>
                <a:spcPts val="3800"/>
              </a:lnSpc>
              <a:spcBef>
                <a:spcPts val="219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-22" baseline="-694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: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T</a:t>
            </a:r>
            <a:r>
              <a:rPr sz="1900" spc="-45" dirty="0">
                <a:latin typeface="Lucida Sans Unicode"/>
                <a:cs typeface="Lucida Sans Unicode"/>
              </a:rPr>
              <a:t>ARGET</a:t>
            </a:r>
            <a:r>
              <a:rPr sz="2400" spc="-4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UM</a:t>
            </a:r>
            <a:r>
              <a:rPr sz="1900" spc="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array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containing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all </a:t>
            </a:r>
            <a:r>
              <a:rPr sz="2400" dirty="0">
                <a:latin typeface="Lucida Sans Unicode"/>
                <a:cs typeface="Lucida Sans Unicode"/>
              </a:rPr>
              <a:t>elements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except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51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target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= −</a:t>
            </a:r>
            <a:r>
              <a:rPr sz="2400" i="1" spc="-20" dirty="0">
                <a:latin typeface="Times New Roman"/>
                <a:cs typeface="Times New Roman"/>
              </a:rPr>
              <a:t>a</a:t>
            </a:r>
            <a:r>
              <a:rPr sz="2400" i="1" spc="-30" baseline="-6944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7101840"/>
            <a:ext cx="6868159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1944370" algn="l"/>
                <a:tab pos="3582670" algn="l"/>
              </a:tabLst>
            </a:pPr>
            <a:r>
              <a:rPr sz="24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Best-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known</a:t>
            </a:r>
            <a:r>
              <a:rPr sz="2400" spc="-9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-7" baseline="295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(log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))</a:t>
            </a:r>
            <a:r>
              <a:rPr sz="2400" spc="-20" dirty="0">
                <a:latin typeface="Lucida Sans Unicode"/>
                <a:cs typeface="Lucida Sans Unicode"/>
              </a:rPr>
              <a:t>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Conjecture.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27777" dirty="0">
                <a:latin typeface="Times New Roman"/>
                <a:cs typeface="Times New Roman"/>
              </a:rPr>
              <a:t>2−ε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25500" y="382788"/>
            <a:ext cx="11366500" cy="614680"/>
            <a:chOff x="825500" y="382788"/>
            <a:chExt cx="11366500" cy="614680"/>
          </a:xfrm>
        </p:grpSpPr>
        <p:sp>
          <p:nvSpPr>
            <p:cNvPr id="8" name="object 8"/>
            <p:cNvSpPr/>
            <p:nvPr/>
          </p:nvSpPr>
          <p:spPr>
            <a:xfrm>
              <a:off x="825500" y="990493"/>
              <a:ext cx="11366500" cy="635"/>
            </a:xfrm>
            <a:custGeom>
              <a:avLst/>
              <a:gdLst/>
              <a:ahLst/>
              <a:cxnLst/>
              <a:rect l="l" t="t" r="r" b="b"/>
              <a:pathLst>
                <a:path w="11366500" h="634">
                  <a:moveTo>
                    <a:pt x="0" y="107"/>
                  </a:moveTo>
                  <a:lnTo>
                    <a:pt x="1136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10" y="692835"/>
              <a:ext cx="177125" cy="15844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637227" y="9407431"/>
            <a:ext cx="2819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z="1200" spc="-25" dirty="0">
                <a:latin typeface="Lucida Sans Unicode"/>
                <a:cs typeface="Lucida Sans Unicode"/>
              </a:rPr>
              <a:t>38</a:t>
            </a:fld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14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1700" y="7429500"/>
            <a:ext cx="1010602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Check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whether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70" dirty="0">
                <a:latin typeface="Times New Roman"/>
                <a:cs typeface="Times New Roman"/>
              </a:rPr>
              <a:t>)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7912100"/>
            <a:ext cx="5177790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spc="-50" dirty="0">
                <a:latin typeface="Lucida Sans Unicode"/>
                <a:cs typeface="Lucida Sans Unicode"/>
              </a:rPr>
              <a:t>-</a:t>
            </a:r>
            <a:r>
              <a:rPr sz="2400" spc="-70" dirty="0">
                <a:latin typeface="Lucida Sans Unicode"/>
                <a:cs typeface="Lucida Sans Unicode"/>
              </a:rPr>
              <a:t>element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subsets</a:t>
            </a:r>
            <a:r>
              <a:rPr sz="2400" spc="-250" dirty="0">
                <a:latin typeface="Lucida Sans Unicode"/>
                <a:cs typeface="Lucida Sans Unicode"/>
              </a:rPr>
              <a:t> =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baseline="29513" dirty="0">
                <a:latin typeface="Times New Roman"/>
                <a:cs typeface="Times New Roman"/>
              </a:rPr>
              <a:t>2</a:t>
            </a:r>
            <a:r>
              <a:rPr sz="2400" spc="284" baseline="29513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baseline="27777" dirty="0">
                <a:latin typeface="Times New Roman"/>
                <a:cs typeface="Times New Roman"/>
              </a:rPr>
              <a:t>k</a:t>
            </a:r>
            <a:r>
              <a:rPr sz="2400" i="1" spc="284" baseline="27777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/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spc="-10" dirty="0">
                <a:latin typeface="Times New Roman"/>
                <a:cs typeface="Times New Roman"/>
              </a:rPr>
              <a:t>!) = 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i="1" spc="-15" baseline="27777" dirty="0">
                <a:latin typeface="Times New Roman"/>
                <a:cs typeface="Times New Roman"/>
              </a:rPr>
              <a:t>k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7630" y="9330537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Lucida Sans Unicode"/>
                <a:cs typeface="Lucida Sans Unicode"/>
              </a:rPr>
              <a:t>46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86405" y="9006782"/>
            <a:ext cx="351790" cy="351790"/>
            <a:chOff x="3686405" y="9006782"/>
            <a:chExt cx="351790" cy="351790"/>
          </a:xfrm>
        </p:grpSpPr>
        <p:sp>
          <p:nvSpPr>
            <p:cNvPr id="8" name="object 8"/>
            <p:cNvSpPr/>
            <p:nvPr/>
          </p:nvSpPr>
          <p:spPr>
            <a:xfrm>
              <a:off x="3742083" y="9062460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10" h="283209">
                  <a:moveTo>
                    <a:pt x="0" y="0"/>
                  </a:moveTo>
                  <a:lnTo>
                    <a:pt x="8980" y="8980"/>
                  </a:lnTo>
                  <a:lnTo>
                    <a:pt x="283005" y="283004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86405" y="9006782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40">
                  <a:moveTo>
                    <a:pt x="0" y="0"/>
                  </a:moveTo>
                  <a:lnTo>
                    <a:pt x="43103" y="129315"/>
                  </a:lnTo>
                  <a:lnTo>
                    <a:pt x="64656" y="64658"/>
                  </a:lnTo>
                  <a:lnTo>
                    <a:pt x="129315" y="4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91763" y="9281866"/>
            <a:ext cx="3693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k</a:t>
            </a:r>
            <a:r>
              <a:rPr sz="1800" i="1" spc="-2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17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,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but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not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practical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300" y="1338580"/>
            <a:ext cx="10748010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7273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baseline="27777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&gt;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 marR="30480">
              <a:lnSpc>
                <a:spcPct val="131900"/>
              </a:lnSpc>
              <a:tabLst>
                <a:tab pos="4053204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Independent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set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size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i="1" spc="-25" dirty="0">
                <a:solidFill>
                  <a:srgbClr val="0048AA"/>
                </a:solidFill>
                <a:latin typeface="Times New Roman"/>
                <a:cs typeface="Times New Roman"/>
              </a:rPr>
              <a:t>k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two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joined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edge.</a:t>
            </a:r>
            <a:endParaRPr sz="2400">
              <a:latin typeface="Lucida Sans Unicode"/>
              <a:cs typeface="Lucida Sans Unicode"/>
            </a:endParaRPr>
          </a:p>
          <a:p>
            <a:pPr marR="1083945" algn="r">
              <a:lnSpc>
                <a:spcPts val="2110"/>
              </a:lnSpc>
            </a:pP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k</a:t>
            </a:r>
            <a:r>
              <a:rPr sz="1800" i="1" spc="4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constant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54762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i="1" baseline="27777" dirty="0">
                <a:solidFill>
                  <a:srgbClr val="0048AA"/>
                </a:solidFill>
                <a:latin typeface="Times New Roman"/>
                <a:cs typeface="Times New Roman"/>
              </a:rPr>
              <a:t>k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1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Enumerate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nodes.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35404" y="2770262"/>
            <a:ext cx="314325" cy="358775"/>
            <a:chOff x="8635404" y="2770262"/>
            <a:chExt cx="314325" cy="358775"/>
          </a:xfrm>
        </p:grpSpPr>
        <p:sp>
          <p:nvSpPr>
            <p:cNvPr id="13" name="object 13"/>
            <p:cNvSpPr/>
            <p:nvPr/>
          </p:nvSpPr>
          <p:spPr>
            <a:xfrm>
              <a:off x="8687128" y="2829630"/>
              <a:ext cx="249554" cy="286385"/>
            </a:xfrm>
            <a:custGeom>
              <a:avLst/>
              <a:gdLst/>
              <a:ahLst/>
              <a:cxnLst/>
              <a:rect l="l" t="t" r="r" b="b"/>
              <a:pathLst>
                <a:path w="249554" h="286385">
                  <a:moveTo>
                    <a:pt x="0" y="0"/>
                  </a:moveTo>
                  <a:lnTo>
                    <a:pt x="8342" y="9575"/>
                  </a:lnTo>
                  <a:lnTo>
                    <a:pt x="249375" y="286229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5404" y="2770262"/>
              <a:ext cx="126364" cy="132080"/>
            </a:xfrm>
            <a:custGeom>
              <a:avLst/>
              <a:gdLst/>
              <a:ahLst/>
              <a:cxnLst/>
              <a:rect l="l" t="t" r="r" b="b"/>
              <a:pathLst>
                <a:path w="126365" h="132080">
                  <a:moveTo>
                    <a:pt x="0" y="0"/>
                  </a:moveTo>
                  <a:lnTo>
                    <a:pt x="34127" y="131969"/>
                  </a:lnTo>
                  <a:lnTo>
                    <a:pt x="60067" y="68944"/>
                  </a:lnTo>
                  <a:lnTo>
                    <a:pt x="126052" y="5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76465" y="8074586"/>
            <a:ext cx="174625" cy="703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14100"/>
              </a:lnSpc>
              <a:spcBef>
                <a:spcPts val="95"/>
              </a:spcBef>
            </a:pPr>
            <a:r>
              <a:rPr sz="1950" i="1" spc="120" dirty="0">
                <a:latin typeface="Calibri"/>
                <a:cs typeface="Calibri"/>
              </a:rPr>
              <a:t>n </a:t>
            </a:r>
            <a:r>
              <a:rPr sz="1950" i="1" spc="70" dirty="0">
                <a:latin typeface="Calibri"/>
                <a:cs typeface="Calibri"/>
              </a:rPr>
              <a:t>k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5750" y="7932650"/>
            <a:ext cx="20891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Arial MT"/>
                <a:cs typeface="Arial MT"/>
              </a:rPr>
              <a:t> 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7037" y="8283395"/>
            <a:ext cx="21907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495" dirty="0">
                <a:latin typeface="Calibri"/>
                <a:cs typeface="Calibri"/>
              </a:rPr>
              <a:t>=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8515" y="8115137"/>
            <a:ext cx="382714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i="1" spc="170" dirty="0">
                <a:latin typeface="Calibri"/>
                <a:cs typeface="Calibri"/>
              </a:rPr>
              <a:t>n</a:t>
            </a:r>
            <a:r>
              <a:rPr sz="1950" spc="170" dirty="0">
                <a:latin typeface="Calibri"/>
                <a:cs typeface="Calibri"/>
              </a:rPr>
              <a:t>(</a:t>
            </a:r>
            <a:r>
              <a:rPr sz="1950" i="1" spc="170" dirty="0">
                <a:latin typeface="Calibri"/>
                <a:cs typeface="Calibri"/>
              </a:rPr>
              <a:t>n</a:t>
            </a:r>
            <a:r>
              <a:rPr sz="1950" i="1" spc="-10" dirty="0">
                <a:latin typeface="Calibri"/>
                <a:cs typeface="Calibri"/>
              </a:rPr>
              <a:t> </a:t>
            </a:r>
            <a:r>
              <a:rPr sz="1950" i="1" spc="-430" dirty="0">
                <a:latin typeface="Arial"/>
                <a:cs typeface="Arial"/>
              </a:rPr>
              <a:t>—</a:t>
            </a:r>
            <a:r>
              <a:rPr sz="1950" i="1" spc="-100" dirty="0">
                <a:latin typeface="Arial"/>
                <a:cs typeface="Arial"/>
              </a:rPr>
              <a:t> </a:t>
            </a:r>
            <a:r>
              <a:rPr sz="1950" spc="120" dirty="0">
                <a:latin typeface="Calibri"/>
                <a:cs typeface="Calibri"/>
              </a:rPr>
              <a:t>1)(</a:t>
            </a:r>
            <a:r>
              <a:rPr sz="1950" i="1" spc="120" dirty="0">
                <a:latin typeface="Calibri"/>
                <a:cs typeface="Calibri"/>
              </a:rPr>
              <a:t>n</a:t>
            </a:r>
            <a:r>
              <a:rPr sz="1950" i="1" spc="-5" dirty="0">
                <a:latin typeface="Calibri"/>
                <a:cs typeface="Calibri"/>
              </a:rPr>
              <a:t> </a:t>
            </a:r>
            <a:r>
              <a:rPr sz="1950" i="1" spc="-430" dirty="0">
                <a:latin typeface="Arial"/>
                <a:cs typeface="Arial"/>
              </a:rPr>
              <a:t>—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spc="75" dirty="0">
                <a:latin typeface="Calibri"/>
                <a:cs typeface="Calibri"/>
              </a:rPr>
              <a:t>2)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i="1" spc="375" dirty="0">
                <a:latin typeface="Arial"/>
                <a:cs typeface="Arial"/>
              </a:rPr>
              <a:t>×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i="1" spc="50" dirty="0">
                <a:latin typeface="Arial"/>
                <a:cs typeface="Arial"/>
              </a:rPr>
              <a:t>··</a:t>
            </a:r>
            <a:r>
              <a:rPr sz="1950" i="1" spc="-215" dirty="0">
                <a:latin typeface="Arial"/>
                <a:cs typeface="Arial"/>
              </a:rPr>
              <a:t> </a:t>
            </a:r>
            <a:r>
              <a:rPr sz="1950" i="1" spc="-120" dirty="0">
                <a:latin typeface="Arial"/>
                <a:cs typeface="Arial"/>
              </a:rPr>
              <a:t>·</a:t>
            </a:r>
            <a:r>
              <a:rPr sz="1950" i="1" spc="-110" dirty="0">
                <a:latin typeface="Arial"/>
                <a:cs typeface="Arial"/>
              </a:rPr>
              <a:t> </a:t>
            </a:r>
            <a:r>
              <a:rPr sz="1950" i="1" spc="375" dirty="0">
                <a:latin typeface="Arial"/>
                <a:cs typeface="Arial"/>
              </a:rPr>
              <a:t>×</a:t>
            </a:r>
            <a:r>
              <a:rPr sz="1950" i="1" spc="-100" dirty="0">
                <a:latin typeface="Arial"/>
                <a:cs typeface="Arial"/>
              </a:rPr>
              <a:t> </a:t>
            </a:r>
            <a:r>
              <a:rPr sz="1950" spc="170" dirty="0">
                <a:latin typeface="Calibri"/>
                <a:cs typeface="Calibri"/>
              </a:rPr>
              <a:t>(</a:t>
            </a:r>
            <a:r>
              <a:rPr sz="1950" i="1" spc="170" dirty="0">
                <a:latin typeface="Calibri"/>
                <a:cs typeface="Calibri"/>
              </a:rPr>
              <a:t>n</a:t>
            </a:r>
            <a:r>
              <a:rPr sz="1950" i="1" spc="-5" dirty="0">
                <a:latin typeface="Calibri"/>
                <a:cs typeface="Calibri"/>
              </a:rPr>
              <a:t> </a:t>
            </a:r>
            <a:r>
              <a:rPr sz="1950" i="1" spc="-430" dirty="0">
                <a:latin typeface="Arial"/>
                <a:cs typeface="Arial"/>
              </a:rPr>
              <a:t>—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i="1" spc="120" dirty="0">
                <a:latin typeface="Calibri"/>
                <a:cs typeface="Calibri"/>
              </a:rPr>
              <a:t>k</a:t>
            </a:r>
            <a:r>
              <a:rPr sz="1950" i="1" spc="55" dirty="0">
                <a:latin typeface="Calibri"/>
                <a:cs typeface="Calibri"/>
              </a:rPr>
              <a:t> </a:t>
            </a:r>
            <a:r>
              <a:rPr sz="1950" spc="545" dirty="0">
                <a:latin typeface="Calibri"/>
                <a:cs typeface="Calibri"/>
              </a:rPr>
              <a:t>+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50" dirty="0">
                <a:latin typeface="Calibri"/>
                <a:cs typeface="Calibri"/>
              </a:rPr>
              <a:t>1)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21215" y="8482651"/>
            <a:ext cx="3802379" cy="0"/>
          </a:xfrm>
          <a:custGeom>
            <a:avLst/>
            <a:gdLst/>
            <a:ahLst/>
            <a:cxnLst/>
            <a:rect l="l" t="t" r="r" b="b"/>
            <a:pathLst>
              <a:path w="3802379">
                <a:moveTo>
                  <a:pt x="0" y="0"/>
                </a:moveTo>
                <a:lnTo>
                  <a:pt x="3801770" y="0"/>
                </a:lnTo>
              </a:path>
            </a:pathLst>
          </a:custGeom>
          <a:ln w="99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70455" y="8454148"/>
            <a:ext cx="270383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i="1" spc="155" dirty="0">
                <a:latin typeface="Calibri"/>
                <a:cs typeface="Calibri"/>
              </a:rPr>
              <a:t>k</a:t>
            </a:r>
            <a:r>
              <a:rPr sz="1950" spc="155" dirty="0">
                <a:latin typeface="Calibri"/>
                <a:cs typeface="Calibri"/>
              </a:rPr>
              <a:t>(</a:t>
            </a:r>
            <a:r>
              <a:rPr sz="1950" i="1" spc="155" dirty="0">
                <a:latin typeface="Calibri"/>
                <a:cs typeface="Calibri"/>
              </a:rPr>
              <a:t>k</a:t>
            </a:r>
            <a:r>
              <a:rPr sz="1950" i="1" spc="60" dirty="0">
                <a:latin typeface="Calibri"/>
                <a:cs typeface="Calibri"/>
              </a:rPr>
              <a:t> </a:t>
            </a:r>
            <a:r>
              <a:rPr sz="1950" i="1" spc="-430" dirty="0">
                <a:latin typeface="Arial"/>
                <a:cs typeface="Arial"/>
              </a:rPr>
              <a:t>—</a:t>
            </a:r>
            <a:r>
              <a:rPr sz="1950" i="1" spc="-100" dirty="0">
                <a:latin typeface="Arial"/>
                <a:cs typeface="Arial"/>
              </a:rPr>
              <a:t> </a:t>
            </a:r>
            <a:r>
              <a:rPr sz="1950" spc="110" dirty="0">
                <a:latin typeface="Calibri"/>
                <a:cs typeface="Calibri"/>
              </a:rPr>
              <a:t>1)(</a:t>
            </a:r>
            <a:r>
              <a:rPr sz="1950" i="1" spc="110" dirty="0">
                <a:latin typeface="Calibri"/>
                <a:cs typeface="Calibri"/>
              </a:rPr>
              <a:t>k</a:t>
            </a:r>
            <a:r>
              <a:rPr sz="1950" i="1" spc="60" dirty="0">
                <a:latin typeface="Calibri"/>
                <a:cs typeface="Calibri"/>
              </a:rPr>
              <a:t> </a:t>
            </a:r>
            <a:r>
              <a:rPr sz="1950" i="1" spc="-430" dirty="0">
                <a:latin typeface="Arial"/>
                <a:cs typeface="Arial"/>
              </a:rPr>
              <a:t>—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spc="75" dirty="0">
                <a:latin typeface="Calibri"/>
                <a:cs typeface="Calibri"/>
              </a:rPr>
              <a:t>2)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i="1" spc="375" dirty="0">
                <a:latin typeface="Arial"/>
                <a:cs typeface="Arial"/>
              </a:rPr>
              <a:t>×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i="1" spc="50" dirty="0">
                <a:latin typeface="Arial"/>
                <a:cs typeface="Arial"/>
              </a:rPr>
              <a:t>··</a:t>
            </a:r>
            <a:r>
              <a:rPr sz="1950" i="1" spc="-215" dirty="0">
                <a:latin typeface="Arial"/>
                <a:cs typeface="Arial"/>
              </a:rPr>
              <a:t> </a:t>
            </a:r>
            <a:r>
              <a:rPr sz="1950" i="1" spc="-120" dirty="0">
                <a:latin typeface="Arial"/>
                <a:cs typeface="Arial"/>
              </a:rPr>
              <a:t>·</a:t>
            </a:r>
            <a:r>
              <a:rPr sz="1950" i="1" spc="-100" dirty="0">
                <a:latin typeface="Arial"/>
                <a:cs typeface="Arial"/>
              </a:rPr>
              <a:t> </a:t>
            </a:r>
            <a:r>
              <a:rPr sz="1950" i="1" spc="375" dirty="0">
                <a:latin typeface="Arial"/>
                <a:cs typeface="Arial"/>
              </a:rPr>
              <a:t>×</a:t>
            </a:r>
            <a:r>
              <a:rPr sz="1950" i="1" spc="-100" dirty="0">
                <a:latin typeface="Arial"/>
                <a:cs typeface="Arial"/>
              </a:rPr>
              <a:t> </a:t>
            </a:r>
            <a:r>
              <a:rPr sz="1950" spc="-50" dirty="0"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78295" y="8283395"/>
            <a:ext cx="21907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i="1" spc="390" dirty="0">
                <a:latin typeface="Arial"/>
                <a:cs typeface="Arial"/>
              </a:rPr>
              <a:t>≤</a:t>
            </a:r>
            <a:endParaRPr sz="1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14373" y="8025017"/>
            <a:ext cx="33147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925" i="1" spc="247" baseline="-19943" dirty="0">
                <a:latin typeface="Calibri"/>
                <a:cs typeface="Calibri"/>
              </a:rPr>
              <a:t>n</a:t>
            </a:r>
            <a:r>
              <a:rPr sz="1350" i="1" spc="165" dirty="0">
                <a:latin typeface="Calibri"/>
                <a:cs typeface="Calibri"/>
              </a:rPr>
              <a:t>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552473" y="8482651"/>
            <a:ext cx="271780" cy="0"/>
          </a:xfrm>
          <a:custGeom>
            <a:avLst/>
            <a:gdLst/>
            <a:ahLst/>
            <a:cxnLst/>
            <a:rect l="l" t="t" r="r" b="b"/>
            <a:pathLst>
              <a:path w="271779">
                <a:moveTo>
                  <a:pt x="0" y="0"/>
                </a:moveTo>
                <a:lnTo>
                  <a:pt x="271608" y="0"/>
                </a:lnTo>
              </a:path>
            </a:pathLst>
          </a:custGeom>
          <a:ln w="99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572226" y="8454148"/>
            <a:ext cx="23177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i="1" spc="-25" dirty="0">
                <a:latin typeface="Calibri"/>
                <a:cs typeface="Calibri"/>
              </a:rPr>
              <a:t>k</a:t>
            </a:r>
            <a:r>
              <a:rPr sz="1950" spc="-25" dirty="0">
                <a:latin typeface="Calibri"/>
                <a:cs typeface="Calibri"/>
              </a:rPr>
              <a:t>!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67793" y="4540220"/>
            <a:ext cx="6007100" cy="22860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51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00"/>
              </a:spcBef>
              <a:tabLst>
                <a:tab pos="160337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OREACH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subset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nodes:</a:t>
            </a:r>
            <a:endParaRPr sz="2400">
              <a:latin typeface="Times New Roman"/>
              <a:cs typeface="Times New Roman"/>
            </a:endParaRPr>
          </a:p>
          <a:p>
            <a:pPr marL="622300" marR="610870">
              <a:lnSpc>
                <a:spcPts val="4100"/>
              </a:lnSpc>
              <a:spcBef>
                <a:spcPts val="340"/>
              </a:spcBef>
              <a:tabLst>
                <a:tab pos="1011555" algn="l"/>
              </a:tabLst>
            </a:pP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independent</a:t>
            </a:r>
            <a:r>
              <a:rPr sz="2400" spc="-20" dirty="0">
                <a:latin typeface="Times New Roman"/>
                <a:cs typeface="Times New Roman"/>
              </a:rPr>
              <a:t> set. </a:t>
            </a: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independent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set)</a:t>
            </a:r>
            <a:endParaRPr sz="2400">
              <a:latin typeface="Times New Roman"/>
              <a:cs typeface="Times New Roman"/>
            </a:endParaRPr>
          </a:p>
          <a:p>
            <a:pPr marL="965200">
              <a:lnSpc>
                <a:spcPct val="100000"/>
              </a:lnSpc>
              <a:spcBef>
                <a:spcPts val="880"/>
              </a:spcBef>
              <a:tabLst>
                <a:tab pos="2132965" algn="l"/>
              </a:tabLst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cap="small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308399" y="4497040"/>
            <a:ext cx="2212340" cy="2092960"/>
            <a:chOff x="9308399" y="4497040"/>
            <a:chExt cx="2212340" cy="2092960"/>
          </a:xfrm>
        </p:grpSpPr>
        <p:sp>
          <p:nvSpPr>
            <p:cNvPr id="27" name="object 27"/>
            <p:cNvSpPr/>
            <p:nvPr/>
          </p:nvSpPr>
          <p:spPr>
            <a:xfrm>
              <a:off x="9378886" y="4567528"/>
              <a:ext cx="2071370" cy="1951989"/>
            </a:xfrm>
            <a:custGeom>
              <a:avLst/>
              <a:gdLst/>
              <a:ahLst/>
              <a:cxnLst/>
              <a:rect l="l" t="t" r="r" b="b"/>
              <a:pathLst>
                <a:path w="2071370" h="1951990">
                  <a:moveTo>
                    <a:pt x="1041057" y="0"/>
                  </a:moveTo>
                  <a:lnTo>
                    <a:pt x="2071271" y="748260"/>
                  </a:lnTo>
                  <a:lnTo>
                    <a:pt x="1670030" y="1951983"/>
                  </a:lnTo>
                  <a:lnTo>
                    <a:pt x="401240" y="1951983"/>
                  </a:lnTo>
                  <a:lnTo>
                    <a:pt x="0" y="748260"/>
                  </a:lnTo>
                  <a:lnTo>
                    <a:pt x="1041057" y="0"/>
                  </a:lnTo>
                  <a:close/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899415" y="5109745"/>
              <a:ext cx="1030605" cy="975994"/>
            </a:xfrm>
            <a:custGeom>
              <a:avLst/>
              <a:gdLst/>
              <a:ahLst/>
              <a:cxnLst/>
              <a:rect l="l" t="t" r="r" b="b"/>
              <a:pathLst>
                <a:path w="1030604" h="975995">
                  <a:moveTo>
                    <a:pt x="520528" y="0"/>
                  </a:moveTo>
                  <a:lnTo>
                    <a:pt x="835015" y="975991"/>
                  </a:lnTo>
                  <a:lnTo>
                    <a:pt x="0" y="368707"/>
                  </a:lnTo>
                  <a:lnTo>
                    <a:pt x="1030213" y="368707"/>
                  </a:lnTo>
                  <a:lnTo>
                    <a:pt x="195198" y="975991"/>
                  </a:lnTo>
                  <a:lnTo>
                    <a:pt x="520528" y="0"/>
                  </a:lnTo>
                  <a:close/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419944" y="4567528"/>
              <a:ext cx="0" cy="542290"/>
            </a:xfrm>
            <a:custGeom>
              <a:avLst/>
              <a:gdLst/>
              <a:ahLst/>
              <a:cxnLst/>
              <a:rect l="l" t="t" r="r" b="b"/>
              <a:pathLst>
                <a:path h="542289">
                  <a:moveTo>
                    <a:pt x="0" y="0"/>
                  </a:moveTo>
                  <a:lnTo>
                    <a:pt x="0" y="542217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929629" y="5315789"/>
              <a:ext cx="520700" cy="163195"/>
            </a:xfrm>
            <a:custGeom>
              <a:avLst/>
              <a:gdLst/>
              <a:ahLst/>
              <a:cxnLst/>
              <a:rect l="l" t="t" r="r" b="b"/>
              <a:pathLst>
                <a:path w="520700" h="163195">
                  <a:moveTo>
                    <a:pt x="520528" y="0"/>
                  </a:moveTo>
                  <a:lnTo>
                    <a:pt x="0" y="162665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734431" y="6085737"/>
              <a:ext cx="314960" cy="434340"/>
            </a:xfrm>
            <a:custGeom>
              <a:avLst/>
              <a:gdLst/>
              <a:ahLst/>
              <a:cxnLst/>
              <a:rect l="l" t="t" r="r" b="b"/>
              <a:pathLst>
                <a:path w="314959" h="434340">
                  <a:moveTo>
                    <a:pt x="314486" y="433774"/>
                  </a:moveTo>
                  <a:lnTo>
                    <a:pt x="0" y="0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80128" y="6085737"/>
              <a:ext cx="314960" cy="434340"/>
            </a:xfrm>
            <a:custGeom>
              <a:avLst/>
              <a:gdLst/>
              <a:ahLst/>
              <a:cxnLst/>
              <a:rect l="l" t="t" r="r" b="b"/>
              <a:pathLst>
                <a:path w="314959" h="434340">
                  <a:moveTo>
                    <a:pt x="0" y="433774"/>
                  </a:moveTo>
                  <a:lnTo>
                    <a:pt x="314486" y="0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78887" y="5315789"/>
              <a:ext cx="520700" cy="163195"/>
            </a:xfrm>
            <a:custGeom>
              <a:avLst/>
              <a:gdLst/>
              <a:ahLst/>
              <a:cxnLst/>
              <a:rect l="l" t="t" r="r" b="b"/>
              <a:pathLst>
                <a:path w="520700" h="163195">
                  <a:moveTo>
                    <a:pt x="0" y="0"/>
                  </a:moveTo>
                  <a:lnTo>
                    <a:pt x="520528" y="162665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49456" y="4497040"/>
              <a:ext cx="140976" cy="14097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9456" y="5039257"/>
              <a:ext cx="140976" cy="14097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9670" y="5245301"/>
              <a:ext cx="140976" cy="1409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9141" y="5407965"/>
              <a:ext cx="140976" cy="1409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8428" y="6449023"/>
              <a:ext cx="140976" cy="14097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3942" y="6015250"/>
              <a:ext cx="140976" cy="1409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09640" y="6449023"/>
              <a:ext cx="140976" cy="1409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24126" y="6015250"/>
              <a:ext cx="140976" cy="14097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8399" y="5245301"/>
              <a:ext cx="140976" cy="14097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28927" y="5407965"/>
              <a:ext cx="140976" cy="14097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9080658" y="6745258"/>
            <a:ext cx="2687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independent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size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spc="30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0018395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84226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Exponential</a:t>
            </a:r>
            <a:r>
              <a:rPr sz="24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(2</a:t>
            </a:r>
            <a:r>
              <a:rPr sz="2550" i="1" baseline="31045" dirty="0">
                <a:latin typeface="Times New Roman"/>
                <a:cs typeface="Times New Roman"/>
              </a:rPr>
              <a:t>n</a:t>
            </a:r>
            <a:r>
              <a:rPr sz="1950" i="1" baseline="61965" dirty="0">
                <a:latin typeface="Times New Roman"/>
                <a:cs typeface="Times New Roman"/>
              </a:rPr>
              <a:t>k</a:t>
            </a:r>
            <a:r>
              <a:rPr sz="1950" i="1" spc="-104" baseline="619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&gt;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74193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Independent</a:t>
            </a:r>
            <a:r>
              <a:rPr sz="2400" spc="-1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set.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size.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286385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baseline="27777" dirty="0">
                <a:solidFill>
                  <a:srgbClr val="0048AA"/>
                </a:solidFill>
                <a:latin typeface="Times New Roman"/>
                <a:cs typeface="Times New Roman"/>
              </a:rPr>
              <a:t>2</a:t>
            </a:r>
            <a:r>
              <a:rPr sz="2400" spc="-22" baseline="27777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2</a:t>
            </a:r>
            <a:r>
              <a:rPr sz="2400" i="1" baseline="27777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)</a:t>
            </a:r>
            <a:r>
              <a:rPr sz="2400" spc="13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Enumerate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elements.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502" y="4241800"/>
            <a:ext cx="6350000" cy="38931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51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00"/>
              </a:spcBef>
              <a:tabLst>
                <a:tab pos="735965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S*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10000"/>
                </a:solidFill>
                <a:latin typeface="Symbol"/>
                <a:cs typeface="Symbol"/>
              </a:rPr>
              <a:t>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1335"/>
              </a:spcBef>
              <a:tabLst>
                <a:tab pos="160337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OREACH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subset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nodes: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independent</a:t>
            </a:r>
            <a:r>
              <a:rPr sz="2400" spc="-20" dirty="0">
                <a:latin typeface="Times New Roman"/>
                <a:cs typeface="Times New Roman"/>
              </a:rPr>
              <a:t> set.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220"/>
              </a:spcBef>
              <a:tabLst>
                <a:tab pos="1011555" algn="l"/>
              </a:tabLst>
            </a:pP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independent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495" dirty="0">
                <a:latin typeface="Symbol"/>
                <a:cs typeface="Symbol"/>
              </a:rPr>
              <a:t></a:t>
            </a:r>
            <a:r>
              <a:rPr sz="2400" i="1" spc="-495" dirty="0">
                <a:latin typeface="Times New Roman"/>
                <a:cs typeface="Times New Roman"/>
              </a:rPr>
              <a:t>S</a:t>
            </a:r>
            <a:r>
              <a:rPr sz="2400" spc="-495" dirty="0">
                <a:latin typeface="Symbol"/>
                <a:cs typeface="Symbol"/>
              </a:rPr>
              <a:t>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&gt;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310" dirty="0">
                <a:latin typeface="Symbol"/>
                <a:cs typeface="Symbol"/>
              </a:rPr>
              <a:t></a:t>
            </a:r>
            <a:r>
              <a:rPr sz="2400" i="1" spc="-310" dirty="0">
                <a:latin typeface="Times New Roman"/>
                <a:cs typeface="Times New Roman"/>
              </a:rPr>
              <a:t>S*</a:t>
            </a:r>
            <a:r>
              <a:rPr sz="2400" spc="-310" dirty="0">
                <a:latin typeface="Symbol"/>
                <a:cs typeface="Symbol"/>
              </a:rPr>
              <a:t></a:t>
            </a:r>
            <a:r>
              <a:rPr sz="2400" spc="-3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279400" marR="4314190" indent="685800">
              <a:lnSpc>
                <a:spcPct val="146400"/>
              </a:lnSpc>
              <a:tabLst>
                <a:tab pos="1421765" algn="l"/>
                <a:tab pos="1447165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S*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cap="small" dirty="0">
                <a:latin typeface="Times New Roman"/>
                <a:cs typeface="Times New Roman"/>
              </a:rPr>
              <a:t> </a:t>
            </a:r>
            <a:r>
              <a:rPr sz="2400" i="1" spc="-165" dirty="0">
                <a:latin typeface="Times New Roman"/>
                <a:cs typeface="Times New Roman"/>
              </a:rPr>
              <a:t>S</a:t>
            </a:r>
            <a:r>
              <a:rPr sz="2400" cap="small" spc="-165" dirty="0">
                <a:latin typeface="Times New Roman"/>
                <a:cs typeface="Times New Roman"/>
              </a:rPr>
              <a:t>. </a:t>
            </a: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	</a:t>
            </a:r>
            <a:r>
              <a:rPr sz="2400" i="1" spc="-25" dirty="0">
                <a:latin typeface="Times New Roman"/>
                <a:cs typeface="Times New Roman"/>
              </a:rPr>
              <a:t>S*</a:t>
            </a:r>
            <a:r>
              <a:rPr sz="2400" cap="small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308399" y="4497040"/>
            <a:ext cx="2212340" cy="2092960"/>
            <a:chOff x="9308399" y="4497040"/>
            <a:chExt cx="2212340" cy="2092960"/>
          </a:xfrm>
        </p:grpSpPr>
        <p:sp>
          <p:nvSpPr>
            <p:cNvPr id="7" name="object 7"/>
            <p:cNvSpPr/>
            <p:nvPr/>
          </p:nvSpPr>
          <p:spPr>
            <a:xfrm>
              <a:off x="9378886" y="4567528"/>
              <a:ext cx="2071370" cy="1951989"/>
            </a:xfrm>
            <a:custGeom>
              <a:avLst/>
              <a:gdLst/>
              <a:ahLst/>
              <a:cxnLst/>
              <a:rect l="l" t="t" r="r" b="b"/>
              <a:pathLst>
                <a:path w="2071370" h="1951990">
                  <a:moveTo>
                    <a:pt x="1041057" y="0"/>
                  </a:moveTo>
                  <a:lnTo>
                    <a:pt x="2071271" y="748260"/>
                  </a:lnTo>
                  <a:lnTo>
                    <a:pt x="1670030" y="1951983"/>
                  </a:lnTo>
                  <a:lnTo>
                    <a:pt x="401240" y="1951983"/>
                  </a:lnTo>
                  <a:lnTo>
                    <a:pt x="0" y="748260"/>
                  </a:lnTo>
                  <a:lnTo>
                    <a:pt x="1041057" y="0"/>
                  </a:lnTo>
                  <a:close/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99415" y="5109745"/>
              <a:ext cx="1030605" cy="975994"/>
            </a:xfrm>
            <a:custGeom>
              <a:avLst/>
              <a:gdLst/>
              <a:ahLst/>
              <a:cxnLst/>
              <a:rect l="l" t="t" r="r" b="b"/>
              <a:pathLst>
                <a:path w="1030604" h="975995">
                  <a:moveTo>
                    <a:pt x="520528" y="0"/>
                  </a:moveTo>
                  <a:lnTo>
                    <a:pt x="835015" y="975991"/>
                  </a:lnTo>
                  <a:lnTo>
                    <a:pt x="0" y="368707"/>
                  </a:lnTo>
                  <a:lnTo>
                    <a:pt x="1030213" y="368707"/>
                  </a:lnTo>
                  <a:lnTo>
                    <a:pt x="195198" y="975991"/>
                  </a:lnTo>
                  <a:lnTo>
                    <a:pt x="520528" y="0"/>
                  </a:lnTo>
                  <a:close/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19944" y="4567528"/>
              <a:ext cx="0" cy="542290"/>
            </a:xfrm>
            <a:custGeom>
              <a:avLst/>
              <a:gdLst/>
              <a:ahLst/>
              <a:cxnLst/>
              <a:rect l="l" t="t" r="r" b="b"/>
              <a:pathLst>
                <a:path h="542289">
                  <a:moveTo>
                    <a:pt x="0" y="0"/>
                  </a:moveTo>
                  <a:lnTo>
                    <a:pt x="0" y="542217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29629" y="5315789"/>
              <a:ext cx="520700" cy="163195"/>
            </a:xfrm>
            <a:custGeom>
              <a:avLst/>
              <a:gdLst/>
              <a:ahLst/>
              <a:cxnLst/>
              <a:rect l="l" t="t" r="r" b="b"/>
              <a:pathLst>
                <a:path w="520700" h="163195">
                  <a:moveTo>
                    <a:pt x="520528" y="0"/>
                  </a:moveTo>
                  <a:lnTo>
                    <a:pt x="0" y="162665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34431" y="6085737"/>
              <a:ext cx="314960" cy="434340"/>
            </a:xfrm>
            <a:custGeom>
              <a:avLst/>
              <a:gdLst/>
              <a:ahLst/>
              <a:cxnLst/>
              <a:rect l="l" t="t" r="r" b="b"/>
              <a:pathLst>
                <a:path w="314959" h="434340">
                  <a:moveTo>
                    <a:pt x="314486" y="433774"/>
                  </a:moveTo>
                  <a:lnTo>
                    <a:pt x="0" y="0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0128" y="6085737"/>
              <a:ext cx="314960" cy="434340"/>
            </a:xfrm>
            <a:custGeom>
              <a:avLst/>
              <a:gdLst/>
              <a:ahLst/>
              <a:cxnLst/>
              <a:rect l="l" t="t" r="r" b="b"/>
              <a:pathLst>
                <a:path w="314959" h="434340">
                  <a:moveTo>
                    <a:pt x="0" y="433774"/>
                  </a:moveTo>
                  <a:lnTo>
                    <a:pt x="314486" y="0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78887" y="5315789"/>
              <a:ext cx="520700" cy="163195"/>
            </a:xfrm>
            <a:custGeom>
              <a:avLst/>
              <a:gdLst/>
              <a:ahLst/>
              <a:cxnLst/>
              <a:rect l="l" t="t" r="r" b="b"/>
              <a:pathLst>
                <a:path w="520700" h="163195">
                  <a:moveTo>
                    <a:pt x="0" y="0"/>
                  </a:moveTo>
                  <a:lnTo>
                    <a:pt x="520528" y="162665"/>
                  </a:lnTo>
                </a:path>
              </a:pathLst>
            </a:custGeom>
            <a:ln w="10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49456" y="4497040"/>
              <a:ext cx="140976" cy="1409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9456" y="5039257"/>
              <a:ext cx="140976" cy="1409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9670" y="5245301"/>
              <a:ext cx="140976" cy="1409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9141" y="5407965"/>
              <a:ext cx="140976" cy="1409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8428" y="6449023"/>
              <a:ext cx="140976" cy="1409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3942" y="6015250"/>
              <a:ext cx="140976" cy="1409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09640" y="6449023"/>
              <a:ext cx="140976" cy="1409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24126" y="6015250"/>
              <a:ext cx="140976" cy="1409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8399" y="5245301"/>
              <a:ext cx="140976" cy="1409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28927" y="5407965"/>
              <a:ext cx="140976" cy="1409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929400" y="6745258"/>
            <a:ext cx="29902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independent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max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size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spc="300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338580"/>
            <a:ext cx="11159490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84226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Exponential</a:t>
            </a:r>
            <a:r>
              <a:rPr sz="24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(2</a:t>
            </a:r>
            <a:r>
              <a:rPr sz="2550" i="1" baseline="31045" dirty="0">
                <a:latin typeface="Times New Roman"/>
                <a:cs typeface="Times New Roman"/>
              </a:rPr>
              <a:t>n</a:t>
            </a:r>
            <a:r>
              <a:rPr sz="1950" i="1" baseline="61965" dirty="0">
                <a:latin typeface="Times New Roman"/>
                <a:cs typeface="Times New Roman"/>
              </a:rPr>
              <a:t>k</a:t>
            </a:r>
            <a:r>
              <a:rPr sz="1950" i="1" spc="-104" baseline="619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&gt;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238125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Euclidean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TSP.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plane,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tour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minimum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length.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3023870" algn="l"/>
              </a:tabLst>
            </a:pP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i="1" spc="-2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745" dirty="0">
                <a:solidFill>
                  <a:srgbClr val="0048AA"/>
                </a:solidFill>
                <a:latin typeface="Arial MT"/>
                <a:cs typeface="Arial MT"/>
              </a:rPr>
              <a:t>𐄂</a:t>
            </a:r>
            <a:r>
              <a:rPr sz="2400" spc="-70" dirty="0">
                <a:solidFill>
                  <a:srgbClr val="0048AA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48AA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!)</a:t>
            </a:r>
            <a:r>
              <a:rPr sz="2400" spc="135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Enumerate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permutations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1503" y="4508500"/>
            <a:ext cx="6831965" cy="3877945"/>
          </a:xfrm>
          <a:custGeom>
            <a:avLst/>
            <a:gdLst/>
            <a:ahLst/>
            <a:cxnLst/>
            <a:rect l="l" t="t" r="r" b="b"/>
            <a:pathLst>
              <a:path w="6831965" h="3877945">
                <a:moveTo>
                  <a:pt x="6831600" y="0"/>
                </a:moveTo>
                <a:lnTo>
                  <a:pt x="0" y="0"/>
                </a:lnTo>
                <a:lnTo>
                  <a:pt x="0" y="3877866"/>
                </a:lnTo>
                <a:lnTo>
                  <a:pt x="6831600" y="3877866"/>
                </a:lnTo>
                <a:lnTo>
                  <a:pt x="683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08202" y="7294166"/>
            <a:ext cx="1590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046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π</a:t>
            </a:r>
            <a:r>
              <a:rPr sz="2400" i="1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7635" y="4669433"/>
            <a:ext cx="3549083" cy="330419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673705" y="6708082"/>
            <a:ext cx="261620" cy="422275"/>
            <a:chOff x="3673705" y="6708082"/>
            <a:chExt cx="261620" cy="422275"/>
          </a:xfrm>
        </p:grpSpPr>
        <p:sp>
          <p:nvSpPr>
            <p:cNvPr id="9" name="object 9"/>
            <p:cNvSpPr/>
            <p:nvPr/>
          </p:nvSpPr>
          <p:spPr>
            <a:xfrm>
              <a:off x="3714530" y="6775412"/>
              <a:ext cx="207645" cy="342265"/>
            </a:xfrm>
            <a:custGeom>
              <a:avLst/>
              <a:gdLst/>
              <a:ahLst/>
              <a:cxnLst/>
              <a:rect l="l" t="t" r="r" b="b"/>
              <a:pathLst>
                <a:path w="207645" h="342265">
                  <a:moveTo>
                    <a:pt x="0" y="0"/>
                  </a:moveTo>
                  <a:lnTo>
                    <a:pt x="6584" y="10859"/>
                  </a:lnTo>
                  <a:lnTo>
                    <a:pt x="207511" y="342231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73705" y="6708082"/>
              <a:ext cx="115570" cy="135890"/>
            </a:xfrm>
            <a:custGeom>
              <a:avLst/>
              <a:gdLst/>
              <a:ahLst/>
              <a:cxnLst/>
              <a:rect l="l" t="t" r="r" b="b"/>
              <a:pathLst>
                <a:path w="115570" h="135890">
                  <a:moveTo>
                    <a:pt x="0" y="0"/>
                  </a:moveTo>
                  <a:lnTo>
                    <a:pt x="11085" y="135859"/>
                  </a:lnTo>
                  <a:lnTo>
                    <a:pt x="47409" y="78190"/>
                  </a:lnTo>
                  <a:lnTo>
                    <a:pt x="115338" y="726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08202" y="4491076"/>
            <a:ext cx="5916930" cy="296608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484505" algn="l"/>
              </a:tabLst>
            </a:pPr>
            <a:r>
              <a:rPr sz="2400" spc="-25" dirty="0">
                <a:latin typeface="Times New Roman"/>
                <a:cs typeface="Times New Roman"/>
              </a:rPr>
              <a:t>π</a:t>
            </a:r>
            <a:r>
              <a:rPr sz="2400" i="1" spc="-25" dirty="0">
                <a:latin typeface="Times New Roman"/>
                <a:cs typeface="Times New Roman"/>
              </a:rPr>
              <a:t>*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10000"/>
                </a:solidFill>
                <a:latin typeface="Symbol"/>
                <a:cs typeface="Symbol"/>
              </a:rPr>
              <a:t>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247015" indent="-342900">
              <a:lnSpc>
                <a:spcPct val="142400"/>
              </a:lnSpc>
              <a:spcBef>
                <a:spcPts val="114"/>
              </a:spcBef>
              <a:tabLst>
                <a:tab pos="744855" algn="l"/>
                <a:tab pos="133667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OREACH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permutation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π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points: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length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corresponding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π. </a:t>
            </a:r>
            <a:r>
              <a:rPr sz="2400" spc="-25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(length(π)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&lt;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length(π</a:t>
            </a:r>
            <a:r>
              <a:rPr sz="2400" i="1" spc="-10" dirty="0">
                <a:latin typeface="Times New Roman"/>
                <a:cs typeface="Times New Roman"/>
              </a:rPr>
              <a:t>*</a:t>
            </a:r>
            <a:r>
              <a:rPr sz="2400" spc="-10" dirty="0">
                <a:latin typeface="Times New Roman"/>
                <a:cs typeface="Times New Roman"/>
              </a:rPr>
              <a:t>))</a:t>
            </a:r>
            <a:endParaRPr sz="24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1220"/>
              </a:spcBef>
              <a:tabLst>
                <a:tab pos="1170305" algn="l"/>
              </a:tabLst>
            </a:pPr>
            <a:r>
              <a:rPr sz="2400" spc="-25" dirty="0">
                <a:latin typeface="Times New Roman"/>
                <a:cs typeface="Times New Roman"/>
              </a:rPr>
              <a:t>π</a:t>
            </a:r>
            <a:r>
              <a:rPr sz="2400" i="1" spc="-25" dirty="0">
                <a:latin typeface="Times New Roman"/>
                <a:cs typeface="Times New Roman"/>
              </a:rPr>
              <a:t>*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π.</a:t>
            </a:r>
            <a:endParaRPr sz="2400">
              <a:latin typeface="Times New Roman"/>
              <a:cs typeface="Times New Roman"/>
            </a:endParaRPr>
          </a:p>
          <a:p>
            <a:pPr marL="2212975">
              <a:lnSpc>
                <a:spcPct val="100000"/>
              </a:lnSpc>
              <a:spcBef>
                <a:spcPts val="5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simplicity,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we’ll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assume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Euclidean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3349198" y="7431272"/>
            <a:ext cx="4035425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5080" indent="-91440">
              <a:lnSpc>
                <a:spcPct val="1139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distances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rounded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nearest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integer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(to</a:t>
            </a:r>
            <a:r>
              <a:rPr sz="16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avoid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issues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with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infinite</a:t>
            </a:r>
            <a:r>
              <a:rPr sz="16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precision)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</TotalTime>
  <Words>1783</Words>
  <Application>Microsoft Office PowerPoint</Application>
  <PresentationFormat>Custom</PresentationFormat>
  <Paragraphs>836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DAA Lecture # 3</vt:lpstr>
      <vt:lpstr>A strikingly modern thought</vt:lpstr>
      <vt:lpstr>Models of computation: Turing machines</vt:lpstr>
      <vt:lpstr>Models of computation: word RAM</vt:lpstr>
      <vt:lpstr>Brute force</vt:lpstr>
      <vt:lpstr>Polynomial running time</vt:lpstr>
      <vt:lpstr>Polynomial running time</vt:lpstr>
      <vt:lpstr>Worst-case analysis</vt:lpstr>
      <vt:lpstr>Other types of analyses</vt:lpstr>
      <vt:lpstr>2. Algorithm Analysis</vt:lpstr>
      <vt:lpstr>Big O notation</vt:lpstr>
      <vt:lpstr>Big O notational abuses</vt:lpstr>
      <vt:lpstr>Big O notation: properties</vt:lpstr>
      <vt:lpstr>Big Omega notation</vt:lpstr>
      <vt:lpstr>Big Theta notation</vt:lpstr>
      <vt:lpstr>Asymptotic bounds and limits</vt:lpstr>
      <vt:lpstr>Asymptotic bounds for some common functions</vt:lpstr>
      <vt:lpstr>Big O notation with multiple variables</vt:lpstr>
      <vt:lpstr>Efficient implementation</vt:lpstr>
      <vt:lpstr>Efficient implementation</vt:lpstr>
      <vt:lpstr>Data representation: making a proposal</vt:lpstr>
      <vt:lpstr>Data representation: accepting/rejecting a proposal</vt:lpstr>
      <vt:lpstr>Stable matching: summary</vt:lpstr>
      <vt:lpstr>Constant time</vt:lpstr>
      <vt:lpstr>Linear time</vt:lpstr>
      <vt:lpstr>Target Sum</vt:lpstr>
      <vt:lpstr>Target Sum</vt:lpstr>
      <vt:lpstr>Logarithmic time</vt:lpstr>
      <vt:lpstr>Logarithmic time</vt:lpstr>
      <vt:lpstr>Search in a sorted rotated array</vt:lpstr>
      <vt:lpstr>Search in a sorted rotated array</vt:lpstr>
      <vt:lpstr>Linearithmic time</vt:lpstr>
      <vt:lpstr>Largest Empty interval</vt:lpstr>
      <vt:lpstr>Largest Empty interval</vt:lpstr>
      <vt:lpstr>Quadratic time</vt:lpstr>
      <vt:lpstr>Cubic time</vt:lpstr>
      <vt:lpstr>3-SUM</vt:lpstr>
      <vt:lpstr>3-SUM</vt:lpstr>
      <vt:lpstr>Polynomial time</vt:lpstr>
      <vt:lpstr>Exponential time</vt:lpstr>
      <vt:lpstr>Exponential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02AlgorithmAnalysis</dc:title>
  <cp:lastModifiedBy>Admin</cp:lastModifiedBy>
  <cp:revision>3</cp:revision>
  <dcterms:created xsi:type="dcterms:W3CDTF">2025-01-31T10:43:31Z</dcterms:created>
  <dcterms:modified xsi:type="dcterms:W3CDTF">2025-01-31T09:52:21Z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2021-12-17T00:00:00Z</vt:filetime>
  </property>
  <property fmtid="{D5CDD505-2E9C-101B-9397-08002B2CF9AE}" pid="3" name="Creator">
    <vt:lpwstr>Keynote</vt:lpwstr>
  </property>
  <property fmtid="{D5CDD505-2E9C-101B-9397-08002B2CF9AE}" pid="4" name="LastSaved">
    <vt:filetime>2025-01-31T00:00:00Z</vt:filetime>
  </property>
  <property fmtid="{D5CDD505-2E9C-101B-9397-08002B2CF9AE}" pid="5" name="Producer">
    <vt:lpwstr>macOS Version 10.15.7 (Build 19H1519) Quartz PDFContext</vt:lpwstr>
  </property>
</Properties>
</file>