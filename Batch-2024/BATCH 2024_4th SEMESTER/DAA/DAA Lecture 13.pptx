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8" d="100"/>
          <a:sy n="98" d="100"/>
        </p:scale>
        <p:origin x="-76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33"/>
          <p:cNvSpPr>
            <a:spLocks/>
          </p:cNvSpPr>
          <p:nvPr/>
        </p:nvSpPr>
        <p:spPr bwMode="auto">
          <a:xfrm>
            <a:off x="-31750" y="4321175"/>
            <a:ext cx="1395413" cy="781050"/>
          </a:xfrm>
          <a:custGeom>
            <a:avLst/>
            <a:gdLst>
              <a:gd name="T0" fmla="*/ 2147483646 w 8042"/>
              <a:gd name="T1" fmla="*/ 2147483646 h 10000"/>
              <a:gd name="T2" fmla="*/ 2147483646 w 8042"/>
              <a:gd name="T3" fmla="*/ 2147483646 h 10000"/>
              <a:gd name="T4" fmla="*/ 2147483646 w 8042"/>
              <a:gd name="T5" fmla="*/ 2147483646 h 10000"/>
              <a:gd name="T6" fmla="*/ 2147483646 w 8042"/>
              <a:gd name="T7" fmla="*/ 2147483646 h 10000"/>
              <a:gd name="T8" fmla="*/ 2147483646 w 8042"/>
              <a:gd name="T9" fmla="*/ 2147483646 h 10000"/>
              <a:gd name="T10" fmla="*/ 2147483646 w 8042"/>
              <a:gd name="T11" fmla="*/ 105298818 h 10000"/>
              <a:gd name="T12" fmla="*/ 2147483646 w 8042"/>
              <a:gd name="T13" fmla="*/ 76236572 h 10000"/>
              <a:gd name="T14" fmla="*/ 2147483646 w 8042"/>
              <a:gd name="T15" fmla="*/ 19533436 h 10000"/>
              <a:gd name="T16" fmla="*/ 94026232 w 8042"/>
              <a:gd name="T17" fmla="*/ 0 h 10000"/>
              <a:gd name="T18" fmla="*/ 0 w 8042"/>
              <a:gd name="T19" fmla="*/ 2147483646 h 10000"/>
              <a:gd name="T20" fmla="*/ 2147483646 w 8042"/>
              <a:gd name="T21" fmla="*/ 2147483646 h 1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a:xfrm>
            <a:off x="423863" y="4529138"/>
            <a:ext cx="584200"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62854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2305800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Freeform 11"/>
          <p:cNvSpPr>
            <a:spLocks/>
          </p:cNvSpPr>
          <p:nvPr/>
        </p:nvSpPr>
        <p:spPr bwMode="auto">
          <a:xfrm flipV="1">
            <a:off x="0" y="3167063"/>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a:xfrm>
            <a:off x="511175" y="3244850"/>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649104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Date Placeholder 4"/>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2907887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6"/>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9" name="Footer Placeholder 7"/>
          <p:cNvSpPr>
            <a:spLocks noGrp="1"/>
          </p:cNvSpPr>
          <p:nvPr>
            <p:ph type="ftr" sz="quarter" idx="11"/>
          </p:nvPr>
        </p:nvSpPr>
        <p:spPr/>
        <p:txBody>
          <a:bodyPr/>
          <a:lstStyle>
            <a:lvl1pPr>
              <a:defRPr/>
            </a:lvl1pPr>
          </a:lstStyle>
          <a:p>
            <a:endParaRPr lang="en-US"/>
          </a:p>
        </p:txBody>
      </p:sp>
      <p:sp>
        <p:nvSpPr>
          <p:cNvPr id="11" name="Slide Number Placeholder 5"/>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240662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5" name="Footer Placeholder 3"/>
          <p:cNvSpPr>
            <a:spLocks noGrp="1"/>
          </p:cNvSpPr>
          <p:nvPr>
            <p:ph type="ftr" sz="quarter" idx="11"/>
          </p:nvPr>
        </p:nvSpPr>
        <p:spPr/>
        <p:txBody>
          <a:bodyPr/>
          <a:lstStyle>
            <a:lvl1pPr>
              <a:defRPr/>
            </a:lvl1pPr>
          </a:lstStyle>
          <a:p>
            <a:endParaRPr lang="en-US"/>
          </a:p>
        </p:txBody>
      </p:sp>
      <p:sp>
        <p:nvSpPr>
          <p:cNvPr id="6" name="Slide Number Placeholder 4"/>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1670006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 name="Date Placeholder 1"/>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4" name="Footer Placeholder 2"/>
          <p:cNvSpPr>
            <a:spLocks noGrp="1"/>
          </p:cNvSpPr>
          <p:nvPr>
            <p:ph type="ftr" sz="quarter" idx="11"/>
          </p:nvPr>
        </p:nvSpPr>
        <p:spPr/>
        <p:txBody>
          <a:bodyPr/>
          <a:lstStyle>
            <a:lvl1pPr>
              <a:defRPr/>
            </a:lvl1pPr>
          </a:lstStyle>
          <a:p>
            <a:endParaRPr lang="en-US"/>
          </a:p>
        </p:txBody>
      </p:sp>
      <p:sp>
        <p:nvSpPr>
          <p:cNvPr id="5" name="Slide Number Placeholder 3"/>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41723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3663923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a:xfrm>
            <a:off x="511175" y="4983163"/>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43301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4" name="Freeform 11"/>
          <p:cNvSpPr>
            <a:spLocks/>
          </p:cNvSpPr>
          <p:nvPr/>
        </p:nvSpPr>
        <p:spPr bwMode="auto">
          <a:xfrm flipV="1">
            <a:off x="0" y="3167063"/>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a:xfrm>
            <a:off x="511175" y="3244850"/>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400928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Freeform 11"/>
          <p:cNvSpPr>
            <a:spLocks/>
          </p:cNvSpPr>
          <p:nvPr/>
        </p:nvSpPr>
        <p:spPr bwMode="auto">
          <a:xfrm flipV="1">
            <a:off x="0" y="3167063"/>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Box 5"/>
          <p:cNvSpPr txBox="1">
            <a:spLocks noChangeArrowheads="1"/>
          </p:cNvSpPr>
          <p:nvPr/>
        </p:nvSpPr>
        <p:spPr bwMode="auto">
          <a:xfrm>
            <a:off x="1808163" y="647700"/>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7" name="TextBox 62"/>
          <p:cNvSpPr txBox="1">
            <a:spLocks noChangeArrowheads="1"/>
          </p:cNvSpPr>
          <p:nvPr/>
        </p:nvSpPr>
        <p:spPr bwMode="auto">
          <a:xfrm>
            <a:off x="8169275" y="290512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8" name="Date Placeholder 3"/>
          <p:cNvSpPr>
            <a:spLocks noGrp="1"/>
          </p:cNvSpPr>
          <p:nvPr>
            <p:ph type="dt" sz="half" idx="14"/>
          </p:nvPr>
        </p:nvSpPr>
        <p:spPr/>
        <p:txBody>
          <a:bodyPr/>
          <a:lstStyle>
            <a:lvl1pPr>
              <a:defRPr/>
            </a:lvl1pPr>
          </a:lstStyle>
          <a:p>
            <a:fld id="{7ED7CA66-073A-45BD-A828-4DED3D213402}" type="datetimeFigureOut">
              <a:rPr lang="en-US" smtClean="0"/>
              <a:t>4/30/2026</a:t>
            </a:fld>
            <a:endParaRPr lang="en-US"/>
          </a:p>
        </p:txBody>
      </p:sp>
      <p:sp>
        <p:nvSpPr>
          <p:cNvPr id="9" name="Footer Placeholder 4"/>
          <p:cNvSpPr>
            <a:spLocks noGrp="1"/>
          </p:cNvSpPr>
          <p:nvPr>
            <p:ph type="ftr" sz="quarter" idx="15"/>
          </p:nvPr>
        </p:nvSpPr>
        <p:spPr/>
        <p:txBody>
          <a:bodyPr/>
          <a:lstStyle>
            <a:lvl1pPr>
              <a:defRPr/>
            </a:lvl1pPr>
          </a:lstStyle>
          <a:p>
            <a:endParaRPr lang="en-US"/>
          </a:p>
        </p:txBody>
      </p:sp>
      <p:sp>
        <p:nvSpPr>
          <p:cNvPr id="10" name="Slide Number Placeholder 5"/>
          <p:cNvSpPr>
            <a:spLocks noGrp="1"/>
          </p:cNvSpPr>
          <p:nvPr>
            <p:ph type="sldNum" sz="quarter" idx="16"/>
          </p:nvPr>
        </p:nvSpPr>
        <p:spPr>
          <a:xfrm>
            <a:off x="511175" y="3244850"/>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687598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a:xfrm>
            <a:off x="511175" y="4983163"/>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4006803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Box 5"/>
          <p:cNvSpPr txBox="1">
            <a:spLocks noChangeArrowheads="1"/>
          </p:cNvSpPr>
          <p:nvPr/>
        </p:nvSpPr>
        <p:spPr bwMode="auto">
          <a:xfrm>
            <a:off x="1808163" y="647700"/>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7" name="TextBox 62"/>
          <p:cNvSpPr txBox="1">
            <a:spLocks noChangeArrowheads="1"/>
          </p:cNvSpPr>
          <p:nvPr/>
        </p:nvSpPr>
        <p:spPr bwMode="auto">
          <a:xfrm>
            <a:off x="8169275" y="290512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2415" y="5181600"/>
            <a:ext cx="6688292" cy="729622"/>
          </a:xfrm>
        </p:spPr>
        <p:txBody>
          <a:bodyPr rtlCol="0">
            <a:normAutofit/>
          </a:bodyPr>
          <a:lstStyle>
            <a:lvl1pPr>
              <a:buNone/>
              <a:defRPr lang="en-US">
                <a:solidFill>
                  <a:schemeClr val="tx1">
                    <a:lumMod val="65000"/>
                    <a:lumOff val="35000"/>
                  </a:schemeClr>
                </a:solidFill>
              </a:defRPr>
            </a:lvl1pPr>
          </a:lstStyle>
          <a:p>
            <a:pPr lvl="0"/>
            <a:r>
              <a:rPr lang="en-US" smtClean="0"/>
              <a:t>Click to edit Master text styles</a:t>
            </a:r>
          </a:p>
        </p:txBody>
      </p:sp>
      <p:sp>
        <p:nvSpPr>
          <p:cNvPr id="8" name="Date Placeholder 4"/>
          <p:cNvSpPr>
            <a:spLocks noGrp="1"/>
          </p:cNvSpPr>
          <p:nvPr>
            <p:ph type="dt" sz="half" idx="14"/>
          </p:nvPr>
        </p:nvSpPr>
        <p:spPr/>
        <p:txBody>
          <a:bodyPr/>
          <a:lstStyle>
            <a:lvl1pPr>
              <a:defRPr/>
            </a:lvl1pPr>
          </a:lstStyle>
          <a:p>
            <a:fld id="{7ED7CA66-073A-45BD-A828-4DED3D213402}" type="datetimeFigureOut">
              <a:rPr lang="en-US" smtClean="0"/>
              <a:t>4/30/2026</a:t>
            </a:fld>
            <a:endParaRPr lang="en-US"/>
          </a:p>
        </p:txBody>
      </p:sp>
      <p:sp>
        <p:nvSpPr>
          <p:cNvPr id="9" name="Footer Placeholder 5"/>
          <p:cNvSpPr>
            <a:spLocks noGrp="1"/>
          </p:cNvSpPr>
          <p:nvPr>
            <p:ph type="ftr" sz="quarter" idx="15"/>
          </p:nvPr>
        </p:nvSpPr>
        <p:spPr/>
        <p:txBody>
          <a:bodyPr/>
          <a:lstStyle>
            <a:lvl1pPr>
              <a:defRPr/>
            </a:lvl1pPr>
          </a:lstStyle>
          <a:p>
            <a:endParaRPr lang="en-US"/>
          </a:p>
        </p:txBody>
      </p:sp>
      <p:sp>
        <p:nvSpPr>
          <p:cNvPr id="10" name="Slide Number Placeholder 6"/>
          <p:cNvSpPr>
            <a:spLocks noGrp="1"/>
          </p:cNvSpPr>
          <p:nvPr>
            <p:ph type="sldNum" sz="quarter" idx="16"/>
          </p:nvPr>
        </p:nvSpPr>
        <p:spPr>
          <a:xfrm>
            <a:off x="511175" y="4983163"/>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1196326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smtClean="0"/>
              <a:t>Click to edit Master text styles</a:t>
            </a:r>
          </a:p>
        </p:txBody>
      </p:sp>
      <p:sp>
        <p:nvSpPr>
          <p:cNvPr id="6" name="Date Placeholder 4"/>
          <p:cNvSpPr>
            <a:spLocks noGrp="1"/>
          </p:cNvSpPr>
          <p:nvPr>
            <p:ph type="dt" sz="half" idx="14"/>
          </p:nvPr>
        </p:nvSpPr>
        <p:spPr/>
        <p:txBody>
          <a:bodyPr/>
          <a:lstStyle>
            <a:lvl1pPr>
              <a:defRPr/>
            </a:lvl1pPr>
          </a:lstStyle>
          <a:p>
            <a:fld id="{7ED7CA66-073A-45BD-A828-4DED3D213402}" type="datetimeFigureOut">
              <a:rPr lang="en-US" smtClean="0"/>
              <a:t>4/30/2026</a:t>
            </a:fld>
            <a:endParaRPr lang="en-US"/>
          </a:p>
        </p:txBody>
      </p:sp>
      <p:sp>
        <p:nvSpPr>
          <p:cNvPr id="7" name="Footer Placeholder 5"/>
          <p:cNvSpPr>
            <a:spLocks noGrp="1"/>
          </p:cNvSpPr>
          <p:nvPr>
            <p:ph type="ftr" sz="quarter" idx="15"/>
          </p:nvPr>
        </p:nvSpPr>
        <p:spPr/>
        <p:txBody>
          <a:bodyPr/>
          <a:lstStyle>
            <a:lvl1pPr>
              <a:defRPr/>
            </a:lvl1pPr>
          </a:lstStyle>
          <a:p>
            <a:endParaRPr lang="en-US"/>
          </a:p>
        </p:txBody>
      </p:sp>
      <p:sp>
        <p:nvSpPr>
          <p:cNvPr id="8" name="Slide Number Placeholder 6"/>
          <p:cNvSpPr>
            <a:spLocks noGrp="1"/>
          </p:cNvSpPr>
          <p:nvPr>
            <p:ph type="sldNum" sz="quarter" idx="16"/>
          </p:nvPr>
        </p:nvSpPr>
        <p:spPr>
          <a:xfrm>
            <a:off x="511175" y="4983163"/>
            <a:ext cx="585788" cy="365125"/>
          </a:xfrm>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1325139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1480708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7ED7CA66-073A-45BD-A828-4DED3D213402}" type="datetimeFigureOut">
              <a:rPr lang="en-US" smtClean="0"/>
              <a:t>4/30/2026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4FC88C98-85B2-46C1-A637-E8123E2A5876}" type="slidenum">
              <a:rPr lang="en-US" smtClean="0"/>
              <a:t>‹#›</a:t>
            </a:fld>
            <a:endParaRPr lang="en-US"/>
          </a:p>
        </p:txBody>
      </p:sp>
    </p:spTree>
    <p:extLst>
      <p:ext uri="{BB962C8B-B14F-4D97-AF65-F5344CB8AC3E}">
        <p14:creationId xmlns:p14="http://schemas.microsoft.com/office/powerpoint/2010/main" val="1966641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grpSp>
        <p:nvGrpSpPr>
          <p:cNvPr id="1026" name="Group 35"/>
          <p:cNvGrpSpPr>
            <a:grpSpLocks/>
          </p:cNvGrpSpPr>
          <p:nvPr/>
        </p:nvGrpSpPr>
        <p:grpSpPr bwMode="auto">
          <a:xfrm>
            <a:off x="0" y="228600"/>
            <a:ext cx="1981200" cy="6638925"/>
            <a:chOff x="2487613" y="285750"/>
            <a:chExt cx="2428875" cy="5654676"/>
          </a:xfrm>
        </p:grpSpPr>
        <p:sp>
          <p:nvSpPr>
            <p:cNvPr id="1046" name="Freeform 11"/>
            <p:cNvSpPr>
              <a:spLocks/>
            </p:cNvSpPr>
            <p:nvPr/>
          </p:nvSpPr>
          <p:spPr bwMode="auto">
            <a:xfrm>
              <a:off x="2487613" y="2284413"/>
              <a:ext cx="85725" cy="533400"/>
            </a:xfrm>
            <a:custGeom>
              <a:avLst/>
              <a:gdLst>
                <a:gd name="T0" fmla="*/ 2147483646 w 22"/>
                <a:gd name="T1" fmla="*/ 2147483646 h 136"/>
                <a:gd name="T2" fmla="*/ 2147483646 w 22"/>
                <a:gd name="T3" fmla="*/ 2147483646 h 136"/>
                <a:gd name="T4" fmla="*/ 0 w 22"/>
                <a:gd name="T5" fmla="*/ 0 h 136"/>
                <a:gd name="T6" fmla="*/ 0 w 22"/>
                <a:gd name="T7" fmla="*/ 2147483646 h 136"/>
                <a:gd name="T8" fmla="*/ 2147483646 w 22"/>
                <a:gd name="T9" fmla="*/ 2147483646 h 136"/>
                <a:gd name="T10" fmla="*/ 2147483646 w 22"/>
                <a:gd name="T11" fmla="*/ 2147483646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7" name="Freeform 12"/>
            <p:cNvSpPr>
              <a:spLocks/>
            </p:cNvSpPr>
            <p:nvPr/>
          </p:nvSpPr>
          <p:spPr bwMode="auto">
            <a:xfrm>
              <a:off x="2597151" y="2779713"/>
              <a:ext cx="550863" cy="1978025"/>
            </a:xfrm>
            <a:custGeom>
              <a:avLst/>
              <a:gdLst>
                <a:gd name="T0" fmla="*/ 2147483646 w 140"/>
                <a:gd name="T1" fmla="*/ 2147483646 h 504"/>
                <a:gd name="T2" fmla="*/ 2147483646 w 140"/>
                <a:gd name="T3" fmla="*/ 2147483646 h 504"/>
                <a:gd name="T4" fmla="*/ 2147483646 w 140"/>
                <a:gd name="T5" fmla="*/ 2147483646 h 504"/>
                <a:gd name="T6" fmla="*/ 2147483646 w 140"/>
                <a:gd name="T7" fmla="*/ 2147483646 h 504"/>
                <a:gd name="T8" fmla="*/ 0 w 140"/>
                <a:gd name="T9" fmla="*/ 0 h 504"/>
                <a:gd name="T10" fmla="*/ 2147483646 w 140"/>
                <a:gd name="T11" fmla="*/ 2147483646 h 504"/>
                <a:gd name="T12" fmla="*/ 2147483646 w 140"/>
                <a:gd name="T13" fmla="*/ 2147483646 h 5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8" name="Freeform 13"/>
            <p:cNvSpPr>
              <a:spLocks/>
            </p:cNvSpPr>
            <p:nvPr/>
          </p:nvSpPr>
          <p:spPr bwMode="auto">
            <a:xfrm>
              <a:off x="3175001" y="4730750"/>
              <a:ext cx="519113" cy="1209675"/>
            </a:xfrm>
            <a:custGeom>
              <a:avLst/>
              <a:gdLst>
                <a:gd name="T0" fmla="*/ 2147483646 w 132"/>
                <a:gd name="T1" fmla="*/ 2147483646 h 308"/>
                <a:gd name="T2" fmla="*/ 0 w 132"/>
                <a:gd name="T3" fmla="*/ 0 h 308"/>
                <a:gd name="T4" fmla="*/ 0 w 132"/>
                <a:gd name="T5" fmla="*/ 2147483646 h 308"/>
                <a:gd name="T6" fmla="*/ 2147483646 w 132"/>
                <a:gd name="T7" fmla="*/ 2147483646 h 308"/>
                <a:gd name="T8" fmla="*/ 2147483646 w 132"/>
                <a:gd name="T9" fmla="*/ 2147483646 h 308"/>
                <a:gd name="T10" fmla="*/ 2147483646 w 132"/>
                <a:gd name="T11" fmla="*/ 2147483646 h 308"/>
                <a:gd name="T12" fmla="*/ 2147483646 w 132"/>
                <a:gd name="T13" fmla="*/ 2147483646 h 308"/>
                <a:gd name="T14" fmla="*/ 2147483646 w 132"/>
                <a:gd name="T15" fmla="*/ 2147483646 h 3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9" name="Freeform 14"/>
            <p:cNvSpPr>
              <a:spLocks/>
            </p:cNvSpPr>
            <p:nvPr/>
          </p:nvSpPr>
          <p:spPr bwMode="auto">
            <a:xfrm>
              <a:off x="3305176" y="5630863"/>
              <a:ext cx="146050" cy="309563"/>
            </a:xfrm>
            <a:custGeom>
              <a:avLst/>
              <a:gdLst>
                <a:gd name="T0" fmla="*/ 2147483646 w 37"/>
                <a:gd name="T1" fmla="*/ 2147483646 h 79"/>
                <a:gd name="T2" fmla="*/ 2147483646 w 37"/>
                <a:gd name="T3" fmla="*/ 2147483646 h 79"/>
                <a:gd name="T4" fmla="*/ 0 w 37"/>
                <a:gd name="T5" fmla="*/ 0 h 79"/>
                <a:gd name="T6" fmla="*/ 2147483646 w 37"/>
                <a:gd name="T7" fmla="*/ 2147483646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0" name="Freeform 15"/>
            <p:cNvSpPr>
              <a:spLocks/>
            </p:cNvSpPr>
            <p:nvPr/>
          </p:nvSpPr>
          <p:spPr bwMode="auto">
            <a:xfrm>
              <a:off x="2573338" y="2817813"/>
              <a:ext cx="700088" cy="2835275"/>
            </a:xfrm>
            <a:custGeom>
              <a:avLst/>
              <a:gdLst>
                <a:gd name="T0" fmla="*/ 2147483646 w 178"/>
                <a:gd name="T1" fmla="*/ 2147483646 h 722"/>
                <a:gd name="T2" fmla="*/ 2147483646 w 178"/>
                <a:gd name="T3" fmla="*/ 2147483646 h 722"/>
                <a:gd name="T4" fmla="*/ 2147483646 w 178"/>
                <a:gd name="T5" fmla="*/ 2147483646 h 722"/>
                <a:gd name="T6" fmla="*/ 2147483646 w 178"/>
                <a:gd name="T7" fmla="*/ 2147483646 h 722"/>
                <a:gd name="T8" fmla="*/ 0 w 178"/>
                <a:gd name="T9" fmla="*/ 0 h 722"/>
                <a:gd name="T10" fmla="*/ 2147483646 w 178"/>
                <a:gd name="T11" fmla="*/ 2147483646 h 722"/>
                <a:gd name="T12" fmla="*/ 2147483646 w 178"/>
                <a:gd name="T13" fmla="*/ 2147483646 h 722"/>
                <a:gd name="T14" fmla="*/ 2147483646 w 178"/>
                <a:gd name="T15" fmla="*/ 2147483646 h 722"/>
                <a:gd name="T16" fmla="*/ 2147483646 w 178"/>
                <a:gd name="T17" fmla="*/ 2147483646 h 722"/>
                <a:gd name="T18" fmla="*/ 2147483646 w 178"/>
                <a:gd name="T19" fmla="*/ 2147483646 h 722"/>
                <a:gd name="T20" fmla="*/ 2147483646 w 178"/>
                <a:gd name="T21" fmla="*/ 2147483646 h 7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1" name="Freeform 16"/>
            <p:cNvSpPr>
              <a:spLocks/>
            </p:cNvSpPr>
            <p:nvPr/>
          </p:nvSpPr>
          <p:spPr bwMode="auto">
            <a:xfrm>
              <a:off x="2506663" y="285750"/>
              <a:ext cx="90488" cy="2493963"/>
            </a:xfrm>
            <a:custGeom>
              <a:avLst/>
              <a:gdLst>
                <a:gd name="T0" fmla="*/ 2147483646 w 23"/>
                <a:gd name="T1" fmla="*/ 2147483646 h 635"/>
                <a:gd name="T2" fmla="*/ 2147483646 w 23"/>
                <a:gd name="T3" fmla="*/ 2147483646 h 635"/>
                <a:gd name="T4" fmla="*/ 2147483646 w 23"/>
                <a:gd name="T5" fmla="*/ 2147483646 h 635"/>
                <a:gd name="T6" fmla="*/ 2147483646 w 23"/>
                <a:gd name="T7" fmla="*/ 2147483646 h 635"/>
                <a:gd name="T8" fmla="*/ 2147483646 w 23"/>
                <a:gd name="T9" fmla="*/ 2147483646 h 635"/>
                <a:gd name="T10" fmla="*/ 2147483646 w 23"/>
                <a:gd name="T11" fmla="*/ 2147483646 h 635"/>
                <a:gd name="T12" fmla="*/ 2147483646 w 23"/>
                <a:gd name="T13" fmla="*/ 0 h 635"/>
                <a:gd name="T14" fmla="*/ 2147483646 w 23"/>
                <a:gd name="T15" fmla="*/ 0 h 635"/>
                <a:gd name="T16" fmla="*/ 2147483646 w 23"/>
                <a:gd name="T17" fmla="*/ 2147483646 h 635"/>
                <a:gd name="T18" fmla="*/ 2147483646 w 23"/>
                <a:gd name="T19" fmla="*/ 2147483646 h 6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2" name="Freeform 17"/>
            <p:cNvSpPr>
              <a:spLocks/>
            </p:cNvSpPr>
            <p:nvPr/>
          </p:nvSpPr>
          <p:spPr bwMode="auto">
            <a:xfrm>
              <a:off x="2554288" y="2598738"/>
              <a:ext cx="66675" cy="420688"/>
            </a:xfrm>
            <a:custGeom>
              <a:avLst/>
              <a:gdLst>
                <a:gd name="T0" fmla="*/ 0 w 17"/>
                <a:gd name="T1" fmla="*/ 0 h 107"/>
                <a:gd name="T2" fmla="*/ 2147483646 w 17"/>
                <a:gd name="T3" fmla="*/ 2147483646 h 107"/>
                <a:gd name="T4" fmla="*/ 2147483646 w 17"/>
                <a:gd name="T5" fmla="*/ 2147483646 h 107"/>
                <a:gd name="T6" fmla="*/ 2147483646 w 17"/>
                <a:gd name="T7" fmla="*/ 2147483646 h 107"/>
                <a:gd name="T8" fmla="*/ 2147483646 w 17"/>
                <a:gd name="T9" fmla="*/ 2147483646 h 107"/>
                <a:gd name="T10" fmla="*/ 0 w 17"/>
                <a:gd name="T11" fmla="*/ 0 h 1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3" name="Freeform 18"/>
            <p:cNvSpPr>
              <a:spLocks/>
            </p:cNvSpPr>
            <p:nvPr/>
          </p:nvSpPr>
          <p:spPr bwMode="auto">
            <a:xfrm>
              <a:off x="3143251" y="4757738"/>
              <a:ext cx="161925" cy="873125"/>
            </a:xfrm>
            <a:custGeom>
              <a:avLst/>
              <a:gdLst>
                <a:gd name="T0" fmla="*/ 0 w 41"/>
                <a:gd name="T1" fmla="*/ 0 h 222"/>
                <a:gd name="T2" fmla="*/ 2147483646 w 41"/>
                <a:gd name="T3" fmla="*/ 2147483646 h 222"/>
                <a:gd name="T4" fmla="*/ 2147483646 w 41"/>
                <a:gd name="T5" fmla="*/ 2147483646 h 222"/>
                <a:gd name="T6" fmla="*/ 2147483646 w 41"/>
                <a:gd name="T7" fmla="*/ 2147483646 h 222"/>
                <a:gd name="T8" fmla="*/ 2147483646 w 41"/>
                <a:gd name="T9" fmla="*/ 2147483646 h 222"/>
                <a:gd name="T10" fmla="*/ 2147483646 w 41"/>
                <a:gd name="T11" fmla="*/ 2147483646 h 222"/>
                <a:gd name="T12" fmla="*/ 2147483646 w 41"/>
                <a:gd name="T13" fmla="*/ 2147483646 h 222"/>
                <a:gd name="T14" fmla="*/ 2147483646 w 41"/>
                <a:gd name="T15" fmla="*/ 2147483646 h 222"/>
                <a:gd name="T16" fmla="*/ 2147483646 w 41"/>
                <a:gd name="T17" fmla="*/ 2147483646 h 222"/>
                <a:gd name="T18" fmla="*/ 0 w 41"/>
                <a:gd name="T19" fmla="*/ 0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4" name="Freeform 19"/>
            <p:cNvSpPr>
              <a:spLocks/>
            </p:cNvSpPr>
            <p:nvPr/>
          </p:nvSpPr>
          <p:spPr bwMode="auto">
            <a:xfrm>
              <a:off x="3148013" y="1282700"/>
              <a:ext cx="1768475" cy="3448050"/>
            </a:xfrm>
            <a:custGeom>
              <a:avLst/>
              <a:gdLst>
                <a:gd name="T0" fmla="*/ 2147483646 w 450"/>
                <a:gd name="T1" fmla="*/ 2147483646 h 878"/>
                <a:gd name="T2" fmla="*/ 2147483646 w 450"/>
                <a:gd name="T3" fmla="*/ 2147483646 h 878"/>
                <a:gd name="T4" fmla="*/ 2147483646 w 450"/>
                <a:gd name="T5" fmla="*/ 2147483646 h 878"/>
                <a:gd name="T6" fmla="*/ 2147483646 w 450"/>
                <a:gd name="T7" fmla="*/ 2147483646 h 878"/>
                <a:gd name="T8" fmla="*/ 2147483646 w 450"/>
                <a:gd name="T9" fmla="*/ 2147483646 h 878"/>
                <a:gd name="T10" fmla="*/ 2147483646 w 450"/>
                <a:gd name="T11" fmla="*/ 2147483646 h 878"/>
                <a:gd name="T12" fmla="*/ 2147483646 w 450"/>
                <a:gd name="T13" fmla="*/ 2147483646 h 878"/>
                <a:gd name="T14" fmla="*/ 2147483646 w 450"/>
                <a:gd name="T15" fmla="*/ 0 h 878"/>
                <a:gd name="T16" fmla="*/ 2147483646 w 450"/>
                <a:gd name="T17" fmla="*/ 2147483646 h 878"/>
                <a:gd name="T18" fmla="*/ 2147483646 w 450"/>
                <a:gd name="T19" fmla="*/ 2147483646 h 878"/>
                <a:gd name="T20" fmla="*/ 2147483646 w 450"/>
                <a:gd name="T21" fmla="*/ 2147483646 h 878"/>
                <a:gd name="T22" fmla="*/ 2147483646 w 450"/>
                <a:gd name="T23" fmla="*/ 2147483646 h 878"/>
                <a:gd name="T24" fmla="*/ 2147483646 w 450"/>
                <a:gd name="T25" fmla="*/ 2147483646 h 878"/>
                <a:gd name="T26" fmla="*/ 0 w 450"/>
                <a:gd name="T27" fmla="*/ 2147483646 h 878"/>
                <a:gd name="T28" fmla="*/ 0 w 450"/>
                <a:gd name="T29" fmla="*/ 2147483646 h 878"/>
                <a:gd name="T30" fmla="*/ 2147483646 w 450"/>
                <a:gd name="T31" fmla="*/ 2147483646 h 878"/>
                <a:gd name="T32" fmla="*/ 2147483646 w 450"/>
                <a:gd name="T33" fmla="*/ 2147483646 h 8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5" name="Freeform 20"/>
            <p:cNvSpPr>
              <a:spLocks/>
            </p:cNvSpPr>
            <p:nvPr/>
          </p:nvSpPr>
          <p:spPr bwMode="auto">
            <a:xfrm>
              <a:off x="3273426" y="5653088"/>
              <a:ext cx="138113" cy="287338"/>
            </a:xfrm>
            <a:custGeom>
              <a:avLst/>
              <a:gdLst>
                <a:gd name="T0" fmla="*/ 0 w 35"/>
                <a:gd name="T1" fmla="*/ 0 h 73"/>
                <a:gd name="T2" fmla="*/ 2147483646 w 35"/>
                <a:gd name="T3" fmla="*/ 2147483646 h 73"/>
                <a:gd name="T4" fmla="*/ 2147483646 w 35"/>
                <a:gd name="T5" fmla="*/ 2147483646 h 73"/>
                <a:gd name="T6" fmla="*/ 0 w 35"/>
                <a:gd name="T7" fmla="*/ 0 h 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6" name="Freeform 21"/>
            <p:cNvSpPr>
              <a:spLocks/>
            </p:cNvSpPr>
            <p:nvPr/>
          </p:nvSpPr>
          <p:spPr bwMode="auto">
            <a:xfrm>
              <a:off x="3143251" y="4656138"/>
              <a:ext cx="31750" cy="188913"/>
            </a:xfrm>
            <a:custGeom>
              <a:avLst/>
              <a:gdLst>
                <a:gd name="T0" fmla="*/ 2147483646 w 8"/>
                <a:gd name="T1" fmla="*/ 2147483646 h 48"/>
                <a:gd name="T2" fmla="*/ 2147483646 w 8"/>
                <a:gd name="T3" fmla="*/ 2147483646 h 48"/>
                <a:gd name="T4" fmla="*/ 2147483646 w 8"/>
                <a:gd name="T5" fmla="*/ 2147483646 h 48"/>
                <a:gd name="T6" fmla="*/ 2147483646 w 8"/>
                <a:gd name="T7" fmla="*/ 0 h 48"/>
                <a:gd name="T8" fmla="*/ 0 w 8"/>
                <a:gd name="T9" fmla="*/ 2147483646 h 48"/>
                <a:gd name="T10" fmla="*/ 2147483646 w 8"/>
                <a:gd name="T11" fmla="*/ 2147483646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7" name="Freeform 22"/>
            <p:cNvSpPr>
              <a:spLocks/>
            </p:cNvSpPr>
            <p:nvPr/>
          </p:nvSpPr>
          <p:spPr bwMode="auto">
            <a:xfrm>
              <a:off x="3211513" y="5410200"/>
              <a:ext cx="203200" cy="530225"/>
            </a:xfrm>
            <a:custGeom>
              <a:avLst/>
              <a:gdLst>
                <a:gd name="T0" fmla="*/ 2147483646 w 52"/>
                <a:gd name="T1" fmla="*/ 2147483646 h 135"/>
                <a:gd name="T2" fmla="*/ 0 w 52"/>
                <a:gd name="T3" fmla="*/ 0 h 135"/>
                <a:gd name="T4" fmla="*/ 2147483646 w 52"/>
                <a:gd name="T5" fmla="*/ 2147483646 h 135"/>
                <a:gd name="T6" fmla="*/ 2147483646 w 52"/>
                <a:gd name="T7" fmla="*/ 2147483646 h 135"/>
                <a:gd name="T8" fmla="*/ 2147483646 w 52"/>
                <a:gd name="T9" fmla="*/ 2147483646 h 135"/>
                <a:gd name="T10" fmla="*/ 2147483646 w 52"/>
                <a:gd name="T11" fmla="*/ 2147483646 h 135"/>
                <a:gd name="T12" fmla="*/ 2147483646 w 52"/>
                <a:gd name="T13" fmla="*/ 2147483646 h 135"/>
                <a:gd name="T14" fmla="*/ 2147483646 w 52"/>
                <a:gd name="T15" fmla="*/ 2147483646 h 1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27" name="Group 48"/>
          <p:cNvGrpSpPr>
            <a:grpSpLocks/>
          </p:cNvGrpSpPr>
          <p:nvPr/>
        </p:nvGrpSpPr>
        <p:grpSpPr bwMode="auto">
          <a:xfrm>
            <a:off x="20638" y="0"/>
            <a:ext cx="1952625" cy="6853238"/>
            <a:chOff x="6627813" y="195717"/>
            <a:chExt cx="1952625" cy="5678034"/>
          </a:xfrm>
        </p:grpSpPr>
        <p:sp>
          <p:nvSpPr>
            <p:cNvPr id="1034" name="Freeform 27"/>
            <p:cNvSpPr>
              <a:spLocks/>
            </p:cNvSpPr>
            <p:nvPr/>
          </p:nvSpPr>
          <p:spPr bwMode="auto">
            <a:xfrm>
              <a:off x="6627813" y="195717"/>
              <a:ext cx="409575" cy="3646488"/>
            </a:xfrm>
            <a:custGeom>
              <a:avLst/>
              <a:gdLst>
                <a:gd name="T0" fmla="*/ 2147483646 w 103"/>
                <a:gd name="T1" fmla="*/ 2147483646 h 920"/>
                <a:gd name="T2" fmla="*/ 2147483646 w 103"/>
                <a:gd name="T3" fmla="*/ 2147483646 h 920"/>
                <a:gd name="T4" fmla="*/ 2147483646 w 103"/>
                <a:gd name="T5" fmla="*/ 2147483646 h 920"/>
                <a:gd name="T6" fmla="*/ 2147483646 w 103"/>
                <a:gd name="T7" fmla="*/ 2147483646 h 920"/>
                <a:gd name="T8" fmla="*/ 2147483646 w 103"/>
                <a:gd name="T9" fmla="*/ 2147483646 h 920"/>
                <a:gd name="T10" fmla="*/ 2147483646 w 103"/>
                <a:gd name="T11" fmla="*/ 2147483646 h 920"/>
                <a:gd name="T12" fmla="*/ 2147483646 w 103"/>
                <a:gd name="T13" fmla="*/ 2147483646 h 920"/>
                <a:gd name="T14" fmla="*/ 2147483646 w 103"/>
                <a:gd name="T15" fmla="*/ 2147483646 h 920"/>
                <a:gd name="T16" fmla="*/ 2147483646 w 103"/>
                <a:gd name="T17" fmla="*/ 2147483646 h 920"/>
                <a:gd name="T18" fmla="*/ 2147483646 w 103"/>
                <a:gd name="T19" fmla="*/ 2147483646 h 920"/>
                <a:gd name="T20" fmla="*/ 2147483646 w 103"/>
                <a:gd name="T21" fmla="*/ 2147483646 h 920"/>
                <a:gd name="T22" fmla="*/ 2147483646 w 103"/>
                <a:gd name="T23" fmla="*/ 0 h 920"/>
                <a:gd name="T24" fmla="*/ 0 w 103"/>
                <a:gd name="T25" fmla="*/ 0 h 920"/>
                <a:gd name="T26" fmla="*/ 2147483646 w 103"/>
                <a:gd name="T27" fmla="*/ 2147483646 h 920"/>
                <a:gd name="T28" fmla="*/ 2147483646 w 103"/>
                <a:gd name="T29" fmla="*/ 2147483646 h 9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5" name="Freeform 28"/>
            <p:cNvSpPr>
              <a:spLocks/>
            </p:cNvSpPr>
            <p:nvPr/>
          </p:nvSpPr>
          <p:spPr bwMode="auto">
            <a:xfrm>
              <a:off x="7061201" y="3771900"/>
              <a:ext cx="350838" cy="1309688"/>
            </a:xfrm>
            <a:custGeom>
              <a:avLst/>
              <a:gdLst>
                <a:gd name="T0" fmla="*/ 2147483646 w 88"/>
                <a:gd name="T1" fmla="*/ 2147483646 h 330"/>
                <a:gd name="T2" fmla="*/ 2147483646 w 88"/>
                <a:gd name="T3" fmla="*/ 2147483646 h 330"/>
                <a:gd name="T4" fmla="*/ 2147483646 w 88"/>
                <a:gd name="T5" fmla="*/ 2147483646 h 330"/>
                <a:gd name="T6" fmla="*/ 2147483646 w 88"/>
                <a:gd name="T7" fmla="*/ 2147483646 h 330"/>
                <a:gd name="T8" fmla="*/ 2147483646 w 88"/>
                <a:gd name="T9" fmla="*/ 2147483646 h 330"/>
                <a:gd name="T10" fmla="*/ 0 w 88"/>
                <a:gd name="T11" fmla="*/ 0 h 330"/>
                <a:gd name="T12" fmla="*/ 2147483646 w 88"/>
                <a:gd name="T13" fmla="*/ 2147483646 h 330"/>
                <a:gd name="T14" fmla="*/ 2147483646 w 88"/>
                <a:gd name="T15" fmla="*/ 2147483646 h 3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6" name="Freeform 29"/>
            <p:cNvSpPr>
              <a:spLocks/>
            </p:cNvSpPr>
            <p:nvPr/>
          </p:nvSpPr>
          <p:spPr bwMode="auto">
            <a:xfrm>
              <a:off x="7439026" y="5053013"/>
              <a:ext cx="357188" cy="820738"/>
            </a:xfrm>
            <a:custGeom>
              <a:avLst/>
              <a:gdLst>
                <a:gd name="T0" fmla="*/ 2147483646 w 90"/>
                <a:gd name="T1" fmla="*/ 2147483646 h 207"/>
                <a:gd name="T2" fmla="*/ 0 w 90"/>
                <a:gd name="T3" fmla="*/ 0 h 207"/>
                <a:gd name="T4" fmla="*/ 2147483646 w 90"/>
                <a:gd name="T5" fmla="*/ 2147483646 h 207"/>
                <a:gd name="T6" fmla="*/ 2147483646 w 90"/>
                <a:gd name="T7" fmla="*/ 2147483646 h 207"/>
                <a:gd name="T8" fmla="*/ 2147483646 w 90"/>
                <a:gd name="T9" fmla="*/ 2147483646 h 207"/>
                <a:gd name="T10" fmla="*/ 2147483646 w 90"/>
                <a:gd name="T11" fmla="*/ 2147483646 h 207"/>
                <a:gd name="T12" fmla="*/ 2147483646 w 90"/>
                <a:gd name="T13" fmla="*/ 2147483646 h 207"/>
                <a:gd name="T14" fmla="*/ 2147483646 w 90"/>
                <a:gd name="T15" fmla="*/ 2147483646 h 20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7" name="Freeform 30"/>
            <p:cNvSpPr>
              <a:spLocks/>
            </p:cNvSpPr>
            <p:nvPr/>
          </p:nvSpPr>
          <p:spPr bwMode="auto">
            <a:xfrm>
              <a:off x="7037388" y="3811588"/>
              <a:ext cx="457200" cy="1852613"/>
            </a:xfrm>
            <a:custGeom>
              <a:avLst/>
              <a:gdLst>
                <a:gd name="T0" fmla="*/ 2147483646 w 115"/>
                <a:gd name="T1" fmla="*/ 2147483646 h 467"/>
                <a:gd name="T2" fmla="*/ 2147483646 w 115"/>
                <a:gd name="T3" fmla="*/ 2147483646 h 467"/>
                <a:gd name="T4" fmla="*/ 2147483646 w 115"/>
                <a:gd name="T5" fmla="*/ 2147483646 h 467"/>
                <a:gd name="T6" fmla="*/ 2147483646 w 115"/>
                <a:gd name="T7" fmla="*/ 2147483646 h 467"/>
                <a:gd name="T8" fmla="*/ 0 w 115"/>
                <a:gd name="T9" fmla="*/ 0 h 467"/>
                <a:gd name="T10" fmla="*/ 2147483646 w 115"/>
                <a:gd name="T11" fmla="*/ 2147483646 h 467"/>
                <a:gd name="T12" fmla="*/ 2147483646 w 115"/>
                <a:gd name="T13" fmla="*/ 2147483646 h 467"/>
                <a:gd name="T14" fmla="*/ 2147483646 w 115"/>
                <a:gd name="T15" fmla="*/ 2147483646 h 467"/>
                <a:gd name="T16" fmla="*/ 2147483646 w 115"/>
                <a:gd name="T17" fmla="*/ 2147483646 h 467"/>
                <a:gd name="T18" fmla="*/ 2147483646 w 115"/>
                <a:gd name="T19" fmla="*/ 2147483646 h 467"/>
                <a:gd name="T20" fmla="*/ 2147483646 w 115"/>
                <a:gd name="T21" fmla="*/ 2147483646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 name="Freeform 31"/>
            <p:cNvSpPr>
              <a:spLocks/>
            </p:cNvSpPr>
            <p:nvPr/>
          </p:nvSpPr>
          <p:spPr bwMode="auto">
            <a:xfrm>
              <a:off x="6992938" y="1263650"/>
              <a:ext cx="144463" cy="2508250"/>
            </a:xfrm>
            <a:custGeom>
              <a:avLst/>
              <a:gdLst>
                <a:gd name="T0" fmla="*/ 2147483646 w 36"/>
                <a:gd name="T1" fmla="*/ 2147483646 h 633"/>
                <a:gd name="T2" fmla="*/ 2147483646 w 36"/>
                <a:gd name="T3" fmla="*/ 2147483646 h 633"/>
                <a:gd name="T4" fmla="*/ 2147483646 w 36"/>
                <a:gd name="T5" fmla="*/ 2147483646 h 633"/>
                <a:gd name="T6" fmla="*/ 2147483646 w 36"/>
                <a:gd name="T7" fmla="*/ 2147483646 h 633"/>
                <a:gd name="T8" fmla="*/ 2147483646 w 36"/>
                <a:gd name="T9" fmla="*/ 2147483646 h 633"/>
                <a:gd name="T10" fmla="*/ 2147483646 w 36"/>
                <a:gd name="T11" fmla="*/ 0 h 633"/>
                <a:gd name="T12" fmla="*/ 2147483646 w 36"/>
                <a:gd name="T13" fmla="*/ 0 h 633"/>
                <a:gd name="T14" fmla="*/ 2147483646 w 36"/>
                <a:gd name="T15" fmla="*/ 2147483646 h 633"/>
                <a:gd name="T16" fmla="*/ 2147483646 w 36"/>
                <a:gd name="T17" fmla="*/ 2147483646 h 633"/>
                <a:gd name="T18" fmla="*/ 2147483646 w 36"/>
                <a:gd name="T19" fmla="*/ 2147483646 h 633"/>
                <a:gd name="T20" fmla="*/ 2147483646 w 36"/>
                <a:gd name="T21" fmla="*/ 2147483646 h 633"/>
                <a:gd name="T22" fmla="*/ 2147483646 w 36"/>
                <a:gd name="T23" fmla="*/ 2147483646 h 633"/>
                <a:gd name="T24" fmla="*/ 2147483646 w 36"/>
                <a:gd name="T25" fmla="*/ 2147483646 h 6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9" name="Freeform 32"/>
            <p:cNvSpPr>
              <a:spLocks/>
            </p:cNvSpPr>
            <p:nvPr/>
          </p:nvSpPr>
          <p:spPr bwMode="auto">
            <a:xfrm>
              <a:off x="7526338" y="5640388"/>
              <a:ext cx="111125" cy="233363"/>
            </a:xfrm>
            <a:custGeom>
              <a:avLst/>
              <a:gdLst>
                <a:gd name="T0" fmla="*/ 2147483646 w 28"/>
                <a:gd name="T1" fmla="*/ 2147483646 h 59"/>
                <a:gd name="T2" fmla="*/ 2147483646 w 28"/>
                <a:gd name="T3" fmla="*/ 2147483646 h 59"/>
                <a:gd name="T4" fmla="*/ 0 w 28"/>
                <a:gd name="T5" fmla="*/ 0 h 59"/>
                <a:gd name="T6" fmla="*/ 2147483646 w 28"/>
                <a:gd name="T7" fmla="*/ 2147483646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0" name="Freeform 33"/>
            <p:cNvSpPr>
              <a:spLocks/>
            </p:cNvSpPr>
            <p:nvPr/>
          </p:nvSpPr>
          <p:spPr bwMode="auto">
            <a:xfrm>
              <a:off x="7021513" y="3598863"/>
              <a:ext cx="68263" cy="423863"/>
            </a:xfrm>
            <a:custGeom>
              <a:avLst/>
              <a:gdLst>
                <a:gd name="T0" fmla="*/ 2147483646 w 17"/>
                <a:gd name="T1" fmla="*/ 2147483646 h 107"/>
                <a:gd name="T2" fmla="*/ 2147483646 w 17"/>
                <a:gd name="T3" fmla="*/ 2147483646 h 107"/>
                <a:gd name="T4" fmla="*/ 2147483646 w 17"/>
                <a:gd name="T5" fmla="*/ 2147483646 h 107"/>
                <a:gd name="T6" fmla="*/ 2147483646 w 17"/>
                <a:gd name="T7" fmla="*/ 2147483646 h 107"/>
                <a:gd name="T8" fmla="*/ 0 w 17"/>
                <a:gd name="T9" fmla="*/ 0 h 107"/>
                <a:gd name="T10" fmla="*/ 0 w 17"/>
                <a:gd name="T11" fmla="*/ 2147483646 h 107"/>
                <a:gd name="T12" fmla="*/ 2147483646 w 17"/>
                <a:gd name="T13" fmla="*/ 2147483646 h 10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1" name="Freeform 34"/>
            <p:cNvSpPr>
              <a:spLocks/>
            </p:cNvSpPr>
            <p:nvPr/>
          </p:nvSpPr>
          <p:spPr bwMode="auto">
            <a:xfrm>
              <a:off x="7412038" y="2801938"/>
              <a:ext cx="1168400" cy="2251075"/>
            </a:xfrm>
            <a:custGeom>
              <a:avLst/>
              <a:gdLst>
                <a:gd name="T0" fmla="*/ 2147483646 w 294"/>
                <a:gd name="T1" fmla="*/ 2147483646 h 568"/>
                <a:gd name="T2" fmla="*/ 2147483646 w 294"/>
                <a:gd name="T3" fmla="*/ 2147483646 h 568"/>
                <a:gd name="T4" fmla="*/ 2147483646 w 294"/>
                <a:gd name="T5" fmla="*/ 2147483646 h 568"/>
                <a:gd name="T6" fmla="*/ 2147483646 w 294"/>
                <a:gd name="T7" fmla="*/ 2147483646 h 568"/>
                <a:gd name="T8" fmla="*/ 2147483646 w 294"/>
                <a:gd name="T9" fmla="*/ 2147483646 h 568"/>
                <a:gd name="T10" fmla="*/ 2147483646 w 294"/>
                <a:gd name="T11" fmla="*/ 2147483646 h 568"/>
                <a:gd name="T12" fmla="*/ 2147483646 w 294"/>
                <a:gd name="T13" fmla="*/ 0 h 568"/>
                <a:gd name="T14" fmla="*/ 2147483646 w 294"/>
                <a:gd name="T15" fmla="*/ 0 h 568"/>
                <a:gd name="T16" fmla="*/ 2147483646 w 294"/>
                <a:gd name="T17" fmla="*/ 2147483646 h 568"/>
                <a:gd name="T18" fmla="*/ 2147483646 w 294"/>
                <a:gd name="T19" fmla="*/ 2147483646 h 568"/>
                <a:gd name="T20" fmla="*/ 2147483646 w 294"/>
                <a:gd name="T21" fmla="*/ 2147483646 h 568"/>
                <a:gd name="T22" fmla="*/ 2147483646 w 294"/>
                <a:gd name="T23" fmla="*/ 2147483646 h 568"/>
                <a:gd name="T24" fmla="*/ 2147483646 w 294"/>
                <a:gd name="T25" fmla="*/ 2147483646 h 568"/>
                <a:gd name="T26" fmla="*/ 0 w 294"/>
                <a:gd name="T27" fmla="*/ 2147483646 h 568"/>
                <a:gd name="T28" fmla="*/ 2147483646 w 294"/>
                <a:gd name="T29" fmla="*/ 2147483646 h 568"/>
                <a:gd name="T30" fmla="*/ 2147483646 w 294"/>
                <a:gd name="T31" fmla="*/ 2147483646 h 5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2" name="Freeform 35"/>
            <p:cNvSpPr>
              <a:spLocks/>
            </p:cNvSpPr>
            <p:nvPr/>
          </p:nvSpPr>
          <p:spPr bwMode="auto">
            <a:xfrm>
              <a:off x="7494588" y="5664200"/>
              <a:ext cx="100013" cy="209550"/>
            </a:xfrm>
            <a:custGeom>
              <a:avLst/>
              <a:gdLst>
                <a:gd name="T0" fmla="*/ 0 w 25"/>
                <a:gd name="T1" fmla="*/ 0 h 53"/>
                <a:gd name="T2" fmla="*/ 2147483646 w 25"/>
                <a:gd name="T3" fmla="*/ 2147483646 h 53"/>
                <a:gd name="T4" fmla="*/ 2147483646 w 25"/>
                <a:gd name="T5" fmla="*/ 2147483646 h 53"/>
                <a:gd name="T6" fmla="*/ 0 w 25"/>
                <a:gd name="T7" fmla="*/ 0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3" name="Freeform 36"/>
            <p:cNvSpPr>
              <a:spLocks/>
            </p:cNvSpPr>
            <p:nvPr/>
          </p:nvSpPr>
          <p:spPr bwMode="auto">
            <a:xfrm>
              <a:off x="7412038" y="5081588"/>
              <a:ext cx="114300" cy="558800"/>
            </a:xfrm>
            <a:custGeom>
              <a:avLst/>
              <a:gdLst>
                <a:gd name="T0" fmla="*/ 0 w 29"/>
                <a:gd name="T1" fmla="*/ 0 h 141"/>
                <a:gd name="T2" fmla="*/ 2147483646 w 29"/>
                <a:gd name="T3" fmla="*/ 2147483646 h 141"/>
                <a:gd name="T4" fmla="*/ 2147483646 w 29"/>
                <a:gd name="T5" fmla="*/ 2147483646 h 141"/>
                <a:gd name="T6" fmla="*/ 2147483646 w 29"/>
                <a:gd name="T7" fmla="*/ 2147483646 h 141"/>
                <a:gd name="T8" fmla="*/ 2147483646 w 29"/>
                <a:gd name="T9" fmla="*/ 2147483646 h 141"/>
                <a:gd name="T10" fmla="*/ 2147483646 w 29"/>
                <a:gd name="T11" fmla="*/ 2147483646 h 141"/>
                <a:gd name="T12" fmla="*/ 2147483646 w 29"/>
                <a:gd name="T13" fmla="*/ 2147483646 h 141"/>
                <a:gd name="T14" fmla="*/ 0 w 29"/>
                <a:gd name="T15" fmla="*/ 0 h 1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4" name="Freeform 37"/>
            <p:cNvSpPr>
              <a:spLocks/>
            </p:cNvSpPr>
            <p:nvPr/>
          </p:nvSpPr>
          <p:spPr bwMode="auto">
            <a:xfrm>
              <a:off x="7412038" y="4978400"/>
              <a:ext cx="31750" cy="188913"/>
            </a:xfrm>
            <a:custGeom>
              <a:avLst/>
              <a:gdLst>
                <a:gd name="T0" fmla="*/ 0 w 8"/>
                <a:gd name="T1" fmla="*/ 2147483646 h 48"/>
                <a:gd name="T2" fmla="*/ 2147483646 w 8"/>
                <a:gd name="T3" fmla="*/ 2147483646 h 48"/>
                <a:gd name="T4" fmla="*/ 2147483646 w 8"/>
                <a:gd name="T5" fmla="*/ 2147483646 h 48"/>
                <a:gd name="T6" fmla="*/ 2147483646 w 8"/>
                <a:gd name="T7" fmla="*/ 2147483646 h 48"/>
                <a:gd name="T8" fmla="*/ 0 w 8"/>
                <a:gd name="T9" fmla="*/ 0 h 48"/>
                <a:gd name="T10" fmla="*/ 0 w 8"/>
                <a:gd name="T11" fmla="*/ 2147483646 h 48"/>
                <a:gd name="T12" fmla="*/ 0 w 8"/>
                <a:gd name="T13" fmla="*/ 2147483646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5" name="Freeform 38"/>
            <p:cNvSpPr>
              <a:spLocks/>
            </p:cNvSpPr>
            <p:nvPr/>
          </p:nvSpPr>
          <p:spPr bwMode="auto">
            <a:xfrm>
              <a:off x="7439026" y="5434013"/>
              <a:ext cx="174625" cy="439738"/>
            </a:xfrm>
            <a:custGeom>
              <a:avLst/>
              <a:gdLst>
                <a:gd name="T0" fmla="*/ 2147483646 w 44"/>
                <a:gd name="T1" fmla="*/ 2147483646 h 111"/>
                <a:gd name="T2" fmla="*/ 0 w 44"/>
                <a:gd name="T3" fmla="*/ 0 h 111"/>
                <a:gd name="T4" fmla="*/ 2147483646 w 44"/>
                <a:gd name="T5" fmla="*/ 2147483646 h 111"/>
                <a:gd name="T6" fmla="*/ 2147483646 w 44"/>
                <a:gd name="T7" fmla="*/ 2147483646 h 111"/>
                <a:gd name="T8" fmla="*/ 2147483646 w 44"/>
                <a:gd name="T9" fmla="*/ 2147483646 h 111"/>
                <a:gd name="T10" fmla="*/ 2147483646 w 44"/>
                <a:gd name="T11" fmla="*/ 2147483646 h 111"/>
                <a:gd name="T12" fmla="*/ 2147483646 w 44"/>
                <a:gd name="T13" fmla="*/ 2147483646 h 111"/>
                <a:gd name="T14" fmla="*/ 2147483646 w 44"/>
                <a:gd name="T15" fmla="*/ 2147483646 h 1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2" name="Rectangle 61"/>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29" name="Title Placeholder 1"/>
          <p:cNvSpPr>
            <a:spLocks noGrp="1"/>
          </p:cNvSpPr>
          <p:nvPr>
            <p:ph type="title"/>
          </p:nvPr>
        </p:nvSpPr>
        <p:spPr bwMode="auto">
          <a:xfrm>
            <a:off x="1944688" y="623888"/>
            <a:ext cx="6589712"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endParaRPr lang="en-US" altLang="en-US" smtClean="0"/>
          </a:p>
        </p:txBody>
      </p:sp>
      <p:sp>
        <p:nvSpPr>
          <p:cNvPr id="1030" name="Text Placeholder 2"/>
          <p:cNvSpPr>
            <a:spLocks noGrp="1"/>
          </p:cNvSpPr>
          <p:nvPr>
            <p:ph type="body" idx="1"/>
          </p:nvPr>
        </p:nvSpPr>
        <p:spPr bwMode="auto">
          <a:xfrm>
            <a:off x="1943100" y="2133600"/>
            <a:ext cx="6591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sp>
        <p:nvSpPr>
          <p:cNvPr id="4" name="Date Placeholder 3"/>
          <p:cNvSpPr>
            <a:spLocks noGrp="1"/>
          </p:cNvSpPr>
          <p:nvPr>
            <p:ph type="dt" sz="half" idx="2"/>
          </p:nvPr>
        </p:nvSpPr>
        <p:spPr>
          <a:xfrm>
            <a:off x="7772400" y="6135688"/>
            <a:ext cx="766763" cy="369887"/>
          </a:xfrm>
          <a:prstGeom prst="rect">
            <a:avLst/>
          </a:prstGeom>
        </p:spPr>
        <p:txBody>
          <a:bodyPr vert="horz" lIns="91440" tIns="45720" rIns="91440" bIns="45720" rtlCol="0" anchor="ctr"/>
          <a:lstStyle>
            <a:lvl1pPr algn="r" eaLnBrk="1" hangingPunct="1">
              <a:defRPr sz="900">
                <a:solidFill>
                  <a:schemeClr val="tx1">
                    <a:tint val="75000"/>
                  </a:schemeClr>
                </a:solidFill>
                <a:cs typeface="Arial" panose="020B0604020202020204" pitchFamily="34" charset="0"/>
              </a:defRPr>
            </a:lvl1pPr>
          </a:lstStyle>
          <a:p>
            <a:fld id="{7ED7CA66-073A-45BD-A828-4DED3D213402}" type="datetimeFigureOut">
              <a:rPr lang="en-US" smtClean="0"/>
              <a:t>4/30/2026</a:t>
            </a:fld>
            <a:endParaRPr lang="en-US"/>
          </a:p>
        </p:txBody>
      </p:sp>
      <p:sp>
        <p:nvSpPr>
          <p:cNvPr id="5" name="Footer Placeholder 4"/>
          <p:cNvSpPr>
            <a:spLocks noGrp="1"/>
          </p:cNvSpPr>
          <p:nvPr>
            <p:ph type="ftr" sz="quarter" idx="3"/>
          </p:nvPr>
        </p:nvSpPr>
        <p:spPr>
          <a:xfrm>
            <a:off x="1943100" y="6135688"/>
            <a:ext cx="5716588" cy="365125"/>
          </a:xfrm>
          <a:prstGeom prst="rect">
            <a:avLst/>
          </a:prstGeom>
        </p:spPr>
        <p:txBody>
          <a:bodyPr vert="horz" lIns="91440" tIns="45720" rIns="91440" bIns="45720" rtlCol="0" anchor="ctr"/>
          <a:lstStyle>
            <a:lvl1pPr algn="l" eaLnBrk="1" hangingPunct="1">
              <a:defRPr sz="900">
                <a:solidFill>
                  <a:schemeClr val="tx1">
                    <a:tint val="75000"/>
                  </a:schemeClr>
                </a:solidFill>
                <a:cs typeface="Arial" panose="020B0604020202020204" pitchFamily="34" charset="0"/>
              </a:defRPr>
            </a:lvl1pPr>
          </a:lstStyle>
          <a:p>
            <a:endParaRPr lang="en-US"/>
          </a:p>
        </p:txBody>
      </p:sp>
      <p:sp>
        <p:nvSpPr>
          <p:cNvPr id="6" name="Slide Number Placeholder 5"/>
          <p:cNvSpPr>
            <a:spLocks noGrp="1"/>
          </p:cNvSpPr>
          <p:nvPr>
            <p:ph type="sldNum" sz="quarter" idx="4"/>
          </p:nvPr>
        </p:nvSpPr>
        <p:spPr bwMode="gray">
          <a:xfrm>
            <a:off x="511175" y="787400"/>
            <a:ext cx="585788"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000">
                <a:solidFill>
                  <a:srgbClr val="FEFFFF"/>
                </a:solidFill>
              </a:defRPr>
            </a:lvl1pPr>
          </a:lstStyle>
          <a:p>
            <a:fld id="{4FC88C98-85B2-46C1-A637-E8123E2A587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fontAlgn="base" hangingPunct="1">
        <a:spcBef>
          <a:spcPct val="0"/>
        </a:spcBef>
        <a:spcAft>
          <a:spcPct val="0"/>
        </a:spcAft>
        <a:defRPr sz="3600" kern="1200">
          <a:solidFill>
            <a:srgbClr val="262626"/>
          </a:solidFill>
          <a:latin typeface="+mj-lt"/>
          <a:ea typeface="+mj-ea"/>
          <a:cs typeface="+mj-cs"/>
        </a:defRPr>
      </a:lvl1pPr>
      <a:lvl2pPr algn="l" defTabSz="457200" rtl="0" eaLnBrk="1" fontAlgn="base" hangingPunct="1">
        <a:spcBef>
          <a:spcPct val="0"/>
        </a:spcBef>
        <a:spcAft>
          <a:spcPct val="0"/>
        </a:spcAft>
        <a:defRPr sz="3600">
          <a:solidFill>
            <a:srgbClr val="262626"/>
          </a:solidFill>
          <a:latin typeface="Century Gothic" panose="020B0502020202020204" pitchFamily="34" charset="0"/>
        </a:defRPr>
      </a:lvl2pPr>
      <a:lvl3pPr algn="l" defTabSz="457200" rtl="0" eaLnBrk="1" fontAlgn="base" hangingPunct="1">
        <a:spcBef>
          <a:spcPct val="0"/>
        </a:spcBef>
        <a:spcAft>
          <a:spcPct val="0"/>
        </a:spcAft>
        <a:defRPr sz="3600">
          <a:solidFill>
            <a:srgbClr val="262626"/>
          </a:solidFill>
          <a:latin typeface="Century Gothic" panose="020B0502020202020204" pitchFamily="34" charset="0"/>
        </a:defRPr>
      </a:lvl3pPr>
      <a:lvl4pPr algn="l" defTabSz="457200" rtl="0" eaLnBrk="1" fontAlgn="base" hangingPunct="1">
        <a:spcBef>
          <a:spcPct val="0"/>
        </a:spcBef>
        <a:spcAft>
          <a:spcPct val="0"/>
        </a:spcAft>
        <a:defRPr sz="3600">
          <a:solidFill>
            <a:srgbClr val="262626"/>
          </a:solidFill>
          <a:latin typeface="Century Gothic" panose="020B0502020202020204" pitchFamily="34" charset="0"/>
        </a:defRPr>
      </a:lvl4pPr>
      <a:lvl5pPr algn="l" defTabSz="457200" rtl="0" eaLnBrk="1" fontAlgn="base" hangingPunct="1">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fontAlgn="base" hangingPunct="1">
        <a:spcBef>
          <a:spcPts val="1000"/>
        </a:spcBef>
        <a:spcAft>
          <a:spcPct val="0"/>
        </a:spcAft>
        <a:buClr>
          <a:schemeClr val="accent1"/>
        </a:buClr>
        <a:buFont typeface="Wingdings 3" pitchFamily="18" charset="2"/>
        <a:buChar char=""/>
        <a:defRPr kern="1200">
          <a:solidFill>
            <a:srgbClr val="404040"/>
          </a:solidFill>
          <a:latin typeface="+mn-lt"/>
          <a:ea typeface="+mn-ea"/>
          <a:cs typeface="+mn-cs"/>
        </a:defRPr>
      </a:lvl1pPr>
      <a:lvl2pPr marL="742950" indent="-285750" algn="l" defTabSz="457200" rtl="0" eaLnBrk="1" fontAlgn="base" hangingPunct="1">
        <a:spcBef>
          <a:spcPts val="1000"/>
        </a:spcBef>
        <a:spcAft>
          <a:spcPct val="0"/>
        </a:spcAft>
        <a:buClr>
          <a:schemeClr val="accent1"/>
        </a:buClr>
        <a:buFont typeface="Wingdings 3" pitchFamily="18" charset="2"/>
        <a:buChar char=""/>
        <a:defRPr sz="1600" kern="1200">
          <a:solidFill>
            <a:srgbClr val="404040"/>
          </a:solidFill>
          <a:latin typeface="+mn-lt"/>
          <a:ea typeface="+mn-ea"/>
          <a:cs typeface="+mn-cs"/>
        </a:defRPr>
      </a:lvl2pPr>
      <a:lvl3pPr marL="1143000" indent="-228600" algn="l" defTabSz="457200" rtl="0" eaLnBrk="1" fontAlgn="base" hangingPunct="1">
        <a:spcBef>
          <a:spcPts val="1000"/>
        </a:spcBef>
        <a:spcAft>
          <a:spcPct val="0"/>
        </a:spcAft>
        <a:buClr>
          <a:schemeClr val="accent1"/>
        </a:buClr>
        <a:buFont typeface="Wingdings 3" pitchFamily="18" charset="2"/>
        <a:buChar char=""/>
        <a:defRPr sz="1400" kern="1200">
          <a:solidFill>
            <a:srgbClr val="404040"/>
          </a:solidFill>
          <a:latin typeface="+mn-lt"/>
          <a:ea typeface="+mn-ea"/>
          <a:cs typeface="+mn-cs"/>
        </a:defRPr>
      </a:lvl3pPr>
      <a:lvl4pPr marL="1600200" indent="-228600" algn="l" defTabSz="457200" rtl="0" eaLnBrk="1" fontAlgn="base" hangingPunct="1">
        <a:spcBef>
          <a:spcPts val="1000"/>
        </a:spcBef>
        <a:spcAft>
          <a:spcPct val="0"/>
        </a:spcAft>
        <a:buClr>
          <a:schemeClr val="accent1"/>
        </a:buClr>
        <a:buFont typeface="Wingdings 3" pitchFamily="18" charset="2"/>
        <a:buChar char=""/>
        <a:defRPr sz="1200" kern="1200">
          <a:solidFill>
            <a:srgbClr val="404040"/>
          </a:solidFill>
          <a:latin typeface="+mn-lt"/>
          <a:ea typeface="+mn-ea"/>
          <a:cs typeface="+mn-cs"/>
        </a:defRPr>
      </a:lvl4pPr>
      <a:lvl5pPr marL="2057400" indent="-228600" algn="l" defTabSz="457200" rtl="0" eaLnBrk="1" fontAlgn="base" hangingPunct="1">
        <a:spcBef>
          <a:spcPts val="1000"/>
        </a:spcBef>
        <a:spcAft>
          <a:spcPct val="0"/>
        </a:spcAft>
        <a:buClr>
          <a:schemeClr val="accent1"/>
        </a:buClr>
        <a:buFont typeface="Wingdings 3"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dsa/maximum-bipartite-matching/" TargetMode="External"/><Relationship Id="rId2" Type="http://schemas.openxmlformats.org/officeDocument/2006/relationships/hyperlink" Target="https://www.geeksforgeeks.org/dsa/program-to-find-gcd-or-hcf-of-two-numbers/" TargetMode="External"/><Relationship Id="rId1" Type="http://schemas.openxmlformats.org/officeDocument/2006/relationships/slideLayout" Target="../slideLayouts/slideLayout2.xml"/><Relationship Id="rId4" Type="http://schemas.openxmlformats.org/officeDocument/2006/relationships/hyperlink" Target="https://www.geeksforgeeks.org/dsa/merge-sor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dsa/hamiltonian-cycle/" TargetMode="External"/><Relationship Id="rId2" Type="http://schemas.openxmlformats.org/officeDocument/2006/relationships/hyperlink" Target="https://www.geeksforgeeks.org/dsa/2-satisfiability-2-sat-problem/" TargetMode="External"/><Relationship Id="rId1" Type="http://schemas.openxmlformats.org/officeDocument/2006/relationships/slideLayout" Target="../slideLayouts/slideLayout2.xml"/><Relationship Id="rId4" Type="http://schemas.openxmlformats.org/officeDocument/2006/relationships/hyperlink" Target="https://www.geeksforgeeks.org/dsa/graph-coloring-application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dsa/np-hard-clas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9" y="2514601"/>
            <a:ext cx="6269190" cy="2262781"/>
          </a:xfrm>
        </p:spPr>
        <p:txBody>
          <a:bodyPr/>
          <a:lstStyle/>
          <a:p>
            <a:r>
              <a:rPr lang="en-US" dirty="0" smtClean="0"/>
              <a:t>DAA Lecture # 13 </a:t>
            </a:r>
            <a:endParaRPr lang="en-US" dirty="0"/>
          </a:p>
        </p:txBody>
      </p:sp>
      <p:sp>
        <p:nvSpPr>
          <p:cNvPr id="3" name="Subtitle 2"/>
          <p:cNvSpPr>
            <a:spLocks noGrp="1"/>
          </p:cNvSpPr>
          <p:nvPr>
            <p:ph type="subTitle" idx="1"/>
          </p:nvPr>
        </p:nvSpPr>
        <p:spPr/>
        <p:txBody>
          <a:bodyPr/>
          <a:lstStyle/>
          <a:p>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719" y="188640"/>
            <a:ext cx="2371770" cy="6480720"/>
          </a:xfrm>
          <a:prstGeom prst="rect">
            <a:avLst/>
          </a:prstGeom>
        </p:spPr>
      </p:pic>
    </p:spTree>
    <p:extLst>
      <p:ext uri="{BB962C8B-B14F-4D97-AF65-F5344CB8AC3E}">
        <p14:creationId xmlns:p14="http://schemas.microsoft.com/office/powerpoint/2010/main" val="27949224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5" y="188640"/>
            <a:ext cx="7560841" cy="1800200"/>
          </a:xfrm>
        </p:spPr>
        <p:txBody>
          <a:bodyPr/>
          <a:lstStyle/>
          <a:p>
            <a:r>
              <a:rPr lang="en-US" b="1" dirty="0" smtClean="0"/>
              <a:t>P</a:t>
            </a:r>
            <a:r>
              <a:rPr lang="en-US" b="1" dirty="0"/>
              <a:t>, NP, </a:t>
            </a:r>
            <a:r>
              <a:rPr lang="en-US" b="1" dirty="0" smtClean="0"/>
              <a:t>Co NP</a:t>
            </a:r>
            <a:r>
              <a:rPr lang="en-US" b="1" dirty="0"/>
              <a:t>, NP hard and NP complete | Complexity Classes</a:t>
            </a:r>
            <a:br>
              <a:rPr lang="en-US" b="1" dirty="0"/>
            </a:br>
            <a:r>
              <a:rPr lang="en-US" dirty="0"/>
              <a:t/>
            </a:r>
            <a:br>
              <a:rPr lang="en-US" dirty="0"/>
            </a:br>
            <a:r>
              <a:rPr lang="en-US" dirty="0"/>
              <a:t/>
            </a:r>
            <a:br>
              <a:rPr lang="en-US" dirty="0"/>
            </a:br>
            <a:r>
              <a:rPr lang="en-US" b="1" dirty="0"/>
              <a:t/>
            </a:r>
            <a:br>
              <a:rPr lang="en-US" b="1" dirty="0"/>
            </a:br>
            <a:endParaRPr lang="en-US" dirty="0"/>
          </a:p>
        </p:txBody>
      </p:sp>
      <p:sp>
        <p:nvSpPr>
          <p:cNvPr id="3" name="Content Placeholder 2"/>
          <p:cNvSpPr>
            <a:spLocks noGrp="1"/>
          </p:cNvSpPr>
          <p:nvPr>
            <p:ph idx="1"/>
          </p:nvPr>
        </p:nvSpPr>
        <p:spPr>
          <a:xfrm>
            <a:off x="1331641" y="2133600"/>
            <a:ext cx="7202760" cy="3777622"/>
          </a:xfrm>
        </p:spPr>
        <p:txBody>
          <a:bodyPr/>
          <a:lstStyle/>
          <a:p>
            <a:r>
              <a:rPr lang="en-US" dirty="0"/>
              <a:t>In computer science, problems are divided into classes known as </a:t>
            </a:r>
            <a:r>
              <a:rPr lang="en-US" b="1" dirty="0"/>
              <a:t>Complexity Classes</a:t>
            </a:r>
            <a:r>
              <a:rPr lang="en-US" dirty="0"/>
              <a:t>. In complexity theory, a Complexity Class is a set of problems with related complexity. With the help of </a:t>
            </a:r>
            <a:r>
              <a:rPr lang="en-US" dirty="0" smtClean="0"/>
              <a:t>complexity theory</a:t>
            </a:r>
            <a:r>
              <a:rPr lang="en-US" dirty="0"/>
              <a:t>, we try to cover the </a:t>
            </a:r>
            <a:r>
              <a:rPr lang="en-US" dirty="0" smtClean="0"/>
              <a:t>following</a:t>
            </a:r>
            <a:endParaRPr lang="en-US" dirty="0"/>
          </a:p>
          <a:p>
            <a:r>
              <a:rPr lang="en-US" dirty="0"/>
              <a:t>Problems that cannot be solved by computers.</a:t>
            </a:r>
          </a:p>
          <a:p>
            <a:r>
              <a:rPr lang="en-US" dirty="0"/>
              <a:t>Problems that can be efficiently solved (solved in Polynomial time) by computers.</a:t>
            </a:r>
          </a:p>
          <a:p>
            <a:r>
              <a:rPr lang="en-US" dirty="0"/>
              <a:t>Problems for which no efficient solution (only exponential time algorithms) exist</a:t>
            </a:r>
            <a:r>
              <a:rPr lang="en-US" dirty="0" smtClean="0"/>
              <a:t>.</a:t>
            </a:r>
            <a:endParaRPr lang="en-US" dirty="0"/>
          </a:p>
        </p:txBody>
      </p:sp>
    </p:spTree>
    <p:extLst>
      <p:ext uri="{BB962C8B-B14F-4D97-AF65-F5344CB8AC3E}">
        <p14:creationId xmlns:p14="http://schemas.microsoft.com/office/powerpoint/2010/main" val="34110133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3" y="692696"/>
            <a:ext cx="7634808" cy="5218526"/>
          </a:xfrm>
        </p:spPr>
        <p:txBody>
          <a:bodyPr/>
          <a:lstStyle/>
          <a:p>
            <a:r>
              <a:rPr lang="en-US" dirty="0"/>
              <a:t>The common resources required by a solution are </a:t>
            </a:r>
            <a:r>
              <a:rPr lang="en-US" dirty="0" err="1"/>
              <a:t>are</a:t>
            </a:r>
            <a:r>
              <a:rPr lang="en-US" dirty="0"/>
              <a:t> time and space, meaning how much time the algorithm takes to solve a problem and the corresponding memory usage.</a:t>
            </a:r>
          </a:p>
          <a:p>
            <a:r>
              <a:rPr lang="en-US" dirty="0"/>
              <a:t>The time complexity of an algorithm is used to describe the number of steps required to solve a problem, but it can also be used to describe how long it takes to verify the answer.</a:t>
            </a:r>
          </a:p>
          <a:p>
            <a:r>
              <a:rPr lang="en-US" dirty="0"/>
              <a:t>The space complexity of an algorithm describes how much memory is required for the algorithm to operate.</a:t>
            </a:r>
          </a:p>
          <a:p>
            <a:r>
              <a:rPr lang="en-US" dirty="0"/>
              <a:t>An algorithm having time complexity of the form O(</a:t>
            </a:r>
            <a:r>
              <a:rPr lang="en-US" dirty="0" err="1"/>
              <a:t>n</a:t>
            </a:r>
            <a:r>
              <a:rPr lang="en-US" baseline="30000" dirty="0" err="1"/>
              <a:t>k</a:t>
            </a:r>
            <a:r>
              <a:rPr lang="en-US" dirty="0"/>
              <a:t>) for input n and constant k is called polynomial time solution. These solutions scale well. On the other hand, time complexity of the form O(</a:t>
            </a:r>
            <a:r>
              <a:rPr lang="en-US" dirty="0" err="1"/>
              <a:t>k</a:t>
            </a:r>
            <a:r>
              <a:rPr lang="en-US" baseline="30000" dirty="0" err="1"/>
              <a:t>n</a:t>
            </a:r>
            <a:r>
              <a:rPr lang="en-US" dirty="0"/>
              <a:t>) is exponential time.</a:t>
            </a:r>
          </a:p>
          <a:p>
            <a:endParaRPr lang="en-US" dirty="0"/>
          </a:p>
        </p:txBody>
      </p:sp>
    </p:spTree>
    <p:extLst>
      <p:ext uri="{BB962C8B-B14F-4D97-AF65-F5344CB8AC3E}">
        <p14:creationId xmlns:p14="http://schemas.microsoft.com/office/powerpoint/2010/main" val="13639170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9632" y="548680"/>
            <a:ext cx="7274768" cy="45295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501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9632" y="0"/>
            <a:ext cx="7740352" cy="5578566"/>
          </a:xfrm>
        </p:spPr>
        <p:txBody>
          <a:bodyPr/>
          <a:lstStyle/>
          <a:p>
            <a:r>
              <a:rPr lang="en-US" b="1" u="sng" dirty="0"/>
              <a:t>Types of Complexity Classes</a:t>
            </a:r>
            <a:endParaRPr lang="en-US" b="1" dirty="0"/>
          </a:p>
          <a:p>
            <a:r>
              <a:rPr lang="en-US" dirty="0"/>
              <a:t>This article discusses the following complexity classes:</a:t>
            </a:r>
          </a:p>
          <a:p>
            <a:r>
              <a:rPr lang="en-US" b="1" dirty="0"/>
              <a:t>P Class</a:t>
            </a:r>
          </a:p>
          <a:p>
            <a:r>
              <a:rPr lang="en-US" dirty="0"/>
              <a:t>The P in the P class stands for </a:t>
            </a:r>
            <a:r>
              <a:rPr lang="en-US" b="1" dirty="0"/>
              <a:t>Polynomial Time.</a:t>
            </a:r>
            <a:r>
              <a:rPr lang="en-US" dirty="0"/>
              <a:t> It is the collection of decision problems(problems with a "yes" or "no" answer) that can be solved by a deterministic machine (our computers) in polynomial time. </a:t>
            </a:r>
          </a:p>
          <a:p>
            <a:r>
              <a:rPr lang="en-US" b="1" dirty="0"/>
              <a:t>Features:</a:t>
            </a:r>
            <a:endParaRPr lang="en-US" dirty="0"/>
          </a:p>
          <a:p>
            <a:r>
              <a:rPr lang="en-US" dirty="0"/>
              <a:t>The solution to </a:t>
            </a:r>
            <a:r>
              <a:rPr lang="en-US" b="1" dirty="0"/>
              <a:t>P problem</a:t>
            </a:r>
            <a:r>
              <a:rPr lang="en-US" dirty="0"/>
              <a:t>s is easy to find. </a:t>
            </a:r>
          </a:p>
          <a:p>
            <a:r>
              <a:rPr lang="en-US" b="1" dirty="0"/>
              <a:t>P</a:t>
            </a:r>
            <a:r>
              <a:rPr lang="en-US" dirty="0"/>
              <a:t> is often a class of computational problems that are solvable and tractable. Tractable means that the problems can be solved in theory as well as in practice. But the problems that can be solved in theory but not in practice are known as intractable.</a:t>
            </a:r>
          </a:p>
          <a:p>
            <a:r>
              <a:rPr lang="en-US" dirty="0"/>
              <a:t>Most of the coding problems that we solve fall in this category like the below.</a:t>
            </a:r>
          </a:p>
          <a:p>
            <a:r>
              <a:rPr lang="en-US" u="sng" dirty="0">
                <a:hlinkClick r:id="rId2"/>
              </a:rPr>
              <a:t>Calculating the greatest common divisor.</a:t>
            </a:r>
            <a:endParaRPr lang="en-US" dirty="0"/>
          </a:p>
          <a:p>
            <a:r>
              <a:rPr lang="en-US" u="sng" dirty="0">
                <a:hlinkClick r:id="rId3"/>
              </a:rPr>
              <a:t>Finding a maximum matching.</a:t>
            </a:r>
            <a:endParaRPr lang="en-US" dirty="0"/>
          </a:p>
          <a:p>
            <a:r>
              <a:rPr lang="en-US" u="sng" dirty="0">
                <a:hlinkClick r:id="rId4"/>
              </a:rPr>
              <a:t>Merge Sort</a:t>
            </a:r>
            <a:endParaRPr lang="en-US" dirty="0"/>
          </a:p>
          <a:p>
            <a:endParaRPr lang="en-US" dirty="0"/>
          </a:p>
        </p:txBody>
      </p:sp>
    </p:spTree>
    <p:extLst>
      <p:ext uri="{BB962C8B-B14F-4D97-AF65-F5344CB8AC3E}">
        <p14:creationId xmlns:p14="http://schemas.microsoft.com/office/powerpoint/2010/main" val="1039839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16632"/>
            <a:ext cx="8460431" cy="5794590"/>
          </a:xfrm>
        </p:spPr>
        <p:txBody>
          <a:bodyPr/>
          <a:lstStyle/>
          <a:p>
            <a:r>
              <a:rPr lang="en-US" b="1" dirty="0"/>
              <a:t>NP Class</a:t>
            </a:r>
          </a:p>
          <a:p>
            <a:r>
              <a:rPr lang="en-US" dirty="0"/>
              <a:t>The NP in NP class stands for </a:t>
            </a:r>
            <a:r>
              <a:rPr lang="en-US" b="1" dirty="0"/>
              <a:t>Non-deterministic Polynomial Time</a:t>
            </a:r>
            <a:r>
              <a:rPr lang="en-US" dirty="0"/>
              <a:t>. It is the collection of decision problems that can be solved by a non-deterministic machine (note that our computers are deterministic) in polynomial time. </a:t>
            </a:r>
          </a:p>
          <a:p>
            <a:r>
              <a:rPr lang="en-US" b="1" dirty="0"/>
              <a:t>Features:</a:t>
            </a:r>
            <a:endParaRPr lang="en-US" dirty="0"/>
          </a:p>
          <a:p>
            <a:r>
              <a:rPr lang="en-US" dirty="0"/>
              <a:t>The solutions of the NP class might be hard to find since they are being solved by a non-deterministic machine but the solutions are easy to verify.</a:t>
            </a:r>
          </a:p>
          <a:p>
            <a:r>
              <a:rPr lang="en-US" dirty="0"/>
              <a:t>Problems of NP can be verified by a deterministic machine in polynomial time. </a:t>
            </a:r>
          </a:p>
          <a:p>
            <a:r>
              <a:rPr lang="en-US" b="1" dirty="0" smtClean="0"/>
              <a:t>Example:</a:t>
            </a:r>
            <a:r>
              <a:rPr lang="en-US" dirty="0"/>
              <a:t> </a:t>
            </a:r>
            <a:r>
              <a:rPr lang="en-US" dirty="0" smtClean="0"/>
              <a:t>Let </a:t>
            </a:r>
            <a:r>
              <a:rPr lang="en-US" dirty="0"/>
              <a:t>us consider an example to better understand the </a:t>
            </a:r>
            <a:r>
              <a:rPr lang="en-US" b="1" dirty="0"/>
              <a:t>NP class</a:t>
            </a:r>
            <a:r>
              <a:rPr lang="en-US" dirty="0"/>
              <a:t>. Suppose there is a company having a total of </a:t>
            </a:r>
            <a:r>
              <a:rPr lang="en-US" b="1" dirty="0"/>
              <a:t>1000</a:t>
            </a:r>
            <a:r>
              <a:rPr lang="en-US" dirty="0"/>
              <a:t> employees having unique employee </a:t>
            </a:r>
            <a:r>
              <a:rPr lang="en-US" b="1" dirty="0"/>
              <a:t>IDs</a:t>
            </a:r>
            <a:r>
              <a:rPr lang="en-US" dirty="0"/>
              <a:t>. Assume that there are </a:t>
            </a:r>
            <a:r>
              <a:rPr lang="en-US" b="1" dirty="0"/>
              <a:t>200</a:t>
            </a:r>
            <a:r>
              <a:rPr lang="en-US" dirty="0"/>
              <a:t> rooms available for them. A selection of </a:t>
            </a:r>
            <a:r>
              <a:rPr lang="en-US" b="1" dirty="0"/>
              <a:t>200</a:t>
            </a:r>
            <a:r>
              <a:rPr lang="en-US" dirty="0"/>
              <a:t> employees must be paired together, but the CEO of the company has the data of some employees who can't work in the same room due to personal reasons.</a:t>
            </a:r>
            <a:br>
              <a:rPr lang="en-US" dirty="0"/>
            </a:br>
            <a:r>
              <a:rPr lang="en-US" dirty="0"/>
              <a:t>This is an example of an </a:t>
            </a:r>
            <a:r>
              <a:rPr lang="en-US" b="1" dirty="0"/>
              <a:t>NP </a:t>
            </a:r>
            <a:r>
              <a:rPr lang="en-US" dirty="0"/>
              <a:t>problem. Since it is easy to check if the given choice of </a:t>
            </a:r>
            <a:r>
              <a:rPr lang="en-US" b="1" dirty="0"/>
              <a:t>200</a:t>
            </a:r>
            <a:r>
              <a:rPr lang="en-US" dirty="0"/>
              <a:t> employees proposed by a coworker is satisfactory or not i.e. no pair taken from the coworker list appears on the list given by the CEO. But generating such a list from scratch seems to be so hard as to be completely impractical.</a:t>
            </a:r>
          </a:p>
        </p:txBody>
      </p:sp>
    </p:spTree>
    <p:extLst>
      <p:ext uri="{BB962C8B-B14F-4D97-AF65-F5344CB8AC3E}">
        <p14:creationId xmlns:p14="http://schemas.microsoft.com/office/powerpoint/2010/main" val="3465906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624" y="260648"/>
            <a:ext cx="7776863" cy="5650574"/>
          </a:xfrm>
        </p:spPr>
        <p:txBody>
          <a:bodyPr/>
          <a:lstStyle/>
          <a:p>
            <a:r>
              <a:rPr lang="en-US" dirty="0"/>
              <a:t>It indicates that if someone can provide us with the solution to the problem, we can find the correct and incorrect pair in polynomial time. Thus for the </a:t>
            </a:r>
            <a:r>
              <a:rPr lang="en-US" b="1" dirty="0"/>
              <a:t>NP</a:t>
            </a:r>
            <a:r>
              <a:rPr lang="en-US" dirty="0"/>
              <a:t> class problem, the answer is possible, which can be calculated in polynomial time.</a:t>
            </a:r>
          </a:p>
          <a:p>
            <a:r>
              <a:rPr lang="en-US" dirty="0"/>
              <a:t>This class contains many problems that one would like to be able to solve effectively:</a:t>
            </a:r>
          </a:p>
          <a:p>
            <a:r>
              <a:rPr lang="en-US" u="sng" dirty="0">
                <a:hlinkClick r:id="rId2"/>
              </a:rPr>
              <a:t>Boolean Satisfiability Problem (SAT).</a:t>
            </a:r>
            <a:endParaRPr lang="en-US" dirty="0"/>
          </a:p>
          <a:p>
            <a:r>
              <a:rPr lang="en-US" u="sng" dirty="0">
                <a:hlinkClick r:id="rId3"/>
              </a:rPr>
              <a:t>Hamiltonian Path Problem.</a:t>
            </a:r>
            <a:endParaRPr lang="en-US" dirty="0"/>
          </a:p>
          <a:p>
            <a:r>
              <a:rPr lang="en-US" u="sng" dirty="0">
                <a:hlinkClick r:id="rId4"/>
              </a:rPr>
              <a:t>Graph coloring.</a:t>
            </a:r>
            <a:endParaRPr lang="en-US" dirty="0"/>
          </a:p>
          <a:p>
            <a:pPr marL="0" indent="0">
              <a:buNone/>
            </a:pPr>
            <a:endParaRPr lang="en-US" dirty="0"/>
          </a:p>
        </p:txBody>
      </p:sp>
    </p:spTree>
    <p:extLst>
      <p:ext uri="{BB962C8B-B14F-4D97-AF65-F5344CB8AC3E}">
        <p14:creationId xmlns:p14="http://schemas.microsoft.com/office/powerpoint/2010/main" val="2751467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75656" y="474345"/>
            <a:ext cx="6480720" cy="4801314"/>
          </a:xfrm>
          <a:prstGeom prst="rect">
            <a:avLst/>
          </a:prstGeom>
        </p:spPr>
        <p:txBody>
          <a:bodyPr wrap="square">
            <a:spAutoFit/>
          </a:bodyPr>
          <a:lstStyle/>
          <a:p>
            <a:r>
              <a:rPr lang="en-US" dirty="0" smtClean="0"/>
              <a:t>Co-NP Class</a:t>
            </a:r>
          </a:p>
          <a:p>
            <a:r>
              <a:rPr lang="en-US" dirty="0" smtClean="0"/>
              <a:t>Co-NP stands for the complement of NP Class. It means if the answer to a problem in Co-NP is No, then there is proof that can be checked in polynomial time. </a:t>
            </a:r>
          </a:p>
          <a:p>
            <a:endParaRPr lang="en-US" dirty="0" smtClean="0"/>
          </a:p>
          <a:p>
            <a:r>
              <a:rPr lang="en-US" dirty="0" smtClean="0"/>
              <a:t>Features:</a:t>
            </a:r>
          </a:p>
          <a:p>
            <a:endParaRPr lang="en-US" dirty="0" smtClean="0"/>
          </a:p>
          <a:p>
            <a:r>
              <a:rPr lang="en-US" dirty="0" smtClean="0"/>
              <a:t>If a problem X is in NP, then its complement X' is also in </a:t>
            </a:r>
            <a:r>
              <a:rPr lang="en-US" dirty="0" err="1" smtClean="0"/>
              <a:t>CoNP</a:t>
            </a:r>
            <a:r>
              <a:rPr lang="en-US" dirty="0" smtClean="0"/>
              <a:t>.</a:t>
            </a:r>
          </a:p>
          <a:p>
            <a:r>
              <a:rPr lang="en-US" dirty="0" smtClean="0"/>
              <a:t>For an NP and </a:t>
            </a:r>
            <a:r>
              <a:rPr lang="en-US" dirty="0" err="1" smtClean="0"/>
              <a:t>CoNP</a:t>
            </a:r>
            <a:r>
              <a:rPr lang="en-US" dirty="0" smtClean="0"/>
              <a:t> problem, there is no need to verify all the answers at once in polynomial time, there is a need to verify only one particular answer "yes" or "no" in polynomial time for a problem to be in NP or </a:t>
            </a:r>
            <a:r>
              <a:rPr lang="en-US" dirty="0" err="1" smtClean="0"/>
              <a:t>CoNP</a:t>
            </a:r>
            <a:r>
              <a:rPr lang="en-US" dirty="0" smtClean="0"/>
              <a:t>.</a:t>
            </a:r>
          </a:p>
          <a:p>
            <a:r>
              <a:rPr lang="en-US" dirty="0" smtClean="0"/>
              <a:t>Some example problems for </a:t>
            </a:r>
            <a:r>
              <a:rPr lang="en-US" dirty="0" err="1" smtClean="0"/>
              <a:t>CoNP</a:t>
            </a:r>
            <a:r>
              <a:rPr lang="en-US" dirty="0" smtClean="0"/>
              <a:t> are:</a:t>
            </a:r>
          </a:p>
          <a:p>
            <a:endParaRPr lang="en-US" dirty="0" smtClean="0"/>
          </a:p>
          <a:p>
            <a:r>
              <a:rPr lang="en-US" dirty="0" smtClean="0"/>
              <a:t>To check prime number.</a:t>
            </a:r>
          </a:p>
          <a:p>
            <a:r>
              <a:rPr lang="en-US" dirty="0" smtClean="0"/>
              <a:t>Integer Factorization.</a:t>
            </a:r>
            <a:endParaRPr lang="en-US" dirty="0"/>
          </a:p>
        </p:txBody>
      </p:sp>
    </p:spTree>
    <p:extLst>
      <p:ext uri="{BB962C8B-B14F-4D97-AF65-F5344CB8AC3E}">
        <p14:creationId xmlns:p14="http://schemas.microsoft.com/office/powerpoint/2010/main" val="224411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600" y="116632"/>
            <a:ext cx="8064896" cy="6480720"/>
          </a:xfrm>
        </p:spPr>
        <p:txBody>
          <a:bodyPr/>
          <a:lstStyle/>
          <a:p>
            <a:endParaRPr lang="en-US" b="1" u="sng" dirty="0" smtClean="0">
              <a:hlinkClick r:id="rId2"/>
            </a:endParaRPr>
          </a:p>
          <a:p>
            <a:endParaRPr lang="en-US" b="1" u="sng" dirty="0">
              <a:hlinkClick r:id="rId2"/>
            </a:endParaRPr>
          </a:p>
          <a:p>
            <a:r>
              <a:rPr lang="en-US" b="1" u="sng" dirty="0" smtClean="0">
                <a:hlinkClick r:id="rId2"/>
              </a:rPr>
              <a:t>NP-hard </a:t>
            </a:r>
            <a:r>
              <a:rPr lang="en-US" b="1" u="sng" dirty="0">
                <a:hlinkClick r:id="rId2"/>
              </a:rPr>
              <a:t>class</a:t>
            </a:r>
            <a:endParaRPr lang="en-US" b="1" dirty="0"/>
          </a:p>
          <a:p>
            <a:r>
              <a:rPr lang="en-US" dirty="0"/>
              <a:t>An NP-hard problem is at least as hard as the hardest problem in NP and it is a class of problems such that every problem in NP reduces to NP-hard.</a:t>
            </a:r>
          </a:p>
          <a:p>
            <a:r>
              <a:rPr lang="en-US" b="1" dirty="0"/>
              <a:t>Features:</a:t>
            </a:r>
            <a:endParaRPr lang="en-US" dirty="0"/>
          </a:p>
          <a:p>
            <a:r>
              <a:rPr lang="en-US" dirty="0"/>
              <a:t>All NP-hard problems are not in NP.</a:t>
            </a:r>
          </a:p>
          <a:p>
            <a:r>
              <a:rPr lang="en-US" dirty="0"/>
              <a:t>It takes a long time to check them. This means if a solution for an NP-hard problem is given then it takes a long time to check whether it is right or not.</a:t>
            </a:r>
          </a:p>
          <a:p>
            <a:r>
              <a:rPr lang="en-US" dirty="0"/>
              <a:t>A problem A is in NP-hard if, for every problem L in NP, there exists a polynomial-time reduction from L to A.</a:t>
            </a:r>
          </a:p>
          <a:p>
            <a:r>
              <a:rPr lang="en-US" dirty="0"/>
              <a:t>Some of the examples of problems in Np-hard are:</a:t>
            </a:r>
          </a:p>
          <a:p>
            <a:r>
              <a:rPr lang="en-US" b="1" dirty="0"/>
              <a:t>Halting problem.</a:t>
            </a:r>
            <a:endParaRPr lang="en-US" dirty="0"/>
          </a:p>
          <a:p>
            <a:r>
              <a:rPr lang="en-US" b="1" dirty="0"/>
              <a:t>Qualified Boolean formulas.</a:t>
            </a:r>
            <a:endParaRPr lang="en-US" dirty="0"/>
          </a:p>
          <a:p>
            <a:r>
              <a:rPr lang="en-US" b="1" dirty="0"/>
              <a:t>No Hamiltonian cycle</a:t>
            </a:r>
            <a:r>
              <a:rPr lang="en-US" b="1" dirty="0" smtClean="0"/>
              <a:t>.</a:t>
            </a:r>
            <a:endParaRPr lang="en-US" dirty="0"/>
          </a:p>
        </p:txBody>
      </p:sp>
    </p:spTree>
    <p:extLst>
      <p:ext uri="{BB962C8B-B14F-4D97-AF65-F5344CB8AC3E}">
        <p14:creationId xmlns:p14="http://schemas.microsoft.com/office/powerpoint/2010/main" val="3325284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2120" y="0"/>
            <a:ext cx="3491880" cy="6858000"/>
          </a:xfrm>
          <a:prstGeom prst="rect">
            <a:avLst/>
          </a:prstGeom>
        </p:spPr>
      </p:pic>
      <p:sp>
        <p:nvSpPr>
          <p:cNvPr id="4" name="TextBox 3"/>
          <p:cNvSpPr txBox="1"/>
          <p:nvPr/>
        </p:nvSpPr>
        <p:spPr>
          <a:xfrm>
            <a:off x="395536" y="2132856"/>
            <a:ext cx="4608512" cy="1569660"/>
          </a:xfrm>
          <a:prstGeom prst="rect">
            <a:avLst/>
          </a:prstGeom>
          <a:noFill/>
        </p:spPr>
        <p:txBody>
          <a:bodyPr wrap="square" rtlCol="0">
            <a:spAutoFit/>
          </a:bodyPr>
          <a:lstStyle/>
          <a:p>
            <a:r>
              <a:rPr lang="en-US" sz="9600" dirty="0" smtClean="0">
                <a:solidFill>
                  <a:schemeClr val="accent5">
                    <a:lumMod val="75000"/>
                  </a:schemeClr>
                </a:solidFill>
                <a:latin typeface="Informal Roman" panose="030604020304060B0204" pitchFamily="66" charset="0"/>
              </a:rPr>
              <a:t>THANKS</a:t>
            </a:r>
            <a:endParaRPr lang="en-US" sz="9600" dirty="0">
              <a:solidFill>
                <a:schemeClr val="accent5">
                  <a:lumMod val="75000"/>
                </a:schemeClr>
              </a:solidFill>
              <a:latin typeface="Informal Roman" panose="030604020304060B0204" pitchFamily="66" charset="0"/>
            </a:endParaRPr>
          </a:p>
        </p:txBody>
      </p:sp>
    </p:spTree>
    <p:extLst>
      <p:ext uri="{BB962C8B-B14F-4D97-AF65-F5344CB8AC3E}">
        <p14:creationId xmlns:p14="http://schemas.microsoft.com/office/powerpoint/2010/main" val="3167355885"/>
      </p:ext>
    </p:extLst>
  </p:cSld>
  <p:clrMapOvr>
    <a:masterClrMapping/>
  </p:clrMapOvr>
</p:sld>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Theme1</Template>
  <TotalTime>85</TotalTime>
  <Words>467</Words>
  <Application>Microsoft Office PowerPoint</Application>
  <PresentationFormat>On-screen Show (4:3)</PresentationFormat>
  <Paragraphs>56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Theme1</vt:lpstr>
      <vt:lpstr>DAA Lecture # 13 </vt:lpstr>
      <vt:lpstr>P, NP, Co NP, NP hard and NP complete | Complexity Classes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DAA Lecture </dc:title>
  <dc:creator>Admin</dc:creator>
  <cp:lastModifiedBy>Admin</cp:lastModifiedBy>
  <cp:revision>6</cp:revision>
  <dcterms:created xsi:type="dcterms:W3CDTF">2026-04-30T04:15:34Z</dcterms:created>
  <dcterms:modified xsi:type="dcterms:W3CDTF">2026-04-30T05:40:50Z</dcterms:modified>
</cp:coreProperties>
</file>