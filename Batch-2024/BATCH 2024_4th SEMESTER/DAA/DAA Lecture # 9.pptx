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6" r:id="rId19"/>
    <p:sldId id="277" r:id="rId20"/>
    <p:sldId id="278" r:id="rId21"/>
    <p:sldId id="280" r:id="rId22"/>
    <p:sldId id="281" r:id="rId23"/>
    <p:sldId id="285" r:id="rId24"/>
    <p:sldId id="286" r:id="rId25"/>
    <p:sldId id="287" r:id="rId26"/>
    <p:sldId id="288" r:id="rId27"/>
    <p:sldId id="301" r:id="rId28"/>
    <p:sldId id="325" r:id="rId29"/>
  </p:sldIdLst>
  <p:sldSz cx="13004800" cy="9753600"/>
  <p:notesSz cx="130048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894" y="-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rgbClr val="D5D5D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rgbClr val="D5D5D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00100" y="266192"/>
            <a:ext cx="963422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6600" y="2527300"/>
            <a:ext cx="5414009" cy="4470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rgbClr val="D5D5D5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362230" y="9340291"/>
            <a:ext cx="281940" cy="206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acebook.com/pg/npcompleteteens" TargetMode="External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xkcd.com/287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778456" y="2349501"/>
            <a:ext cx="6516370" cy="0"/>
          </a:xfrm>
          <a:custGeom>
            <a:avLst/>
            <a:gdLst/>
            <a:ahLst/>
            <a:cxnLst/>
            <a:rect l="l" t="t" r="r" b="b"/>
            <a:pathLst>
              <a:path w="6516370">
                <a:moveTo>
                  <a:pt x="0" y="0"/>
                </a:moveTo>
                <a:lnTo>
                  <a:pt x="6516024" y="0"/>
                </a:lnTo>
              </a:path>
            </a:pathLst>
          </a:custGeom>
          <a:ln w="1905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816600" y="1617522"/>
            <a:ext cx="3839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3709670" algn="l"/>
              </a:tabLst>
            </a:pPr>
            <a:r>
              <a:rPr sz="3600" b="1" cap="small" spc="-25" dirty="0">
                <a:solidFill>
                  <a:srgbClr val="FFFFFF"/>
                </a:solidFill>
                <a:latin typeface="Tahoma"/>
                <a:cs typeface="Tahoma"/>
              </a:rPr>
              <a:t>8.</a:t>
            </a:r>
            <a:r>
              <a:rPr sz="3600" b="1" cap="small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3600" b="1" cap="small" spc="-285" dirty="0">
                <a:solidFill>
                  <a:srgbClr val="FFFFFF"/>
                </a:solidFill>
                <a:latin typeface="Tahoma"/>
                <a:cs typeface="Tahoma"/>
              </a:rPr>
              <a:t>Intractability</a:t>
            </a:r>
            <a:r>
              <a:rPr sz="3600" b="1" cap="small" dirty="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sz="3600" b="1" cap="small" spc="-1275" dirty="0">
                <a:solidFill>
                  <a:srgbClr val="FFFFFF"/>
                </a:solidFill>
                <a:latin typeface="Tahoma"/>
                <a:cs typeface="Tahoma"/>
              </a:rPr>
              <a:t>I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5816600" y="2527300"/>
            <a:ext cx="5414009" cy="3860031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310" dirty="0">
                <a:solidFill>
                  <a:srgbClr val="FFFFFF"/>
                </a:solidFill>
              </a:rPr>
              <a:t>poly-</a:t>
            </a:r>
            <a:r>
              <a:rPr sz="3000" spc="-340" dirty="0">
                <a:solidFill>
                  <a:srgbClr val="FFFFFF"/>
                </a:solidFill>
              </a:rPr>
              <a:t>time</a:t>
            </a:r>
            <a:r>
              <a:rPr sz="3000" spc="-160" dirty="0">
                <a:solidFill>
                  <a:srgbClr val="FFFFFF"/>
                </a:solidFill>
              </a:rPr>
              <a:t> </a:t>
            </a:r>
            <a:r>
              <a:rPr sz="3000" spc="-310" dirty="0">
                <a:solidFill>
                  <a:srgbClr val="FFFFFF"/>
                </a:solidFill>
              </a:rPr>
              <a:t>reductions</a:t>
            </a:r>
            <a:endParaRPr sz="3000" dirty="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40" dirty="0">
                <a:solidFill>
                  <a:srgbClr val="FFFFFF"/>
                </a:solidFill>
              </a:rPr>
              <a:t>packing</a:t>
            </a:r>
            <a:r>
              <a:rPr sz="3000" spc="-155" dirty="0">
                <a:solidFill>
                  <a:srgbClr val="FFFFFF"/>
                </a:solidFill>
              </a:rPr>
              <a:t> </a:t>
            </a:r>
            <a:r>
              <a:rPr sz="3000" spc="-250" dirty="0">
                <a:solidFill>
                  <a:srgbClr val="FFFFFF"/>
                </a:solidFill>
              </a:rPr>
              <a:t>and</a:t>
            </a:r>
            <a:r>
              <a:rPr sz="3000" spc="-150" dirty="0">
                <a:solidFill>
                  <a:srgbClr val="FFFFFF"/>
                </a:solidFill>
              </a:rPr>
              <a:t> </a:t>
            </a:r>
            <a:r>
              <a:rPr sz="3000" spc="-260" dirty="0">
                <a:solidFill>
                  <a:srgbClr val="FFFFFF"/>
                </a:solidFill>
              </a:rPr>
              <a:t>covering</a:t>
            </a:r>
            <a:r>
              <a:rPr sz="3000" spc="-155" dirty="0">
                <a:solidFill>
                  <a:srgbClr val="FFFFFF"/>
                </a:solidFill>
              </a:rPr>
              <a:t> </a:t>
            </a:r>
            <a:r>
              <a:rPr sz="3000" spc="-310" dirty="0">
                <a:solidFill>
                  <a:srgbClr val="FFFFFF"/>
                </a:solidFill>
              </a:rPr>
              <a:t>problems</a:t>
            </a:r>
            <a:endParaRPr sz="3000" dirty="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305" dirty="0">
                <a:solidFill>
                  <a:srgbClr val="FFFFFF"/>
                </a:solidFill>
              </a:rPr>
              <a:t>constraint</a:t>
            </a:r>
            <a:r>
              <a:rPr sz="3000" spc="-145" dirty="0">
                <a:solidFill>
                  <a:srgbClr val="FFFFFF"/>
                </a:solidFill>
              </a:rPr>
              <a:t> </a:t>
            </a:r>
            <a:r>
              <a:rPr sz="3000" spc="-275" dirty="0">
                <a:solidFill>
                  <a:srgbClr val="FFFFFF"/>
                </a:solidFill>
              </a:rPr>
              <a:t>satisfaction</a:t>
            </a:r>
            <a:r>
              <a:rPr sz="3000" spc="-140" dirty="0">
                <a:solidFill>
                  <a:srgbClr val="FFFFFF"/>
                </a:solidFill>
              </a:rPr>
              <a:t> </a:t>
            </a:r>
            <a:r>
              <a:rPr sz="3000" spc="-310" dirty="0">
                <a:solidFill>
                  <a:srgbClr val="FFFFFF"/>
                </a:solidFill>
              </a:rPr>
              <a:t>problems</a:t>
            </a:r>
            <a:endParaRPr sz="3000" dirty="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90" dirty="0">
                <a:solidFill>
                  <a:srgbClr val="FFFFFF"/>
                </a:solidFill>
              </a:rPr>
              <a:t>sequencing</a:t>
            </a:r>
            <a:r>
              <a:rPr sz="3000" spc="-175" dirty="0">
                <a:solidFill>
                  <a:srgbClr val="FFFFFF"/>
                </a:solidFill>
              </a:rPr>
              <a:t> </a:t>
            </a:r>
            <a:r>
              <a:rPr sz="3000" spc="-310" dirty="0">
                <a:solidFill>
                  <a:srgbClr val="FFFFFF"/>
                </a:solidFill>
              </a:rPr>
              <a:t>problems</a:t>
            </a:r>
            <a:endParaRPr sz="3000" dirty="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40" dirty="0">
                <a:solidFill>
                  <a:srgbClr val="FFFFFF"/>
                </a:solidFill>
              </a:rPr>
              <a:t>partitioning</a:t>
            </a:r>
            <a:r>
              <a:rPr sz="3000" spc="-80" dirty="0">
                <a:solidFill>
                  <a:srgbClr val="FFFFFF"/>
                </a:solidFill>
              </a:rPr>
              <a:t> </a:t>
            </a:r>
            <a:r>
              <a:rPr sz="3000" spc="-310" dirty="0">
                <a:solidFill>
                  <a:srgbClr val="FFFFFF"/>
                </a:solidFill>
              </a:rPr>
              <a:t>problems</a:t>
            </a:r>
            <a:endParaRPr sz="3000" dirty="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80" dirty="0" smtClean="0">
                <a:solidFill>
                  <a:srgbClr val="FFFFFF"/>
                </a:solidFill>
              </a:rPr>
              <a:t>numerical</a:t>
            </a:r>
            <a:r>
              <a:rPr sz="3000" spc="-190" dirty="0" smtClean="0">
                <a:solidFill>
                  <a:srgbClr val="FFFFFF"/>
                </a:solidFill>
              </a:rPr>
              <a:t> </a:t>
            </a:r>
            <a:r>
              <a:rPr sz="3000" spc="-310" dirty="0">
                <a:solidFill>
                  <a:srgbClr val="FFFFFF"/>
                </a:solidFill>
              </a:rPr>
              <a:t>problems</a:t>
            </a:r>
            <a:endParaRPr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2478" y="1764308"/>
            <a:ext cx="4432300" cy="5056505"/>
            <a:chOff x="662478" y="1764308"/>
            <a:chExt cx="4432300" cy="5056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78" y="1764308"/>
              <a:ext cx="4432002" cy="50564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4382" y="1892300"/>
              <a:ext cx="737817" cy="8128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778500" y="2349500"/>
            <a:ext cx="6515100" cy="0"/>
          </a:xfrm>
          <a:custGeom>
            <a:avLst/>
            <a:gdLst/>
            <a:ahLst/>
            <a:cxnLst/>
            <a:rect l="l" t="t" r="r" b="b"/>
            <a:pathLst>
              <a:path w="6515100">
                <a:moveTo>
                  <a:pt x="0" y="0"/>
                </a:moveTo>
                <a:lnTo>
                  <a:pt x="651510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6600" y="1617522"/>
            <a:ext cx="3839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3709670" algn="l"/>
              </a:tabLst>
            </a:pPr>
            <a:r>
              <a:rPr sz="3600" b="1" cap="small" spc="-25" dirty="0">
                <a:latin typeface="Tahoma"/>
                <a:cs typeface="Tahoma"/>
              </a:rPr>
              <a:t>8.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285" dirty="0">
                <a:latin typeface="Tahoma"/>
                <a:cs typeface="Tahoma"/>
              </a:rPr>
              <a:t>Intractability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1275" dirty="0">
                <a:latin typeface="Tahoma"/>
                <a:cs typeface="Tahoma"/>
              </a:rPr>
              <a:t>I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310" dirty="0">
                <a:solidFill>
                  <a:srgbClr val="000000"/>
                </a:solidFill>
              </a:rPr>
              <a:t>poly-</a:t>
            </a:r>
            <a:r>
              <a:rPr sz="3000" spc="-340" dirty="0">
                <a:solidFill>
                  <a:srgbClr val="000000"/>
                </a:solidFill>
              </a:rPr>
              <a:t>time</a:t>
            </a:r>
            <a:r>
              <a:rPr sz="3000" spc="-160" dirty="0">
                <a:solidFill>
                  <a:srgbClr val="000000"/>
                </a:solidFill>
              </a:rPr>
              <a:t> </a:t>
            </a:r>
            <a:r>
              <a:rPr sz="3000" spc="-310" dirty="0">
                <a:solidFill>
                  <a:srgbClr val="000000"/>
                </a:solidFill>
              </a:rPr>
              <a:t>reductions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40" dirty="0"/>
              <a:t>packing</a:t>
            </a:r>
            <a:r>
              <a:rPr sz="3000" spc="-155" dirty="0"/>
              <a:t> </a:t>
            </a:r>
            <a:r>
              <a:rPr sz="3000" spc="-250" dirty="0"/>
              <a:t>and</a:t>
            </a:r>
            <a:r>
              <a:rPr sz="3000" spc="-150" dirty="0"/>
              <a:t> </a:t>
            </a:r>
            <a:r>
              <a:rPr sz="3000" spc="-260" dirty="0"/>
              <a:t>covering</a:t>
            </a:r>
            <a:r>
              <a:rPr sz="3000" spc="-155" dirty="0"/>
              <a:t> </a:t>
            </a:r>
            <a:r>
              <a:rPr sz="3000" spc="-310" dirty="0"/>
              <a:t>problems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305" dirty="0"/>
              <a:t>constraint</a:t>
            </a:r>
            <a:r>
              <a:rPr sz="3000" spc="-145" dirty="0"/>
              <a:t> </a:t>
            </a:r>
            <a:r>
              <a:rPr sz="3000" spc="-275" dirty="0"/>
              <a:t>satisfaction</a:t>
            </a:r>
            <a:r>
              <a:rPr sz="3000" spc="-140" dirty="0"/>
              <a:t> </a:t>
            </a:r>
            <a:r>
              <a:rPr sz="3000" spc="-310" dirty="0"/>
              <a:t>problems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90" dirty="0"/>
              <a:t>sequencing</a:t>
            </a:r>
            <a:r>
              <a:rPr sz="3000" spc="-175" dirty="0"/>
              <a:t> </a:t>
            </a:r>
            <a:r>
              <a:rPr sz="3000" spc="-310" dirty="0"/>
              <a:t>problems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40" dirty="0"/>
              <a:t>partitioning</a:t>
            </a:r>
            <a:r>
              <a:rPr sz="3000" spc="-80" dirty="0"/>
              <a:t> </a:t>
            </a:r>
            <a:r>
              <a:rPr sz="3000" spc="-310" dirty="0"/>
              <a:t>problems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35" dirty="0"/>
              <a:t>graph</a:t>
            </a:r>
            <a:r>
              <a:rPr sz="3000" spc="-150" dirty="0"/>
              <a:t> </a:t>
            </a:r>
            <a:r>
              <a:rPr sz="3000" spc="-85" dirty="0"/>
              <a:t>coloring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80" dirty="0"/>
              <a:t>numerical</a:t>
            </a:r>
            <a:r>
              <a:rPr sz="3000" spc="-190" dirty="0"/>
              <a:t> </a:t>
            </a:r>
            <a:r>
              <a:rPr sz="3000" spc="-310" dirty="0"/>
              <a:t>problems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2224904" y="6918652"/>
            <a:ext cx="130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cap="small" dirty="0">
                <a:solidFill>
                  <a:srgbClr val="606060"/>
                </a:solidFill>
                <a:latin typeface="Tahoma"/>
                <a:cs typeface="Tahoma"/>
              </a:rPr>
              <a:t>Section</a:t>
            </a:r>
            <a:r>
              <a:rPr sz="1800" b="1" cap="small" spc="10" dirty="0">
                <a:solidFill>
                  <a:srgbClr val="606060"/>
                </a:solidFill>
                <a:latin typeface="Tahoma"/>
                <a:cs typeface="Tahoma"/>
              </a:rPr>
              <a:t> </a:t>
            </a:r>
            <a:r>
              <a:rPr sz="1800" b="1" cap="small" spc="-95" dirty="0">
                <a:solidFill>
                  <a:srgbClr val="606060"/>
                </a:solidFill>
                <a:latin typeface="Tahoma"/>
                <a:cs typeface="Tahoma"/>
              </a:rPr>
              <a:t>8.1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Algorithm</a:t>
            </a:r>
            <a:r>
              <a:rPr spc="80" dirty="0"/>
              <a:t> </a:t>
            </a:r>
            <a:r>
              <a:rPr dirty="0"/>
              <a:t>design</a:t>
            </a:r>
            <a:r>
              <a:rPr spc="85" dirty="0"/>
              <a:t> </a:t>
            </a:r>
            <a:r>
              <a:rPr dirty="0"/>
              <a:t>patterns</a:t>
            </a:r>
            <a:r>
              <a:rPr spc="85" dirty="0"/>
              <a:t> </a:t>
            </a:r>
            <a:r>
              <a:rPr spc="60" dirty="0"/>
              <a:t>and</a:t>
            </a:r>
            <a:r>
              <a:rPr spc="85" dirty="0"/>
              <a:t> </a:t>
            </a:r>
            <a:r>
              <a:rPr spc="-10" dirty="0"/>
              <a:t>antipatterns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774700" y="1338580"/>
            <a:ext cx="4196080" cy="3806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</a:t>
            </a:r>
            <a:r>
              <a:rPr sz="2400" spc="-10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design</a:t>
            </a:r>
            <a:r>
              <a:rPr sz="2400" spc="-10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patterns.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spc="-10" dirty="0">
                <a:latin typeface="Lucida Sans Unicode"/>
                <a:cs typeface="Lucida Sans Unicode"/>
              </a:rPr>
              <a:t>Greedy.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Divide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conquer.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Dynamic</a:t>
            </a:r>
            <a:r>
              <a:rPr sz="2400" spc="10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programming.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spc="-10" dirty="0">
                <a:latin typeface="Lucida Sans Unicode"/>
                <a:cs typeface="Lucida Sans Unicode"/>
              </a:rPr>
              <a:t>Duality.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Reductions</a:t>
            </a:r>
            <a:r>
              <a:rPr sz="2400" spc="-10" dirty="0">
                <a:solidFill>
                  <a:srgbClr val="D81E00"/>
                </a:solidFill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800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solidFill>
                  <a:srgbClr val="8A8A8A"/>
                </a:solidFill>
                <a:latin typeface="Lucida Sans Unicode"/>
                <a:cs typeface="Lucida Sans Unicode"/>
              </a:rPr>
              <a:t>Local </a:t>
            </a:r>
            <a:r>
              <a:rPr sz="2400" spc="-10" dirty="0">
                <a:solidFill>
                  <a:srgbClr val="8A8A8A"/>
                </a:solidFill>
                <a:latin typeface="Lucida Sans Unicode"/>
                <a:cs typeface="Lucida Sans Unicode"/>
              </a:rPr>
              <a:t>search.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</a:pPr>
            <a:r>
              <a:rPr sz="5775" spc="-67" baseline="-7215" dirty="0">
                <a:solidFill>
                  <a:srgbClr val="8A8A8A"/>
                </a:solidFill>
                <a:latin typeface="Microsoft JhengHei UI"/>
                <a:cs typeface="Microsoft JhengHei UI"/>
              </a:rPr>
              <a:t>・</a:t>
            </a:r>
            <a:r>
              <a:rPr sz="2400" spc="-10" dirty="0">
                <a:solidFill>
                  <a:srgbClr val="8A8A8A"/>
                </a:solidFill>
                <a:latin typeface="Lucida Sans Unicode"/>
                <a:cs typeface="Lucida Sans Unicode"/>
              </a:rPr>
              <a:t>Randomization.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6164579"/>
            <a:ext cx="4612005" cy="1875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</a:t>
            </a:r>
            <a:r>
              <a:rPr sz="2400" spc="-10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design</a:t>
            </a:r>
            <a:r>
              <a:rPr sz="2400" spc="-10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antipatterns.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</a:pPr>
            <a:r>
              <a:rPr sz="5775" spc="-67" baseline="-2886" dirty="0">
                <a:latin typeface="Microsoft JhengHei UI"/>
                <a:cs typeface="Microsoft JhengHei UI"/>
              </a:rPr>
              <a:t>・</a:t>
            </a:r>
            <a:r>
              <a:rPr sz="2400" b="1" spc="-75" dirty="0">
                <a:solidFill>
                  <a:srgbClr val="A34431"/>
                </a:solidFill>
                <a:latin typeface="Tahoma"/>
                <a:cs typeface="Tahoma"/>
              </a:rPr>
              <a:t>NP</a:t>
            </a:r>
            <a:r>
              <a:rPr sz="2400" spc="-75" dirty="0">
                <a:solidFill>
                  <a:srgbClr val="8D3124"/>
                </a:solidFill>
                <a:latin typeface="Lucida Sans Unicode"/>
                <a:cs typeface="Lucida Sans Unicode"/>
              </a:rPr>
              <a:t>-</a:t>
            </a:r>
            <a:r>
              <a:rPr sz="24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completeness.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800"/>
              </a:lnSpc>
            </a:pPr>
            <a:r>
              <a:rPr sz="5775" spc="-67" baseline="-2886" dirty="0">
                <a:solidFill>
                  <a:srgbClr val="929292"/>
                </a:solidFill>
                <a:latin typeface="Microsoft JhengHei UI"/>
                <a:cs typeface="Microsoft JhengHei UI"/>
              </a:rPr>
              <a:t>・</a:t>
            </a:r>
            <a:r>
              <a:rPr sz="2400" b="1" spc="-45" dirty="0">
                <a:solidFill>
                  <a:srgbClr val="929292"/>
                </a:solidFill>
                <a:latin typeface="Tahoma"/>
                <a:cs typeface="Tahoma"/>
              </a:rPr>
              <a:t>PSPACE</a:t>
            </a:r>
            <a:r>
              <a:rPr sz="2400" spc="-45" dirty="0">
                <a:solidFill>
                  <a:srgbClr val="929292"/>
                </a:solidFill>
                <a:latin typeface="Lucida Sans Unicode"/>
                <a:cs typeface="Lucida Sans Unicode"/>
              </a:rPr>
              <a:t>-</a:t>
            </a:r>
            <a:r>
              <a:rPr sz="2400" spc="-10" dirty="0">
                <a:solidFill>
                  <a:srgbClr val="929292"/>
                </a:solidFill>
                <a:latin typeface="Lucida Sans Unicode"/>
                <a:cs typeface="Lucida Sans Unicode"/>
              </a:rPr>
              <a:t>completeness.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</a:pPr>
            <a:r>
              <a:rPr sz="5775" spc="-67" baseline="-7215" dirty="0">
                <a:solidFill>
                  <a:srgbClr val="929292"/>
                </a:solidFill>
                <a:latin typeface="Microsoft JhengHei UI"/>
                <a:cs typeface="Microsoft JhengHei UI"/>
              </a:rPr>
              <a:t>・</a:t>
            </a:r>
            <a:r>
              <a:rPr sz="2400" spc="-10" dirty="0">
                <a:solidFill>
                  <a:srgbClr val="929292"/>
                </a:solidFill>
                <a:latin typeface="Lucida Sans Unicode"/>
                <a:cs typeface="Lucida Sans Unicode"/>
              </a:rPr>
              <a:t>Undecidability.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46689" y="6530340"/>
            <a:ext cx="5463540" cy="1473200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20"/>
              </a:spcBef>
            </a:pPr>
            <a:r>
              <a:rPr sz="2400" i="1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baseline="27777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unlikely.</a:t>
            </a:r>
            <a:endParaRPr sz="2400">
              <a:latin typeface="Lucida Sans Unicode"/>
              <a:cs typeface="Lucida Sans Unicode"/>
            </a:endParaRPr>
          </a:p>
          <a:p>
            <a:pPr marL="38100" marR="30480">
              <a:lnSpc>
                <a:spcPct val="131900"/>
              </a:lnSpc>
            </a:pPr>
            <a:r>
              <a:rPr sz="2400" i="1" dirty="0">
                <a:solidFill>
                  <a:srgbClr val="929292"/>
                </a:solidFill>
                <a:latin typeface="Times New Roman"/>
                <a:cs typeface="Times New Roman"/>
              </a:rPr>
              <a:t>O</a:t>
            </a:r>
            <a:r>
              <a:rPr sz="2400" dirty="0">
                <a:solidFill>
                  <a:srgbClr val="929292"/>
                </a:solidFill>
                <a:latin typeface="Times New Roman"/>
                <a:cs typeface="Times New Roman"/>
              </a:rPr>
              <a:t>(</a:t>
            </a:r>
            <a:r>
              <a:rPr sz="2400" i="1" dirty="0">
                <a:solidFill>
                  <a:srgbClr val="929292"/>
                </a:solidFill>
                <a:latin typeface="Times New Roman"/>
                <a:cs typeface="Times New Roman"/>
              </a:rPr>
              <a:t>n</a:t>
            </a:r>
            <a:r>
              <a:rPr sz="2400" i="1" baseline="27777" dirty="0">
                <a:solidFill>
                  <a:srgbClr val="929292"/>
                </a:solidFill>
                <a:latin typeface="Times New Roman"/>
                <a:cs typeface="Times New Roman"/>
              </a:rPr>
              <a:t>k</a:t>
            </a:r>
            <a:r>
              <a:rPr sz="2400" dirty="0">
                <a:solidFill>
                  <a:srgbClr val="929292"/>
                </a:solidFill>
                <a:latin typeface="Times New Roman"/>
                <a:cs typeface="Times New Roman"/>
              </a:rPr>
              <a:t>)</a:t>
            </a:r>
            <a:r>
              <a:rPr sz="2400" spc="-85" dirty="0">
                <a:solidFill>
                  <a:srgbClr val="92929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929292"/>
                </a:solidFill>
                <a:latin typeface="Lucida Sans Unicode"/>
                <a:cs typeface="Lucida Sans Unicode"/>
              </a:rPr>
              <a:t>certification</a:t>
            </a:r>
            <a:r>
              <a:rPr sz="2400" spc="-110" dirty="0">
                <a:solidFill>
                  <a:srgbClr val="929292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929292"/>
                </a:solidFill>
                <a:latin typeface="Lucida Sans Unicode"/>
                <a:cs typeface="Lucida Sans Unicode"/>
              </a:rPr>
              <a:t>algorithm</a:t>
            </a:r>
            <a:r>
              <a:rPr sz="2400" spc="-110" dirty="0">
                <a:solidFill>
                  <a:srgbClr val="929292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929292"/>
                </a:solidFill>
                <a:latin typeface="Lucida Sans Unicode"/>
                <a:cs typeface="Lucida Sans Unicode"/>
              </a:rPr>
              <a:t>unlikely. </a:t>
            </a:r>
            <a:r>
              <a:rPr sz="2400" dirty="0">
                <a:solidFill>
                  <a:srgbClr val="929292"/>
                </a:solidFill>
                <a:latin typeface="Lucida Sans Unicode"/>
                <a:cs typeface="Lucida Sans Unicode"/>
              </a:rPr>
              <a:t>No</a:t>
            </a:r>
            <a:r>
              <a:rPr sz="2400" spc="-65" dirty="0">
                <a:solidFill>
                  <a:srgbClr val="929292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929292"/>
                </a:solidFill>
                <a:latin typeface="Lucida Sans Unicode"/>
                <a:cs typeface="Lucida Sans Unicode"/>
              </a:rPr>
              <a:t>algorithm</a:t>
            </a:r>
            <a:r>
              <a:rPr sz="2400" spc="-60" dirty="0">
                <a:solidFill>
                  <a:srgbClr val="929292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929292"/>
                </a:solidFill>
                <a:latin typeface="Lucida Sans Unicode"/>
                <a:cs typeface="Lucida Sans Unicode"/>
              </a:rPr>
              <a:t>possible.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Classify</a:t>
            </a:r>
            <a:r>
              <a:rPr spc="210" dirty="0"/>
              <a:t> </a:t>
            </a:r>
            <a:r>
              <a:rPr dirty="0"/>
              <a:t>problems</a:t>
            </a:r>
            <a:r>
              <a:rPr spc="215" dirty="0"/>
              <a:t> </a:t>
            </a:r>
            <a:r>
              <a:rPr dirty="0"/>
              <a:t>according</a:t>
            </a:r>
            <a:r>
              <a:rPr spc="215" dirty="0"/>
              <a:t> </a:t>
            </a:r>
            <a:r>
              <a:rPr spc="50" dirty="0"/>
              <a:t>to</a:t>
            </a:r>
            <a:r>
              <a:rPr spc="215" dirty="0"/>
              <a:t> </a:t>
            </a:r>
            <a:r>
              <a:rPr dirty="0"/>
              <a:t>computational</a:t>
            </a:r>
            <a:r>
              <a:rPr spc="210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8580"/>
            <a:ext cx="8277225" cy="135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Which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will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75" dirty="0">
                <a:latin typeface="Lucida Sans Unicode"/>
                <a:cs typeface="Lucida Sans Unicode"/>
              </a:rPr>
              <a:t>we</a:t>
            </a:r>
            <a:r>
              <a:rPr sz="2400" dirty="0">
                <a:latin typeface="Lucida Sans Unicode"/>
                <a:cs typeface="Lucida Sans Unicode"/>
              </a:rPr>
              <a:t> be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able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 solve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practice?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A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working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definition.</a:t>
            </a:r>
            <a:r>
              <a:rPr sz="2400" spc="25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Those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70" dirty="0">
                <a:latin typeface="Lucida Sans Unicode"/>
                <a:cs typeface="Lucida Sans Unicode"/>
              </a:rPr>
              <a:t>poly-</a:t>
            </a:r>
            <a:r>
              <a:rPr sz="2400" spc="-25" dirty="0">
                <a:latin typeface="Lucida Sans Unicode"/>
                <a:cs typeface="Lucida Sans Unicode"/>
              </a:rPr>
              <a:t>time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algorithms.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7129780"/>
            <a:ext cx="59055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37945" algn="l"/>
              </a:tabLst>
            </a:pP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Theory.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Definition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broad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robust.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100" y="8577580"/>
            <a:ext cx="81756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5034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Practice.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70" dirty="0">
                <a:latin typeface="Lucida Sans Unicode"/>
                <a:cs typeface="Lucida Sans Unicode"/>
              </a:rPr>
              <a:t>Poly-</a:t>
            </a:r>
            <a:r>
              <a:rPr sz="2400" spc="-25" dirty="0">
                <a:latin typeface="Lucida Sans Unicode"/>
                <a:cs typeface="Lucida Sans Unicode"/>
              </a:rPr>
              <a:t>time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algorithms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scale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huge</a:t>
            </a:r>
            <a:r>
              <a:rPr sz="2400" spc="-7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problems.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1956" y="8012714"/>
            <a:ext cx="370077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constants</a:t>
            </a:r>
            <a:r>
              <a:rPr sz="1600" spc="-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tend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be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small,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e.g.,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dirty="0">
                <a:solidFill>
                  <a:srgbClr val="8D3124"/>
                </a:solidFill>
                <a:latin typeface="Times New Roman"/>
                <a:cs typeface="Times New Roman"/>
              </a:rPr>
              <a:t>3</a:t>
            </a:r>
            <a:r>
              <a:rPr sz="1800" spc="-15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n</a:t>
            </a:r>
            <a:r>
              <a:rPr sz="1800" i="1" spc="-15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800" spc="-75" baseline="18518" dirty="0">
                <a:solidFill>
                  <a:srgbClr val="8D3124"/>
                </a:solidFill>
                <a:latin typeface="Times New Roman"/>
                <a:cs typeface="Times New Roman"/>
              </a:rPr>
              <a:t>2</a:t>
            </a:r>
            <a:endParaRPr sz="1800" baseline="18518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0100" y="8298140"/>
            <a:ext cx="276152" cy="2851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1300" y="3617206"/>
            <a:ext cx="1171365" cy="15280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29335" y="5187275"/>
            <a:ext cx="12877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marR="5080" indent="-330835">
              <a:lnSpc>
                <a:spcPct val="121400"/>
              </a:lnSpc>
              <a:spcBef>
                <a:spcPts val="100"/>
              </a:spcBef>
            </a:pPr>
            <a:r>
              <a:rPr sz="1400" b="1" dirty="0">
                <a:latin typeface="Tahoma"/>
                <a:cs typeface="Tahoma"/>
              </a:rPr>
              <a:t>von</a:t>
            </a:r>
            <a:r>
              <a:rPr sz="1400" b="1" spc="9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Neumann (1953)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24244" y="3616014"/>
            <a:ext cx="1261401" cy="153030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5056722" y="5187275"/>
            <a:ext cx="6267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7465">
              <a:lnSpc>
                <a:spcPct val="121400"/>
              </a:lnSpc>
              <a:spcBef>
                <a:spcPts val="100"/>
              </a:spcBef>
            </a:pPr>
            <a:r>
              <a:rPr sz="1400" b="1" spc="-10" dirty="0">
                <a:latin typeface="Tahoma"/>
                <a:cs typeface="Tahoma"/>
              </a:rPr>
              <a:t>Gödel </a:t>
            </a:r>
            <a:r>
              <a:rPr sz="1400" b="1" spc="-30" dirty="0">
                <a:latin typeface="Tahoma"/>
                <a:cs typeface="Tahoma"/>
              </a:rPr>
              <a:t>(1956)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98665" y="3618396"/>
            <a:ext cx="1272816" cy="1525463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388184" y="5187275"/>
            <a:ext cx="87058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4620" marR="5080" indent="-122555">
              <a:lnSpc>
                <a:spcPct val="121400"/>
              </a:lnSpc>
              <a:spcBef>
                <a:spcPts val="100"/>
              </a:spcBef>
            </a:pPr>
            <a:r>
              <a:rPr sz="1400" b="1" spc="-10" dirty="0">
                <a:latin typeface="Tahoma"/>
                <a:cs typeface="Tahoma"/>
              </a:rPr>
              <a:t>Edmonds (1965)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40111" y="3619189"/>
            <a:ext cx="1270000" cy="152400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0283920" y="5187275"/>
            <a:ext cx="6267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0640">
              <a:lnSpc>
                <a:spcPct val="121400"/>
              </a:lnSpc>
              <a:spcBef>
                <a:spcPts val="100"/>
              </a:spcBef>
            </a:pPr>
            <a:r>
              <a:rPr sz="1400" b="1" spc="-10" dirty="0">
                <a:latin typeface="Tahoma"/>
                <a:cs typeface="Tahoma"/>
              </a:rPr>
              <a:t>Rabin </a:t>
            </a:r>
            <a:r>
              <a:rPr sz="1400" b="1" spc="-30" dirty="0">
                <a:latin typeface="Tahoma"/>
                <a:cs typeface="Tahoma"/>
              </a:rPr>
              <a:t>(1966)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61786" y="3616411"/>
            <a:ext cx="1266250" cy="1529741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707951" y="5174575"/>
            <a:ext cx="77724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 marR="5080" indent="-75565">
              <a:lnSpc>
                <a:spcPct val="121400"/>
              </a:lnSpc>
              <a:spcBef>
                <a:spcPts val="100"/>
              </a:spcBef>
            </a:pPr>
            <a:r>
              <a:rPr sz="1400" b="1" spc="-10" dirty="0">
                <a:latin typeface="Tahoma"/>
                <a:cs typeface="Tahoma"/>
              </a:rPr>
              <a:t>Cobham (1964)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66290" y="3622075"/>
            <a:ext cx="1083568" cy="1518334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3380322" y="5187275"/>
            <a:ext cx="6267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1120">
              <a:lnSpc>
                <a:spcPct val="121400"/>
              </a:lnSpc>
              <a:spcBef>
                <a:spcPts val="100"/>
              </a:spcBef>
            </a:pPr>
            <a:r>
              <a:rPr sz="1400" b="1" spc="-20" dirty="0">
                <a:latin typeface="Tahoma"/>
                <a:cs typeface="Tahoma"/>
              </a:rPr>
              <a:t>Nash </a:t>
            </a:r>
            <a:r>
              <a:rPr sz="1400" b="1" spc="-30" dirty="0">
                <a:latin typeface="Tahoma"/>
                <a:cs typeface="Tahoma"/>
              </a:rPr>
              <a:t>(1955)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90752" y="6394294"/>
            <a:ext cx="47364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Turing</a:t>
            </a:r>
            <a:r>
              <a:rPr sz="16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machine,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word</a:t>
            </a:r>
            <a:r>
              <a:rPr sz="16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RAM,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uniform</a:t>
            </a:r>
            <a:r>
              <a:rPr sz="16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circuits,</a:t>
            </a:r>
            <a:r>
              <a:rPr sz="16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…</a:t>
            </a:r>
            <a:endParaRPr sz="1600">
              <a:latin typeface="Lucida Sans Unicode"/>
              <a:cs typeface="Lucida Sans Unicode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53496" y="6742154"/>
            <a:ext cx="276152" cy="285125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Classify</a:t>
            </a:r>
            <a:r>
              <a:rPr spc="210" dirty="0"/>
              <a:t> </a:t>
            </a:r>
            <a:r>
              <a:rPr dirty="0"/>
              <a:t>problems</a:t>
            </a:r>
            <a:r>
              <a:rPr spc="215" dirty="0"/>
              <a:t> </a:t>
            </a:r>
            <a:r>
              <a:rPr dirty="0"/>
              <a:t>according</a:t>
            </a:r>
            <a:r>
              <a:rPr spc="215" dirty="0"/>
              <a:t> </a:t>
            </a:r>
            <a:r>
              <a:rPr spc="50" dirty="0"/>
              <a:t>to</a:t>
            </a:r>
            <a:r>
              <a:rPr spc="215" dirty="0"/>
              <a:t> </a:t>
            </a:r>
            <a:r>
              <a:rPr dirty="0"/>
              <a:t>computational</a:t>
            </a:r>
            <a:r>
              <a:rPr spc="210" dirty="0"/>
              <a:t> </a:t>
            </a:r>
            <a:r>
              <a:rPr spc="-10" dirty="0"/>
              <a:t>requirements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800100" y="1338580"/>
            <a:ext cx="8277225" cy="135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784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Q.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Which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will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75" dirty="0">
                <a:latin typeface="Lucida Sans Unicode"/>
                <a:cs typeface="Lucida Sans Unicode"/>
              </a:rPr>
              <a:t>we</a:t>
            </a:r>
            <a:r>
              <a:rPr sz="2400" dirty="0">
                <a:latin typeface="Lucida Sans Unicode"/>
                <a:cs typeface="Lucida Sans Unicode"/>
              </a:rPr>
              <a:t> be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able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 solve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practice?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A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working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definition.</a:t>
            </a:r>
            <a:r>
              <a:rPr sz="2400" spc="25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Those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70" dirty="0">
                <a:latin typeface="Lucida Sans Unicode"/>
                <a:cs typeface="Lucida Sans Unicode"/>
              </a:rPr>
              <a:t>poly-</a:t>
            </a:r>
            <a:r>
              <a:rPr sz="2400" spc="-25" dirty="0">
                <a:latin typeface="Lucida Sans Unicode"/>
                <a:cs typeface="Lucida Sans Unicode"/>
              </a:rPr>
              <a:t>time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algorithms.</a:t>
            </a:r>
            <a:endParaRPr sz="2400">
              <a:latin typeface="Lucida Sans Unicode"/>
              <a:cs typeface="Lucida Sans Unicode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692400" y="3594100"/>
          <a:ext cx="7620000" cy="5566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0"/>
                <a:gridCol w="3810000"/>
              </a:tblGrid>
              <a:tr h="61849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yes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68910" marB="0">
                    <a:lnR w="12700">
                      <a:solidFill>
                        <a:srgbClr val="E7EAEB"/>
                      </a:solidFill>
                      <a:prstDash val="solid"/>
                    </a:lnR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3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probably</a:t>
                      </a:r>
                      <a:r>
                        <a:rPr sz="1800" b="1" spc="30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no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T="168910" marB="0">
                    <a:lnL w="12700">
                      <a:solidFill>
                        <a:srgbClr val="E7EAEB"/>
                      </a:solidFill>
                      <a:prstDash val="solid"/>
                    </a:lnL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</a:tr>
              <a:tr h="61849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800" dirty="0">
                          <a:latin typeface="Lucida Sans Unicode"/>
                          <a:cs typeface="Lucida Sans Unicode"/>
                        </a:rPr>
                        <a:t>shortest</a:t>
                      </a:r>
                      <a:r>
                        <a:rPr sz="1800" spc="-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path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4605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800" dirty="0">
                          <a:latin typeface="Lucida Sans Unicode"/>
                          <a:cs typeface="Lucida Sans Unicode"/>
                        </a:rPr>
                        <a:t>longest</a:t>
                      </a:r>
                      <a:r>
                        <a:rPr sz="1800" spc="-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20" dirty="0">
                          <a:latin typeface="Lucida Sans Unicode"/>
                          <a:cs typeface="Lucida Sans Unicode"/>
                        </a:rPr>
                        <a:t>path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849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800" dirty="0">
                          <a:latin typeface="Lucida Sans Unicode"/>
                          <a:cs typeface="Lucida Sans Unicode"/>
                        </a:rPr>
                        <a:t>min</a:t>
                      </a:r>
                      <a:r>
                        <a:rPr sz="1800" spc="-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cut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4605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800" dirty="0">
                          <a:latin typeface="Lucida Sans Unicode"/>
                          <a:cs typeface="Lucida Sans Unicode"/>
                        </a:rPr>
                        <a:t>max</a:t>
                      </a:r>
                      <a:r>
                        <a:rPr sz="1800" spc="-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25" dirty="0">
                          <a:latin typeface="Lucida Sans Unicode"/>
                          <a:cs typeface="Lucida Sans Unicode"/>
                        </a:rPr>
                        <a:t>cut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849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800" spc="-235" dirty="0">
                          <a:latin typeface="Lucida Sans Unicode"/>
                          <a:cs typeface="Lucida Sans Unicode"/>
                        </a:rPr>
                        <a:t>2-</a:t>
                      </a: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satisfiability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4605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800" spc="-235" dirty="0">
                          <a:latin typeface="Lucida Sans Unicode"/>
                          <a:cs typeface="Lucida Sans Unicode"/>
                        </a:rPr>
                        <a:t>3-</a:t>
                      </a: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satisfiability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849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800" dirty="0">
                          <a:latin typeface="Lucida Sans Unicode"/>
                          <a:cs typeface="Lucida Sans Unicode"/>
                        </a:rPr>
                        <a:t>planar</a:t>
                      </a: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 4-</a:t>
                      </a: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colorability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4605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800" dirty="0">
                          <a:latin typeface="Lucida Sans Unicode"/>
                          <a:cs typeface="Lucida Sans Unicode"/>
                        </a:rPr>
                        <a:t>planar</a:t>
                      </a: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 3-</a:t>
                      </a: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colorability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849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800" dirty="0">
                          <a:latin typeface="Lucida Sans Unicode"/>
                          <a:cs typeface="Lucida Sans Unicode"/>
                        </a:rPr>
                        <a:t>bipartite</a:t>
                      </a:r>
                      <a:r>
                        <a:rPr sz="1800" spc="-1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dirty="0">
                          <a:latin typeface="Lucida Sans Unicode"/>
                          <a:cs typeface="Lucida Sans Unicode"/>
                        </a:rPr>
                        <a:t>vertex</a:t>
                      </a:r>
                      <a:r>
                        <a:rPr sz="1800" spc="-1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cover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4605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800" dirty="0">
                          <a:latin typeface="Lucida Sans Unicode"/>
                          <a:cs typeface="Lucida Sans Unicode"/>
                        </a:rPr>
                        <a:t>vertex</a:t>
                      </a:r>
                      <a:r>
                        <a:rPr sz="1800" spc="4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cover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849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matching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4605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800" spc="-50" dirty="0">
                          <a:latin typeface="Lucida Sans Unicode"/>
                          <a:cs typeface="Lucida Sans Unicode"/>
                        </a:rPr>
                        <a:t>3d-</a:t>
                      </a: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matching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849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800" dirty="0">
                          <a:latin typeface="Lucida Sans Unicode"/>
                          <a:cs typeface="Lucida Sans Unicode"/>
                        </a:rPr>
                        <a:t>primality</a:t>
                      </a:r>
                      <a:r>
                        <a:rPr sz="1800" spc="-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testing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4605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factoring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4605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lnB w="12700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849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dirty="0">
                          <a:latin typeface="Lucida Sans Unicode"/>
                          <a:cs typeface="Lucida Sans Unicode"/>
                        </a:rPr>
                        <a:t>linear</a:t>
                      </a:r>
                      <a:r>
                        <a:rPr sz="1800" spc="-5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programming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R w="12700">
                      <a:solidFill>
                        <a:srgbClr val="E7EAEB"/>
                      </a:solidFill>
                      <a:prstDash val="solid"/>
                    </a:lnR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800" dirty="0">
                          <a:latin typeface="Lucida Sans Unicode"/>
                          <a:cs typeface="Lucida Sans Unicode"/>
                        </a:rPr>
                        <a:t>integer</a:t>
                      </a:r>
                      <a:r>
                        <a:rPr sz="1800" spc="-65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dirty="0">
                          <a:latin typeface="Lucida Sans Unicode"/>
                          <a:cs typeface="Lucida Sans Unicode"/>
                        </a:rPr>
                        <a:t>linear</a:t>
                      </a:r>
                      <a:r>
                        <a:rPr sz="1800" spc="-60" dirty="0"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800" spc="-10" dirty="0">
                          <a:latin typeface="Lucida Sans Unicode"/>
                          <a:cs typeface="Lucida Sans Unicode"/>
                        </a:rPr>
                        <a:t>programming</a:t>
                      </a:r>
                      <a:endParaRPr sz="1800">
                        <a:latin typeface="Lucida Sans Unicode"/>
                        <a:cs typeface="Lucida Sans Unicode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E7EAEB"/>
                      </a:solidFill>
                      <a:prstDash val="solid"/>
                    </a:lnL>
                    <a:lnT w="12700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Classify</a:t>
            </a:r>
            <a:r>
              <a:rPr spc="-114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7978140"/>
            <a:ext cx="10482580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278828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Frustrating</a:t>
            </a:r>
            <a:r>
              <a:rPr sz="2400" spc="-13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news.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Huge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number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fundamental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problems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have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defied </a:t>
            </a:r>
            <a:r>
              <a:rPr sz="2400" dirty="0">
                <a:latin typeface="Lucida Sans Unicode"/>
                <a:cs typeface="Lucida Sans Unicode"/>
              </a:rPr>
              <a:t>classification</a:t>
            </a:r>
            <a:r>
              <a:rPr sz="2400" spc="-10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9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decades.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9107" y="5368400"/>
            <a:ext cx="2565400" cy="18325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69451" y="5291825"/>
            <a:ext cx="2529991" cy="202997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9597487" y="2918407"/>
            <a:ext cx="257175" cy="332740"/>
            <a:chOff x="9597487" y="2918407"/>
            <a:chExt cx="257175" cy="332740"/>
          </a:xfrm>
        </p:grpSpPr>
        <p:sp>
          <p:nvSpPr>
            <p:cNvPr id="8" name="object 8"/>
            <p:cNvSpPr/>
            <p:nvPr/>
          </p:nvSpPr>
          <p:spPr>
            <a:xfrm>
              <a:off x="9645286" y="2931107"/>
              <a:ext cx="196850" cy="257175"/>
            </a:xfrm>
            <a:custGeom>
              <a:avLst/>
              <a:gdLst/>
              <a:ahLst/>
              <a:cxnLst/>
              <a:rect l="l" t="t" r="r" b="b"/>
              <a:pathLst>
                <a:path w="196850" h="257175">
                  <a:moveTo>
                    <a:pt x="0" y="256968"/>
                  </a:moveTo>
                  <a:lnTo>
                    <a:pt x="7709" y="246876"/>
                  </a:lnTo>
                  <a:lnTo>
                    <a:pt x="196296" y="0"/>
                  </a:lnTo>
                </a:path>
              </a:pathLst>
            </a:custGeom>
            <a:ln w="2540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597487" y="3116757"/>
              <a:ext cx="122555" cy="133985"/>
            </a:xfrm>
            <a:custGeom>
              <a:avLst/>
              <a:gdLst/>
              <a:ahLst/>
              <a:cxnLst/>
              <a:rect l="l" t="t" r="r" b="b"/>
              <a:pathLst>
                <a:path w="122554" h="133985">
                  <a:moveTo>
                    <a:pt x="25567" y="0"/>
                  </a:moveTo>
                  <a:lnTo>
                    <a:pt x="0" y="133892"/>
                  </a:lnTo>
                  <a:lnTo>
                    <a:pt x="122453" y="74010"/>
                  </a:lnTo>
                  <a:lnTo>
                    <a:pt x="55507" y="61226"/>
                  </a:lnTo>
                  <a:lnTo>
                    <a:pt x="25567" y="0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00100" y="1221740"/>
            <a:ext cx="11296650" cy="3614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18820">
              <a:lnSpc>
                <a:spcPct val="131900"/>
              </a:lnSpc>
              <a:spcBef>
                <a:spcPts val="100"/>
              </a:spcBef>
              <a:tabLst>
                <a:tab pos="187960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Desiderata.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Classify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according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those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in 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those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cannot.</a:t>
            </a:r>
            <a:endParaRPr sz="2400">
              <a:latin typeface="Lucida Sans Unicode"/>
              <a:cs typeface="Lucida Sans Unicode"/>
            </a:endParaRPr>
          </a:p>
          <a:p>
            <a:pPr marR="328930" algn="r">
              <a:lnSpc>
                <a:spcPts val="2025"/>
              </a:lnSpc>
              <a:spcBef>
                <a:spcPts val="2830"/>
              </a:spcBef>
            </a:pPr>
            <a:r>
              <a:rPr sz="1600" dirty="0">
                <a:solidFill>
                  <a:srgbClr val="606060"/>
                </a:solidFill>
                <a:latin typeface="Lucida Sans Unicode"/>
                <a:cs typeface="Lucida Sans Unicode"/>
              </a:rPr>
              <a:t>input</a:t>
            </a:r>
            <a:r>
              <a:rPr sz="16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606060"/>
                </a:solidFill>
                <a:latin typeface="Lucida Sans Unicode"/>
                <a:cs typeface="Lucida Sans Unicode"/>
              </a:rPr>
              <a:t>size</a:t>
            </a:r>
            <a:r>
              <a:rPr sz="1600" spc="-10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600" spc="-270" dirty="0">
                <a:solidFill>
                  <a:srgbClr val="606060"/>
                </a:solidFill>
                <a:latin typeface="Lucida Sans Unicode"/>
                <a:cs typeface="Lucida Sans Unicode"/>
              </a:rPr>
              <a:t>=</a:t>
            </a:r>
            <a:r>
              <a:rPr sz="1600" spc="-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606060"/>
                </a:solidFill>
                <a:latin typeface="Times New Roman"/>
                <a:cs typeface="Times New Roman"/>
              </a:rPr>
              <a:t>c </a:t>
            </a:r>
            <a:r>
              <a:rPr sz="1800" dirty="0">
                <a:solidFill>
                  <a:srgbClr val="606060"/>
                </a:solidFill>
                <a:latin typeface="Times New Roman"/>
                <a:cs typeface="Times New Roman"/>
              </a:rPr>
              <a:t>+ log</a:t>
            </a:r>
            <a:r>
              <a:rPr sz="1800" spc="-5" dirty="0">
                <a:solidFill>
                  <a:srgbClr val="606060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solidFill>
                  <a:srgbClr val="606060"/>
                </a:solidFill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480"/>
              </a:lnSpc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Provably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requires</a:t>
            </a:r>
            <a:r>
              <a:rPr sz="2400" spc="-1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exponential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time.</a:t>
            </a:r>
            <a:endParaRPr sz="2400">
              <a:latin typeface="Lucida Sans Unicode"/>
              <a:cs typeface="Lucida Sans Unicode"/>
            </a:endParaRPr>
          </a:p>
          <a:p>
            <a:pPr marL="139700">
              <a:lnSpc>
                <a:spcPts val="3945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constant-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program,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does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halt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most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steps?</a:t>
            </a:r>
            <a:endParaRPr sz="2400">
              <a:latin typeface="Lucida Sans Unicode"/>
              <a:cs typeface="Lucida Sans Unicode"/>
            </a:endParaRPr>
          </a:p>
          <a:p>
            <a:pPr marL="596900" marR="1410335" indent="-457200">
              <a:lnSpc>
                <a:spcPts val="3800"/>
              </a:lnSpc>
              <a:spcBef>
                <a:spcPts val="400"/>
              </a:spcBef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board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position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spc="-145" dirty="0">
                <a:latin typeface="Times New Roman"/>
                <a:cs typeface="Times New Roman"/>
              </a:rPr>
              <a:t>n</a:t>
            </a:r>
            <a:r>
              <a:rPr sz="2400" spc="-145" dirty="0">
                <a:latin typeface="Lucida Sans Unicode"/>
                <a:cs typeface="Lucida Sans Unicode"/>
              </a:rPr>
              <a:t>-</a:t>
            </a:r>
            <a:r>
              <a:rPr sz="2400" spc="-280" dirty="0">
                <a:latin typeface="Lucida Sans Unicode"/>
                <a:cs typeface="Lucida Sans Unicode"/>
              </a:rPr>
              <a:t>by-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generalization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checkers,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black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guarantee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win?</a:t>
            </a:r>
            <a:endParaRPr sz="2400">
              <a:latin typeface="Lucida Sans Unicode"/>
              <a:cs typeface="Lucida Sans Unicode"/>
            </a:endParaRPr>
          </a:p>
          <a:p>
            <a:pPr marR="5080" algn="r">
              <a:lnSpc>
                <a:spcPts val="1380"/>
              </a:lnSpc>
            </a:pPr>
            <a:r>
              <a:rPr sz="1600" dirty="0">
                <a:solidFill>
                  <a:srgbClr val="606060"/>
                </a:solidFill>
                <a:latin typeface="Lucida Sans Unicode"/>
                <a:cs typeface="Lucida Sans Unicode"/>
              </a:rPr>
              <a:t>using</a:t>
            </a:r>
            <a:r>
              <a:rPr sz="1600" spc="-1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606060"/>
                </a:solidFill>
                <a:latin typeface="Lucida Sans Unicode"/>
                <a:cs typeface="Lucida Sans Unicode"/>
              </a:rPr>
              <a:t>forced</a:t>
            </a:r>
            <a:r>
              <a:rPr sz="1600" spc="-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606060"/>
                </a:solidFill>
                <a:latin typeface="Lucida Sans Unicode"/>
                <a:cs typeface="Lucida Sans Unicode"/>
              </a:rPr>
              <a:t>capture</a:t>
            </a:r>
            <a:r>
              <a:rPr sz="1600" spc="-5" dirty="0">
                <a:solidFill>
                  <a:srgbClr val="606060"/>
                </a:solidFill>
                <a:latin typeface="Lucida Sans Unicode"/>
                <a:cs typeface="Lucida Sans Unicode"/>
              </a:rPr>
              <a:t> </a:t>
            </a:r>
            <a:r>
              <a:rPr sz="1600" spc="-20" dirty="0">
                <a:solidFill>
                  <a:srgbClr val="606060"/>
                </a:solidFill>
                <a:latin typeface="Lucida Sans Unicode"/>
                <a:cs typeface="Lucida Sans Unicode"/>
              </a:rPr>
              <a:t>rule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982200" y="4216400"/>
            <a:ext cx="257175" cy="332740"/>
            <a:chOff x="9982200" y="4216400"/>
            <a:chExt cx="257175" cy="332740"/>
          </a:xfrm>
        </p:grpSpPr>
        <p:sp>
          <p:nvSpPr>
            <p:cNvPr id="12" name="object 12"/>
            <p:cNvSpPr/>
            <p:nvPr/>
          </p:nvSpPr>
          <p:spPr>
            <a:xfrm>
              <a:off x="10029998" y="4278972"/>
              <a:ext cx="196850" cy="257175"/>
            </a:xfrm>
            <a:custGeom>
              <a:avLst/>
              <a:gdLst/>
              <a:ahLst/>
              <a:cxnLst/>
              <a:rect l="l" t="t" r="r" b="b"/>
              <a:pathLst>
                <a:path w="196850" h="257175">
                  <a:moveTo>
                    <a:pt x="0" y="0"/>
                  </a:moveTo>
                  <a:lnTo>
                    <a:pt x="7709" y="10092"/>
                  </a:lnTo>
                  <a:lnTo>
                    <a:pt x="196296" y="256968"/>
                  </a:lnTo>
                </a:path>
              </a:pathLst>
            </a:custGeom>
            <a:ln w="2540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982200" y="4216400"/>
              <a:ext cx="122555" cy="133985"/>
            </a:xfrm>
            <a:custGeom>
              <a:avLst/>
              <a:gdLst/>
              <a:ahLst/>
              <a:cxnLst/>
              <a:rect l="l" t="t" r="r" b="b"/>
              <a:pathLst>
                <a:path w="122554" h="133985">
                  <a:moveTo>
                    <a:pt x="0" y="0"/>
                  </a:moveTo>
                  <a:lnTo>
                    <a:pt x="25567" y="133891"/>
                  </a:lnTo>
                  <a:lnTo>
                    <a:pt x="55507" y="72664"/>
                  </a:lnTo>
                  <a:lnTo>
                    <a:pt x="122453" y="59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Poly-</a:t>
            </a:r>
            <a:r>
              <a:rPr dirty="0"/>
              <a:t>time</a:t>
            </a:r>
            <a:r>
              <a:rPr spc="10" dirty="0"/>
              <a:t> </a:t>
            </a:r>
            <a:r>
              <a:rPr spc="-10" dirty="0"/>
              <a:t>reductions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221740"/>
            <a:ext cx="10472420" cy="3440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328930">
              <a:lnSpc>
                <a:spcPct val="131900"/>
              </a:lnSpc>
              <a:spcBef>
                <a:spcPts val="100"/>
              </a:spcBef>
              <a:tabLst>
                <a:tab pos="201676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Desiderata′.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Suppose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spc="75" dirty="0">
                <a:latin typeface="Lucida Sans Unicode"/>
                <a:cs typeface="Lucida Sans Unicode"/>
              </a:rPr>
              <a:t>we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could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 </a:t>
            </a:r>
            <a:r>
              <a:rPr sz="2400" dirty="0">
                <a:latin typeface="Lucida Sans Unicode"/>
                <a:cs typeface="Lucida Sans Unicode"/>
              </a:rPr>
              <a:t>What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else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could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75" dirty="0">
                <a:latin typeface="Lucida Sans Unicode"/>
                <a:cs typeface="Lucida Sans Unicode"/>
              </a:rPr>
              <a:t>we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polynomial </a:t>
            </a:r>
            <a:r>
              <a:rPr sz="2400" spc="-20" dirty="0">
                <a:latin typeface="Lucida Sans Unicode"/>
                <a:cs typeface="Lucida Sans Unicode"/>
              </a:rPr>
              <a:t>time?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 marR="43180">
              <a:lnSpc>
                <a:spcPct val="131900"/>
              </a:lnSpc>
              <a:spcBef>
                <a:spcPts val="5"/>
              </a:spcBef>
              <a:tabLst>
                <a:tab pos="181927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Reduction.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8D3124"/>
                </a:solidFill>
                <a:latin typeface="Lucida Sans Unicode"/>
                <a:cs typeface="Lucida Sans Unicode"/>
              </a:rPr>
              <a:t>polynomial-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time</a:t>
            </a:r>
            <a:r>
              <a:rPr sz="2400" spc="-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(Cook)</a:t>
            </a:r>
            <a:r>
              <a:rPr sz="2400" spc="-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reduces</a:t>
            </a:r>
            <a:r>
              <a:rPr sz="2400" spc="-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r>
              <a:rPr sz="2400" spc="-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if </a:t>
            </a:r>
            <a:r>
              <a:rPr sz="2400" dirty="0">
                <a:latin typeface="Lucida Sans Unicode"/>
                <a:cs typeface="Lucida Sans Unicode"/>
              </a:rPr>
              <a:t>arbitrary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instances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solved</a:t>
            </a:r>
            <a:r>
              <a:rPr sz="2400" spc="-10" dirty="0">
                <a:latin typeface="Lucida Sans Unicode"/>
                <a:cs typeface="Lucida Sans Unicode"/>
              </a:rPr>
              <a:t> using: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679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number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standard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computational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steps,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plus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number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calls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oracle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Y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89011" y="5191759"/>
            <a:ext cx="5361305" cy="5410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 indent="67945">
              <a:lnSpc>
                <a:spcPts val="2100"/>
              </a:lnSpc>
              <a:spcBef>
                <a:spcPts val="2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computational</a:t>
            </a:r>
            <a:r>
              <a:rPr sz="1600" spc="-3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model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supplemented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by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special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piece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of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hardware that solves instances of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Y</a:t>
            </a:r>
            <a:r>
              <a:rPr sz="1800" i="1" spc="60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 a single 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step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299739" y="4619661"/>
            <a:ext cx="228600" cy="498475"/>
            <a:chOff x="6299739" y="4619661"/>
            <a:chExt cx="228600" cy="498475"/>
          </a:xfrm>
        </p:grpSpPr>
        <p:sp>
          <p:nvSpPr>
            <p:cNvPr id="7" name="object 7"/>
            <p:cNvSpPr/>
            <p:nvPr/>
          </p:nvSpPr>
          <p:spPr>
            <a:xfrm>
              <a:off x="6338880" y="4692093"/>
              <a:ext cx="176530" cy="413384"/>
            </a:xfrm>
            <a:custGeom>
              <a:avLst/>
              <a:gdLst/>
              <a:ahLst/>
              <a:cxnLst/>
              <a:rect l="l" t="t" r="r" b="b"/>
              <a:pathLst>
                <a:path w="176529" h="413385">
                  <a:moveTo>
                    <a:pt x="0" y="0"/>
                  </a:moveTo>
                  <a:lnTo>
                    <a:pt x="4980" y="11682"/>
                  </a:lnTo>
                  <a:lnTo>
                    <a:pt x="176219" y="413306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99739" y="4619661"/>
              <a:ext cx="112152" cy="13606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2914013" y="6810375"/>
            <a:ext cx="5983605" cy="1908810"/>
            <a:chOff x="2914013" y="6810375"/>
            <a:chExt cx="5983605" cy="1908810"/>
          </a:xfrm>
        </p:grpSpPr>
        <p:sp>
          <p:nvSpPr>
            <p:cNvPr id="10" name="object 10"/>
            <p:cNvSpPr/>
            <p:nvPr/>
          </p:nvSpPr>
          <p:spPr>
            <a:xfrm>
              <a:off x="3387796" y="6819900"/>
              <a:ext cx="4762500" cy="1889760"/>
            </a:xfrm>
            <a:custGeom>
              <a:avLst/>
              <a:gdLst/>
              <a:ahLst/>
              <a:cxnLst/>
              <a:rect l="l" t="t" r="r" b="b"/>
              <a:pathLst>
                <a:path w="4762500" h="1889759">
                  <a:moveTo>
                    <a:pt x="0" y="0"/>
                  </a:moveTo>
                  <a:lnTo>
                    <a:pt x="4762500" y="0"/>
                  </a:lnTo>
                  <a:lnTo>
                    <a:pt x="4762500" y="1889760"/>
                  </a:lnTo>
                  <a:lnTo>
                    <a:pt x="0" y="188976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60606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23538" y="7751232"/>
              <a:ext cx="953769" cy="0"/>
            </a:xfrm>
            <a:custGeom>
              <a:avLst/>
              <a:gdLst/>
              <a:ahLst/>
              <a:cxnLst/>
              <a:rect l="l" t="t" r="r" b="b"/>
              <a:pathLst>
                <a:path w="953770">
                  <a:moveTo>
                    <a:pt x="0" y="0"/>
                  </a:moveTo>
                  <a:lnTo>
                    <a:pt x="943963" y="2092"/>
                  </a:lnTo>
                  <a:lnTo>
                    <a:pt x="953488" y="2113"/>
                  </a:lnTo>
                </a:path>
              </a:pathLst>
            </a:custGeom>
            <a:ln w="19049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42739" y="7701702"/>
              <a:ext cx="99060" cy="99060"/>
            </a:xfrm>
            <a:custGeom>
              <a:avLst/>
              <a:gdLst/>
              <a:ahLst/>
              <a:cxnLst/>
              <a:rect l="l" t="t" r="r" b="b"/>
              <a:pathLst>
                <a:path w="99060" h="99059">
                  <a:moveTo>
                    <a:pt x="0" y="0"/>
                  </a:moveTo>
                  <a:lnTo>
                    <a:pt x="24764" y="49529"/>
                  </a:lnTo>
                  <a:lnTo>
                    <a:pt x="0" y="99059"/>
                  </a:lnTo>
                  <a:lnTo>
                    <a:pt x="99060" y="49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614354" y="7748971"/>
              <a:ext cx="1217930" cy="0"/>
            </a:xfrm>
            <a:custGeom>
              <a:avLst/>
              <a:gdLst/>
              <a:ahLst/>
              <a:cxnLst/>
              <a:rect l="l" t="t" r="r" b="b"/>
              <a:pathLst>
                <a:path w="1217929">
                  <a:moveTo>
                    <a:pt x="0" y="0"/>
                  </a:moveTo>
                  <a:lnTo>
                    <a:pt x="1217930" y="0"/>
                  </a:lnTo>
                </a:path>
              </a:pathLst>
            </a:custGeom>
            <a:ln w="1905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97994" y="7699441"/>
              <a:ext cx="99060" cy="99060"/>
            </a:xfrm>
            <a:custGeom>
              <a:avLst/>
              <a:gdLst/>
              <a:ahLst/>
              <a:cxnLst/>
              <a:rect l="l" t="t" r="r" b="b"/>
              <a:pathLst>
                <a:path w="99059" h="99059">
                  <a:moveTo>
                    <a:pt x="0" y="0"/>
                  </a:moveTo>
                  <a:lnTo>
                    <a:pt x="24765" y="49529"/>
                  </a:lnTo>
                  <a:lnTo>
                    <a:pt x="0" y="99059"/>
                  </a:lnTo>
                  <a:lnTo>
                    <a:pt x="99060" y="49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530623" y="7631565"/>
              <a:ext cx="478790" cy="0"/>
            </a:xfrm>
            <a:custGeom>
              <a:avLst/>
              <a:gdLst/>
              <a:ahLst/>
              <a:cxnLst/>
              <a:rect l="l" t="t" r="r" b="b"/>
              <a:pathLst>
                <a:path w="478790">
                  <a:moveTo>
                    <a:pt x="0" y="0"/>
                  </a:moveTo>
                  <a:lnTo>
                    <a:pt x="478505" y="0"/>
                  </a:lnTo>
                </a:path>
              </a:pathLst>
            </a:custGeom>
            <a:ln w="1905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74838" y="7582035"/>
              <a:ext cx="99060" cy="99060"/>
            </a:xfrm>
            <a:custGeom>
              <a:avLst/>
              <a:gdLst/>
              <a:ahLst/>
              <a:cxnLst/>
              <a:rect l="l" t="t" r="r" b="b"/>
              <a:pathLst>
                <a:path w="99059" h="99059">
                  <a:moveTo>
                    <a:pt x="0" y="0"/>
                  </a:moveTo>
                  <a:lnTo>
                    <a:pt x="24765" y="49529"/>
                  </a:lnTo>
                  <a:lnTo>
                    <a:pt x="0" y="99059"/>
                  </a:lnTo>
                  <a:lnTo>
                    <a:pt x="99060" y="495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30623" y="7870891"/>
              <a:ext cx="478790" cy="0"/>
            </a:xfrm>
            <a:custGeom>
              <a:avLst/>
              <a:gdLst/>
              <a:ahLst/>
              <a:cxnLst/>
              <a:rect l="l" t="t" r="r" b="b"/>
              <a:pathLst>
                <a:path w="478790">
                  <a:moveTo>
                    <a:pt x="0" y="0"/>
                  </a:moveTo>
                  <a:lnTo>
                    <a:pt x="478505" y="0"/>
                  </a:lnTo>
                </a:path>
              </a:pathLst>
            </a:custGeom>
            <a:ln w="1905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974838" y="7821361"/>
              <a:ext cx="99060" cy="99060"/>
            </a:xfrm>
            <a:custGeom>
              <a:avLst/>
              <a:gdLst/>
              <a:ahLst/>
              <a:cxnLst/>
              <a:rect l="l" t="t" r="r" b="b"/>
              <a:pathLst>
                <a:path w="99059" h="99059">
                  <a:moveTo>
                    <a:pt x="0" y="0"/>
                  </a:moveTo>
                  <a:lnTo>
                    <a:pt x="24765" y="49530"/>
                  </a:lnTo>
                  <a:lnTo>
                    <a:pt x="0" y="99060"/>
                  </a:lnTo>
                  <a:lnTo>
                    <a:pt x="99060" y="495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491849" y="7599963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>
                  <a:moveTo>
                    <a:pt x="0" y="0"/>
                  </a:moveTo>
                  <a:lnTo>
                    <a:pt x="432790" y="0"/>
                  </a:lnTo>
                </a:path>
              </a:pathLst>
            </a:custGeom>
            <a:ln w="1905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90349" y="7550433"/>
              <a:ext cx="99060" cy="99060"/>
            </a:xfrm>
            <a:custGeom>
              <a:avLst/>
              <a:gdLst/>
              <a:ahLst/>
              <a:cxnLst/>
              <a:rect l="l" t="t" r="r" b="b"/>
              <a:pathLst>
                <a:path w="99060" h="99059">
                  <a:moveTo>
                    <a:pt x="0" y="0"/>
                  </a:moveTo>
                  <a:lnTo>
                    <a:pt x="24765" y="49530"/>
                  </a:lnTo>
                  <a:lnTo>
                    <a:pt x="0" y="99060"/>
                  </a:lnTo>
                  <a:lnTo>
                    <a:pt x="99060" y="495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491849" y="7902503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>
                  <a:moveTo>
                    <a:pt x="0" y="0"/>
                  </a:moveTo>
                  <a:lnTo>
                    <a:pt x="432790" y="0"/>
                  </a:lnTo>
                </a:path>
              </a:pathLst>
            </a:custGeom>
            <a:ln w="1905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90349" y="7852973"/>
              <a:ext cx="99060" cy="99060"/>
            </a:xfrm>
            <a:custGeom>
              <a:avLst/>
              <a:gdLst/>
              <a:ahLst/>
              <a:cxnLst/>
              <a:rect l="l" t="t" r="r" b="b"/>
              <a:pathLst>
                <a:path w="99060" h="99059">
                  <a:moveTo>
                    <a:pt x="0" y="0"/>
                  </a:moveTo>
                  <a:lnTo>
                    <a:pt x="24765" y="49530"/>
                  </a:lnTo>
                  <a:lnTo>
                    <a:pt x="0" y="99060"/>
                  </a:lnTo>
                  <a:lnTo>
                    <a:pt x="99060" y="495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077003" y="7510780"/>
              <a:ext cx="537845" cy="474345"/>
            </a:xfrm>
            <a:custGeom>
              <a:avLst/>
              <a:gdLst/>
              <a:ahLst/>
              <a:cxnLst/>
              <a:rect l="l" t="t" r="r" b="b"/>
              <a:pathLst>
                <a:path w="537845" h="474345">
                  <a:moveTo>
                    <a:pt x="537351" y="0"/>
                  </a:moveTo>
                  <a:lnTo>
                    <a:pt x="0" y="0"/>
                  </a:lnTo>
                  <a:lnTo>
                    <a:pt x="0" y="474133"/>
                  </a:lnTo>
                  <a:lnTo>
                    <a:pt x="537351" y="474133"/>
                  </a:lnTo>
                  <a:lnTo>
                    <a:pt x="537351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91849" y="7748976"/>
              <a:ext cx="433070" cy="0"/>
            </a:xfrm>
            <a:custGeom>
              <a:avLst/>
              <a:gdLst/>
              <a:ahLst/>
              <a:cxnLst/>
              <a:rect l="l" t="t" r="r" b="b"/>
              <a:pathLst>
                <a:path w="433070">
                  <a:moveTo>
                    <a:pt x="0" y="0"/>
                  </a:moveTo>
                  <a:lnTo>
                    <a:pt x="432789" y="0"/>
                  </a:lnTo>
                </a:path>
              </a:pathLst>
            </a:custGeom>
            <a:ln w="19050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890349" y="7699444"/>
              <a:ext cx="99060" cy="99060"/>
            </a:xfrm>
            <a:custGeom>
              <a:avLst/>
              <a:gdLst/>
              <a:ahLst/>
              <a:cxnLst/>
              <a:rect l="l" t="t" r="r" b="b"/>
              <a:pathLst>
                <a:path w="99060" h="99059">
                  <a:moveTo>
                    <a:pt x="0" y="0"/>
                  </a:moveTo>
                  <a:lnTo>
                    <a:pt x="24765" y="49530"/>
                  </a:lnTo>
                  <a:lnTo>
                    <a:pt x="0" y="99060"/>
                  </a:lnTo>
                  <a:lnTo>
                    <a:pt x="99060" y="495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929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806063" y="7520411"/>
            <a:ext cx="103695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315" marR="5080" indent="-222250">
              <a:lnSpc>
                <a:spcPct val="140600"/>
              </a:lnSpc>
              <a:spcBef>
                <a:spcPts val="100"/>
              </a:spcBef>
            </a:pPr>
            <a:r>
              <a:rPr sz="1600" b="1" dirty="0">
                <a:solidFill>
                  <a:srgbClr val="005493"/>
                </a:solidFill>
                <a:latin typeface="Tahoma"/>
                <a:cs typeface="Tahoma"/>
              </a:rPr>
              <a:t>instance</a:t>
            </a:r>
            <a:r>
              <a:rPr sz="1600" b="1" spc="140" dirty="0">
                <a:solidFill>
                  <a:srgbClr val="005493"/>
                </a:solidFill>
                <a:latin typeface="Tahoma"/>
                <a:cs typeface="Tahoma"/>
              </a:rPr>
              <a:t> </a:t>
            </a:r>
            <a:r>
              <a:rPr sz="1600" b="1" spc="-254" dirty="0">
                <a:solidFill>
                  <a:srgbClr val="005493"/>
                </a:solidFill>
                <a:latin typeface="Tahoma"/>
                <a:cs typeface="Tahoma"/>
              </a:rPr>
              <a:t>I </a:t>
            </a:r>
            <a:r>
              <a:rPr sz="1600" b="1" dirty="0">
                <a:solidFill>
                  <a:srgbClr val="005493"/>
                </a:solidFill>
                <a:latin typeface="Tahoma"/>
                <a:cs typeface="Tahoma"/>
              </a:rPr>
              <a:t>(of</a:t>
            </a:r>
            <a:r>
              <a:rPr sz="1600" b="1" spc="-5" dirty="0">
                <a:solidFill>
                  <a:srgbClr val="005493"/>
                </a:solidFill>
                <a:latin typeface="Tahoma"/>
                <a:cs typeface="Tahoma"/>
              </a:rPr>
              <a:t> </a:t>
            </a:r>
            <a:r>
              <a:rPr sz="1600" b="1" spc="-35" dirty="0">
                <a:solidFill>
                  <a:srgbClr val="005493"/>
                </a:solidFill>
                <a:latin typeface="Tahoma"/>
                <a:cs typeface="Tahoma"/>
              </a:rPr>
              <a:t>X)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037036" y="7615237"/>
            <a:ext cx="147828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005493"/>
                </a:solidFill>
                <a:latin typeface="Tahoma"/>
                <a:cs typeface="Tahoma"/>
              </a:rPr>
              <a:t>solution</a:t>
            </a:r>
            <a:r>
              <a:rPr sz="1600" b="1" spc="90" dirty="0">
                <a:solidFill>
                  <a:srgbClr val="005493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005493"/>
                </a:solidFill>
                <a:latin typeface="Tahoma"/>
                <a:cs typeface="Tahoma"/>
              </a:rPr>
              <a:t>S</a:t>
            </a:r>
            <a:r>
              <a:rPr sz="1600" b="1" spc="95" dirty="0">
                <a:solidFill>
                  <a:srgbClr val="005493"/>
                </a:solidFill>
                <a:latin typeface="Tahoma"/>
                <a:cs typeface="Tahoma"/>
              </a:rPr>
              <a:t> </a:t>
            </a:r>
            <a:r>
              <a:rPr sz="1600" b="1" dirty="0">
                <a:solidFill>
                  <a:srgbClr val="005493"/>
                </a:solidFill>
                <a:latin typeface="Tahoma"/>
                <a:cs typeface="Tahoma"/>
              </a:rPr>
              <a:t>to</a:t>
            </a:r>
            <a:r>
              <a:rPr sz="1600" b="1" spc="95" dirty="0">
                <a:solidFill>
                  <a:srgbClr val="005493"/>
                </a:solidFill>
                <a:latin typeface="Tahoma"/>
                <a:cs typeface="Tahoma"/>
              </a:rPr>
              <a:t> </a:t>
            </a:r>
            <a:r>
              <a:rPr sz="1600" b="1" spc="-150" dirty="0">
                <a:solidFill>
                  <a:srgbClr val="005493"/>
                </a:solidFill>
                <a:latin typeface="Tahoma"/>
                <a:cs typeface="Tahoma"/>
              </a:rPr>
              <a:t>I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02107" y="7370798"/>
            <a:ext cx="1529080" cy="76200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46355" rIns="0" bIns="0" rtlCol="0">
            <a:spAutoFit/>
          </a:bodyPr>
          <a:lstStyle/>
          <a:p>
            <a:pPr marL="536575" marR="201295" indent="-269240">
              <a:lnSpc>
                <a:spcPct val="121900"/>
              </a:lnSpc>
              <a:spcBef>
                <a:spcPts val="365"/>
              </a:spcBef>
            </a:pPr>
            <a:r>
              <a:rPr sz="1600" b="1" spc="-10" dirty="0">
                <a:solidFill>
                  <a:srgbClr val="005493"/>
                </a:solidFill>
                <a:latin typeface="Tahoma"/>
                <a:cs typeface="Tahoma"/>
              </a:rPr>
              <a:t>Algorithm </a:t>
            </a:r>
            <a:r>
              <a:rPr sz="1600" b="1" dirty="0">
                <a:solidFill>
                  <a:srgbClr val="005493"/>
                </a:solidFill>
                <a:latin typeface="Tahoma"/>
                <a:cs typeface="Tahoma"/>
              </a:rPr>
              <a:t>for</a:t>
            </a:r>
            <a:r>
              <a:rPr sz="1600" b="1" spc="145" dirty="0">
                <a:solidFill>
                  <a:srgbClr val="005493"/>
                </a:solidFill>
                <a:latin typeface="Tahoma"/>
                <a:cs typeface="Tahoma"/>
              </a:rPr>
              <a:t> </a:t>
            </a:r>
            <a:r>
              <a:rPr sz="1600" b="1" spc="-50" dirty="0">
                <a:solidFill>
                  <a:srgbClr val="005493"/>
                </a:solidFill>
                <a:latin typeface="Tahoma"/>
                <a:cs typeface="Tahoma"/>
              </a:rPr>
              <a:t>Y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954498" y="7513037"/>
            <a:ext cx="537845" cy="474345"/>
          </a:xfrm>
          <a:custGeom>
            <a:avLst/>
            <a:gdLst/>
            <a:ahLst/>
            <a:cxnLst/>
            <a:rect l="l" t="t" r="r" b="b"/>
            <a:pathLst>
              <a:path w="537845" h="474345">
                <a:moveTo>
                  <a:pt x="537351" y="0"/>
                </a:moveTo>
                <a:lnTo>
                  <a:pt x="0" y="0"/>
                </a:lnTo>
                <a:lnTo>
                  <a:pt x="0" y="474133"/>
                </a:lnTo>
                <a:lnTo>
                  <a:pt x="537351" y="474133"/>
                </a:lnTo>
                <a:lnTo>
                  <a:pt x="537351" y="0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935501" y="8819480"/>
            <a:ext cx="16522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Algorithm</a:t>
            </a:r>
            <a:r>
              <a:rPr sz="1600" b="1" spc="204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for</a:t>
            </a:r>
            <a:r>
              <a:rPr sz="1600" b="1" spc="210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X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Poly-</a:t>
            </a:r>
            <a:r>
              <a:rPr dirty="0"/>
              <a:t>time</a:t>
            </a:r>
            <a:r>
              <a:rPr spc="10" dirty="0"/>
              <a:t> </a:t>
            </a:r>
            <a:r>
              <a:rPr spc="-10" dirty="0"/>
              <a:t>reductions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4" name="object 4"/>
          <p:cNvSpPr txBox="1"/>
          <p:nvPr/>
        </p:nvSpPr>
        <p:spPr>
          <a:xfrm>
            <a:off x="762000" y="1221740"/>
            <a:ext cx="10472420" cy="34404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328930">
              <a:lnSpc>
                <a:spcPct val="131900"/>
              </a:lnSpc>
              <a:spcBef>
                <a:spcPts val="100"/>
              </a:spcBef>
              <a:tabLst>
                <a:tab pos="201676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Desiderata′.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Suppose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spc="75" dirty="0">
                <a:latin typeface="Lucida Sans Unicode"/>
                <a:cs typeface="Lucida Sans Unicode"/>
              </a:rPr>
              <a:t>we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could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time. </a:t>
            </a:r>
            <a:r>
              <a:rPr sz="2400" dirty="0">
                <a:latin typeface="Lucida Sans Unicode"/>
                <a:cs typeface="Lucida Sans Unicode"/>
              </a:rPr>
              <a:t>What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else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could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75" dirty="0">
                <a:latin typeface="Lucida Sans Unicode"/>
                <a:cs typeface="Lucida Sans Unicode"/>
              </a:rPr>
              <a:t>we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polynomial </a:t>
            </a:r>
            <a:r>
              <a:rPr sz="2400" spc="-20" dirty="0">
                <a:latin typeface="Lucida Sans Unicode"/>
                <a:cs typeface="Lucida Sans Unicode"/>
              </a:rPr>
              <a:t>time?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 marR="43180">
              <a:lnSpc>
                <a:spcPct val="131900"/>
              </a:lnSpc>
              <a:spcBef>
                <a:spcPts val="5"/>
              </a:spcBef>
              <a:tabLst>
                <a:tab pos="181927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Reduction.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spc="-45" dirty="0">
                <a:solidFill>
                  <a:srgbClr val="8D3124"/>
                </a:solidFill>
                <a:latin typeface="Lucida Sans Unicode"/>
                <a:cs typeface="Lucida Sans Unicode"/>
              </a:rPr>
              <a:t>polynomial-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time</a:t>
            </a:r>
            <a:r>
              <a:rPr sz="2400" spc="-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(Cook)</a:t>
            </a:r>
            <a:r>
              <a:rPr sz="2400" spc="-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reduces</a:t>
            </a:r>
            <a:r>
              <a:rPr sz="2400" spc="-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r>
              <a:rPr sz="2400" spc="-4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114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if </a:t>
            </a:r>
            <a:r>
              <a:rPr sz="2400" dirty="0">
                <a:latin typeface="Lucida Sans Unicode"/>
                <a:cs typeface="Lucida Sans Unicode"/>
              </a:rPr>
              <a:t>arbitrary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instances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solved</a:t>
            </a:r>
            <a:r>
              <a:rPr sz="2400" spc="-10" dirty="0">
                <a:latin typeface="Lucida Sans Unicode"/>
                <a:cs typeface="Lucida Sans Unicode"/>
              </a:rPr>
              <a:t> using: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679"/>
              </a:lnSpc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number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standard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computational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steps,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plus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number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calls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oracle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Y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6600" y="5681979"/>
            <a:ext cx="10364470" cy="280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  <a:tabLst>
                <a:tab pos="163830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Notation.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X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300" baseline="-19097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Y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tabLst>
                <a:tab pos="1061720" algn="l"/>
                <a:tab pos="1001204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Note.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We pay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 to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write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down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instances of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sent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 </a:t>
            </a:r>
            <a:r>
              <a:rPr sz="2400" spc="-10" dirty="0">
                <a:latin typeface="Lucida Sans Unicode"/>
                <a:cs typeface="Lucida Sans Unicode"/>
              </a:rPr>
              <a:t>oracle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Symbol"/>
                <a:cs typeface="Symbol"/>
              </a:rPr>
              <a:t></a:t>
            </a:r>
            <a:endParaRPr sz="2400">
              <a:latin typeface="Symbol"/>
              <a:cs typeface="Symbol"/>
            </a:endParaRPr>
          </a:p>
          <a:p>
            <a:pPr marL="76200">
              <a:lnSpc>
                <a:spcPct val="100000"/>
              </a:lnSpc>
              <a:spcBef>
                <a:spcPts val="919"/>
              </a:spcBef>
            </a:pPr>
            <a:r>
              <a:rPr sz="2400" dirty="0">
                <a:latin typeface="Lucida Sans Unicode"/>
                <a:cs typeface="Lucida Sans Unicode"/>
              </a:rPr>
              <a:t>instances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must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size.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  <a:tabLst>
                <a:tab pos="262255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Novice</a:t>
            </a:r>
            <a:r>
              <a:rPr sz="2400" spc="7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mistake.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Confusing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300" baseline="-1909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300" baseline="-19097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X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Poly-</a:t>
            </a:r>
            <a:r>
              <a:rPr dirty="0"/>
              <a:t>time</a:t>
            </a:r>
            <a:r>
              <a:rPr spc="10" dirty="0"/>
              <a:t> </a:t>
            </a:r>
            <a:r>
              <a:rPr spc="-10" dirty="0"/>
              <a:t>reductions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387630" y="9340291"/>
            <a:ext cx="2184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spc="-25" dirty="0">
                <a:latin typeface="Lucida Sans Unicode"/>
                <a:cs typeface="Lucida Sans Unicode"/>
              </a:rPr>
              <a:t>11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9300" y="1221740"/>
            <a:ext cx="11346180" cy="3886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 marR="1135380">
              <a:lnSpc>
                <a:spcPct val="131900"/>
              </a:lnSpc>
              <a:spcBef>
                <a:spcPts val="100"/>
              </a:spcBef>
              <a:tabLst>
                <a:tab pos="3058160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Design</a:t>
            </a:r>
            <a:r>
              <a:rPr sz="2400" spc="-9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algorithms.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300" baseline="-1909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time,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10" dirty="0">
                <a:latin typeface="Lucida Sans Unicode"/>
                <a:cs typeface="Lucida Sans Unicode"/>
              </a:rPr>
              <a:t> time.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 marR="55880">
              <a:lnSpc>
                <a:spcPct val="131900"/>
              </a:lnSpc>
              <a:spcBef>
                <a:spcPts val="5"/>
              </a:spcBef>
              <a:tabLst>
                <a:tab pos="363156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Establish</a:t>
            </a:r>
            <a:r>
              <a:rPr sz="2400" spc="-1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intractability.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300" baseline="-1909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cannot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time,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Y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cannot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10" dirty="0">
                <a:latin typeface="Lucida Sans Unicode"/>
                <a:cs typeface="Lucida Sans Unicode"/>
              </a:rPr>
              <a:t> time.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63500" marR="754380">
              <a:lnSpc>
                <a:spcPct val="131900"/>
              </a:lnSpc>
              <a:tabLst>
                <a:tab pos="3519804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Establish</a:t>
            </a:r>
            <a:r>
              <a:rPr sz="2400" spc="-1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equivalence.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both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277" baseline="-1909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284" baseline="-1909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75" dirty="0">
                <a:latin typeface="Lucida Sans Unicode"/>
                <a:cs typeface="Lucida Sans Unicode"/>
              </a:rPr>
              <a:t>we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notation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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-15" baseline="-19097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Y</a:t>
            </a:r>
            <a:r>
              <a:rPr sz="2400" spc="-25" dirty="0">
                <a:latin typeface="Lucida Sans Unicode"/>
                <a:cs typeface="Lucida Sans Unicode"/>
              </a:rPr>
              <a:t>.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case,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solved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polynomial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time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be.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0100" y="8577580"/>
            <a:ext cx="109766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9453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Bottom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line.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Reductions classify problems according to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relative </a:t>
            </a:r>
            <a:r>
              <a:rPr sz="2400" spc="-10" dirty="0">
                <a:latin typeface="Lucida Sans Unicode"/>
                <a:cs typeface="Lucida Sans Unicode"/>
              </a:rPr>
              <a:t>difficulty.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62478" y="1764308"/>
            <a:ext cx="4432300" cy="5056505"/>
            <a:chOff x="662478" y="1764308"/>
            <a:chExt cx="4432300" cy="5056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2478" y="1764308"/>
              <a:ext cx="4432002" cy="50564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64382" y="1892300"/>
              <a:ext cx="737817" cy="812800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5778500" y="2349500"/>
            <a:ext cx="6515100" cy="0"/>
          </a:xfrm>
          <a:custGeom>
            <a:avLst/>
            <a:gdLst/>
            <a:ahLst/>
            <a:cxnLst/>
            <a:rect l="l" t="t" r="r" b="b"/>
            <a:pathLst>
              <a:path w="6515100">
                <a:moveTo>
                  <a:pt x="0" y="0"/>
                </a:moveTo>
                <a:lnTo>
                  <a:pt x="651510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16600" y="1617522"/>
            <a:ext cx="3839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6125" algn="l"/>
                <a:tab pos="3709670" algn="l"/>
              </a:tabLst>
            </a:pPr>
            <a:r>
              <a:rPr sz="3600" b="1" cap="small" spc="-25" dirty="0">
                <a:latin typeface="Tahoma"/>
                <a:cs typeface="Tahoma"/>
              </a:rPr>
              <a:t>8.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285" dirty="0">
                <a:latin typeface="Tahoma"/>
                <a:cs typeface="Tahoma"/>
              </a:rPr>
              <a:t>Intractability</a:t>
            </a:r>
            <a:r>
              <a:rPr sz="3600" b="1" cap="small" dirty="0">
                <a:latin typeface="Tahoma"/>
                <a:cs typeface="Tahoma"/>
              </a:rPr>
              <a:t>	</a:t>
            </a:r>
            <a:r>
              <a:rPr sz="3600" b="1" cap="small" spc="-1275" dirty="0">
                <a:latin typeface="Tahoma"/>
                <a:cs typeface="Tahoma"/>
              </a:rPr>
              <a:t>I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329565" indent="-316865">
              <a:lnSpc>
                <a:spcPct val="100000"/>
              </a:lnSpc>
              <a:spcBef>
                <a:spcPts val="15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310" dirty="0"/>
              <a:t>poly-</a:t>
            </a:r>
            <a:r>
              <a:rPr sz="3000" spc="-340" dirty="0"/>
              <a:t>time</a:t>
            </a:r>
            <a:r>
              <a:rPr sz="3000" spc="-160" dirty="0"/>
              <a:t> </a:t>
            </a:r>
            <a:r>
              <a:rPr sz="3000" spc="-310" dirty="0"/>
              <a:t>reductions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40" dirty="0">
                <a:solidFill>
                  <a:srgbClr val="000000"/>
                </a:solidFill>
              </a:rPr>
              <a:t>packing</a:t>
            </a:r>
            <a:r>
              <a:rPr sz="3000" spc="-155" dirty="0">
                <a:solidFill>
                  <a:srgbClr val="000000"/>
                </a:solidFill>
              </a:rPr>
              <a:t> </a:t>
            </a:r>
            <a:r>
              <a:rPr sz="3000" spc="-250" dirty="0">
                <a:solidFill>
                  <a:srgbClr val="000000"/>
                </a:solidFill>
              </a:rPr>
              <a:t>and</a:t>
            </a:r>
            <a:r>
              <a:rPr sz="3000" spc="-150" dirty="0">
                <a:solidFill>
                  <a:srgbClr val="000000"/>
                </a:solidFill>
              </a:rPr>
              <a:t> </a:t>
            </a:r>
            <a:r>
              <a:rPr sz="3000" spc="-260" dirty="0">
                <a:solidFill>
                  <a:srgbClr val="000000"/>
                </a:solidFill>
              </a:rPr>
              <a:t>covering</a:t>
            </a:r>
            <a:r>
              <a:rPr sz="3000" spc="-155" dirty="0">
                <a:solidFill>
                  <a:srgbClr val="000000"/>
                </a:solidFill>
              </a:rPr>
              <a:t> </a:t>
            </a:r>
            <a:r>
              <a:rPr sz="3000" spc="-310" dirty="0">
                <a:solidFill>
                  <a:srgbClr val="000000"/>
                </a:solidFill>
              </a:rPr>
              <a:t>problems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305" dirty="0"/>
              <a:t>constraint</a:t>
            </a:r>
            <a:r>
              <a:rPr sz="3000" spc="-145" dirty="0"/>
              <a:t> </a:t>
            </a:r>
            <a:r>
              <a:rPr sz="3000" spc="-275" dirty="0"/>
              <a:t>satisfaction</a:t>
            </a:r>
            <a:r>
              <a:rPr sz="3000" spc="-140" dirty="0"/>
              <a:t> </a:t>
            </a:r>
            <a:r>
              <a:rPr sz="3000" spc="-310" dirty="0"/>
              <a:t>problems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90" dirty="0"/>
              <a:t>sequencing</a:t>
            </a:r>
            <a:r>
              <a:rPr sz="3000" spc="-175" dirty="0"/>
              <a:t> </a:t>
            </a:r>
            <a:r>
              <a:rPr sz="3000" spc="-310" dirty="0"/>
              <a:t>problems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40" dirty="0"/>
              <a:t>partitioning</a:t>
            </a:r>
            <a:r>
              <a:rPr sz="3000" spc="-80" dirty="0"/>
              <a:t> </a:t>
            </a:r>
            <a:r>
              <a:rPr sz="3000" spc="-310" dirty="0"/>
              <a:t>problems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35" dirty="0"/>
              <a:t>graph</a:t>
            </a:r>
            <a:r>
              <a:rPr sz="3000" spc="-150" dirty="0"/>
              <a:t> </a:t>
            </a:r>
            <a:r>
              <a:rPr sz="3000" spc="-85" dirty="0"/>
              <a:t>coloring</a:t>
            </a:r>
            <a:endParaRPr sz="3000"/>
          </a:p>
          <a:p>
            <a:pPr marL="329565" indent="-316865">
              <a:lnSpc>
                <a:spcPct val="100000"/>
              </a:lnSpc>
              <a:spcBef>
                <a:spcPts val="1400"/>
              </a:spcBef>
              <a:buFont typeface="Tahoma"/>
              <a:buChar char="‣"/>
              <a:tabLst>
                <a:tab pos="329565" algn="l"/>
              </a:tabLst>
            </a:pPr>
            <a:r>
              <a:rPr sz="3000" spc="-280" dirty="0"/>
              <a:t>numerical</a:t>
            </a:r>
            <a:r>
              <a:rPr sz="3000" spc="-190" dirty="0"/>
              <a:t> </a:t>
            </a:r>
            <a:r>
              <a:rPr sz="3000" spc="-310" dirty="0"/>
              <a:t>problems</a:t>
            </a:r>
            <a:endParaRPr sz="3000"/>
          </a:p>
        </p:txBody>
      </p:sp>
      <p:sp>
        <p:nvSpPr>
          <p:cNvPr id="8" name="object 8"/>
          <p:cNvSpPr txBox="1"/>
          <p:nvPr/>
        </p:nvSpPr>
        <p:spPr>
          <a:xfrm>
            <a:off x="2224904" y="6918652"/>
            <a:ext cx="1308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cap="small" dirty="0">
                <a:solidFill>
                  <a:srgbClr val="606060"/>
                </a:solidFill>
                <a:latin typeface="Tahoma"/>
                <a:cs typeface="Tahoma"/>
              </a:rPr>
              <a:t>Section</a:t>
            </a:r>
            <a:r>
              <a:rPr sz="1800" b="1" cap="small" spc="10" dirty="0">
                <a:solidFill>
                  <a:srgbClr val="606060"/>
                </a:solidFill>
                <a:latin typeface="Tahoma"/>
                <a:cs typeface="Tahoma"/>
              </a:rPr>
              <a:t> </a:t>
            </a:r>
            <a:r>
              <a:rPr sz="1800" b="1" cap="small" spc="-95" dirty="0">
                <a:solidFill>
                  <a:srgbClr val="606060"/>
                </a:solidFill>
                <a:latin typeface="Tahoma"/>
                <a:cs typeface="Tahoma"/>
              </a:rPr>
              <a:t>8.1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0100" y="1221740"/>
            <a:ext cx="9751695" cy="243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253174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I</a:t>
            </a:r>
            <a:r>
              <a:rPr sz="19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NDEPENDENT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-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S</a:t>
            </a:r>
            <a:r>
              <a:rPr sz="19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ET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graph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there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subset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 </a:t>
            </a:r>
            <a:r>
              <a:rPr sz="2400" dirty="0">
                <a:latin typeface="Lucida Sans Unicode"/>
                <a:cs typeface="Lucida Sans Unicode"/>
              </a:rPr>
              <a:t>(or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more)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vertices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two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10" dirty="0">
                <a:latin typeface="Lucida Sans Unicode"/>
                <a:cs typeface="Lucida Sans Unicode"/>
              </a:rPr>
              <a:t> adjacent?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 marR="3267075">
              <a:lnSpc>
                <a:spcPct val="131900"/>
              </a:lnSpc>
              <a:spcBef>
                <a:spcPts val="5"/>
              </a:spcBef>
              <a:tabLst>
                <a:tab pos="65341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independent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≥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6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?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independent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≥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7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?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25920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Independent</a:t>
            </a:r>
            <a:r>
              <a:rPr spc="190" dirty="0"/>
              <a:t> </a:t>
            </a:r>
            <a:r>
              <a:rPr spc="-25" dirty="0"/>
              <a:t>set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9418637" y="7369140"/>
            <a:ext cx="364490" cy="361950"/>
            <a:chOff x="9418637" y="7369140"/>
            <a:chExt cx="364490" cy="361950"/>
          </a:xfrm>
        </p:grpSpPr>
        <p:sp>
          <p:nvSpPr>
            <p:cNvPr id="6" name="object 6"/>
            <p:cNvSpPr/>
            <p:nvPr/>
          </p:nvSpPr>
          <p:spPr>
            <a:xfrm>
              <a:off x="9423400" y="7373902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177235" y="0"/>
                  </a:moveTo>
                  <a:lnTo>
                    <a:pt x="132275" y="5731"/>
                  </a:lnTo>
                  <a:lnTo>
                    <a:pt x="89704" y="22924"/>
                  </a:lnTo>
                  <a:lnTo>
                    <a:pt x="51911" y="51580"/>
                  </a:lnTo>
                  <a:lnTo>
                    <a:pt x="23071" y="89133"/>
                  </a:lnTo>
                  <a:lnTo>
                    <a:pt x="5767" y="131433"/>
                  </a:lnTo>
                  <a:lnTo>
                    <a:pt x="0" y="176107"/>
                  </a:lnTo>
                  <a:lnTo>
                    <a:pt x="5767" y="220781"/>
                  </a:lnTo>
                  <a:lnTo>
                    <a:pt x="23071" y="263080"/>
                  </a:lnTo>
                  <a:lnTo>
                    <a:pt x="51911" y="300632"/>
                  </a:lnTo>
                  <a:lnTo>
                    <a:pt x="89704" y="329288"/>
                  </a:lnTo>
                  <a:lnTo>
                    <a:pt x="132275" y="346482"/>
                  </a:lnTo>
                  <a:lnTo>
                    <a:pt x="177235" y="352213"/>
                  </a:lnTo>
                  <a:lnTo>
                    <a:pt x="222195" y="346482"/>
                  </a:lnTo>
                  <a:lnTo>
                    <a:pt x="264766" y="329288"/>
                  </a:lnTo>
                  <a:lnTo>
                    <a:pt x="302559" y="300632"/>
                  </a:lnTo>
                  <a:lnTo>
                    <a:pt x="331399" y="263080"/>
                  </a:lnTo>
                  <a:lnTo>
                    <a:pt x="348703" y="220781"/>
                  </a:lnTo>
                  <a:lnTo>
                    <a:pt x="354470" y="176107"/>
                  </a:lnTo>
                  <a:lnTo>
                    <a:pt x="348703" y="131433"/>
                  </a:lnTo>
                  <a:lnTo>
                    <a:pt x="331399" y="89133"/>
                  </a:lnTo>
                  <a:lnTo>
                    <a:pt x="302559" y="51580"/>
                  </a:lnTo>
                  <a:lnTo>
                    <a:pt x="264766" y="22924"/>
                  </a:lnTo>
                  <a:lnTo>
                    <a:pt x="222195" y="5731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423400" y="7373903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302559" y="51580"/>
                  </a:moveTo>
                  <a:lnTo>
                    <a:pt x="331399" y="89132"/>
                  </a:lnTo>
                  <a:lnTo>
                    <a:pt x="348703" y="131432"/>
                  </a:lnTo>
                  <a:lnTo>
                    <a:pt x="354471" y="176106"/>
                  </a:lnTo>
                  <a:lnTo>
                    <a:pt x="348703" y="220780"/>
                  </a:lnTo>
                  <a:lnTo>
                    <a:pt x="331399" y="263080"/>
                  </a:lnTo>
                  <a:lnTo>
                    <a:pt x="302559" y="300632"/>
                  </a:lnTo>
                  <a:lnTo>
                    <a:pt x="264767" y="329288"/>
                  </a:lnTo>
                  <a:lnTo>
                    <a:pt x="222195" y="346482"/>
                  </a:lnTo>
                  <a:lnTo>
                    <a:pt x="177235" y="352213"/>
                  </a:lnTo>
                  <a:lnTo>
                    <a:pt x="132275" y="346482"/>
                  </a:lnTo>
                  <a:lnTo>
                    <a:pt x="89704" y="329288"/>
                  </a:lnTo>
                  <a:lnTo>
                    <a:pt x="51911" y="300632"/>
                  </a:lnTo>
                  <a:lnTo>
                    <a:pt x="23071" y="263080"/>
                  </a:lnTo>
                  <a:lnTo>
                    <a:pt x="5767" y="220780"/>
                  </a:lnTo>
                  <a:lnTo>
                    <a:pt x="0" y="176106"/>
                  </a:lnTo>
                  <a:lnTo>
                    <a:pt x="5767" y="131432"/>
                  </a:lnTo>
                  <a:lnTo>
                    <a:pt x="23071" y="89132"/>
                  </a:lnTo>
                  <a:lnTo>
                    <a:pt x="51911" y="51580"/>
                  </a:lnTo>
                  <a:lnTo>
                    <a:pt x="89704" y="22924"/>
                  </a:lnTo>
                  <a:lnTo>
                    <a:pt x="132275" y="5731"/>
                  </a:lnTo>
                  <a:lnTo>
                    <a:pt x="177235" y="0"/>
                  </a:lnTo>
                  <a:lnTo>
                    <a:pt x="222195" y="5731"/>
                  </a:lnTo>
                  <a:lnTo>
                    <a:pt x="264767" y="22924"/>
                  </a:lnTo>
                  <a:lnTo>
                    <a:pt x="302559" y="515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010589" y="7399337"/>
            <a:ext cx="268732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independent</a:t>
            </a:r>
            <a:r>
              <a:rPr sz="1600" b="1" spc="15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set</a:t>
            </a:r>
            <a:r>
              <a:rPr sz="1600" b="1" spc="15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of</a:t>
            </a:r>
            <a:r>
              <a:rPr sz="1600" b="1" spc="15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size</a:t>
            </a:r>
            <a:r>
              <a:rPr sz="1600" b="1" spc="150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6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792537" y="4881068"/>
            <a:ext cx="4110990" cy="4511675"/>
            <a:chOff x="3792537" y="4881068"/>
            <a:chExt cx="4110990" cy="4511675"/>
          </a:xfrm>
        </p:grpSpPr>
        <p:sp>
          <p:nvSpPr>
            <p:cNvPr id="10" name="object 10"/>
            <p:cNvSpPr/>
            <p:nvPr/>
          </p:nvSpPr>
          <p:spPr>
            <a:xfrm>
              <a:off x="3974536" y="9210604"/>
              <a:ext cx="3559810" cy="0"/>
            </a:xfrm>
            <a:custGeom>
              <a:avLst/>
              <a:gdLst/>
              <a:ahLst/>
              <a:cxnLst/>
              <a:rect l="l" t="t" r="r" b="b"/>
              <a:pathLst>
                <a:path w="3559809">
                  <a:moveTo>
                    <a:pt x="3559422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715956" y="5245003"/>
              <a:ext cx="0" cy="636270"/>
            </a:xfrm>
            <a:custGeom>
              <a:avLst/>
              <a:gdLst/>
              <a:ahLst/>
              <a:cxnLst/>
              <a:rect l="l" t="t" r="r" b="b"/>
              <a:pathLst>
                <a:path h="636270">
                  <a:moveTo>
                    <a:pt x="0" y="0"/>
                  </a:moveTo>
                  <a:lnTo>
                    <a:pt x="0" y="0"/>
                  </a:lnTo>
                  <a:lnTo>
                    <a:pt x="0" y="587318"/>
                  </a:lnTo>
                  <a:lnTo>
                    <a:pt x="0" y="636261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715956" y="6245198"/>
              <a:ext cx="0" cy="918844"/>
            </a:xfrm>
            <a:custGeom>
              <a:avLst/>
              <a:gdLst/>
              <a:ahLst/>
              <a:cxnLst/>
              <a:rect l="l" t="t" r="r" b="b"/>
              <a:pathLst>
                <a:path h="918845">
                  <a:moveTo>
                    <a:pt x="0" y="0"/>
                  </a:moveTo>
                  <a:lnTo>
                    <a:pt x="0" y="918730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74536" y="6063261"/>
              <a:ext cx="0" cy="920115"/>
            </a:xfrm>
            <a:custGeom>
              <a:avLst/>
              <a:gdLst/>
              <a:ahLst/>
              <a:cxnLst/>
              <a:rect l="l" t="t" r="r" b="b"/>
              <a:pathLst>
                <a:path h="920115">
                  <a:moveTo>
                    <a:pt x="0" y="919797"/>
                  </a:moveTo>
                  <a:lnTo>
                    <a:pt x="0" y="919797"/>
                  </a:lnTo>
                  <a:lnTo>
                    <a:pt x="0" y="51099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74536" y="5063066"/>
              <a:ext cx="3559810" cy="0"/>
            </a:xfrm>
            <a:custGeom>
              <a:avLst/>
              <a:gdLst/>
              <a:ahLst/>
              <a:cxnLst/>
              <a:rect l="l" t="t" r="r" b="b"/>
              <a:pathLst>
                <a:path w="3559809">
                  <a:moveTo>
                    <a:pt x="0" y="0"/>
                  </a:moveTo>
                  <a:lnTo>
                    <a:pt x="0" y="0"/>
                  </a:lnTo>
                  <a:lnTo>
                    <a:pt x="3508573" y="0"/>
                  </a:lnTo>
                  <a:lnTo>
                    <a:pt x="3559422" y="0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74536" y="5063066"/>
              <a:ext cx="3566160" cy="953769"/>
            </a:xfrm>
            <a:custGeom>
              <a:avLst/>
              <a:gdLst/>
              <a:ahLst/>
              <a:cxnLst/>
              <a:rect l="l" t="t" r="r" b="b"/>
              <a:pathLst>
                <a:path w="3566159" h="953770">
                  <a:moveTo>
                    <a:pt x="0" y="0"/>
                  </a:moveTo>
                  <a:lnTo>
                    <a:pt x="3565695" y="953218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74536" y="6063261"/>
              <a:ext cx="3559810" cy="0"/>
            </a:xfrm>
            <a:custGeom>
              <a:avLst/>
              <a:gdLst/>
              <a:ahLst/>
              <a:cxnLst/>
              <a:rect l="l" t="t" r="r" b="b"/>
              <a:pathLst>
                <a:path w="3559809">
                  <a:moveTo>
                    <a:pt x="0" y="0"/>
                  </a:moveTo>
                  <a:lnTo>
                    <a:pt x="3559422" y="0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133188" y="5152149"/>
              <a:ext cx="3424554" cy="1922780"/>
            </a:xfrm>
            <a:custGeom>
              <a:avLst/>
              <a:gdLst/>
              <a:ahLst/>
              <a:cxnLst/>
              <a:rect l="l" t="t" r="r" b="b"/>
              <a:pathLst>
                <a:path w="3424554" h="1922779">
                  <a:moveTo>
                    <a:pt x="0" y="1922693"/>
                  </a:moveTo>
                  <a:lnTo>
                    <a:pt x="3424120" y="0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50398" y="7210995"/>
              <a:ext cx="3566160" cy="954405"/>
            </a:xfrm>
            <a:custGeom>
              <a:avLst/>
              <a:gdLst/>
              <a:ahLst/>
              <a:cxnLst/>
              <a:rect l="l" t="t" r="r" b="b"/>
              <a:pathLst>
                <a:path w="3566159" h="954404">
                  <a:moveTo>
                    <a:pt x="0" y="0"/>
                  </a:moveTo>
                  <a:lnTo>
                    <a:pt x="3565558" y="954257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56471" y="7163929"/>
              <a:ext cx="3559810" cy="0"/>
            </a:xfrm>
            <a:custGeom>
              <a:avLst/>
              <a:gdLst/>
              <a:ahLst/>
              <a:cxnLst/>
              <a:rect l="l" t="t" r="r" b="b"/>
              <a:pathLst>
                <a:path w="3559809">
                  <a:moveTo>
                    <a:pt x="0" y="0"/>
                  </a:moveTo>
                  <a:lnTo>
                    <a:pt x="3559484" y="0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974536" y="8165252"/>
              <a:ext cx="3566795" cy="996950"/>
            </a:xfrm>
            <a:custGeom>
              <a:avLst/>
              <a:gdLst/>
              <a:ahLst/>
              <a:cxnLst/>
              <a:rect l="l" t="t" r="r" b="b"/>
              <a:pathLst>
                <a:path w="3566795" h="996950">
                  <a:moveTo>
                    <a:pt x="0" y="0"/>
                  </a:moveTo>
                  <a:lnTo>
                    <a:pt x="3566236" y="996404"/>
                  </a:lnTo>
                </a:path>
              </a:pathLst>
            </a:custGeom>
            <a:ln w="38099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15956" y="8165252"/>
              <a:ext cx="0" cy="863600"/>
            </a:xfrm>
            <a:custGeom>
              <a:avLst/>
              <a:gdLst/>
              <a:ahLst/>
              <a:cxnLst/>
              <a:rect l="l" t="t" r="r" b="b"/>
              <a:pathLst>
                <a:path h="863600">
                  <a:moveTo>
                    <a:pt x="0" y="0"/>
                  </a:moveTo>
                  <a:lnTo>
                    <a:pt x="0" y="863352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797300" y="4889499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97300" y="4889499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97300" y="902970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7"/>
                  </a:lnTo>
                  <a:lnTo>
                    <a:pt x="51911" y="302560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1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60"/>
                  </a:lnTo>
                  <a:lnTo>
                    <a:pt x="331399" y="264767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97300" y="902970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43800" y="6985000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177235" y="0"/>
                  </a:moveTo>
                  <a:lnTo>
                    <a:pt x="132275" y="5731"/>
                  </a:lnTo>
                  <a:lnTo>
                    <a:pt x="89704" y="22924"/>
                  </a:lnTo>
                  <a:lnTo>
                    <a:pt x="51911" y="51580"/>
                  </a:lnTo>
                  <a:lnTo>
                    <a:pt x="23071" y="89132"/>
                  </a:lnTo>
                  <a:lnTo>
                    <a:pt x="5767" y="131432"/>
                  </a:lnTo>
                  <a:lnTo>
                    <a:pt x="0" y="176106"/>
                  </a:lnTo>
                  <a:lnTo>
                    <a:pt x="5767" y="220780"/>
                  </a:lnTo>
                  <a:lnTo>
                    <a:pt x="23071" y="263080"/>
                  </a:lnTo>
                  <a:lnTo>
                    <a:pt x="51911" y="300632"/>
                  </a:lnTo>
                  <a:lnTo>
                    <a:pt x="89704" y="329288"/>
                  </a:lnTo>
                  <a:lnTo>
                    <a:pt x="132275" y="346482"/>
                  </a:lnTo>
                  <a:lnTo>
                    <a:pt x="177235" y="352213"/>
                  </a:lnTo>
                  <a:lnTo>
                    <a:pt x="222195" y="346482"/>
                  </a:lnTo>
                  <a:lnTo>
                    <a:pt x="264766" y="329288"/>
                  </a:lnTo>
                  <a:lnTo>
                    <a:pt x="302559" y="300632"/>
                  </a:lnTo>
                  <a:lnTo>
                    <a:pt x="331399" y="263080"/>
                  </a:lnTo>
                  <a:lnTo>
                    <a:pt x="348703" y="220780"/>
                  </a:lnTo>
                  <a:lnTo>
                    <a:pt x="354470" y="176106"/>
                  </a:lnTo>
                  <a:lnTo>
                    <a:pt x="348703" y="131432"/>
                  </a:lnTo>
                  <a:lnTo>
                    <a:pt x="331399" y="89132"/>
                  </a:lnTo>
                  <a:lnTo>
                    <a:pt x="302559" y="51580"/>
                  </a:lnTo>
                  <a:lnTo>
                    <a:pt x="264766" y="22924"/>
                  </a:lnTo>
                  <a:lnTo>
                    <a:pt x="222195" y="5731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43800" y="6984999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302559" y="51580"/>
                  </a:moveTo>
                  <a:lnTo>
                    <a:pt x="331399" y="89132"/>
                  </a:lnTo>
                  <a:lnTo>
                    <a:pt x="348703" y="131432"/>
                  </a:lnTo>
                  <a:lnTo>
                    <a:pt x="354471" y="176106"/>
                  </a:lnTo>
                  <a:lnTo>
                    <a:pt x="348703" y="220780"/>
                  </a:lnTo>
                  <a:lnTo>
                    <a:pt x="331399" y="263080"/>
                  </a:lnTo>
                  <a:lnTo>
                    <a:pt x="302559" y="300632"/>
                  </a:lnTo>
                  <a:lnTo>
                    <a:pt x="264767" y="329288"/>
                  </a:lnTo>
                  <a:lnTo>
                    <a:pt x="222195" y="346482"/>
                  </a:lnTo>
                  <a:lnTo>
                    <a:pt x="177235" y="352213"/>
                  </a:lnTo>
                  <a:lnTo>
                    <a:pt x="132275" y="346482"/>
                  </a:lnTo>
                  <a:lnTo>
                    <a:pt x="89704" y="329288"/>
                  </a:lnTo>
                  <a:lnTo>
                    <a:pt x="51911" y="300632"/>
                  </a:lnTo>
                  <a:lnTo>
                    <a:pt x="23071" y="263080"/>
                  </a:lnTo>
                  <a:lnTo>
                    <a:pt x="5767" y="220780"/>
                  </a:lnTo>
                  <a:lnTo>
                    <a:pt x="0" y="176106"/>
                  </a:lnTo>
                  <a:lnTo>
                    <a:pt x="5767" y="131432"/>
                  </a:lnTo>
                  <a:lnTo>
                    <a:pt x="23071" y="89132"/>
                  </a:lnTo>
                  <a:lnTo>
                    <a:pt x="51911" y="51580"/>
                  </a:lnTo>
                  <a:lnTo>
                    <a:pt x="89704" y="22924"/>
                  </a:lnTo>
                  <a:lnTo>
                    <a:pt x="132275" y="5731"/>
                  </a:lnTo>
                  <a:lnTo>
                    <a:pt x="177235" y="0"/>
                  </a:lnTo>
                  <a:lnTo>
                    <a:pt x="222195" y="5731"/>
                  </a:lnTo>
                  <a:lnTo>
                    <a:pt x="264767" y="22924"/>
                  </a:lnTo>
                  <a:lnTo>
                    <a:pt x="302559" y="515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797300" y="5880099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797300" y="5880099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797300" y="7988299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97300" y="7988299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543800" y="7988299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43800" y="7988299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797300" y="6987822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4" h="352425">
                  <a:moveTo>
                    <a:pt x="177235" y="0"/>
                  </a:moveTo>
                  <a:lnTo>
                    <a:pt x="132275" y="5731"/>
                  </a:lnTo>
                  <a:lnTo>
                    <a:pt x="89704" y="22924"/>
                  </a:lnTo>
                  <a:lnTo>
                    <a:pt x="51911" y="51580"/>
                  </a:lnTo>
                  <a:lnTo>
                    <a:pt x="23071" y="89133"/>
                  </a:lnTo>
                  <a:lnTo>
                    <a:pt x="5767" y="131432"/>
                  </a:lnTo>
                  <a:lnTo>
                    <a:pt x="0" y="176106"/>
                  </a:lnTo>
                  <a:lnTo>
                    <a:pt x="5767" y="220780"/>
                  </a:lnTo>
                  <a:lnTo>
                    <a:pt x="23071" y="263080"/>
                  </a:lnTo>
                  <a:lnTo>
                    <a:pt x="51911" y="300632"/>
                  </a:lnTo>
                  <a:lnTo>
                    <a:pt x="89704" y="329288"/>
                  </a:lnTo>
                  <a:lnTo>
                    <a:pt x="132275" y="346482"/>
                  </a:lnTo>
                  <a:lnTo>
                    <a:pt x="177235" y="352213"/>
                  </a:lnTo>
                  <a:lnTo>
                    <a:pt x="222195" y="346482"/>
                  </a:lnTo>
                  <a:lnTo>
                    <a:pt x="264766" y="329288"/>
                  </a:lnTo>
                  <a:lnTo>
                    <a:pt x="302559" y="300632"/>
                  </a:lnTo>
                  <a:lnTo>
                    <a:pt x="331399" y="263080"/>
                  </a:lnTo>
                  <a:lnTo>
                    <a:pt x="348703" y="220780"/>
                  </a:lnTo>
                  <a:lnTo>
                    <a:pt x="354470" y="176106"/>
                  </a:lnTo>
                  <a:lnTo>
                    <a:pt x="348703" y="131432"/>
                  </a:lnTo>
                  <a:lnTo>
                    <a:pt x="331399" y="89133"/>
                  </a:lnTo>
                  <a:lnTo>
                    <a:pt x="302559" y="51580"/>
                  </a:lnTo>
                  <a:lnTo>
                    <a:pt x="264766" y="22924"/>
                  </a:lnTo>
                  <a:lnTo>
                    <a:pt x="222195" y="5731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97300" y="6987821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4" h="352425">
                  <a:moveTo>
                    <a:pt x="302559" y="51580"/>
                  </a:moveTo>
                  <a:lnTo>
                    <a:pt x="331399" y="89132"/>
                  </a:lnTo>
                  <a:lnTo>
                    <a:pt x="348703" y="131432"/>
                  </a:lnTo>
                  <a:lnTo>
                    <a:pt x="354471" y="176106"/>
                  </a:lnTo>
                  <a:lnTo>
                    <a:pt x="348703" y="220780"/>
                  </a:lnTo>
                  <a:lnTo>
                    <a:pt x="331399" y="263080"/>
                  </a:lnTo>
                  <a:lnTo>
                    <a:pt x="302559" y="300632"/>
                  </a:lnTo>
                  <a:lnTo>
                    <a:pt x="264767" y="329288"/>
                  </a:lnTo>
                  <a:lnTo>
                    <a:pt x="222195" y="346482"/>
                  </a:lnTo>
                  <a:lnTo>
                    <a:pt x="177235" y="352213"/>
                  </a:lnTo>
                  <a:lnTo>
                    <a:pt x="132275" y="346482"/>
                  </a:lnTo>
                  <a:lnTo>
                    <a:pt x="89704" y="329288"/>
                  </a:lnTo>
                  <a:lnTo>
                    <a:pt x="51911" y="300632"/>
                  </a:lnTo>
                  <a:lnTo>
                    <a:pt x="23071" y="263080"/>
                  </a:lnTo>
                  <a:lnTo>
                    <a:pt x="5767" y="220780"/>
                  </a:lnTo>
                  <a:lnTo>
                    <a:pt x="0" y="176106"/>
                  </a:lnTo>
                  <a:lnTo>
                    <a:pt x="5767" y="131432"/>
                  </a:lnTo>
                  <a:lnTo>
                    <a:pt x="23071" y="89132"/>
                  </a:lnTo>
                  <a:lnTo>
                    <a:pt x="51911" y="51580"/>
                  </a:lnTo>
                  <a:lnTo>
                    <a:pt x="89704" y="22924"/>
                  </a:lnTo>
                  <a:lnTo>
                    <a:pt x="132275" y="5731"/>
                  </a:lnTo>
                  <a:lnTo>
                    <a:pt x="177235" y="0"/>
                  </a:lnTo>
                  <a:lnTo>
                    <a:pt x="222195" y="5731"/>
                  </a:lnTo>
                  <a:lnTo>
                    <a:pt x="264767" y="22924"/>
                  </a:lnTo>
                  <a:lnTo>
                    <a:pt x="302559" y="515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538720" y="488583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4">
                  <a:moveTo>
                    <a:pt x="177236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6"/>
                  </a:lnTo>
                  <a:lnTo>
                    <a:pt x="23071" y="264767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6" y="354470"/>
                  </a:lnTo>
                  <a:lnTo>
                    <a:pt x="222196" y="348703"/>
                  </a:lnTo>
                  <a:lnTo>
                    <a:pt x="264767" y="331399"/>
                  </a:lnTo>
                  <a:lnTo>
                    <a:pt x="302560" y="302559"/>
                  </a:lnTo>
                  <a:lnTo>
                    <a:pt x="331400" y="264767"/>
                  </a:lnTo>
                  <a:lnTo>
                    <a:pt x="348703" y="222196"/>
                  </a:lnTo>
                  <a:lnTo>
                    <a:pt x="354471" y="177235"/>
                  </a:lnTo>
                  <a:lnTo>
                    <a:pt x="348703" y="132275"/>
                  </a:lnTo>
                  <a:lnTo>
                    <a:pt x="331400" y="89704"/>
                  </a:lnTo>
                  <a:lnTo>
                    <a:pt x="302560" y="51911"/>
                  </a:lnTo>
                  <a:lnTo>
                    <a:pt x="264767" y="23071"/>
                  </a:lnTo>
                  <a:lnTo>
                    <a:pt x="222196" y="5767"/>
                  </a:lnTo>
                  <a:lnTo>
                    <a:pt x="177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538720" y="488583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4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538720" y="9033368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177236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7"/>
                  </a:lnTo>
                  <a:lnTo>
                    <a:pt x="51911" y="302560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6" y="354471"/>
                  </a:lnTo>
                  <a:lnTo>
                    <a:pt x="222196" y="348703"/>
                  </a:lnTo>
                  <a:lnTo>
                    <a:pt x="264767" y="331399"/>
                  </a:lnTo>
                  <a:lnTo>
                    <a:pt x="302560" y="302560"/>
                  </a:lnTo>
                  <a:lnTo>
                    <a:pt x="331400" y="264767"/>
                  </a:lnTo>
                  <a:lnTo>
                    <a:pt x="348703" y="222195"/>
                  </a:lnTo>
                  <a:lnTo>
                    <a:pt x="354471" y="177235"/>
                  </a:lnTo>
                  <a:lnTo>
                    <a:pt x="348703" y="132275"/>
                  </a:lnTo>
                  <a:lnTo>
                    <a:pt x="331400" y="89704"/>
                  </a:lnTo>
                  <a:lnTo>
                    <a:pt x="302560" y="51911"/>
                  </a:lnTo>
                  <a:lnTo>
                    <a:pt x="264767" y="23071"/>
                  </a:lnTo>
                  <a:lnTo>
                    <a:pt x="222196" y="5767"/>
                  </a:lnTo>
                  <a:lnTo>
                    <a:pt x="177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538720" y="9033368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538720" y="5886026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4">
                  <a:moveTo>
                    <a:pt x="177236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3"/>
                  </a:lnTo>
                  <a:lnTo>
                    <a:pt x="5767" y="132274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6" y="354470"/>
                  </a:lnTo>
                  <a:lnTo>
                    <a:pt x="222196" y="348703"/>
                  </a:lnTo>
                  <a:lnTo>
                    <a:pt x="264767" y="331399"/>
                  </a:lnTo>
                  <a:lnTo>
                    <a:pt x="302560" y="302559"/>
                  </a:lnTo>
                  <a:lnTo>
                    <a:pt x="331400" y="264766"/>
                  </a:lnTo>
                  <a:lnTo>
                    <a:pt x="348703" y="222195"/>
                  </a:lnTo>
                  <a:lnTo>
                    <a:pt x="354471" y="177235"/>
                  </a:lnTo>
                  <a:lnTo>
                    <a:pt x="348703" y="132274"/>
                  </a:lnTo>
                  <a:lnTo>
                    <a:pt x="331400" y="89703"/>
                  </a:lnTo>
                  <a:lnTo>
                    <a:pt x="302560" y="51911"/>
                  </a:lnTo>
                  <a:lnTo>
                    <a:pt x="264767" y="23071"/>
                  </a:lnTo>
                  <a:lnTo>
                    <a:pt x="222196" y="5767"/>
                  </a:lnTo>
                  <a:lnTo>
                    <a:pt x="177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538720" y="5886026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4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133364" y="6152390"/>
              <a:ext cx="3424554" cy="1924050"/>
            </a:xfrm>
            <a:custGeom>
              <a:avLst/>
              <a:gdLst/>
              <a:ahLst/>
              <a:cxnLst/>
              <a:rect l="l" t="t" r="r" b="b"/>
              <a:pathLst>
                <a:path w="3424554" h="1924050">
                  <a:moveTo>
                    <a:pt x="3423969" y="0"/>
                  </a:moveTo>
                  <a:lnTo>
                    <a:pt x="0" y="1923900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113983" y="6180412"/>
              <a:ext cx="3462654" cy="2909570"/>
            </a:xfrm>
            <a:custGeom>
              <a:avLst/>
              <a:gdLst/>
              <a:ahLst/>
              <a:cxnLst/>
              <a:rect l="l" t="t" r="r" b="b"/>
              <a:pathLst>
                <a:path w="3462654" h="2909570">
                  <a:moveTo>
                    <a:pt x="0" y="2909354"/>
                  </a:moveTo>
                  <a:lnTo>
                    <a:pt x="3462547" y="0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797300" y="488583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6"/>
                  </a:lnTo>
                  <a:lnTo>
                    <a:pt x="23071" y="264767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7"/>
                  </a:lnTo>
                  <a:lnTo>
                    <a:pt x="348703" y="222196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797300" y="488583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797300" y="9033368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7"/>
                  </a:lnTo>
                  <a:lnTo>
                    <a:pt x="51911" y="302560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1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60"/>
                  </a:lnTo>
                  <a:lnTo>
                    <a:pt x="331399" y="264767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97300" y="9033368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538720" y="6987822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177236" y="0"/>
                  </a:moveTo>
                  <a:lnTo>
                    <a:pt x="132275" y="5731"/>
                  </a:lnTo>
                  <a:lnTo>
                    <a:pt x="89704" y="22924"/>
                  </a:lnTo>
                  <a:lnTo>
                    <a:pt x="51911" y="51580"/>
                  </a:lnTo>
                  <a:lnTo>
                    <a:pt x="23071" y="89133"/>
                  </a:lnTo>
                  <a:lnTo>
                    <a:pt x="5767" y="131432"/>
                  </a:lnTo>
                  <a:lnTo>
                    <a:pt x="0" y="176106"/>
                  </a:lnTo>
                  <a:lnTo>
                    <a:pt x="5767" y="220780"/>
                  </a:lnTo>
                  <a:lnTo>
                    <a:pt x="23071" y="263080"/>
                  </a:lnTo>
                  <a:lnTo>
                    <a:pt x="51911" y="300632"/>
                  </a:lnTo>
                  <a:lnTo>
                    <a:pt x="89704" y="329288"/>
                  </a:lnTo>
                  <a:lnTo>
                    <a:pt x="132275" y="346482"/>
                  </a:lnTo>
                  <a:lnTo>
                    <a:pt x="177236" y="352213"/>
                  </a:lnTo>
                  <a:lnTo>
                    <a:pt x="222196" y="346482"/>
                  </a:lnTo>
                  <a:lnTo>
                    <a:pt x="264767" y="329288"/>
                  </a:lnTo>
                  <a:lnTo>
                    <a:pt x="302560" y="300632"/>
                  </a:lnTo>
                  <a:lnTo>
                    <a:pt x="331400" y="263080"/>
                  </a:lnTo>
                  <a:lnTo>
                    <a:pt x="348703" y="220780"/>
                  </a:lnTo>
                  <a:lnTo>
                    <a:pt x="354471" y="176106"/>
                  </a:lnTo>
                  <a:lnTo>
                    <a:pt x="348703" y="131432"/>
                  </a:lnTo>
                  <a:lnTo>
                    <a:pt x="331400" y="89133"/>
                  </a:lnTo>
                  <a:lnTo>
                    <a:pt x="302560" y="51580"/>
                  </a:lnTo>
                  <a:lnTo>
                    <a:pt x="264767" y="22924"/>
                  </a:lnTo>
                  <a:lnTo>
                    <a:pt x="222196" y="5731"/>
                  </a:lnTo>
                  <a:lnTo>
                    <a:pt x="1772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538720" y="6987821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302559" y="51580"/>
                  </a:moveTo>
                  <a:lnTo>
                    <a:pt x="331399" y="89132"/>
                  </a:lnTo>
                  <a:lnTo>
                    <a:pt x="348703" y="131432"/>
                  </a:lnTo>
                  <a:lnTo>
                    <a:pt x="354471" y="176106"/>
                  </a:lnTo>
                  <a:lnTo>
                    <a:pt x="348703" y="220780"/>
                  </a:lnTo>
                  <a:lnTo>
                    <a:pt x="331399" y="263080"/>
                  </a:lnTo>
                  <a:lnTo>
                    <a:pt x="302559" y="300632"/>
                  </a:lnTo>
                  <a:lnTo>
                    <a:pt x="264767" y="329288"/>
                  </a:lnTo>
                  <a:lnTo>
                    <a:pt x="222195" y="346482"/>
                  </a:lnTo>
                  <a:lnTo>
                    <a:pt x="177235" y="352213"/>
                  </a:lnTo>
                  <a:lnTo>
                    <a:pt x="132275" y="346482"/>
                  </a:lnTo>
                  <a:lnTo>
                    <a:pt x="89704" y="329288"/>
                  </a:lnTo>
                  <a:lnTo>
                    <a:pt x="51911" y="300632"/>
                  </a:lnTo>
                  <a:lnTo>
                    <a:pt x="23071" y="263080"/>
                  </a:lnTo>
                  <a:lnTo>
                    <a:pt x="5767" y="220780"/>
                  </a:lnTo>
                  <a:lnTo>
                    <a:pt x="0" y="176106"/>
                  </a:lnTo>
                  <a:lnTo>
                    <a:pt x="5767" y="131432"/>
                  </a:lnTo>
                  <a:lnTo>
                    <a:pt x="23071" y="89132"/>
                  </a:lnTo>
                  <a:lnTo>
                    <a:pt x="51911" y="51580"/>
                  </a:lnTo>
                  <a:lnTo>
                    <a:pt x="89704" y="22924"/>
                  </a:lnTo>
                  <a:lnTo>
                    <a:pt x="132275" y="5731"/>
                  </a:lnTo>
                  <a:lnTo>
                    <a:pt x="177235" y="0"/>
                  </a:lnTo>
                  <a:lnTo>
                    <a:pt x="222195" y="5731"/>
                  </a:lnTo>
                  <a:lnTo>
                    <a:pt x="264767" y="22924"/>
                  </a:lnTo>
                  <a:lnTo>
                    <a:pt x="302559" y="515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97300" y="5886026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3"/>
                  </a:lnTo>
                  <a:lnTo>
                    <a:pt x="5767" y="132274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4"/>
                  </a:lnTo>
                  <a:lnTo>
                    <a:pt x="331399" y="89703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797300" y="5886026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97300" y="7988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97300" y="7988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538720" y="7988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177236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6" y="354470"/>
                  </a:lnTo>
                  <a:lnTo>
                    <a:pt x="222196" y="348703"/>
                  </a:lnTo>
                  <a:lnTo>
                    <a:pt x="264767" y="331399"/>
                  </a:lnTo>
                  <a:lnTo>
                    <a:pt x="302560" y="302559"/>
                  </a:lnTo>
                  <a:lnTo>
                    <a:pt x="331400" y="264766"/>
                  </a:lnTo>
                  <a:lnTo>
                    <a:pt x="348703" y="222195"/>
                  </a:lnTo>
                  <a:lnTo>
                    <a:pt x="354471" y="177235"/>
                  </a:lnTo>
                  <a:lnTo>
                    <a:pt x="348703" y="132275"/>
                  </a:lnTo>
                  <a:lnTo>
                    <a:pt x="331400" y="89704"/>
                  </a:lnTo>
                  <a:lnTo>
                    <a:pt x="302560" y="51911"/>
                  </a:lnTo>
                  <a:lnTo>
                    <a:pt x="264767" y="23071"/>
                  </a:lnTo>
                  <a:lnTo>
                    <a:pt x="222196" y="5767"/>
                  </a:lnTo>
                  <a:lnTo>
                    <a:pt x="1772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538720" y="7988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74536" y="9210604"/>
            <a:ext cx="3559810" cy="0"/>
          </a:xfrm>
          <a:custGeom>
            <a:avLst/>
            <a:gdLst/>
            <a:ahLst/>
            <a:cxnLst/>
            <a:rect l="l" t="t" r="r" b="b"/>
            <a:pathLst>
              <a:path w="3559809">
                <a:moveTo>
                  <a:pt x="3559422" y="0"/>
                </a:moveTo>
                <a:lnTo>
                  <a:pt x="0" y="0"/>
                </a:lnTo>
              </a:path>
            </a:pathLst>
          </a:custGeom>
          <a:ln w="3810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715956" y="5245003"/>
            <a:ext cx="0" cy="636270"/>
          </a:xfrm>
          <a:custGeom>
            <a:avLst/>
            <a:gdLst/>
            <a:ahLst/>
            <a:cxnLst/>
            <a:rect l="l" t="t" r="r" b="b"/>
            <a:pathLst>
              <a:path h="636270">
                <a:moveTo>
                  <a:pt x="0" y="0"/>
                </a:moveTo>
                <a:lnTo>
                  <a:pt x="0" y="0"/>
                </a:lnTo>
                <a:lnTo>
                  <a:pt x="0" y="587318"/>
                </a:lnTo>
                <a:lnTo>
                  <a:pt x="0" y="636261"/>
                </a:lnTo>
              </a:path>
            </a:pathLst>
          </a:custGeom>
          <a:ln w="3810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5956" y="6245198"/>
            <a:ext cx="0" cy="918844"/>
          </a:xfrm>
          <a:custGeom>
            <a:avLst/>
            <a:gdLst/>
            <a:ahLst/>
            <a:cxnLst/>
            <a:rect l="l" t="t" r="r" b="b"/>
            <a:pathLst>
              <a:path h="918845">
                <a:moveTo>
                  <a:pt x="0" y="0"/>
                </a:moveTo>
                <a:lnTo>
                  <a:pt x="0" y="918730"/>
                </a:lnTo>
              </a:path>
            </a:pathLst>
          </a:custGeom>
          <a:ln w="3810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74536" y="6063262"/>
            <a:ext cx="0" cy="920115"/>
          </a:xfrm>
          <a:custGeom>
            <a:avLst/>
            <a:gdLst/>
            <a:ahLst/>
            <a:cxnLst/>
            <a:rect l="l" t="t" r="r" b="b"/>
            <a:pathLst>
              <a:path h="920115">
                <a:moveTo>
                  <a:pt x="0" y="919797"/>
                </a:moveTo>
                <a:lnTo>
                  <a:pt x="0" y="919797"/>
                </a:lnTo>
                <a:lnTo>
                  <a:pt x="0" y="51099"/>
                </a:lnTo>
                <a:lnTo>
                  <a:pt x="0" y="0"/>
                </a:lnTo>
              </a:path>
            </a:pathLst>
          </a:custGeom>
          <a:ln w="38100">
            <a:solidFill>
              <a:srgbClr val="AAAAA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3955486" y="5044016"/>
            <a:ext cx="3621404" cy="2050414"/>
            <a:chOff x="3955486" y="5044016"/>
            <a:chExt cx="3621404" cy="2050414"/>
          </a:xfrm>
        </p:grpSpPr>
        <p:sp>
          <p:nvSpPr>
            <p:cNvPr id="7" name="object 7"/>
            <p:cNvSpPr/>
            <p:nvPr/>
          </p:nvSpPr>
          <p:spPr>
            <a:xfrm>
              <a:off x="3974536" y="5063066"/>
              <a:ext cx="3559810" cy="0"/>
            </a:xfrm>
            <a:custGeom>
              <a:avLst/>
              <a:gdLst/>
              <a:ahLst/>
              <a:cxnLst/>
              <a:rect l="l" t="t" r="r" b="b"/>
              <a:pathLst>
                <a:path w="3559809">
                  <a:moveTo>
                    <a:pt x="0" y="0"/>
                  </a:moveTo>
                  <a:lnTo>
                    <a:pt x="0" y="0"/>
                  </a:lnTo>
                  <a:lnTo>
                    <a:pt x="3508573" y="0"/>
                  </a:lnTo>
                  <a:lnTo>
                    <a:pt x="3559422" y="0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974536" y="5063066"/>
              <a:ext cx="3566160" cy="953769"/>
            </a:xfrm>
            <a:custGeom>
              <a:avLst/>
              <a:gdLst/>
              <a:ahLst/>
              <a:cxnLst/>
              <a:rect l="l" t="t" r="r" b="b"/>
              <a:pathLst>
                <a:path w="3566159" h="953770">
                  <a:moveTo>
                    <a:pt x="0" y="0"/>
                  </a:moveTo>
                  <a:lnTo>
                    <a:pt x="3565695" y="953218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974536" y="6063261"/>
              <a:ext cx="3559810" cy="0"/>
            </a:xfrm>
            <a:custGeom>
              <a:avLst/>
              <a:gdLst/>
              <a:ahLst/>
              <a:cxnLst/>
              <a:rect l="l" t="t" r="r" b="b"/>
              <a:pathLst>
                <a:path w="3559809">
                  <a:moveTo>
                    <a:pt x="0" y="0"/>
                  </a:moveTo>
                  <a:lnTo>
                    <a:pt x="3559422" y="0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33188" y="5152149"/>
              <a:ext cx="3424554" cy="1922780"/>
            </a:xfrm>
            <a:custGeom>
              <a:avLst/>
              <a:gdLst/>
              <a:ahLst/>
              <a:cxnLst/>
              <a:rect l="l" t="t" r="r" b="b"/>
              <a:pathLst>
                <a:path w="3424554" h="1922779">
                  <a:moveTo>
                    <a:pt x="0" y="1922693"/>
                  </a:moveTo>
                  <a:lnTo>
                    <a:pt x="3424120" y="0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3955486" y="7144879"/>
            <a:ext cx="3779520" cy="2036445"/>
            <a:chOff x="3955486" y="7144879"/>
            <a:chExt cx="3779520" cy="2036445"/>
          </a:xfrm>
        </p:grpSpPr>
        <p:sp>
          <p:nvSpPr>
            <p:cNvPr id="12" name="object 12"/>
            <p:cNvSpPr/>
            <p:nvPr/>
          </p:nvSpPr>
          <p:spPr>
            <a:xfrm>
              <a:off x="4150398" y="7210995"/>
              <a:ext cx="3566160" cy="954405"/>
            </a:xfrm>
            <a:custGeom>
              <a:avLst/>
              <a:gdLst/>
              <a:ahLst/>
              <a:cxnLst/>
              <a:rect l="l" t="t" r="r" b="b"/>
              <a:pathLst>
                <a:path w="3566159" h="954404">
                  <a:moveTo>
                    <a:pt x="0" y="0"/>
                  </a:moveTo>
                  <a:lnTo>
                    <a:pt x="3565558" y="954257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156471" y="7163929"/>
              <a:ext cx="3559810" cy="0"/>
            </a:xfrm>
            <a:custGeom>
              <a:avLst/>
              <a:gdLst/>
              <a:ahLst/>
              <a:cxnLst/>
              <a:rect l="l" t="t" r="r" b="b"/>
              <a:pathLst>
                <a:path w="3559809">
                  <a:moveTo>
                    <a:pt x="0" y="0"/>
                  </a:moveTo>
                  <a:lnTo>
                    <a:pt x="3559484" y="0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974536" y="8165253"/>
              <a:ext cx="3566795" cy="996950"/>
            </a:xfrm>
            <a:custGeom>
              <a:avLst/>
              <a:gdLst/>
              <a:ahLst/>
              <a:cxnLst/>
              <a:rect l="l" t="t" r="r" b="b"/>
              <a:pathLst>
                <a:path w="3566795" h="996950">
                  <a:moveTo>
                    <a:pt x="0" y="0"/>
                  </a:moveTo>
                  <a:lnTo>
                    <a:pt x="3566236" y="996404"/>
                  </a:lnTo>
                </a:path>
              </a:pathLst>
            </a:custGeom>
            <a:ln w="38099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715956" y="8165253"/>
              <a:ext cx="0" cy="863600"/>
            </a:xfrm>
            <a:custGeom>
              <a:avLst/>
              <a:gdLst/>
              <a:ahLst/>
              <a:cxnLst/>
              <a:rect l="l" t="t" r="r" b="b"/>
              <a:pathLst>
                <a:path h="863600">
                  <a:moveTo>
                    <a:pt x="0" y="0"/>
                  </a:moveTo>
                  <a:lnTo>
                    <a:pt x="0" y="863352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792537" y="4884737"/>
            <a:ext cx="364490" cy="364490"/>
            <a:chOff x="3792537" y="4884737"/>
            <a:chExt cx="364490" cy="364490"/>
          </a:xfrm>
        </p:grpSpPr>
        <p:sp>
          <p:nvSpPr>
            <p:cNvPr id="17" name="object 17"/>
            <p:cNvSpPr/>
            <p:nvPr/>
          </p:nvSpPr>
          <p:spPr>
            <a:xfrm>
              <a:off x="3797300" y="488950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97300" y="488950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792537" y="9024937"/>
            <a:ext cx="364490" cy="364490"/>
            <a:chOff x="3792537" y="9024937"/>
            <a:chExt cx="364490" cy="364490"/>
          </a:xfrm>
        </p:grpSpPr>
        <p:sp>
          <p:nvSpPr>
            <p:cNvPr id="20" name="object 20"/>
            <p:cNvSpPr/>
            <p:nvPr/>
          </p:nvSpPr>
          <p:spPr>
            <a:xfrm>
              <a:off x="3797300" y="9029699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7"/>
                  </a:lnTo>
                  <a:lnTo>
                    <a:pt x="51911" y="302560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1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60"/>
                  </a:lnTo>
                  <a:lnTo>
                    <a:pt x="331399" y="264767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97300" y="902970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7539037" y="6980237"/>
            <a:ext cx="364490" cy="361950"/>
            <a:chOff x="7539037" y="6980237"/>
            <a:chExt cx="364490" cy="361950"/>
          </a:xfrm>
        </p:grpSpPr>
        <p:sp>
          <p:nvSpPr>
            <p:cNvPr id="23" name="object 23"/>
            <p:cNvSpPr/>
            <p:nvPr/>
          </p:nvSpPr>
          <p:spPr>
            <a:xfrm>
              <a:off x="7543800" y="6985000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177235" y="0"/>
                  </a:moveTo>
                  <a:lnTo>
                    <a:pt x="132275" y="5731"/>
                  </a:lnTo>
                  <a:lnTo>
                    <a:pt x="89704" y="22924"/>
                  </a:lnTo>
                  <a:lnTo>
                    <a:pt x="51911" y="51580"/>
                  </a:lnTo>
                  <a:lnTo>
                    <a:pt x="23071" y="89132"/>
                  </a:lnTo>
                  <a:lnTo>
                    <a:pt x="5767" y="131432"/>
                  </a:lnTo>
                  <a:lnTo>
                    <a:pt x="0" y="176106"/>
                  </a:lnTo>
                  <a:lnTo>
                    <a:pt x="5767" y="220780"/>
                  </a:lnTo>
                  <a:lnTo>
                    <a:pt x="23071" y="263080"/>
                  </a:lnTo>
                  <a:lnTo>
                    <a:pt x="51911" y="300632"/>
                  </a:lnTo>
                  <a:lnTo>
                    <a:pt x="89704" y="329288"/>
                  </a:lnTo>
                  <a:lnTo>
                    <a:pt x="132275" y="346482"/>
                  </a:lnTo>
                  <a:lnTo>
                    <a:pt x="177235" y="352213"/>
                  </a:lnTo>
                  <a:lnTo>
                    <a:pt x="222195" y="346482"/>
                  </a:lnTo>
                  <a:lnTo>
                    <a:pt x="264766" y="329288"/>
                  </a:lnTo>
                  <a:lnTo>
                    <a:pt x="302559" y="300632"/>
                  </a:lnTo>
                  <a:lnTo>
                    <a:pt x="331399" y="263080"/>
                  </a:lnTo>
                  <a:lnTo>
                    <a:pt x="348703" y="220780"/>
                  </a:lnTo>
                  <a:lnTo>
                    <a:pt x="354470" y="176106"/>
                  </a:lnTo>
                  <a:lnTo>
                    <a:pt x="348703" y="131432"/>
                  </a:lnTo>
                  <a:lnTo>
                    <a:pt x="331399" y="89132"/>
                  </a:lnTo>
                  <a:lnTo>
                    <a:pt x="302559" y="51580"/>
                  </a:lnTo>
                  <a:lnTo>
                    <a:pt x="264766" y="22924"/>
                  </a:lnTo>
                  <a:lnTo>
                    <a:pt x="222195" y="5731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43800" y="6985000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302559" y="51580"/>
                  </a:moveTo>
                  <a:lnTo>
                    <a:pt x="331399" y="89132"/>
                  </a:lnTo>
                  <a:lnTo>
                    <a:pt x="348703" y="131432"/>
                  </a:lnTo>
                  <a:lnTo>
                    <a:pt x="354471" y="176106"/>
                  </a:lnTo>
                  <a:lnTo>
                    <a:pt x="348703" y="220780"/>
                  </a:lnTo>
                  <a:lnTo>
                    <a:pt x="331399" y="263080"/>
                  </a:lnTo>
                  <a:lnTo>
                    <a:pt x="302559" y="300632"/>
                  </a:lnTo>
                  <a:lnTo>
                    <a:pt x="264767" y="329288"/>
                  </a:lnTo>
                  <a:lnTo>
                    <a:pt x="222195" y="346482"/>
                  </a:lnTo>
                  <a:lnTo>
                    <a:pt x="177235" y="352213"/>
                  </a:lnTo>
                  <a:lnTo>
                    <a:pt x="132275" y="346482"/>
                  </a:lnTo>
                  <a:lnTo>
                    <a:pt x="89704" y="329288"/>
                  </a:lnTo>
                  <a:lnTo>
                    <a:pt x="51911" y="300632"/>
                  </a:lnTo>
                  <a:lnTo>
                    <a:pt x="23071" y="263080"/>
                  </a:lnTo>
                  <a:lnTo>
                    <a:pt x="5767" y="220780"/>
                  </a:lnTo>
                  <a:lnTo>
                    <a:pt x="0" y="176106"/>
                  </a:lnTo>
                  <a:lnTo>
                    <a:pt x="5767" y="131432"/>
                  </a:lnTo>
                  <a:lnTo>
                    <a:pt x="23071" y="89132"/>
                  </a:lnTo>
                  <a:lnTo>
                    <a:pt x="51911" y="51580"/>
                  </a:lnTo>
                  <a:lnTo>
                    <a:pt x="89704" y="22924"/>
                  </a:lnTo>
                  <a:lnTo>
                    <a:pt x="132275" y="5731"/>
                  </a:lnTo>
                  <a:lnTo>
                    <a:pt x="177235" y="0"/>
                  </a:lnTo>
                  <a:lnTo>
                    <a:pt x="222195" y="5731"/>
                  </a:lnTo>
                  <a:lnTo>
                    <a:pt x="264767" y="22924"/>
                  </a:lnTo>
                  <a:lnTo>
                    <a:pt x="302559" y="515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3792537" y="5875337"/>
            <a:ext cx="364490" cy="364490"/>
            <a:chOff x="3792537" y="5875337"/>
            <a:chExt cx="364490" cy="364490"/>
          </a:xfrm>
        </p:grpSpPr>
        <p:sp>
          <p:nvSpPr>
            <p:cNvPr id="26" name="object 26"/>
            <p:cNvSpPr/>
            <p:nvPr/>
          </p:nvSpPr>
          <p:spPr>
            <a:xfrm>
              <a:off x="3797300" y="588010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97300" y="588010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792537" y="7983537"/>
            <a:ext cx="364490" cy="364490"/>
            <a:chOff x="3792537" y="7983537"/>
            <a:chExt cx="364490" cy="364490"/>
          </a:xfrm>
        </p:grpSpPr>
        <p:sp>
          <p:nvSpPr>
            <p:cNvPr id="29" name="object 29"/>
            <p:cNvSpPr/>
            <p:nvPr/>
          </p:nvSpPr>
          <p:spPr>
            <a:xfrm>
              <a:off x="3797300" y="798830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797300" y="798830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7539037" y="7983537"/>
            <a:ext cx="364490" cy="364490"/>
            <a:chOff x="7539037" y="7983537"/>
            <a:chExt cx="364490" cy="364490"/>
          </a:xfrm>
        </p:grpSpPr>
        <p:sp>
          <p:nvSpPr>
            <p:cNvPr id="32" name="object 32"/>
            <p:cNvSpPr/>
            <p:nvPr/>
          </p:nvSpPr>
          <p:spPr>
            <a:xfrm>
              <a:off x="7543800" y="798830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543800" y="798830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3792537" y="6983059"/>
            <a:ext cx="364490" cy="361950"/>
            <a:chOff x="3792537" y="6983059"/>
            <a:chExt cx="364490" cy="361950"/>
          </a:xfrm>
        </p:grpSpPr>
        <p:sp>
          <p:nvSpPr>
            <p:cNvPr id="35" name="object 35"/>
            <p:cNvSpPr/>
            <p:nvPr/>
          </p:nvSpPr>
          <p:spPr>
            <a:xfrm>
              <a:off x="3797300" y="6987822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4" h="352425">
                  <a:moveTo>
                    <a:pt x="177235" y="0"/>
                  </a:moveTo>
                  <a:lnTo>
                    <a:pt x="132275" y="5731"/>
                  </a:lnTo>
                  <a:lnTo>
                    <a:pt x="89704" y="22924"/>
                  </a:lnTo>
                  <a:lnTo>
                    <a:pt x="51911" y="51580"/>
                  </a:lnTo>
                  <a:lnTo>
                    <a:pt x="23071" y="89133"/>
                  </a:lnTo>
                  <a:lnTo>
                    <a:pt x="5767" y="131432"/>
                  </a:lnTo>
                  <a:lnTo>
                    <a:pt x="0" y="176106"/>
                  </a:lnTo>
                  <a:lnTo>
                    <a:pt x="5767" y="220780"/>
                  </a:lnTo>
                  <a:lnTo>
                    <a:pt x="23071" y="263080"/>
                  </a:lnTo>
                  <a:lnTo>
                    <a:pt x="51911" y="300632"/>
                  </a:lnTo>
                  <a:lnTo>
                    <a:pt x="89704" y="329288"/>
                  </a:lnTo>
                  <a:lnTo>
                    <a:pt x="132275" y="346482"/>
                  </a:lnTo>
                  <a:lnTo>
                    <a:pt x="177235" y="352213"/>
                  </a:lnTo>
                  <a:lnTo>
                    <a:pt x="222195" y="346482"/>
                  </a:lnTo>
                  <a:lnTo>
                    <a:pt x="264766" y="329288"/>
                  </a:lnTo>
                  <a:lnTo>
                    <a:pt x="302559" y="300632"/>
                  </a:lnTo>
                  <a:lnTo>
                    <a:pt x="331399" y="263080"/>
                  </a:lnTo>
                  <a:lnTo>
                    <a:pt x="348703" y="220780"/>
                  </a:lnTo>
                  <a:lnTo>
                    <a:pt x="354470" y="176106"/>
                  </a:lnTo>
                  <a:lnTo>
                    <a:pt x="348703" y="131432"/>
                  </a:lnTo>
                  <a:lnTo>
                    <a:pt x="331399" y="89133"/>
                  </a:lnTo>
                  <a:lnTo>
                    <a:pt x="302559" y="51580"/>
                  </a:lnTo>
                  <a:lnTo>
                    <a:pt x="264766" y="22924"/>
                  </a:lnTo>
                  <a:lnTo>
                    <a:pt x="222195" y="5731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797300" y="6987822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4" h="352425">
                  <a:moveTo>
                    <a:pt x="302559" y="51580"/>
                  </a:moveTo>
                  <a:lnTo>
                    <a:pt x="331399" y="89132"/>
                  </a:lnTo>
                  <a:lnTo>
                    <a:pt x="348703" y="131432"/>
                  </a:lnTo>
                  <a:lnTo>
                    <a:pt x="354471" y="176106"/>
                  </a:lnTo>
                  <a:lnTo>
                    <a:pt x="348703" y="220780"/>
                  </a:lnTo>
                  <a:lnTo>
                    <a:pt x="331399" y="263080"/>
                  </a:lnTo>
                  <a:lnTo>
                    <a:pt x="302559" y="300632"/>
                  </a:lnTo>
                  <a:lnTo>
                    <a:pt x="264767" y="329288"/>
                  </a:lnTo>
                  <a:lnTo>
                    <a:pt x="222195" y="346482"/>
                  </a:lnTo>
                  <a:lnTo>
                    <a:pt x="177235" y="352213"/>
                  </a:lnTo>
                  <a:lnTo>
                    <a:pt x="132275" y="346482"/>
                  </a:lnTo>
                  <a:lnTo>
                    <a:pt x="89704" y="329288"/>
                  </a:lnTo>
                  <a:lnTo>
                    <a:pt x="51911" y="300632"/>
                  </a:lnTo>
                  <a:lnTo>
                    <a:pt x="23071" y="263080"/>
                  </a:lnTo>
                  <a:lnTo>
                    <a:pt x="5767" y="220780"/>
                  </a:lnTo>
                  <a:lnTo>
                    <a:pt x="0" y="176106"/>
                  </a:lnTo>
                  <a:lnTo>
                    <a:pt x="5767" y="131432"/>
                  </a:lnTo>
                  <a:lnTo>
                    <a:pt x="23071" y="89132"/>
                  </a:lnTo>
                  <a:lnTo>
                    <a:pt x="51911" y="51580"/>
                  </a:lnTo>
                  <a:lnTo>
                    <a:pt x="89704" y="22924"/>
                  </a:lnTo>
                  <a:lnTo>
                    <a:pt x="132275" y="5731"/>
                  </a:lnTo>
                  <a:lnTo>
                    <a:pt x="177235" y="0"/>
                  </a:lnTo>
                  <a:lnTo>
                    <a:pt x="222195" y="5731"/>
                  </a:lnTo>
                  <a:lnTo>
                    <a:pt x="264767" y="22924"/>
                  </a:lnTo>
                  <a:lnTo>
                    <a:pt x="302559" y="515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7533957" y="4881068"/>
            <a:ext cx="364490" cy="364490"/>
            <a:chOff x="7533957" y="4881068"/>
            <a:chExt cx="364490" cy="364490"/>
          </a:xfrm>
        </p:grpSpPr>
        <p:sp>
          <p:nvSpPr>
            <p:cNvPr id="38" name="object 38"/>
            <p:cNvSpPr/>
            <p:nvPr/>
          </p:nvSpPr>
          <p:spPr>
            <a:xfrm>
              <a:off x="7538719" y="488583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4">
                  <a:moveTo>
                    <a:pt x="177236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6"/>
                  </a:lnTo>
                  <a:lnTo>
                    <a:pt x="23071" y="264767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6" y="354470"/>
                  </a:lnTo>
                  <a:lnTo>
                    <a:pt x="222196" y="348703"/>
                  </a:lnTo>
                  <a:lnTo>
                    <a:pt x="264767" y="331399"/>
                  </a:lnTo>
                  <a:lnTo>
                    <a:pt x="302560" y="302559"/>
                  </a:lnTo>
                  <a:lnTo>
                    <a:pt x="331400" y="264767"/>
                  </a:lnTo>
                  <a:lnTo>
                    <a:pt x="348703" y="222196"/>
                  </a:lnTo>
                  <a:lnTo>
                    <a:pt x="354471" y="177235"/>
                  </a:lnTo>
                  <a:lnTo>
                    <a:pt x="348703" y="132275"/>
                  </a:lnTo>
                  <a:lnTo>
                    <a:pt x="331400" y="89704"/>
                  </a:lnTo>
                  <a:lnTo>
                    <a:pt x="302560" y="51911"/>
                  </a:lnTo>
                  <a:lnTo>
                    <a:pt x="264767" y="23071"/>
                  </a:lnTo>
                  <a:lnTo>
                    <a:pt x="222196" y="5767"/>
                  </a:lnTo>
                  <a:lnTo>
                    <a:pt x="177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538719" y="488583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4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7533957" y="9028606"/>
            <a:ext cx="364490" cy="364490"/>
            <a:chOff x="7533957" y="9028606"/>
            <a:chExt cx="364490" cy="364490"/>
          </a:xfrm>
        </p:grpSpPr>
        <p:sp>
          <p:nvSpPr>
            <p:cNvPr id="41" name="object 41"/>
            <p:cNvSpPr/>
            <p:nvPr/>
          </p:nvSpPr>
          <p:spPr>
            <a:xfrm>
              <a:off x="7538719" y="9033368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177236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7"/>
                  </a:lnTo>
                  <a:lnTo>
                    <a:pt x="51911" y="302560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6" y="354471"/>
                  </a:lnTo>
                  <a:lnTo>
                    <a:pt x="222196" y="348703"/>
                  </a:lnTo>
                  <a:lnTo>
                    <a:pt x="264767" y="331399"/>
                  </a:lnTo>
                  <a:lnTo>
                    <a:pt x="302560" y="302560"/>
                  </a:lnTo>
                  <a:lnTo>
                    <a:pt x="331400" y="264767"/>
                  </a:lnTo>
                  <a:lnTo>
                    <a:pt x="348703" y="222195"/>
                  </a:lnTo>
                  <a:lnTo>
                    <a:pt x="354471" y="177235"/>
                  </a:lnTo>
                  <a:lnTo>
                    <a:pt x="348703" y="132275"/>
                  </a:lnTo>
                  <a:lnTo>
                    <a:pt x="331400" y="89704"/>
                  </a:lnTo>
                  <a:lnTo>
                    <a:pt x="302560" y="51911"/>
                  </a:lnTo>
                  <a:lnTo>
                    <a:pt x="264767" y="23071"/>
                  </a:lnTo>
                  <a:lnTo>
                    <a:pt x="222196" y="5767"/>
                  </a:lnTo>
                  <a:lnTo>
                    <a:pt x="177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538719" y="9033368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4094933" y="5881264"/>
            <a:ext cx="3803015" cy="3227705"/>
            <a:chOff x="4094933" y="5881264"/>
            <a:chExt cx="3803015" cy="3227705"/>
          </a:xfrm>
        </p:grpSpPr>
        <p:sp>
          <p:nvSpPr>
            <p:cNvPr id="44" name="object 44"/>
            <p:cNvSpPr/>
            <p:nvPr/>
          </p:nvSpPr>
          <p:spPr>
            <a:xfrm>
              <a:off x="7538720" y="588602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4">
                  <a:moveTo>
                    <a:pt x="177236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3"/>
                  </a:lnTo>
                  <a:lnTo>
                    <a:pt x="5767" y="132274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6" y="354470"/>
                  </a:lnTo>
                  <a:lnTo>
                    <a:pt x="222196" y="348703"/>
                  </a:lnTo>
                  <a:lnTo>
                    <a:pt x="264767" y="331399"/>
                  </a:lnTo>
                  <a:lnTo>
                    <a:pt x="302560" y="302559"/>
                  </a:lnTo>
                  <a:lnTo>
                    <a:pt x="331400" y="264766"/>
                  </a:lnTo>
                  <a:lnTo>
                    <a:pt x="348703" y="222195"/>
                  </a:lnTo>
                  <a:lnTo>
                    <a:pt x="354471" y="177235"/>
                  </a:lnTo>
                  <a:lnTo>
                    <a:pt x="348703" y="132274"/>
                  </a:lnTo>
                  <a:lnTo>
                    <a:pt x="331400" y="89703"/>
                  </a:lnTo>
                  <a:lnTo>
                    <a:pt x="302560" y="51911"/>
                  </a:lnTo>
                  <a:lnTo>
                    <a:pt x="264767" y="23071"/>
                  </a:lnTo>
                  <a:lnTo>
                    <a:pt x="222196" y="5767"/>
                  </a:lnTo>
                  <a:lnTo>
                    <a:pt x="177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538720" y="588602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4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133364" y="6152390"/>
              <a:ext cx="3424554" cy="1924050"/>
            </a:xfrm>
            <a:custGeom>
              <a:avLst/>
              <a:gdLst/>
              <a:ahLst/>
              <a:cxnLst/>
              <a:rect l="l" t="t" r="r" b="b"/>
              <a:pathLst>
                <a:path w="3424554" h="1924050">
                  <a:moveTo>
                    <a:pt x="3423969" y="0"/>
                  </a:moveTo>
                  <a:lnTo>
                    <a:pt x="0" y="1923900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113983" y="6180413"/>
              <a:ext cx="3462654" cy="2909570"/>
            </a:xfrm>
            <a:custGeom>
              <a:avLst/>
              <a:gdLst/>
              <a:ahLst/>
              <a:cxnLst/>
              <a:rect l="l" t="t" r="r" b="b"/>
              <a:pathLst>
                <a:path w="3462654" h="2909570">
                  <a:moveTo>
                    <a:pt x="0" y="2909354"/>
                  </a:moveTo>
                  <a:lnTo>
                    <a:pt x="3462547" y="0"/>
                  </a:lnTo>
                </a:path>
              </a:pathLst>
            </a:custGeom>
            <a:ln w="381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Vertex</a:t>
            </a:r>
            <a:r>
              <a:rPr spc="210" dirty="0"/>
              <a:t> </a:t>
            </a:r>
            <a:r>
              <a:rPr spc="-20" dirty="0"/>
              <a:t>cover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800100" y="1221740"/>
            <a:ext cx="9656445" cy="2921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2171700" algn="l"/>
              </a:tabLst>
            </a:pPr>
            <a:r>
              <a:rPr sz="24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V</a:t>
            </a:r>
            <a:r>
              <a:rPr sz="19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ERTEX</a:t>
            </a:r>
            <a:r>
              <a:rPr sz="2400" spc="-40" dirty="0">
                <a:solidFill>
                  <a:srgbClr val="0048AA"/>
                </a:solidFill>
                <a:latin typeface="Lucida Sans Unicode"/>
                <a:cs typeface="Lucida Sans Unicode"/>
              </a:rPr>
              <a:t>-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</a:t>
            </a:r>
            <a:r>
              <a:rPr sz="19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OVER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graph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integer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a </a:t>
            </a:r>
            <a:r>
              <a:rPr sz="2400" dirty="0">
                <a:latin typeface="Lucida Sans Unicode"/>
                <a:cs typeface="Lucida Sans Unicode"/>
              </a:rPr>
              <a:t>subset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(or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fewer)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vertices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edge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incident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to </a:t>
            </a:r>
            <a:r>
              <a:rPr sz="2400" dirty="0">
                <a:latin typeface="Lucida Sans Unicode"/>
                <a:cs typeface="Lucida Sans Unicode"/>
              </a:rPr>
              <a:t>at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least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subset?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 marR="3900804">
              <a:lnSpc>
                <a:spcPct val="131900"/>
              </a:lnSpc>
              <a:spcBef>
                <a:spcPts val="5"/>
              </a:spcBef>
              <a:tabLst>
                <a:tab pos="65341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Is there a vertex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 of size </a:t>
            </a:r>
            <a:r>
              <a:rPr sz="2400" dirty="0">
                <a:latin typeface="Times New Roman"/>
                <a:cs typeface="Times New Roman"/>
              </a:rPr>
              <a:t>≤ 4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?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Is there a vertex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 of size </a:t>
            </a:r>
            <a:r>
              <a:rPr sz="2400" dirty="0">
                <a:latin typeface="Times New Roman"/>
                <a:cs typeface="Times New Roman"/>
              </a:rPr>
              <a:t>≤ 3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?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9418637" y="7843837"/>
            <a:ext cx="364490" cy="361950"/>
            <a:chOff x="9418637" y="7843837"/>
            <a:chExt cx="364490" cy="361950"/>
          </a:xfrm>
        </p:grpSpPr>
        <p:sp>
          <p:nvSpPr>
            <p:cNvPr id="52" name="object 52"/>
            <p:cNvSpPr/>
            <p:nvPr/>
          </p:nvSpPr>
          <p:spPr>
            <a:xfrm>
              <a:off x="9423400" y="7848600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177235" y="0"/>
                  </a:moveTo>
                  <a:lnTo>
                    <a:pt x="132275" y="5731"/>
                  </a:lnTo>
                  <a:lnTo>
                    <a:pt x="89704" y="22924"/>
                  </a:lnTo>
                  <a:lnTo>
                    <a:pt x="51911" y="51580"/>
                  </a:lnTo>
                  <a:lnTo>
                    <a:pt x="23071" y="89132"/>
                  </a:lnTo>
                  <a:lnTo>
                    <a:pt x="5767" y="131432"/>
                  </a:lnTo>
                  <a:lnTo>
                    <a:pt x="0" y="176106"/>
                  </a:lnTo>
                  <a:lnTo>
                    <a:pt x="5767" y="220780"/>
                  </a:lnTo>
                  <a:lnTo>
                    <a:pt x="23071" y="263080"/>
                  </a:lnTo>
                  <a:lnTo>
                    <a:pt x="51911" y="300632"/>
                  </a:lnTo>
                  <a:lnTo>
                    <a:pt x="89704" y="329288"/>
                  </a:lnTo>
                  <a:lnTo>
                    <a:pt x="132275" y="346482"/>
                  </a:lnTo>
                  <a:lnTo>
                    <a:pt x="177235" y="352213"/>
                  </a:lnTo>
                  <a:lnTo>
                    <a:pt x="222195" y="346482"/>
                  </a:lnTo>
                  <a:lnTo>
                    <a:pt x="264766" y="329288"/>
                  </a:lnTo>
                  <a:lnTo>
                    <a:pt x="302559" y="300632"/>
                  </a:lnTo>
                  <a:lnTo>
                    <a:pt x="331399" y="263080"/>
                  </a:lnTo>
                  <a:lnTo>
                    <a:pt x="348703" y="220780"/>
                  </a:lnTo>
                  <a:lnTo>
                    <a:pt x="354470" y="176106"/>
                  </a:lnTo>
                  <a:lnTo>
                    <a:pt x="348703" y="131432"/>
                  </a:lnTo>
                  <a:lnTo>
                    <a:pt x="331399" y="89132"/>
                  </a:lnTo>
                  <a:lnTo>
                    <a:pt x="302559" y="51580"/>
                  </a:lnTo>
                  <a:lnTo>
                    <a:pt x="264766" y="22924"/>
                  </a:lnTo>
                  <a:lnTo>
                    <a:pt x="222195" y="5731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423400" y="7848600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302559" y="51580"/>
                  </a:moveTo>
                  <a:lnTo>
                    <a:pt x="331399" y="89132"/>
                  </a:lnTo>
                  <a:lnTo>
                    <a:pt x="348703" y="131432"/>
                  </a:lnTo>
                  <a:lnTo>
                    <a:pt x="354471" y="176106"/>
                  </a:lnTo>
                  <a:lnTo>
                    <a:pt x="348703" y="220780"/>
                  </a:lnTo>
                  <a:lnTo>
                    <a:pt x="331399" y="263080"/>
                  </a:lnTo>
                  <a:lnTo>
                    <a:pt x="302559" y="300632"/>
                  </a:lnTo>
                  <a:lnTo>
                    <a:pt x="264767" y="329288"/>
                  </a:lnTo>
                  <a:lnTo>
                    <a:pt x="222195" y="346482"/>
                  </a:lnTo>
                  <a:lnTo>
                    <a:pt x="177235" y="352213"/>
                  </a:lnTo>
                  <a:lnTo>
                    <a:pt x="132275" y="346482"/>
                  </a:lnTo>
                  <a:lnTo>
                    <a:pt x="89704" y="329288"/>
                  </a:lnTo>
                  <a:lnTo>
                    <a:pt x="51911" y="300632"/>
                  </a:lnTo>
                  <a:lnTo>
                    <a:pt x="23071" y="263080"/>
                  </a:lnTo>
                  <a:lnTo>
                    <a:pt x="5767" y="220780"/>
                  </a:lnTo>
                  <a:lnTo>
                    <a:pt x="0" y="176106"/>
                  </a:lnTo>
                  <a:lnTo>
                    <a:pt x="5767" y="131432"/>
                  </a:lnTo>
                  <a:lnTo>
                    <a:pt x="23071" y="89132"/>
                  </a:lnTo>
                  <a:lnTo>
                    <a:pt x="51911" y="51580"/>
                  </a:lnTo>
                  <a:lnTo>
                    <a:pt x="89704" y="22924"/>
                  </a:lnTo>
                  <a:lnTo>
                    <a:pt x="132275" y="5731"/>
                  </a:lnTo>
                  <a:lnTo>
                    <a:pt x="177235" y="0"/>
                  </a:lnTo>
                  <a:lnTo>
                    <a:pt x="222195" y="5731"/>
                  </a:lnTo>
                  <a:lnTo>
                    <a:pt x="264767" y="22924"/>
                  </a:lnTo>
                  <a:lnTo>
                    <a:pt x="302559" y="515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0010589" y="7399337"/>
            <a:ext cx="2687320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independent</a:t>
            </a:r>
            <a:r>
              <a:rPr sz="1600" b="1" spc="15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set</a:t>
            </a:r>
            <a:r>
              <a:rPr sz="1600" b="1" spc="15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of</a:t>
            </a:r>
            <a:r>
              <a:rPr sz="1600" b="1" spc="15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size</a:t>
            </a:r>
            <a:r>
              <a:rPr sz="1600" b="1" spc="150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6</a:t>
            </a:r>
            <a:endParaRPr sz="16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  <a:spcBef>
                <a:spcPts val="1780"/>
              </a:spcBef>
            </a:pPr>
            <a:r>
              <a:rPr sz="1600" b="1" dirty="0">
                <a:latin typeface="Tahoma"/>
                <a:cs typeface="Tahoma"/>
              </a:rPr>
              <a:t>vertex</a:t>
            </a:r>
            <a:r>
              <a:rPr sz="1600" b="1" spc="12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cover</a:t>
            </a:r>
            <a:r>
              <a:rPr sz="1600" b="1" spc="12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of</a:t>
            </a:r>
            <a:r>
              <a:rPr sz="1600" b="1" spc="12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size</a:t>
            </a:r>
            <a:r>
              <a:rPr sz="1600" b="1" spc="125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4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9418637" y="7369140"/>
            <a:ext cx="364490" cy="361950"/>
            <a:chOff x="9418637" y="7369140"/>
            <a:chExt cx="364490" cy="361950"/>
          </a:xfrm>
        </p:grpSpPr>
        <p:sp>
          <p:nvSpPr>
            <p:cNvPr id="56" name="object 56"/>
            <p:cNvSpPr/>
            <p:nvPr/>
          </p:nvSpPr>
          <p:spPr>
            <a:xfrm>
              <a:off x="9423400" y="7373902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177235" y="0"/>
                  </a:moveTo>
                  <a:lnTo>
                    <a:pt x="132275" y="5731"/>
                  </a:lnTo>
                  <a:lnTo>
                    <a:pt x="89704" y="22924"/>
                  </a:lnTo>
                  <a:lnTo>
                    <a:pt x="51911" y="51580"/>
                  </a:lnTo>
                  <a:lnTo>
                    <a:pt x="23071" y="89133"/>
                  </a:lnTo>
                  <a:lnTo>
                    <a:pt x="5767" y="131433"/>
                  </a:lnTo>
                  <a:lnTo>
                    <a:pt x="0" y="176107"/>
                  </a:lnTo>
                  <a:lnTo>
                    <a:pt x="5767" y="220781"/>
                  </a:lnTo>
                  <a:lnTo>
                    <a:pt x="23071" y="263080"/>
                  </a:lnTo>
                  <a:lnTo>
                    <a:pt x="51911" y="300632"/>
                  </a:lnTo>
                  <a:lnTo>
                    <a:pt x="89704" y="329288"/>
                  </a:lnTo>
                  <a:lnTo>
                    <a:pt x="132275" y="346482"/>
                  </a:lnTo>
                  <a:lnTo>
                    <a:pt x="177235" y="352213"/>
                  </a:lnTo>
                  <a:lnTo>
                    <a:pt x="222195" y="346482"/>
                  </a:lnTo>
                  <a:lnTo>
                    <a:pt x="264766" y="329288"/>
                  </a:lnTo>
                  <a:lnTo>
                    <a:pt x="302559" y="300632"/>
                  </a:lnTo>
                  <a:lnTo>
                    <a:pt x="331399" y="263080"/>
                  </a:lnTo>
                  <a:lnTo>
                    <a:pt x="348703" y="220781"/>
                  </a:lnTo>
                  <a:lnTo>
                    <a:pt x="354470" y="176107"/>
                  </a:lnTo>
                  <a:lnTo>
                    <a:pt x="348703" y="131433"/>
                  </a:lnTo>
                  <a:lnTo>
                    <a:pt x="331399" y="89133"/>
                  </a:lnTo>
                  <a:lnTo>
                    <a:pt x="302559" y="51580"/>
                  </a:lnTo>
                  <a:lnTo>
                    <a:pt x="264766" y="22924"/>
                  </a:lnTo>
                  <a:lnTo>
                    <a:pt x="222195" y="5731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423400" y="7373903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302559" y="51580"/>
                  </a:moveTo>
                  <a:lnTo>
                    <a:pt x="331399" y="89132"/>
                  </a:lnTo>
                  <a:lnTo>
                    <a:pt x="348703" y="131432"/>
                  </a:lnTo>
                  <a:lnTo>
                    <a:pt x="354471" y="176106"/>
                  </a:lnTo>
                  <a:lnTo>
                    <a:pt x="348703" y="220780"/>
                  </a:lnTo>
                  <a:lnTo>
                    <a:pt x="331399" y="263080"/>
                  </a:lnTo>
                  <a:lnTo>
                    <a:pt x="302559" y="300632"/>
                  </a:lnTo>
                  <a:lnTo>
                    <a:pt x="264767" y="329288"/>
                  </a:lnTo>
                  <a:lnTo>
                    <a:pt x="222195" y="346482"/>
                  </a:lnTo>
                  <a:lnTo>
                    <a:pt x="177235" y="352213"/>
                  </a:lnTo>
                  <a:lnTo>
                    <a:pt x="132275" y="346482"/>
                  </a:lnTo>
                  <a:lnTo>
                    <a:pt x="89704" y="329288"/>
                  </a:lnTo>
                  <a:lnTo>
                    <a:pt x="51911" y="300632"/>
                  </a:lnTo>
                  <a:lnTo>
                    <a:pt x="23071" y="263080"/>
                  </a:lnTo>
                  <a:lnTo>
                    <a:pt x="5767" y="220780"/>
                  </a:lnTo>
                  <a:lnTo>
                    <a:pt x="0" y="176106"/>
                  </a:lnTo>
                  <a:lnTo>
                    <a:pt x="5767" y="131432"/>
                  </a:lnTo>
                  <a:lnTo>
                    <a:pt x="23071" y="89132"/>
                  </a:lnTo>
                  <a:lnTo>
                    <a:pt x="51911" y="51580"/>
                  </a:lnTo>
                  <a:lnTo>
                    <a:pt x="89704" y="22924"/>
                  </a:lnTo>
                  <a:lnTo>
                    <a:pt x="132275" y="5731"/>
                  </a:lnTo>
                  <a:lnTo>
                    <a:pt x="177235" y="0"/>
                  </a:lnTo>
                  <a:lnTo>
                    <a:pt x="222195" y="5731"/>
                  </a:lnTo>
                  <a:lnTo>
                    <a:pt x="264767" y="22924"/>
                  </a:lnTo>
                  <a:lnTo>
                    <a:pt x="302559" y="515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8" name="object 58"/>
          <p:cNvGrpSpPr/>
          <p:nvPr/>
        </p:nvGrpSpPr>
        <p:grpSpPr>
          <a:xfrm>
            <a:off x="3792537" y="4881068"/>
            <a:ext cx="364490" cy="364490"/>
            <a:chOff x="3792537" y="4881068"/>
            <a:chExt cx="364490" cy="364490"/>
          </a:xfrm>
        </p:grpSpPr>
        <p:sp>
          <p:nvSpPr>
            <p:cNvPr id="59" name="object 59"/>
            <p:cNvSpPr/>
            <p:nvPr/>
          </p:nvSpPr>
          <p:spPr>
            <a:xfrm>
              <a:off x="3797300" y="488583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6"/>
                  </a:lnTo>
                  <a:lnTo>
                    <a:pt x="23071" y="264767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7"/>
                  </a:lnTo>
                  <a:lnTo>
                    <a:pt x="348703" y="222196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797300" y="488583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1" name="object 61"/>
          <p:cNvGrpSpPr/>
          <p:nvPr/>
        </p:nvGrpSpPr>
        <p:grpSpPr>
          <a:xfrm>
            <a:off x="3792537" y="9028606"/>
            <a:ext cx="364490" cy="364490"/>
            <a:chOff x="3792537" y="9028606"/>
            <a:chExt cx="364490" cy="364490"/>
          </a:xfrm>
        </p:grpSpPr>
        <p:sp>
          <p:nvSpPr>
            <p:cNvPr id="62" name="object 62"/>
            <p:cNvSpPr/>
            <p:nvPr/>
          </p:nvSpPr>
          <p:spPr>
            <a:xfrm>
              <a:off x="3797300" y="9033368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7"/>
                  </a:lnTo>
                  <a:lnTo>
                    <a:pt x="51911" y="302560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1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60"/>
                  </a:lnTo>
                  <a:lnTo>
                    <a:pt x="331399" y="264767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3797300" y="9033368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7533957" y="6983059"/>
            <a:ext cx="364490" cy="361950"/>
            <a:chOff x="7533957" y="6983059"/>
            <a:chExt cx="364490" cy="361950"/>
          </a:xfrm>
        </p:grpSpPr>
        <p:sp>
          <p:nvSpPr>
            <p:cNvPr id="65" name="object 65"/>
            <p:cNvSpPr/>
            <p:nvPr/>
          </p:nvSpPr>
          <p:spPr>
            <a:xfrm>
              <a:off x="7538719" y="6987822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177236" y="0"/>
                  </a:moveTo>
                  <a:lnTo>
                    <a:pt x="132275" y="5731"/>
                  </a:lnTo>
                  <a:lnTo>
                    <a:pt x="89704" y="22924"/>
                  </a:lnTo>
                  <a:lnTo>
                    <a:pt x="51911" y="51580"/>
                  </a:lnTo>
                  <a:lnTo>
                    <a:pt x="23071" y="89133"/>
                  </a:lnTo>
                  <a:lnTo>
                    <a:pt x="5767" y="131432"/>
                  </a:lnTo>
                  <a:lnTo>
                    <a:pt x="0" y="176106"/>
                  </a:lnTo>
                  <a:lnTo>
                    <a:pt x="5767" y="220780"/>
                  </a:lnTo>
                  <a:lnTo>
                    <a:pt x="23071" y="263080"/>
                  </a:lnTo>
                  <a:lnTo>
                    <a:pt x="51911" y="300632"/>
                  </a:lnTo>
                  <a:lnTo>
                    <a:pt x="89704" y="329288"/>
                  </a:lnTo>
                  <a:lnTo>
                    <a:pt x="132275" y="346482"/>
                  </a:lnTo>
                  <a:lnTo>
                    <a:pt x="177236" y="352213"/>
                  </a:lnTo>
                  <a:lnTo>
                    <a:pt x="222196" y="346482"/>
                  </a:lnTo>
                  <a:lnTo>
                    <a:pt x="264767" y="329288"/>
                  </a:lnTo>
                  <a:lnTo>
                    <a:pt x="302560" y="300632"/>
                  </a:lnTo>
                  <a:lnTo>
                    <a:pt x="331400" y="263080"/>
                  </a:lnTo>
                  <a:lnTo>
                    <a:pt x="348703" y="220780"/>
                  </a:lnTo>
                  <a:lnTo>
                    <a:pt x="354471" y="176106"/>
                  </a:lnTo>
                  <a:lnTo>
                    <a:pt x="348703" y="131432"/>
                  </a:lnTo>
                  <a:lnTo>
                    <a:pt x="331400" y="89133"/>
                  </a:lnTo>
                  <a:lnTo>
                    <a:pt x="302560" y="51580"/>
                  </a:lnTo>
                  <a:lnTo>
                    <a:pt x="264767" y="22924"/>
                  </a:lnTo>
                  <a:lnTo>
                    <a:pt x="222196" y="5731"/>
                  </a:lnTo>
                  <a:lnTo>
                    <a:pt x="1772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7538719" y="6987822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302559" y="51580"/>
                  </a:moveTo>
                  <a:lnTo>
                    <a:pt x="331399" y="89132"/>
                  </a:lnTo>
                  <a:lnTo>
                    <a:pt x="348703" y="131432"/>
                  </a:lnTo>
                  <a:lnTo>
                    <a:pt x="354471" y="176106"/>
                  </a:lnTo>
                  <a:lnTo>
                    <a:pt x="348703" y="220780"/>
                  </a:lnTo>
                  <a:lnTo>
                    <a:pt x="331399" y="263080"/>
                  </a:lnTo>
                  <a:lnTo>
                    <a:pt x="302559" y="300632"/>
                  </a:lnTo>
                  <a:lnTo>
                    <a:pt x="264767" y="329288"/>
                  </a:lnTo>
                  <a:lnTo>
                    <a:pt x="222195" y="346482"/>
                  </a:lnTo>
                  <a:lnTo>
                    <a:pt x="177235" y="352213"/>
                  </a:lnTo>
                  <a:lnTo>
                    <a:pt x="132275" y="346482"/>
                  </a:lnTo>
                  <a:lnTo>
                    <a:pt x="89704" y="329288"/>
                  </a:lnTo>
                  <a:lnTo>
                    <a:pt x="51911" y="300632"/>
                  </a:lnTo>
                  <a:lnTo>
                    <a:pt x="23071" y="263080"/>
                  </a:lnTo>
                  <a:lnTo>
                    <a:pt x="5767" y="220780"/>
                  </a:lnTo>
                  <a:lnTo>
                    <a:pt x="0" y="176106"/>
                  </a:lnTo>
                  <a:lnTo>
                    <a:pt x="5767" y="131432"/>
                  </a:lnTo>
                  <a:lnTo>
                    <a:pt x="23071" y="89132"/>
                  </a:lnTo>
                  <a:lnTo>
                    <a:pt x="51911" y="51580"/>
                  </a:lnTo>
                  <a:lnTo>
                    <a:pt x="89704" y="22924"/>
                  </a:lnTo>
                  <a:lnTo>
                    <a:pt x="132275" y="5731"/>
                  </a:lnTo>
                  <a:lnTo>
                    <a:pt x="177235" y="0"/>
                  </a:lnTo>
                  <a:lnTo>
                    <a:pt x="222195" y="5731"/>
                  </a:lnTo>
                  <a:lnTo>
                    <a:pt x="264767" y="22924"/>
                  </a:lnTo>
                  <a:lnTo>
                    <a:pt x="302559" y="515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7" name="object 67"/>
          <p:cNvGrpSpPr/>
          <p:nvPr/>
        </p:nvGrpSpPr>
        <p:grpSpPr>
          <a:xfrm>
            <a:off x="3792537" y="5881264"/>
            <a:ext cx="364490" cy="364490"/>
            <a:chOff x="3792537" y="5881264"/>
            <a:chExt cx="364490" cy="364490"/>
          </a:xfrm>
        </p:grpSpPr>
        <p:sp>
          <p:nvSpPr>
            <p:cNvPr id="68" name="object 68"/>
            <p:cNvSpPr/>
            <p:nvPr/>
          </p:nvSpPr>
          <p:spPr>
            <a:xfrm>
              <a:off x="3797300" y="588602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3"/>
                  </a:lnTo>
                  <a:lnTo>
                    <a:pt x="5767" y="132274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4"/>
                  </a:lnTo>
                  <a:lnTo>
                    <a:pt x="331399" y="89703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797300" y="588602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0" name="object 70"/>
          <p:cNvGrpSpPr/>
          <p:nvPr/>
        </p:nvGrpSpPr>
        <p:grpSpPr>
          <a:xfrm>
            <a:off x="3792537" y="7983255"/>
            <a:ext cx="364490" cy="364490"/>
            <a:chOff x="3792537" y="7983255"/>
            <a:chExt cx="364490" cy="364490"/>
          </a:xfrm>
        </p:grpSpPr>
        <p:sp>
          <p:nvSpPr>
            <p:cNvPr id="71" name="object 71"/>
            <p:cNvSpPr/>
            <p:nvPr/>
          </p:nvSpPr>
          <p:spPr>
            <a:xfrm>
              <a:off x="3797300" y="7988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3797300" y="7988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3" name="object 73"/>
          <p:cNvGrpSpPr/>
          <p:nvPr/>
        </p:nvGrpSpPr>
        <p:grpSpPr>
          <a:xfrm>
            <a:off x="7533957" y="7983255"/>
            <a:ext cx="364490" cy="364490"/>
            <a:chOff x="7533957" y="7983255"/>
            <a:chExt cx="364490" cy="364490"/>
          </a:xfrm>
        </p:grpSpPr>
        <p:sp>
          <p:nvSpPr>
            <p:cNvPr id="74" name="object 74"/>
            <p:cNvSpPr/>
            <p:nvPr/>
          </p:nvSpPr>
          <p:spPr>
            <a:xfrm>
              <a:off x="7538719" y="7988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177236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6" y="354470"/>
                  </a:lnTo>
                  <a:lnTo>
                    <a:pt x="222196" y="348703"/>
                  </a:lnTo>
                  <a:lnTo>
                    <a:pt x="264767" y="331399"/>
                  </a:lnTo>
                  <a:lnTo>
                    <a:pt x="302560" y="302559"/>
                  </a:lnTo>
                  <a:lnTo>
                    <a:pt x="331400" y="264766"/>
                  </a:lnTo>
                  <a:lnTo>
                    <a:pt x="348703" y="222195"/>
                  </a:lnTo>
                  <a:lnTo>
                    <a:pt x="354471" y="177235"/>
                  </a:lnTo>
                  <a:lnTo>
                    <a:pt x="348703" y="132275"/>
                  </a:lnTo>
                  <a:lnTo>
                    <a:pt x="331400" y="89704"/>
                  </a:lnTo>
                  <a:lnTo>
                    <a:pt x="302560" y="51911"/>
                  </a:lnTo>
                  <a:lnTo>
                    <a:pt x="264767" y="23071"/>
                  </a:lnTo>
                  <a:lnTo>
                    <a:pt x="222196" y="5767"/>
                  </a:lnTo>
                  <a:lnTo>
                    <a:pt x="1772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538719" y="7988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FBE8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25500" y="99049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107"/>
                </a:moveTo>
                <a:lnTo>
                  <a:pt x="113665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1663163" y="232962"/>
            <a:ext cx="490220" cy="579755"/>
            <a:chOff x="11663163" y="232962"/>
            <a:chExt cx="490220" cy="5797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96362" y="469167"/>
              <a:ext cx="97795" cy="9815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63163" y="232962"/>
              <a:ext cx="489949" cy="57958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58802" y="354235"/>
            <a:ext cx="33712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36165" algn="l"/>
              </a:tabLst>
            </a:pPr>
            <a:r>
              <a:rPr spc="35" dirty="0"/>
              <a:t>Intractability:</a:t>
            </a:r>
            <a:r>
              <a:rPr dirty="0"/>
              <a:t>	</a:t>
            </a:r>
            <a:r>
              <a:rPr spc="65" dirty="0"/>
              <a:t>quiz</a:t>
            </a:r>
            <a:r>
              <a:rPr spc="85" dirty="0"/>
              <a:t> </a:t>
            </a:r>
            <a:r>
              <a:rPr spc="105" dirty="0"/>
              <a:t>3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58802" y="1348740"/>
            <a:ext cx="8680450" cy="3528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50" dirty="0">
                <a:latin typeface="Tahoma"/>
                <a:cs typeface="Tahoma"/>
              </a:rPr>
              <a:t>Consider</a:t>
            </a:r>
            <a:r>
              <a:rPr sz="2400" b="1" spc="100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the</a:t>
            </a:r>
            <a:r>
              <a:rPr sz="2400" b="1" spc="10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following</a:t>
            </a:r>
            <a:r>
              <a:rPr sz="2400" b="1" spc="10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graph</a:t>
            </a:r>
            <a:r>
              <a:rPr sz="2400" b="1" spc="10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G.</a:t>
            </a:r>
            <a:r>
              <a:rPr sz="2400" b="1" spc="10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Which</a:t>
            </a:r>
            <a:r>
              <a:rPr sz="2400" b="1" spc="10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are</a:t>
            </a:r>
            <a:r>
              <a:rPr sz="2400" b="1" spc="105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true?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2400">
              <a:latin typeface="Tahoma"/>
              <a:cs typeface="Tahoma"/>
            </a:endParaRPr>
          </a:p>
          <a:p>
            <a:pPr marL="1020444" indent="-647700">
              <a:lnSpc>
                <a:spcPct val="100000"/>
              </a:lnSpc>
              <a:buClr>
                <a:srgbClr val="005493"/>
              </a:buClr>
              <a:buFont typeface="Trebuchet MS"/>
              <a:buAutoNum type="alphaUcPeriod"/>
              <a:tabLst>
                <a:tab pos="1020444" algn="l"/>
              </a:tabLst>
            </a:pP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white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vertices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7.</a:t>
            </a:r>
            <a:endParaRPr sz="2400">
              <a:latin typeface="Lucida Sans Unicode"/>
              <a:cs typeface="Lucida Sans Unicode"/>
            </a:endParaRPr>
          </a:p>
          <a:p>
            <a:pPr marL="1020444" indent="-647700">
              <a:lnSpc>
                <a:spcPct val="100000"/>
              </a:lnSpc>
              <a:spcBef>
                <a:spcPts val="2320"/>
              </a:spcBef>
              <a:buClr>
                <a:srgbClr val="005493"/>
              </a:buClr>
              <a:buFont typeface="Trebuchet MS"/>
              <a:buAutoNum type="alphaUcPeriod"/>
              <a:tabLst>
                <a:tab pos="1020444" algn="l"/>
              </a:tabLst>
            </a:pP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black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vertices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independent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25" dirty="0">
                <a:latin typeface="Lucida Sans Unicode"/>
                <a:cs typeface="Lucida Sans Unicode"/>
              </a:rPr>
              <a:t> 3.</a:t>
            </a:r>
            <a:endParaRPr sz="2400">
              <a:latin typeface="Lucida Sans Unicode"/>
              <a:cs typeface="Lucida Sans Unicode"/>
            </a:endParaRPr>
          </a:p>
          <a:p>
            <a:pPr marL="1020444" indent="-647700">
              <a:lnSpc>
                <a:spcPct val="100000"/>
              </a:lnSpc>
              <a:spcBef>
                <a:spcPts val="2320"/>
              </a:spcBef>
              <a:buClr>
                <a:srgbClr val="005493"/>
              </a:buClr>
              <a:buFont typeface="Trebuchet MS"/>
              <a:buAutoNum type="alphaUcPeriod"/>
              <a:tabLst>
                <a:tab pos="1020444" algn="l"/>
              </a:tabLst>
            </a:pPr>
            <a:r>
              <a:rPr sz="2400" dirty="0">
                <a:latin typeface="Lucida Sans Unicode"/>
                <a:cs typeface="Lucida Sans Unicode"/>
              </a:rPr>
              <a:t>Both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B.</a:t>
            </a:r>
            <a:endParaRPr sz="2400">
              <a:latin typeface="Lucida Sans Unicode"/>
              <a:cs typeface="Lucida Sans Unicode"/>
            </a:endParaRPr>
          </a:p>
          <a:p>
            <a:pPr marL="1020444" indent="-647700">
              <a:lnSpc>
                <a:spcPct val="100000"/>
              </a:lnSpc>
              <a:spcBef>
                <a:spcPts val="2320"/>
              </a:spcBef>
              <a:buClr>
                <a:srgbClr val="005493"/>
              </a:buClr>
              <a:buFont typeface="Trebuchet MS"/>
              <a:buAutoNum type="alphaUcPeriod"/>
              <a:tabLst>
                <a:tab pos="1020444" algn="l"/>
              </a:tabLst>
            </a:pPr>
            <a:r>
              <a:rPr sz="2400" dirty="0">
                <a:latin typeface="Lucida Sans Unicode"/>
                <a:cs typeface="Lucida Sans Unicode"/>
              </a:rPr>
              <a:t>Neither</a:t>
            </a:r>
            <a:r>
              <a:rPr sz="2400" spc="-5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nor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B.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89100" y="6208395"/>
            <a:ext cx="9444990" cy="2738120"/>
            <a:chOff x="1689100" y="6208395"/>
            <a:chExt cx="9444990" cy="2738120"/>
          </a:xfrm>
        </p:grpSpPr>
        <p:sp>
          <p:nvSpPr>
            <p:cNvPr id="10" name="object 10"/>
            <p:cNvSpPr/>
            <p:nvPr/>
          </p:nvSpPr>
          <p:spPr>
            <a:xfrm>
              <a:off x="1693862" y="6213157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4" h="352425">
                  <a:moveTo>
                    <a:pt x="177235" y="0"/>
                  </a:moveTo>
                  <a:lnTo>
                    <a:pt x="132275" y="5731"/>
                  </a:lnTo>
                  <a:lnTo>
                    <a:pt x="89704" y="22924"/>
                  </a:lnTo>
                  <a:lnTo>
                    <a:pt x="51911" y="51580"/>
                  </a:lnTo>
                  <a:lnTo>
                    <a:pt x="23071" y="89132"/>
                  </a:lnTo>
                  <a:lnTo>
                    <a:pt x="5767" y="131432"/>
                  </a:lnTo>
                  <a:lnTo>
                    <a:pt x="0" y="176106"/>
                  </a:lnTo>
                  <a:lnTo>
                    <a:pt x="5767" y="220780"/>
                  </a:lnTo>
                  <a:lnTo>
                    <a:pt x="23071" y="263080"/>
                  </a:lnTo>
                  <a:lnTo>
                    <a:pt x="51911" y="300632"/>
                  </a:lnTo>
                  <a:lnTo>
                    <a:pt x="89704" y="329288"/>
                  </a:lnTo>
                  <a:lnTo>
                    <a:pt x="132275" y="346482"/>
                  </a:lnTo>
                  <a:lnTo>
                    <a:pt x="177235" y="352213"/>
                  </a:lnTo>
                  <a:lnTo>
                    <a:pt x="222195" y="346482"/>
                  </a:lnTo>
                  <a:lnTo>
                    <a:pt x="264766" y="329288"/>
                  </a:lnTo>
                  <a:lnTo>
                    <a:pt x="302559" y="300632"/>
                  </a:lnTo>
                  <a:lnTo>
                    <a:pt x="331399" y="263080"/>
                  </a:lnTo>
                  <a:lnTo>
                    <a:pt x="348703" y="220780"/>
                  </a:lnTo>
                  <a:lnTo>
                    <a:pt x="354470" y="176106"/>
                  </a:lnTo>
                  <a:lnTo>
                    <a:pt x="348703" y="131432"/>
                  </a:lnTo>
                  <a:lnTo>
                    <a:pt x="331399" y="89132"/>
                  </a:lnTo>
                  <a:lnTo>
                    <a:pt x="302559" y="51580"/>
                  </a:lnTo>
                  <a:lnTo>
                    <a:pt x="264766" y="22924"/>
                  </a:lnTo>
                  <a:lnTo>
                    <a:pt x="222195" y="5731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93862" y="6213157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4" h="352425">
                  <a:moveTo>
                    <a:pt x="302559" y="51580"/>
                  </a:moveTo>
                  <a:lnTo>
                    <a:pt x="331399" y="89132"/>
                  </a:lnTo>
                  <a:lnTo>
                    <a:pt x="348703" y="131432"/>
                  </a:lnTo>
                  <a:lnTo>
                    <a:pt x="354471" y="176106"/>
                  </a:lnTo>
                  <a:lnTo>
                    <a:pt x="348703" y="220780"/>
                  </a:lnTo>
                  <a:lnTo>
                    <a:pt x="331399" y="263080"/>
                  </a:lnTo>
                  <a:lnTo>
                    <a:pt x="302559" y="300632"/>
                  </a:lnTo>
                  <a:lnTo>
                    <a:pt x="264767" y="329288"/>
                  </a:lnTo>
                  <a:lnTo>
                    <a:pt x="222195" y="346482"/>
                  </a:lnTo>
                  <a:lnTo>
                    <a:pt x="177235" y="352213"/>
                  </a:lnTo>
                  <a:lnTo>
                    <a:pt x="132275" y="346482"/>
                  </a:lnTo>
                  <a:lnTo>
                    <a:pt x="89704" y="329288"/>
                  </a:lnTo>
                  <a:lnTo>
                    <a:pt x="51911" y="300632"/>
                  </a:lnTo>
                  <a:lnTo>
                    <a:pt x="23071" y="263080"/>
                  </a:lnTo>
                  <a:lnTo>
                    <a:pt x="5767" y="220780"/>
                  </a:lnTo>
                  <a:lnTo>
                    <a:pt x="0" y="176106"/>
                  </a:lnTo>
                  <a:lnTo>
                    <a:pt x="5767" y="131432"/>
                  </a:lnTo>
                  <a:lnTo>
                    <a:pt x="23071" y="89132"/>
                  </a:lnTo>
                  <a:lnTo>
                    <a:pt x="51911" y="51580"/>
                  </a:lnTo>
                  <a:lnTo>
                    <a:pt x="89704" y="22924"/>
                  </a:lnTo>
                  <a:lnTo>
                    <a:pt x="132275" y="5731"/>
                  </a:lnTo>
                  <a:lnTo>
                    <a:pt x="177235" y="0"/>
                  </a:lnTo>
                  <a:lnTo>
                    <a:pt x="222195" y="5731"/>
                  </a:lnTo>
                  <a:lnTo>
                    <a:pt x="264767" y="22924"/>
                  </a:lnTo>
                  <a:lnTo>
                    <a:pt x="302559" y="515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774798" y="621315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774798" y="621315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507739" y="8587016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177235" y="0"/>
                  </a:moveTo>
                  <a:lnTo>
                    <a:pt x="132274" y="5767"/>
                  </a:lnTo>
                  <a:lnTo>
                    <a:pt x="89703" y="23071"/>
                  </a:lnTo>
                  <a:lnTo>
                    <a:pt x="51910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7"/>
                  </a:lnTo>
                  <a:lnTo>
                    <a:pt x="51910" y="302560"/>
                  </a:lnTo>
                  <a:lnTo>
                    <a:pt x="89703" y="331399"/>
                  </a:lnTo>
                  <a:lnTo>
                    <a:pt x="132274" y="348703"/>
                  </a:lnTo>
                  <a:lnTo>
                    <a:pt x="177235" y="354471"/>
                  </a:lnTo>
                  <a:lnTo>
                    <a:pt x="222195" y="348703"/>
                  </a:lnTo>
                  <a:lnTo>
                    <a:pt x="264767" y="331399"/>
                  </a:lnTo>
                  <a:lnTo>
                    <a:pt x="302560" y="302560"/>
                  </a:lnTo>
                  <a:lnTo>
                    <a:pt x="331399" y="264767"/>
                  </a:lnTo>
                  <a:lnTo>
                    <a:pt x="348703" y="222195"/>
                  </a:lnTo>
                  <a:lnTo>
                    <a:pt x="354471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60" y="51911"/>
                  </a:lnTo>
                  <a:lnTo>
                    <a:pt x="264767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07740" y="8587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40680" y="8587016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177235" y="0"/>
                  </a:moveTo>
                  <a:lnTo>
                    <a:pt x="132274" y="5767"/>
                  </a:lnTo>
                  <a:lnTo>
                    <a:pt x="89703" y="23071"/>
                  </a:lnTo>
                  <a:lnTo>
                    <a:pt x="51910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7"/>
                  </a:lnTo>
                  <a:lnTo>
                    <a:pt x="51910" y="302560"/>
                  </a:lnTo>
                  <a:lnTo>
                    <a:pt x="89703" y="331399"/>
                  </a:lnTo>
                  <a:lnTo>
                    <a:pt x="132274" y="348703"/>
                  </a:lnTo>
                  <a:lnTo>
                    <a:pt x="177235" y="354471"/>
                  </a:lnTo>
                  <a:lnTo>
                    <a:pt x="222195" y="348703"/>
                  </a:lnTo>
                  <a:lnTo>
                    <a:pt x="264767" y="331399"/>
                  </a:lnTo>
                  <a:lnTo>
                    <a:pt x="302560" y="302560"/>
                  </a:lnTo>
                  <a:lnTo>
                    <a:pt x="331399" y="264767"/>
                  </a:lnTo>
                  <a:lnTo>
                    <a:pt x="348703" y="222195"/>
                  </a:lnTo>
                  <a:lnTo>
                    <a:pt x="354471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60" y="51911"/>
                  </a:lnTo>
                  <a:lnTo>
                    <a:pt x="264767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40681" y="8587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234330" y="621315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177235" y="0"/>
                  </a:moveTo>
                  <a:lnTo>
                    <a:pt x="132274" y="5767"/>
                  </a:lnTo>
                  <a:lnTo>
                    <a:pt x="89703" y="23071"/>
                  </a:lnTo>
                  <a:lnTo>
                    <a:pt x="51910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0" y="302559"/>
                  </a:lnTo>
                  <a:lnTo>
                    <a:pt x="89703" y="331399"/>
                  </a:lnTo>
                  <a:lnTo>
                    <a:pt x="132274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7" y="331399"/>
                  </a:lnTo>
                  <a:lnTo>
                    <a:pt x="302560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1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60" y="51911"/>
                  </a:lnTo>
                  <a:lnTo>
                    <a:pt x="264767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34331" y="621315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706562" y="8587016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7"/>
                  </a:lnTo>
                  <a:lnTo>
                    <a:pt x="51911" y="302560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1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60"/>
                  </a:lnTo>
                  <a:lnTo>
                    <a:pt x="331399" y="264767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06562" y="8587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04564" y="6214286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177235" y="0"/>
                  </a:moveTo>
                  <a:lnTo>
                    <a:pt x="132274" y="5731"/>
                  </a:lnTo>
                  <a:lnTo>
                    <a:pt x="89703" y="22924"/>
                  </a:lnTo>
                  <a:lnTo>
                    <a:pt x="51910" y="51580"/>
                  </a:lnTo>
                  <a:lnTo>
                    <a:pt x="23071" y="89132"/>
                  </a:lnTo>
                  <a:lnTo>
                    <a:pt x="5767" y="131432"/>
                  </a:lnTo>
                  <a:lnTo>
                    <a:pt x="0" y="176106"/>
                  </a:lnTo>
                  <a:lnTo>
                    <a:pt x="5767" y="220780"/>
                  </a:lnTo>
                  <a:lnTo>
                    <a:pt x="23071" y="263080"/>
                  </a:lnTo>
                  <a:lnTo>
                    <a:pt x="51910" y="300632"/>
                  </a:lnTo>
                  <a:lnTo>
                    <a:pt x="89703" y="329288"/>
                  </a:lnTo>
                  <a:lnTo>
                    <a:pt x="132274" y="346482"/>
                  </a:lnTo>
                  <a:lnTo>
                    <a:pt x="177235" y="352213"/>
                  </a:lnTo>
                  <a:lnTo>
                    <a:pt x="222195" y="346482"/>
                  </a:lnTo>
                  <a:lnTo>
                    <a:pt x="264767" y="329288"/>
                  </a:lnTo>
                  <a:lnTo>
                    <a:pt x="302560" y="300632"/>
                  </a:lnTo>
                  <a:lnTo>
                    <a:pt x="331399" y="263080"/>
                  </a:lnTo>
                  <a:lnTo>
                    <a:pt x="348703" y="220780"/>
                  </a:lnTo>
                  <a:lnTo>
                    <a:pt x="354471" y="176106"/>
                  </a:lnTo>
                  <a:lnTo>
                    <a:pt x="348703" y="131432"/>
                  </a:lnTo>
                  <a:lnTo>
                    <a:pt x="331399" y="89132"/>
                  </a:lnTo>
                  <a:lnTo>
                    <a:pt x="302560" y="51580"/>
                  </a:lnTo>
                  <a:lnTo>
                    <a:pt x="264767" y="22924"/>
                  </a:lnTo>
                  <a:lnTo>
                    <a:pt x="222195" y="5731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04565" y="6214286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302559" y="51580"/>
                  </a:moveTo>
                  <a:lnTo>
                    <a:pt x="331399" y="89132"/>
                  </a:lnTo>
                  <a:lnTo>
                    <a:pt x="348703" y="131432"/>
                  </a:lnTo>
                  <a:lnTo>
                    <a:pt x="354471" y="176106"/>
                  </a:lnTo>
                  <a:lnTo>
                    <a:pt x="348703" y="220780"/>
                  </a:lnTo>
                  <a:lnTo>
                    <a:pt x="331399" y="263080"/>
                  </a:lnTo>
                  <a:lnTo>
                    <a:pt x="302559" y="300632"/>
                  </a:lnTo>
                  <a:lnTo>
                    <a:pt x="264767" y="329288"/>
                  </a:lnTo>
                  <a:lnTo>
                    <a:pt x="222195" y="346482"/>
                  </a:lnTo>
                  <a:lnTo>
                    <a:pt x="177235" y="352213"/>
                  </a:lnTo>
                  <a:lnTo>
                    <a:pt x="132275" y="346482"/>
                  </a:lnTo>
                  <a:lnTo>
                    <a:pt x="89704" y="329288"/>
                  </a:lnTo>
                  <a:lnTo>
                    <a:pt x="51911" y="300632"/>
                  </a:lnTo>
                  <a:lnTo>
                    <a:pt x="23071" y="263080"/>
                  </a:lnTo>
                  <a:lnTo>
                    <a:pt x="5767" y="220780"/>
                  </a:lnTo>
                  <a:lnTo>
                    <a:pt x="0" y="176106"/>
                  </a:lnTo>
                  <a:lnTo>
                    <a:pt x="5767" y="131432"/>
                  </a:lnTo>
                  <a:lnTo>
                    <a:pt x="23071" y="89132"/>
                  </a:lnTo>
                  <a:lnTo>
                    <a:pt x="51911" y="51580"/>
                  </a:lnTo>
                  <a:lnTo>
                    <a:pt x="89704" y="22924"/>
                  </a:lnTo>
                  <a:lnTo>
                    <a:pt x="132275" y="5731"/>
                  </a:lnTo>
                  <a:lnTo>
                    <a:pt x="177235" y="0"/>
                  </a:lnTo>
                  <a:lnTo>
                    <a:pt x="222195" y="5731"/>
                  </a:lnTo>
                  <a:lnTo>
                    <a:pt x="264767" y="22924"/>
                  </a:lnTo>
                  <a:lnTo>
                    <a:pt x="302559" y="515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64096" y="621315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177235" y="0"/>
                  </a:moveTo>
                  <a:lnTo>
                    <a:pt x="132274" y="5767"/>
                  </a:lnTo>
                  <a:lnTo>
                    <a:pt x="89703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3" y="331399"/>
                  </a:lnTo>
                  <a:lnTo>
                    <a:pt x="132274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64096" y="621315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73621" y="8587016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177235" y="0"/>
                  </a:moveTo>
                  <a:lnTo>
                    <a:pt x="132274" y="5767"/>
                  </a:lnTo>
                  <a:lnTo>
                    <a:pt x="89703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7"/>
                  </a:lnTo>
                  <a:lnTo>
                    <a:pt x="51911" y="302560"/>
                  </a:lnTo>
                  <a:lnTo>
                    <a:pt x="89703" y="331399"/>
                  </a:lnTo>
                  <a:lnTo>
                    <a:pt x="132274" y="348703"/>
                  </a:lnTo>
                  <a:lnTo>
                    <a:pt x="177235" y="354471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60"/>
                  </a:lnTo>
                  <a:lnTo>
                    <a:pt x="331399" y="264767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973621" y="8587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774798" y="8587016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7"/>
                  </a:lnTo>
                  <a:lnTo>
                    <a:pt x="51911" y="302560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1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60"/>
                  </a:lnTo>
                  <a:lnTo>
                    <a:pt x="331399" y="264767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774798" y="8587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952034" y="6572330"/>
              <a:ext cx="0" cy="2010410"/>
            </a:xfrm>
            <a:custGeom>
              <a:avLst/>
              <a:gdLst/>
              <a:ahLst/>
              <a:cxnLst/>
              <a:rect l="l" t="t" r="r" b="b"/>
              <a:pathLst>
                <a:path h="2010409">
                  <a:moveTo>
                    <a:pt x="0" y="2009924"/>
                  </a:moveTo>
                  <a:lnTo>
                    <a:pt x="0" y="2009924"/>
                  </a:lnTo>
                  <a:lnTo>
                    <a:pt x="0" y="50248"/>
                  </a:lnTo>
                  <a:lnTo>
                    <a:pt x="0" y="0"/>
                  </a:lnTo>
                </a:path>
              </a:pathLst>
            </a:custGeom>
            <a:ln w="508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872063" y="6569946"/>
              <a:ext cx="10795" cy="2012314"/>
            </a:xfrm>
            <a:custGeom>
              <a:avLst/>
              <a:gdLst/>
              <a:ahLst/>
              <a:cxnLst/>
              <a:rect l="l" t="t" r="r" b="b"/>
              <a:pathLst>
                <a:path w="10794" h="2012315">
                  <a:moveTo>
                    <a:pt x="10760" y="2012311"/>
                  </a:moveTo>
                  <a:lnTo>
                    <a:pt x="0" y="0"/>
                  </a:lnTo>
                </a:path>
              </a:pathLst>
            </a:custGeom>
            <a:ln w="508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323267" y="6390393"/>
              <a:ext cx="1906905" cy="0"/>
            </a:xfrm>
            <a:custGeom>
              <a:avLst/>
              <a:gdLst/>
              <a:ahLst/>
              <a:cxnLst/>
              <a:rect l="l" t="t" r="r" b="b"/>
              <a:pathLst>
                <a:path w="1906904">
                  <a:moveTo>
                    <a:pt x="0" y="0"/>
                  </a:moveTo>
                  <a:lnTo>
                    <a:pt x="0" y="0"/>
                  </a:lnTo>
                  <a:lnTo>
                    <a:pt x="1856133" y="0"/>
                  </a:lnTo>
                  <a:lnTo>
                    <a:pt x="1906299" y="0"/>
                  </a:lnTo>
                </a:path>
              </a:pathLst>
            </a:custGeom>
            <a:ln w="508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537509" y="6521900"/>
              <a:ext cx="2021839" cy="2111375"/>
            </a:xfrm>
            <a:custGeom>
              <a:avLst/>
              <a:gdLst/>
              <a:ahLst/>
              <a:cxnLst/>
              <a:rect l="l" t="t" r="r" b="b"/>
              <a:pathLst>
                <a:path w="2021840" h="2111375">
                  <a:moveTo>
                    <a:pt x="2021464" y="2110781"/>
                  </a:moveTo>
                  <a:lnTo>
                    <a:pt x="0" y="0"/>
                  </a:lnTo>
                </a:path>
              </a:pathLst>
            </a:custGeom>
            <a:ln w="508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543611" y="6521734"/>
              <a:ext cx="2012950" cy="2110740"/>
            </a:xfrm>
            <a:custGeom>
              <a:avLst/>
              <a:gdLst/>
              <a:ahLst/>
              <a:cxnLst/>
              <a:rect l="l" t="t" r="r" b="b"/>
              <a:pathLst>
                <a:path w="2012950" h="2110740">
                  <a:moveTo>
                    <a:pt x="2012930" y="0"/>
                  </a:moveTo>
                  <a:lnTo>
                    <a:pt x="0" y="2110715"/>
                  </a:lnTo>
                </a:path>
              </a:pathLst>
            </a:custGeom>
            <a:ln w="508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863736" y="6390393"/>
              <a:ext cx="1906905" cy="0"/>
            </a:xfrm>
            <a:custGeom>
              <a:avLst/>
              <a:gdLst/>
              <a:ahLst/>
              <a:cxnLst/>
              <a:rect l="l" t="t" r="r" b="b"/>
              <a:pathLst>
                <a:path w="1906904">
                  <a:moveTo>
                    <a:pt x="0" y="0"/>
                  </a:moveTo>
                  <a:lnTo>
                    <a:pt x="1906299" y="0"/>
                  </a:lnTo>
                </a:path>
              </a:pathLst>
            </a:custGeom>
            <a:ln w="508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053033" y="6389354"/>
              <a:ext cx="1906905" cy="1270"/>
            </a:xfrm>
            <a:custGeom>
              <a:avLst/>
              <a:gdLst/>
              <a:ahLst/>
              <a:cxnLst/>
              <a:rect l="l" t="t" r="r" b="b"/>
              <a:pathLst>
                <a:path w="1906904" h="1270">
                  <a:moveTo>
                    <a:pt x="1906299" y="947"/>
                  </a:moveTo>
                  <a:lnTo>
                    <a:pt x="0" y="0"/>
                  </a:lnTo>
                </a:path>
              </a:pathLst>
            </a:custGeom>
            <a:ln w="508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412052" y="6572328"/>
              <a:ext cx="5715" cy="2010410"/>
            </a:xfrm>
            <a:custGeom>
              <a:avLst/>
              <a:gdLst/>
              <a:ahLst/>
              <a:cxnLst/>
              <a:rect l="l" t="t" r="r" b="b"/>
              <a:pathLst>
                <a:path w="5714" h="2010409">
                  <a:moveTo>
                    <a:pt x="5376" y="2009926"/>
                  </a:moveTo>
                  <a:lnTo>
                    <a:pt x="0" y="0"/>
                  </a:lnTo>
                </a:path>
              </a:pathLst>
            </a:custGeom>
            <a:ln w="508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996754" y="6520169"/>
              <a:ext cx="2028189" cy="2113280"/>
            </a:xfrm>
            <a:custGeom>
              <a:avLst/>
              <a:gdLst/>
              <a:ahLst/>
              <a:cxnLst/>
              <a:rect l="l" t="t" r="r" b="b"/>
              <a:pathLst>
                <a:path w="2028189" h="2113279">
                  <a:moveTo>
                    <a:pt x="2027948" y="2112658"/>
                  </a:moveTo>
                  <a:lnTo>
                    <a:pt x="0" y="0"/>
                  </a:lnTo>
                </a:path>
              </a:pathLst>
            </a:custGeom>
            <a:ln w="508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682041" y="6571077"/>
              <a:ext cx="3175" cy="2011680"/>
            </a:xfrm>
            <a:custGeom>
              <a:avLst/>
              <a:gdLst/>
              <a:ahLst/>
              <a:cxnLst/>
              <a:rect l="l" t="t" r="r" b="b"/>
              <a:pathLst>
                <a:path w="3175" h="2011679">
                  <a:moveTo>
                    <a:pt x="0" y="0"/>
                  </a:moveTo>
                  <a:lnTo>
                    <a:pt x="2689" y="2011178"/>
                  </a:lnTo>
                </a:path>
              </a:pathLst>
            </a:custGeom>
            <a:ln w="508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8866911" y="8764252"/>
              <a:ext cx="1903730" cy="0"/>
            </a:xfrm>
            <a:custGeom>
              <a:avLst/>
              <a:gdLst/>
              <a:ahLst/>
              <a:cxnLst/>
              <a:rect l="l" t="t" r="r" b="b"/>
              <a:pathLst>
                <a:path w="1903729">
                  <a:moveTo>
                    <a:pt x="1903124" y="0"/>
                  </a:moveTo>
                  <a:lnTo>
                    <a:pt x="1903124" y="0"/>
                  </a:lnTo>
                  <a:lnTo>
                    <a:pt x="51435" y="0"/>
                  </a:lnTo>
                  <a:lnTo>
                    <a:pt x="0" y="0"/>
                  </a:lnTo>
                </a:path>
              </a:pathLst>
            </a:custGeom>
            <a:ln w="508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065733" y="8764252"/>
              <a:ext cx="1903730" cy="0"/>
            </a:xfrm>
            <a:custGeom>
              <a:avLst/>
              <a:gdLst/>
              <a:ahLst/>
              <a:cxnLst/>
              <a:rect l="l" t="t" r="r" b="b"/>
              <a:pathLst>
                <a:path w="1903729">
                  <a:moveTo>
                    <a:pt x="1903124" y="0"/>
                  </a:moveTo>
                  <a:lnTo>
                    <a:pt x="1903124" y="0"/>
                  </a:lnTo>
                  <a:lnTo>
                    <a:pt x="51435" y="0"/>
                  </a:lnTo>
                  <a:lnTo>
                    <a:pt x="0" y="0"/>
                  </a:lnTo>
                </a:path>
              </a:pathLst>
            </a:custGeom>
            <a:ln w="508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332792" y="8764252"/>
              <a:ext cx="1903730" cy="0"/>
            </a:xfrm>
            <a:custGeom>
              <a:avLst/>
              <a:gdLst/>
              <a:ahLst/>
              <a:cxnLst/>
              <a:rect l="l" t="t" r="r" b="b"/>
              <a:pathLst>
                <a:path w="1903729">
                  <a:moveTo>
                    <a:pt x="0" y="0"/>
                  </a:moveTo>
                  <a:lnTo>
                    <a:pt x="0" y="0"/>
                  </a:lnTo>
                  <a:lnTo>
                    <a:pt x="1851688" y="0"/>
                  </a:lnTo>
                  <a:lnTo>
                    <a:pt x="1903124" y="0"/>
                  </a:lnTo>
                </a:path>
              </a:pathLst>
            </a:custGeom>
            <a:ln w="508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267366" y="6521813"/>
              <a:ext cx="2025014" cy="2111375"/>
            </a:xfrm>
            <a:custGeom>
              <a:avLst/>
              <a:gdLst/>
              <a:ahLst/>
              <a:cxnLst/>
              <a:rect l="l" t="t" r="r" b="b"/>
              <a:pathLst>
                <a:path w="2025014" h="2111375">
                  <a:moveTo>
                    <a:pt x="2024454" y="2110958"/>
                  </a:moveTo>
                  <a:lnTo>
                    <a:pt x="0" y="0"/>
                  </a:lnTo>
                </a:path>
              </a:pathLst>
            </a:custGeom>
            <a:ln w="508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142061" y="6572328"/>
              <a:ext cx="8255" cy="2010410"/>
            </a:xfrm>
            <a:custGeom>
              <a:avLst/>
              <a:gdLst/>
              <a:ahLst/>
              <a:cxnLst/>
              <a:rect l="l" t="t" r="r" b="b"/>
              <a:pathLst>
                <a:path w="8254" h="2010409">
                  <a:moveTo>
                    <a:pt x="8064" y="2009928"/>
                  </a:moveTo>
                  <a:lnTo>
                    <a:pt x="0" y="0"/>
                  </a:lnTo>
                </a:path>
              </a:pathLst>
            </a:custGeom>
            <a:ln w="50800">
              <a:solidFill>
                <a:srgbClr val="AAAA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977900" y="3670300"/>
            <a:ext cx="762000" cy="762000"/>
            <a:chOff x="977900" y="3670300"/>
            <a:chExt cx="762000" cy="762000"/>
          </a:xfrm>
        </p:grpSpPr>
        <p:sp>
          <p:nvSpPr>
            <p:cNvPr id="46" name="object 46"/>
            <p:cNvSpPr/>
            <p:nvPr/>
          </p:nvSpPr>
          <p:spPr>
            <a:xfrm>
              <a:off x="1054100" y="37465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90500" y="0"/>
                  </a:moveTo>
                  <a:lnTo>
                    <a:pt x="419100" y="0"/>
                  </a:lnTo>
                  <a:lnTo>
                    <a:pt x="462779" y="5031"/>
                  </a:lnTo>
                  <a:lnTo>
                    <a:pt x="502877" y="19362"/>
                  </a:lnTo>
                  <a:lnTo>
                    <a:pt x="538248" y="41850"/>
                  </a:lnTo>
                  <a:lnTo>
                    <a:pt x="567749" y="71351"/>
                  </a:lnTo>
                  <a:lnTo>
                    <a:pt x="590237" y="106722"/>
                  </a:lnTo>
                  <a:lnTo>
                    <a:pt x="604568" y="146820"/>
                  </a:lnTo>
                  <a:lnTo>
                    <a:pt x="609600" y="190500"/>
                  </a:lnTo>
                  <a:lnTo>
                    <a:pt x="609600" y="419100"/>
                  </a:lnTo>
                  <a:lnTo>
                    <a:pt x="604568" y="462779"/>
                  </a:lnTo>
                  <a:lnTo>
                    <a:pt x="590237" y="502877"/>
                  </a:lnTo>
                  <a:lnTo>
                    <a:pt x="567749" y="538248"/>
                  </a:lnTo>
                  <a:lnTo>
                    <a:pt x="538248" y="567749"/>
                  </a:lnTo>
                  <a:lnTo>
                    <a:pt x="502877" y="590237"/>
                  </a:lnTo>
                  <a:lnTo>
                    <a:pt x="462779" y="604568"/>
                  </a:lnTo>
                  <a:lnTo>
                    <a:pt x="419100" y="609600"/>
                  </a:lnTo>
                  <a:lnTo>
                    <a:pt x="190500" y="609600"/>
                  </a:lnTo>
                  <a:lnTo>
                    <a:pt x="146820" y="604568"/>
                  </a:lnTo>
                  <a:lnTo>
                    <a:pt x="106722" y="590237"/>
                  </a:lnTo>
                  <a:lnTo>
                    <a:pt x="71351" y="567749"/>
                  </a:lnTo>
                  <a:lnTo>
                    <a:pt x="41850" y="538248"/>
                  </a:lnTo>
                  <a:lnTo>
                    <a:pt x="19362" y="502877"/>
                  </a:lnTo>
                  <a:lnTo>
                    <a:pt x="5031" y="462779"/>
                  </a:lnTo>
                  <a:lnTo>
                    <a:pt x="0" y="419100"/>
                  </a:lnTo>
                  <a:lnTo>
                    <a:pt x="0" y="190500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500" y="0"/>
                  </a:lnTo>
                  <a:close/>
                </a:path>
              </a:pathLst>
            </a:custGeom>
            <a:ln w="508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054100" y="37465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190500" y="0"/>
                  </a:moveTo>
                  <a:lnTo>
                    <a:pt x="419100" y="0"/>
                  </a:lnTo>
                  <a:lnTo>
                    <a:pt x="462779" y="5031"/>
                  </a:lnTo>
                  <a:lnTo>
                    <a:pt x="502877" y="19362"/>
                  </a:lnTo>
                  <a:lnTo>
                    <a:pt x="538248" y="41850"/>
                  </a:lnTo>
                  <a:lnTo>
                    <a:pt x="567749" y="71351"/>
                  </a:lnTo>
                  <a:lnTo>
                    <a:pt x="590237" y="106722"/>
                  </a:lnTo>
                  <a:lnTo>
                    <a:pt x="604568" y="146820"/>
                  </a:lnTo>
                  <a:lnTo>
                    <a:pt x="609600" y="190500"/>
                  </a:lnTo>
                  <a:lnTo>
                    <a:pt x="609600" y="419100"/>
                  </a:lnTo>
                  <a:lnTo>
                    <a:pt x="604568" y="462779"/>
                  </a:lnTo>
                  <a:lnTo>
                    <a:pt x="590237" y="502877"/>
                  </a:lnTo>
                  <a:lnTo>
                    <a:pt x="567749" y="538248"/>
                  </a:lnTo>
                  <a:lnTo>
                    <a:pt x="538248" y="567749"/>
                  </a:lnTo>
                  <a:lnTo>
                    <a:pt x="502877" y="590237"/>
                  </a:lnTo>
                  <a:lnTo>
                    <a:pt x="462779" y="604568"/>
                  </a:lnTo>
                  <a:lnTo>
                    <a:pt x="419100" y="609600"/>
                  </a:lnTo>
                  <a:lnTo>
                    <a:pt x="190500" y="609600"/>
                  </a:lnTo>
                  <a:lnTo>
                    <a:pt x="146820" y="604568"/>
                  </a:lnTo>
                  <a:lnTo>
                    <a:pt x="106722" y="590237"/>
                  </a:lnTo>
                  <a:lnTo>
                    <a:pt x="71351" y="567749"/>
                  </a:lnTo>
                  <a:lnTo>
                    <a:pt x="41850" y="538248"/>
                  </a:lnTo>
                  <a:lnTo>
                    <a:pt x="19362" y="502877"/>
                  </a:lnTo>
                  <a:lnTo>
                    <a:pt x="5031" y="462779"/>
                  </a:lnTo>
                  <a:lnTo>
                    <a:pt x="0" y="419100"/>
                  </a:lnTo>
                  <a:lnTo>
                    <a:pt x="0" y="190500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500" y="0"/>
                  </a:lnTo>
                  <a:close/>
                </a:path>
              </a:pathLst>
            </a:custGeom>
            <a:ln w="152400">
              <a:solidFill>
                <a:srgbClr val="FBE8E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2662627" y="9407431"/>
            <a:ext cx="2184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spc="-25" dirty="0">
                <a:latin typeface="Lucida Sans Unicode"/>
                <a:cs typeface="Lucida Sans Unicode"/>
              </a:rPr>
              <a:t>15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Vertex</a:t>
            </a:r>
            <a:r>
              <a:rPr spc="105" dirty="0"/>
              <a:t> </a:t>
            </a:r>
            <a:r>
              <a:rPr dirty="0"/>
              <a:t>cover</a:t>
            </a:r>
            <a:r>
              <a:rPr spc="105" dirty="0"/>
              <a:t> </a:t>
            </a:r>
            <a:r>
              <a:rPr spc="60" dirty="0"/>
              <a:t>and</a:t>
            </a:r>
            <a:r>
              <a:rPr spc="110" dirty="0"/>
              <a:t> </a:t>
            </a:r>
            <a:r>
              <a:rPr dirty="0"/>
              <a:t>independent</a:t>
            </a:r>
            <a:r>
              <a:rPr spc="105" dirty="0"/>
              <a:t> </a:t>
            </a:r>
            <a:r>
              <a:rPr dirty="0"/>
              <a:t>set</a:t>
            </a:r>
            <a:r>
              <a:rPr spc="105" dirty="0"/>
              <a:t> </a:t>
            </a:r>
            <a:r>
              <a:rPr dirty="0"/>
              <a:t>reduce</a:t>
            </a:r>
            <a:r>
              <a:rPr spc="110" dirty="0"/>
              <a:t> </a:t>
            </a:r>
            <a:r>
              <a:rPr spc="50" dirty="0"/>
              <a:t>to</a:t>
            </a:r>
            <a:r>
              <a:rPr spc="105" dirty="0"/>
              <a:t> </a:t>
            </a:r>
            <a:r>
              <a:rPr dirty="0"/>
              <a:t>one</a:t>
            </a:r>
            <a:r>
              <a:rPr spc="105" dirty="0"/>
              <a:t> </a:t>
            </a:r>
            <a:r>
              <a:rPr spc="-10" dirty="0"/>
              <a:t>another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74700" y="1221740"/>
            <a:ext cx="10517505" cy="147320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19"/>
              </a:spcBef>
              <a:tabLst>
                <a:tab pos="16446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25" dirty="0">
                <a:latin typeface="Lucida Sans Unicode"/>
                <a:cs typeface="Lucida Sans Unicode"/>
              </a:rPr>
              <a:t>I</a:t>
            </a:r>
            <a:r>
              <a:rPr sz="1900" spc="-25" dirty="0">
                <a:latin typeface="Lucida Sans Unicode"/>
                <a:cs typeface="Lucida Sans Unicode"/>
              </a:rPr>
              <a:t>NDEPENDENT</a:t>
            </a:r>
            <a:r>
              <a:rPr sz="2400" spc="-25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S</a:t>
            </a:r>
            <a:r>
              <a:rPr sz="1900" spc="-10" dirty="0">
                <a:latin typeface="Lucida Sans Unicode"/>
                <a:cs typeface="Lucida Sans Unicode"/>
              </a:rPr>
              <a:t>ET</a:t>
            </a:r>
            <a:r>
              <a:rPr sz="1900" spc="9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Symbol"/>
                <a:cs typeface="Symbol"/>
              </a:rPr>
              <a:t>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472" baseline="-19097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V</a:t>
            </a:r>
            <a:r>
              <a:rPr sz="1900" spc="-40" dirty="0">
                <a:latin typeface="Lucida Sans Unicode"/>
                <a:cs typeface="Lucida Sans Unicode"/>
              </a:rPr>
              <a:t>ERTEX</a:t>
            </a:r>
            <a:r>
              <a:rPr sz="2400" spc="-40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38100" marR="30480">
              <a:lnSpc>
                <a:spcPct val="131900"/>
              </a:lnSpc>
              <a:tabLst>
                <a:tab pos="60706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We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show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independent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10" dirty="0">
                <a:latin typeface="Lucida Sans Unicode"/>
                <a:cs typeface="Lucida Sans Unicode"/>
              </a:rPr>
              <a:t> cover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92537" y="4881068"/>
            <a:ext cx="4105910" cy="4511675"/>
            <a:chOff x="3792537" y="4881068"/>
            <a:chExt cx="4105910" cy="4511675"/>
          </a:xfrm>
        </p:grpSpPr>
        <p:sp>
          <p:nvSpPr>
            <p:cNvPr id="6" name="object 6"/>
            <p:cNvSpPr/>
            <p:nvPr/>
          </p:nvSpPr>
          <p:spPr>
            <a:xfrm>
              <a:off x="3797300" y="6987822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4" h="352425">
                  <a:moveTo>
                    <a:pt x="177235" y="0"/>
                  </a:moveTo>
                  <a:lnTo>
                    <a:pt x="132275" y="5731"/>
                  </a:lnTo>
                  <a:lnTo>
                    <a:pt x="89704" y="22924"/>
                  </a:lnTo>
                  <a:lnTo>
                    <a:pt x="51911" y="51580"/>
                  </a:lnTo>
                  <a:lnTo>
                    <a:pt x="23071" y="89133"/>
                  </a:lnTo>
                  <a:lnTo>
                    <a:pt x="5767" y="131432"/>
                  </a:lnTo>
                  <a:lnTo>
                    <a:pt x="0" y="176106"/>
                  </a:lnTo>
                  <a:lnTo>
                    <a:pt x="5767" y="220780"/>
                  </a:lnTo>
                  <a:lnTo>
                    <a:pt x="23071" y="263080"/>
                  </a:lnTo>
                  <a:lnTo>
                    <a:pt x="51911" y="300632"/>
                  </a:lnTo>
                  <a:lnTo>
                    <a:pt x="89704" y="329288"/>
                  </a:lnTo>
                  <a:lnTo>
                    <a:pt x="132275" y="346482"/>
                  </a:lnTo>
                  <a:lnTo>
                    <a:pt x="177235" y="352213"/>
                  </a:lnTo>
                  <a:lnTo>
                    <a:pt x="222195" y="346482"/>
                  </a:lnTo>
                  <a:lnTo>
                    <a:pt x="264766" y="329288"/>
                  </a:lnTo>
                  <a:lnTo>
                    <a:pt x="302559" y="300632"/>
                  </a:lnTo>
                  <a:lnTo>
                    <a:pt x="331399" y="263080"/>
                  </a:lnTo>
                  <a:lnTo>
                    <a:pt x="348703" y="220780"/>
                  </a:lnTo>
                  <a:lnTo>
                    <a:pt x="354470" y="176106"/>
                  </a:lnTo>
                  <a:lnTo>
                    <a:pt x="348703" y="131432"/>
                  </a:lnTo>
                  <a:lnTo>
                    <a:pt x="331399" y="89133"/>
                  </a:lnTo>
                  <a:lnTo>
                    <a:pt x="302559" y="51580"/>
                  </a:lnTo>
                  <a:lnTo>
                    <a:pt x="264766" y="22924"/>
                  </a:lnTo>
                  <a:lnTo>
                    <a:pt x="222195" y="5731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797300" y="6987821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4" h="352425">
                  <a:moveTo>
                    <a:pt x="302559" y="51580"/>
                  </a:moveTo>
                  <a:lnTo>
                    <a:pt x="331399" y="89132"/>
                  </a:lnTo>
                  <a:lnTo>
                    <a:pt x="348703" y="131432"/>
                  </a:lnTo>
                  <a:lnTo>
                    <a:pt x="354471" y="176106"/>
                  </a:lnTo>
                  <a:lnTo>
                    <a:pt x="348703" y="220780"/>
                  </a:lnTo>
                  <a:lnTo>
                    <a:pt x="331399" y="263080"/>
                  </a:lnTo>
                  <a:lnTo>
                    <a:pt x="302559" y="300632"/>
                  </a:lnTo>
                  <a:lnTo>
                    <a:pt x="264767" y="329288"/>
                  </a:lnTo>
                  <a:lnTo>
                    <a:pt x="222195" y="346482"/>
                  </a:lnTo>
                  <a:lnTo>
                    <a:pt x="177235" y="352213"/>
                  </a:lnTo>
                  <a:lnTo>
                    <a:pt x="132275" y="346482"/>
                  </a:lnTo>
                  <a:lnTo>
                    <a:pt x="89704" y="329288"/>
                  </a:lnTo>
                  <a:lnTo>
                    <a:pt x="51911" y="300632"/>
                  </a:lnTo>
                  <a:lnTo>
                    <a:pt x="23071" y="263080"/>
                  </a:lnTo>
                  <a:lnTo>
                    <a:pt x="5767" y="220780"/>
                  </a:lnTo>
                  <a:lnTo>
                    <a:pt x="0" y="176106"/>
                  </a:lnTo>
                  <a:lnTo>
                    <a:pt x="5767" y="131432"/>
                  </a:lnTo>
                  <a:lnTo>
                    <a:pt x="23071" y="89132"/>
                  </a:lnTo>
                  <a:lnTo>
                    <a:pt x="51911" y="51580"/>
                  </a:lnTo>
                  <a:lnTo>
                    <a:pt x="89704" y="22924"/>
                  </a:lnTo>
                  <a:lnTo>
                    <a:pt x="132275" y="5731"/>
                  </a:lnTo>
                  <a:lnTo>
                    <a:pt x="177235" y="0"/>
                  </a:lnTo>
                  <a:lnTo>
                    <a:pt x="222195" y="5731"/>
                  </a:lnTo>
                  <a:lnTo>
                    <a:pt x="264767" y="22924"/>
                  </a:lnTo>
                  <a:lnTo>
                    <a:pt x="302559" y="515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538720" y="488583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4">
                  <a:moveTo>
                    <a:pt x="177236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6"/>
                  </a:lnTo>
                  <a:lnTo>
                    <a:pt x="23071" y="264767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6" y="354470"/>
                  </a:lnTo>
                  <a:lnTo>
                    <a:pt x="222196" y="348703"/>
                  </a:lnTo>
                  <a:lnTo>
                    <a:pt x="264767" y="331399"/>
                  </a:lnTo>
                  <a:lnTo>
                    <a:pt x="302560" y="302559"/>
                  </a:lnTo>
                  <a:lnTo>
                    <a:pt x="331400" y="264767"/>
                  </a:lnTo>
                  <a:lnTo>
                    <a:pt x="348703" y="222196"/>
                  </a:lnTo>
                  <a:lnTo>
                    <a:pt x="354471" y="177235"/>
                  </a:lnTo>
                  <a:lnTo>
                    <a:pt x="348703" y="132275"/>
                  </a:lnTo>
                  <a:lnTo>
                    <a:pt x="331400" y="89704"/>
                  </a:lnTo>
                  <a:lnTo>
                    <a:pt x="302560" y="51911"/>
                  </a:lnTo>
                  <a:lnTo>
                    <a:pt x="264767" y="23071"/>
                  </a:lnTo>
                  <a:lnTo>
                    <a:pt x="222196" y="5767"/>
                  </a:lnTo>
                  <a:lnTo>
                    <a:pt x="177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38720" y="488583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4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38720" y="9033368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177236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7"/>
                  </a:lnTo>
                  <a:lnTo>
                    <a:pt x="51911" y="302560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6" y="354471"/>
                  </a:lnTo>
                  <a:lnTo>
                    <a:pt x="222196" y="348703"/>
                  </a:lnTo>
                  <a:lnTo>
                    <a:pt x="264767" y="331399"/>
                  </a:lnTo>
                  <a:lnTo>
                    <a:pt x="302560" y="302560"/>
                  </a:lnTo>
                  <a:lnTo>
                    <a:pt x="331400" y="264767"/>
                  </a:lnTo>
                  <a:lnTo>
                    <a:pt x="348703" y="222195"/>
                  </a:lnTo>
                  <a:lnTo>
                    <a:pt x="354471" y="177235"/>
                  </a:lnTo>
                  <a:lnTo>
                    <a:pt x="348703" y="132275"/>
                  </a:lnTo>
                  <a:lnTo>
                    <a:pt x="331400" y="89704"/>
                  </a:lnTo>
                  <a:lnTo>
                    <a:pt x="302560" y="51911"/>
                  </a:lnTo>
                  <a:lnTo>
                    <a:pt x="264767" y="23071"/>
                  </a:lnTo>
                  <a:lnTo>
                    <a:pt x="222196" y="5767"/>
                  </a:lnTo>
                  <a:lnTo>
                    <a:pt x="177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38720" y="9033368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538720" y="5886026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4">
                  <a:moveTo>
                    <a:pt x="177236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3"/>
                  </a:lnTo>
                  <a:lnTo>
                    <a:pt x="5767" y="132274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6" y="354470"/>
                  </a:lnTo>
                  <a:lnTo>
                    <a:pt x="222196" y="348703"/>
                  </a:lnTo>
                  <a:lnTo>
                    <a:pt x="264767" y="331399"/>
                  </a:lnTo>
                  <a:lnTo>
                    <a:pt x="302560" y="302559"/>
                  </a:lnTo>
                  <a:lnTo>
                    <a:pt x="331400" y="264766"/>
                  </a:lnTo>
                  <a:lnTo>
                    <a:pt x="348703" y="222195"/>
                  </a:lnTo>
                  <a:lnTo>
                    <a:pt x="354471" y="177235"/>
                  </a:lnTo>
                  <a:lnTo>
                    <a:pt x="348703" y="132274"/>
                  </a:lnTo>
                  <a:lnTo>
                    <a:pt x="331400" y="89703"/>
                  </a:lnTo>
                  <a:lnTo>
                    <a:pt x="302560" y="51911"/>
                  </a:lnTo>
                  <a:lnTo>
                    <a:pt x="264767" y="23071"/>
                  </a:lnTo>
                  <a:lnTo>
                    <a:pt x="222196" y="5767"/>
                  </a:lnTo>
                  <a:lnTo>
                    <a:pt x="1772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38720" y="5886026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4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797300" y="488583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6"/>
                  </a:lnTo>
                  <a:lnTo>
                    <a:pt x="23071" y="264767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7"/>
                  </a:lnTo>
                  <a:lnTo>
                    <a:pt x="348703" y="222196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797300" y="4885830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797300" y="9033368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7"/>
                  </a:lnTo>
                  <a:lnTo>
                    <a:pt x="51911" y="302560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1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60"/>
                  </a:lnTo>
                  <a:lnTo>
                    <a:pt x="331399" y="264767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97300" y="9033368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156569" y="7163929"/>
              <a:ext cx="3382645" cy="2540"/>
            </a:xfrm>
            <a:custGeom>
              <a:avLst/>
              <a:gdLst/>
              <a:ahLst/>
              <a:cxnLst/>
              <a:rect l="l" t="t" r="r" b="b"/>
              <a:pathLst>
                <a:path w="3382645" h="2540">
                  <a:moveTo>
                    <a:pt x="0" y="0"/>
                  </a:moveTo>
                  <a:lnTo>
                    <a:pt x="3382150" y="2257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147538" y="5064195"/>
              <a:ext cx="3382645" cy="2540"/>
            </a:xfrm>
            <a:custGeom>
              <a:avLst/>
              <a:gdLst/>
              <a:ahLst/>
              <a:cxnLst/>
              <a:rect l="l" t="t" r="r" b="b"/>
              <a:pathLst>
                <a:path w="3382645" h="2539">
                  <a:moveTo>
                    <a:pt x="0" y="0"/>
                  </a:moveTo>
                  <a:lnTo>
                    <a:pt x="3382150" y="2257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147538" y="9207500"/>
              <a:ext cx="3382645" cy="2540"/>
            </a:xfrm>
            <a:custGeom>
              <a:avLst/>
              <a:gdLst/>
              <a:ahLst/>
              <a:cxnLst/>
              <a:rect l="l" t="t" r="r" b="b"/>
              <a:pathLst>
                <a:path w="3382645" h="2540">
                  <a:moveTo>
                    <a:pt x="0" y="0"/>
                  </a:moveTo>
                  <a:lnTo>
                    <a:pt x="3382150" y="2257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38720" y="6987822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177236" y="0"/>
                  </a:moveTo>
                  <a:lnTo>
                    <a:pt x="132275" y="5731"/>
                  </a:lnTo>
                  <a:lnTo>
                    <a:pt x="89704" y="22924"/>
                  </a:lnTo>
                  <a:lnTo>
                    <a:pt x="51911" y="51580"/>
                  </a:lnTo>
                  <a:lnTo>
                    <a:pt x="23071" y="89133"/>
                  </a:lnTo>
                  <a:lnTo>
                    <a:pt x="5767" y="131432"/>
                  </a:lnTo>
                  <a:lnTo>
                    <a:pt x="0" y="176106"/>
                  </a:lnTo>
                  <a:lnTo>
                    <a:pt x="5767" y="220780"/>
                  </a:lnTo>
                  <a:lnTo>
                    <a:pt x="23071" y="263080"/>
                  </a:lnTo>
                  <a:lnTo>
                    <a:pt x="51911" y="300632"/>
                  </a:lnTo>
                  <a:lnTo>
                    <a:pt x="89704" y="329288"/>
                  </a:lnTo>
                  <a:lnTo>
                    <a:pt x="132275" y="346482"/>
                  </a:lnTo>
                  <a:lnTo>
                    <a:pt x="177236" y="352213"/>
                  </a:lnTo>
                  <a:lnTo>
                    <a:pt x="222196" y="346482"/>
                  </a:lnTo>
                  <a:lnTo>
                    <a:pt x="264767" y="329288"/>
                  </a:lnTo>
                  <a:lnTo>
                    <a:pt x="302560" y="300632"/>
                  </a:lnTo>
                  <a:lnTo>
                    <a:pt x="331400" y="263080"/>
                  </a:lnTo>
                  <a:lnTo>
                    <a:pt x="348703" y="220780"/>
                  </a:lnTo>
                  <a:lnTo>
                    <a:pt x="354471" y="176106"/>
                  </a:lnTo>
                  <a:lnTo>
                    <a:pt x="348703" y="131432"/>
                  </a:lnTo>
                  <a:lnTo>
                    <a:pt x="331400" y="89133"/>
                  </a:lnTo>
                  <a:lnTo>
                    <a:pt x="302560" y="51580"/>
                  </a:lnTo>
                  <a:lnTo>
                    <a:pt x="264767" y="22924"/>
                  </a:lnTo>
                  <a:lnTo>
                    <a:pt x="222196" y="5731"/>
                  </a:lnTo>
                  <a:lnTo>
                    <a:pt x="1772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38720" y="6987821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302559" y="51580"/>
                  </a:moveTo>
                  <a:lnTo>
                    <a:pt x="331399" y="89132"/>
                  </a:lnTo>
                  <a:lnTo>
                    <a:pt x="348703" y="131432"/>
                  </a:lnTo>
                  <a:lnTo>
                    <a:pt x="354471" y="176106"/>
                  </a:lnTo>
                  <a:lnTo>
                    <a:pt x="348703" y="220780"/>
                  </a:lnTo>
                  <a:lnTo>
                    <a:pt x="331399" y="263080"/>
                  </a:lnTo>
                  <a:lnTo>
                    <a:pt x="302559" y="300632"/>
                  </a:lnTo>
                  <a:lnTo>
                    <a:pt x="264767" y="329288"/>
                  </a:lnTo>
                  <a:lnTo>
                    <a:pt x="222195" y="346482"/>
                  </a:lnTo>
                  <a:lnTo>
                    <a:pt x="177235" y="352213"/>
                  </a:lnTo>
                  <a:lnTo>
                    <a:pt x="132275" y="346482"/>
                  </a:lnTo>
                  <a:lnTo>
                    <a:pt x="89704" y="329288"/>
                  </a:lnTo>
                  <a:lnTo>
                    <a:pt x="51911" y="300632"/>
                  </a:lnTo>
                  <a:lnTo>
                    <a:pt x="23071" y="263080"/>
                  </a:lnTo>
                  <a:lnTo>
                    <a:pt x="5767" y="220780"/>
                  </a:lnTo>
                  <a:lnTo>
                    <a:pt x="0" y="176106"/>
                  </a:lnTo>
                  <a:lnTo>
                    <a:pt x="5767" y="131432"/>
                  </a:lnTo>
                  <a:lnTo>
                    <a:pt x="23071" y="89132"/>
                  </a:lnTo>
                  <a:lnTo>
                    <a:pt x="51911" y="51580"/>
                  </a:lnTo>
                  <a:lnTo>
                    <a:pt x="89704" y="22924"/>
                  </a:lnTo>
                  <a:lnTo>
                    <a:pt x="132275" y="5731"/>
                  </a:lnTo>
                  <a:lnTo>
                    <a:pt x="177235" y="0"/>
                  </a:lnTo>
                  <a:lnTo>
                    <a:pt x="222195" y="5731"/>
                  </a:lnTo>
                  <a:lnTo>
                    <a:pt x="264767" y="22924"/>
                  </a:lnTo>
                  <a:lnTo>
                    <a:pt x="302559" y="515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47538" y="5064195"/>
              <a:ext cx="3382645" cy="1002665"/>
            </a:xfrm>
            <a:custGeom>
              <a:avLst/>
              <a:gdLst/>
              <a:ahLst/>
              <a:cxnLst/>
              <a:rect l="l" t="t" r="r" b="b"/>
              <a:pathLst>
                <a:path w="3382645" h="1002664">
                  <a:moveTo>
                    <a:pt x="0" y="0"/>
                  </a:moveTo>
                  <a:lnTo>
                    <a:pt x="3382150" y="1002453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97300" y="5886026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3"/>
                  </a:lnTo>
                  <a:lnTo>
                    <a:pt x="5767" y="132274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4"/>
                  </a:lnTo>
                  <a:lnTo>
                    <a:pt x="331399" y="89703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797300" y="5886026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4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797300" y="7988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177235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5" y="354470"/>
                  </a:lnTo>
                  <a:lnTo>
                    <a:pt x="222195" y="348703"/>
                  </a:lnTo>
                  <a:lnTo>
                    <a:pt x="264766" y="331399"/>
                  </a:lnTo>
                  <a:lnTo>
                    <a:pt x="302559" y="302559"/>
                  </a:lnTo>
                  <a:lnTo>
                    <a:pt x="331399" y="264766"/>
                  </a:lnTo>
                  <a:lnTo>
                    <a:pt x="348703" y="222195"/>
                  </a:lnTo>
                  <a:lnTo>
                    <a:pt x="354470" y="177235"/>
                  </a:lnTo>
                  <a:lnTo>
                    <a:pt x="348703" y="132275"/>
                  </a:lnTo>
                  <a:lnTo>
                    <a:pt x="331399" y="89704"/>
                  </a:lnTo>
                  <a:lnTo>
                    <a:pt x="302559" y="51911"/>
                  </a:lnTo>
                  <a:lnTo>
                    <a:pt x="264766" y="23071"/>
                  </a:lnTo>
                  <a:lnTo>
                    <a:pt x="222195" y="5767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97300" y="7988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4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38720" y="7988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177236" y="0"/>
                  </a:moveTo>
                  <a:lnTo>
                    <a:pt x="132275" y="5767"/>
                  </a:lnTo>
                  <a:lnTo>
                    <a:pt x="89704" y="23071"/>
                  </a:lnTo>
                  <a:lnTo>
                    <a:pt x="51911" y="51911"/>
                  </a:lnTo>
                  <a:lnTo>
                    <a:pt x="23071" y="89704"/>
                  </a:lnTo>
                  <a:lnTo>
                    <a:pt x="5767" y="132275"/>
                  </a:lnTo>
                  <a:lnTo>
                    <a:pt x="0" y="177235"/>
                  </a:lnTo>
                  <a:lnTo>
                    <a:pt x="5767" y="222195"/>
                  </a:lnTo>
                  <a:lnTo>
                    <a:pt x="23071" y="264766"/>
                  </a:lnTo>
                  <a:lnTo>
                    <a:pt x="51911" y="302559"/>
                  </a:lnTo>
                  <a:lnTo>
                    <a:pt x="89704" y="331399"/>
                  </a:lnTo>
                  <a:lnTo>
                    <a:pt x="132275" y="348703"/>
                  </a:lnTo>
                  <a:lnTo>
                    <a:pt x="177236" y="354470"/>
                  </a:lnTo>
                  <a:lnTo>
                    <a:pt x="222196" y="348703"/>
                  </a:lnTo>
                  <a:lnTo>
                    <a:pt x="264767" y="331399"/>
                  </a:lnTo>
                  <a:lnTo>
                    <a:pt x="302560" y="302559"/>
                  </a:lnTo>
                  <a:lnTo>
                    <a:pt x="331400" y="264766"/>
                  </a:lnTo>
                  <a:lnTo>
                    <a:pt x="348703" y="222195"/>
                  </a:lnTo>
                  <a:lnTo>
                    <a:pt x="354471" y="177235"/>
                  </a:lnTo>
                  <a:lnTo>
                    <a:pt x="348703" y="132275"/>
                  </a:lnTo>
                  <a:lnTo>
                    <a:pt x="331400" y="89704"/>
                  </a:lnTo>
                  <a:lnTo>
                    <a:pt x="302560" y="51911"/>
                  </a:lnTo>
                  <a:lnTo>
                    <a:pt x="264767" y="23071"/>
                  </a:lnTo>
                  <a:lnTo>
                    <a:pt x="222196" y="5767"/>
                  </a:lnTo>
                  <a:lnTo>
                    <a:pt x="1772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38720" y="7988017"/>
              <a:ext cx="354965" cy="354965"/>
            </a:xfrm>
            <a:custGeom>
              <a:avLst/>
              <a:gdLst/>
              <a:ahLst/>
              <a:cxnLst/>
              <a:rect l="l" t="t" r="r" b="b"/>
              <a:pathLst>
                <a:path w="354965" h="354965">
                  <a:moveTo>
                    <a:pt x="302559" y="51911"/>
                  </a:moveTo>
                  <a:lnTo>
                    <a:pt x="331399" y="89704"/>
                  </a:lnTo>
                  <a:lnTo>
                    <a:pt x="348703" y="132275"/>
                  </a:lnTo>
                  <a:lnTo>
                    <a:pt x="354471" y="177235"/>
                  </a:lnTo>
                  <a:lnTo>
                    <a:pt x="348703" y="222195"/>
                  </a:lnTo>
                  <a:lnTo>
                    <a:pt x="331399" y="264767"/>
                  </a:lnTo>
                  <a:lnTo>
                    <a:pt x="302559" y="302559"/>
                  </a:lnTo>
                  <a:lnTo>
                    <a:pt x="264767" y="331399"/>
                  </a:lnTo>
                  <a:lnTo>
                    <a:pt x="222195" y="348703"/>
                  </a:lnTo>
                  <a:lnTo>
                    <a:pt x="177235" y="354471"/>
                  </a:lnTo>
                  <a:lnTo>
                    <a:pt x="132275" y="348703"/>
                  </a:lnTo>
                  <a:lnTo>
                    <a:pt x="89704" y="331399"/>
                  </a:lnTo>
                  <a:lnTo>
                    <a:pt x="51911" y="302559"/>
                  </a:lnTo>
                  <a:lnTo>
                    <a:pt x="23071" y="264767"/>
                  </a:lnTo>
                  <a:lnTo>
                    <a:pt x="5767" y="222195"/>
                  </a:lnTo>
                  <a:lnTo>
                    <a:pt x="0" y="177235"/>
                  </a:lnTo>
                  <a:lnTo>
                    <a:pt x="5767" y="132275"/>
                  </a:lnTo>
                  <a:lnTo>
                    <a:pt x="23071" y="89704"/>
                  </a:lnTo>
                  <a:lnTo>
                    <a:pt x="51911" y="51911"/>
                  </a:lnTo>
                  <a:lnTo>
                    <a:pt x="89704" y="23071"/>
                  </a:lnTo>
                  <a:lnTo>
                    <a:pt x="132275" y="5767"/>
                  </a:lnTo>
                  <a:lnTo>
                    <a:pt x="177235" y="0"/>
                  </a:lnTo>
                  <a:lnTo>
                    <a:pt x="222195" y="5767"/>
                  </a:lnTo>
                  <a:lnTo>
                    <a:pt x="264767" y="23071"/>
                  </a:lnTo>
                  <a:lnTo>
                    <a:pt x="302559" y="51911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147538" y="6064390"/>
              <a:ext cx="3382645" cy="2540"/>
            </a:xfrm>
            <a:custGeom>
              <a:avLst/>
              <a:gdLst/>
              <a:ahLst/>
              <a:cxnLst/>
              <a:rect l="l" t="t" r="r" b="b"/>
              <a:pathLst>
                <a:path w="3382645" h="2539">
                  <a:moveTo>
                    <a:pt x="0" y="0"/>
                  </a:moveTo>
                  <a:lnTo>
                    <a:pt x="3382150" y="2257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147538" y="6066648"/>
              <a:ext cx="3382645" cy="2099945"/>
            </a:xfrm>
            <a:custGeom>
              <a:avLst/>
              <a:gdLst/>
              <a:ahLst/>
              <a:cxnLst/>
              <a:rect l="l" t="t" r="r" b="b"/>
              <a:pathLst>
                <a:path w="3382645" h="2099945">
                  <a:moveTo>
                    <a:pt x="0" y="2099732"/>
                  </a:moveTo>
                  <a:lnTo>
                    <a:pt x="3382150" y="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156569" y="7163929"/>
              <a:ext cx="3434079" cy="876300"/>
            </a:xfrm>
            <a:custGeom>
              <a:avLst/>
              <a:gdLst/>
              <a:ahLst/>
              <a:cxnLst/>
              <a:rect l="l" t="t" r="r" b="b"/>
              <a:pathLst>
                <a:path w="3434079" h="876300">
                  <a:moveTo>
                    <a:pt x="0" y="0"/>
                  </a:moveTo>
                  <a:lnTo>
                    <a:pt x="3434079" y="876017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147538" y="8166381"/>
              <a:ext cx="3382645" cy="1041400"/>
            </a:xfrm>
            <a:custGeom>
              <a:avLst/>
              <a:gdLst/>
              <a:ahLst/>
              <a:cxnLst/>
              <a:rect l="l" t="t" r="r" b="b"/>
              <a:pathLst>
                <a:path w="3382645" h="1041400">
                  <a:moveTo>
                    <a:pt x="0" y="0"/>
                  </a:moveTo>
                  <a:lnTo>
                    <a:pt x="3382150" y="104140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147538" y="6064390"/>
              <a:ext cx="3382645" cy="3147695"/>
            </a:xfrm>
            <a:custGeom>
              <a:avLst/>
              <a:gdLst/>
              <a:ahLst/>
              <a:cxnLst/>
              <a:rect l="l" t="t" r="r" b="b"/>
              <a:pathLst>
                <a:path w="3382645" h="3147695">
                  <a:moveTo>
                    <a:pt x="0" y="3147341"/>
                  </a:moveTo>
                  <a:lnTo>
                    <a:pt x="3382150" y="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156569" y="5061937"/>
              <a:ext cx="3373120" cy="2102485"/>
            </a:xfrm>
            <a:custGeom>
              <a:avLst/>
              <a:gdLst/>
              <a:ahLst/>
              <a:cxnLst/>
              <a:rect l="l" t="t" r="r" b="b"/>
              <a:pathLst>
                <a:path w="3373120" h="2102484">
                  <a:moveTo>
                    <a:pt x="0" y="2101990"/>
                  </a:moveTo>
                  <a:lnTo>
                    <a:pt x="3373120" y="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717085" y="8342488"/>
              <a:ext cx="2540" cy="680085"/>
            </a:xfrm>
            <a:custGeom>
              <a:avLst/>
              <a:gdLst/>
              <a:ahLst/>
              <a:cxnLst/>
              <a:rect l="l" t="t" r="r" b="b"/>
              <a:pathLst>
                <a:path w="2540" h="680084">
                  <a:moveTo>
                    <a:pt x="0" y="0"/>
                  </a:moveTo>
                  <a:lnTo>
                    <a:pt x="2257" y="679591"/>
                  </a:lnTo>
                </a:path>
              </a:pathLst>
            </a:custGeom>
            <a:ln w="158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717085" y="6251787"/>
              <a:ext cx="2540" cy="736600"/>
            </a:xfrm>
            <a:custGeom>
              <a:avLst/>
              <a:gdLst/>
              <a:ahLst/>
              <a:cxnLst/>
              <a:rect l="l" t="t" r="r" b="b"/>
              <a:pathLst>
                <a:path w="2540" h="736600">
                  <a:moveTo>
                    <a:pt x="0" y="0"/>
                  </a:moveTo>
                  <a:lnTo>
                    <a:pt x="2257" y="736035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717085" y="5251590"/>
              <a:ext cx="2540" cy="623570"/>
            </a:xfrm>
            <a:custGeom>
              <a:avLst/>
              <a:gdLst/>
              <a:ahLst/>
              <a:cxnLst/>
              <a:rect l="l" t="t" r="r" b="b"/>
              <a:pathLst>
                <a:path w="2540" h="623570">
                  <a:moveTo>
                    <a:pt x="0" y="0"/>
                  </a:moveTo>
                  <a:lnTo>
                    <a:pt x="2257" y="623146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971430" y="6240497"/>
              <a:ext cx="2540" cy="736600"/>
            </a:xfrm>
            <a:custGeom>
              <a:avLst/>
              <a:gdLst/>
              <a:ahLst/>
              <a:cxnLst/>
              <a:rect l="l" t="t" r="r" b="b"/>
              <a:pathLst>
                <a:path w="2539" h="736600">
                  <a:moveTo>
                    <a:pt x="0" y="736035"/>
                  </a:moveTo>
                  <a:lnTo>
                    <a:pt x="2257" y="0"/>
                  </a:lnTo>
                </a:path>
              </a:pathLst>
            </a:custGeom>
            <a:ln w="158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9418637" y="7369140"/>
            <a:ext cx="364490" cy="361950"/>
            <a:chOff x="9418637" y="7369140"/>
            <a:chExt cx="364490" cy="361950"/>
          </a:xfrm>
        </p:grpSpPr>
        <p:sp>
          <p:nvSpPr>
            <p:cNvPr id="41" name="object 41"/>
            <p:cNvSpPr/>
            <p:nvPr/>
          </p:nvSpPr>
          <p:spPr>
            <a:xfrm>
              <a:off x="9423400" y="7373902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177235" y="0"/>
                  </a:moveTo>
                  <a:lnTo>
                    <a:pt x="132275" y="5731"/>
                  </a:lnTo>
                  <a:lnTo>
                    <a:pt x="89704" y="22924"/>
                  </a:lnTo>
                  <a:lnTo>
                    <a:pt x="51911" y="51580"/>
                  </a:lnTo>
                  <a:lnTo>
                    <a:pt x="23071" y="89133"/>
                  </a:lnTo>
                  <a:lnTo>
                    <a:pt x="5767" y="131433"/>
                  </a:lnTo>
                  <a:lnTo>
                    <a:pt x="0" y="176107"/>
                  </a:lnTo>
                  <a:lnTo>
                    <a:pt x="5767" y="220781"/>
                  </a:lnTo>
                  <a:lnTo>
                    <a:pt x="23071" y="263080"/>
                  </a:lnTo>
                  <a:lnTo>
                    <a:pt x="51911" y="300632"/>
                  </a:lnTo>
                  <a:lnTo>
                    <a:pt x="89704" y="329288"/>
                  </a:lnTo>
                  <a:lnTo>
                    <a:pt x="132275" y="346482"/>
                  </a:lnTo>
                  <a:lnTo>
                    <a:pt x="177235" y="352213"/>
                  </a:lnTo>
                  <a:lnTo>
                    <a:pt x="222195" y="346482"/>
                  </a:lnTo>
                  <a:lnTo>
                    <a:pt x="264766" y="329288"/>
                  </a:lnTo>
                  <a:lnTo>
                    <a:pt x="302559" y="300632"/>
                  </a:lnTo>
                  <a:lnTo>
                    <a:pt x="331399" y="263080"/>
                  </a:lnTo>
                  <a:lnTo>
                    <a:pt x="348703" y="220781"/>
                  </a:lnTo>
                  <a:lnTo>
                    <a:pt x="354470" y="176107"/>
                  </a:lnTo>
                  <a:lnTo>
                    <a:pt x="348703" y="131433"/>
                  </a:lnTo>
                  <a:lnTo>
                    <a:pt x="331399" y="89133"/>
                  </a:lnTo>
                  <a:lnTo>
                    <a:pt x="302559" y="51580"/>
                  </a:lnTo>
                  <a:lnTo>
                    <a:pt x="264766" y="22924"/>
                  </a:lnTo>
                  <a:lnTo>
                    <a:pt x="222195" y="5731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423400" y="7373903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302559" y="51580"/>
                  </a:moveTo>
                  <a:lnTo>
                    <a:pt x="331399" y="89132"/>
                  </a:lnTo>
                  <a:lnTo>
                    <a:pt x="348703" y="131432"/>
                  </a:lnTo>
                  <a:lnTo>
                    <a:pt x="354471" y="176106"/>
                  </a:lnTo>
                  <a:lnTo>
                    <a:pt x="348703" y="220780"/>
                  </a:lnTo>
                  <a:lnTo>
                    <a:pt x="331399" y="263080"/>
                  </a:lnTo>
                  <a:lnTo>
                    <a:pt x="302559" y="300632"/>
                  </a:lnTo>
                  <a:lnTo>
                    <a:pt x="264767" y="329288"/>
                  </a:lnTo>
                  <a:lnTo>
                    <a:pt x="222195" y="346482"/>
                  </a:lnTo>
                  <a:lnTo>
                    <a:pt x="177235" y="352213"/>
                  </a:lnTo>
                  <a:lnTo>
                    <a:pt x="132275" y="346482"/>
                  </a:lnTo>
                  <a:lnTo>
                    <a:pt x="89704" y="329288"/>
                  </a:lnTo>
                  <a:lnTo>
                    <a:pt x="51911" y="300632"/>
                  </a:lnTo>
                  <a:lnTo>
                    <a:pt x="23071" y="263080"/>
                  </a:lnTo>
                  <a:lnTo>
                    <a:pt x="5767" y="220780"/>
                  </a:lnTo>
                  <a:lnTo>
                    <a:pt x="0" y="176106"/>
                  </a:lnTo>
                  <a:lnTo>
                    <a:pt x="5767" y="131432"/>
                  </a:lnTo>
                  <a:lnTo>
                    <a:pt x="23071" y="89132"/>
                  </a:lnTo>
                  <a:lnTo>
                    <a:pt x="51911" y="51580"/>
                  </a:lnTo>
                  <a:lnTo>
                    <a:pt x="89704" y="22924"/>
                  </a:lnTo>
                  <a:lnTo>
                    <a:pt x="132275" y="5731"/>
                  </a:lnTo>
                  <a:lnTo>
                    <a:pt x="177235" y="0"/>
                  </a:lnTo>
                  <a:lnTo>
                    <a:pt x="222195" y="5731"/>
                  </a:lnTo>
                  <a:lnTo>
                    <a:pt x="264767" y="22924"/>
                  </a:lnTo>
                  <a:lnTo>
                    <a:pt x="302559" y="515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3" name="object 43"/>
          <p:cNvGrpSpPr/>
          <p:nvPr/>
        </p:nvGrpSpPr>
        <p:grpSpPr>
          <a:xfrm>
            <a:off x="9418637" y="7843837"/>
            <a:ext cx="364490" cy="361950"/>
            <a:chOff x="9418637" y="7843837"/>
            <a:chExt cx="364490" cy="361950"/>
          </a:xfrm>
        </p:grpSpPr>
        <p:sp>
          <p:nvSpPr>
            <p:cNvPr id="44" name="object 44"/>
            <p:cNvSpPr/>
            <p:nvPr/>
          </p:nvSpPr>
          <p:spPr>
            <a:xfrm>
              <a:off x="9423400" y="7848600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177235" y="0"/>
                  </a:moveTo>
                  <a:lnTo>
                    <a:pt x="132275" y="5731"/>
                  </a:lnTo>
                  <a:lnTo>
                    <a:pt x="89704" y="22924"/>
                  </a:lnTo>
                  <a:lnTo>
                    <a:pt x="51911" y="51580"/>
                  </a:lnTo>
                  <a:lnTo>
                    <a:pt x="23071" y="89132"/>
                  </a:lnTo>
                  <a:lnTo>
                    <a:pt x="5767" y="131432"/>
                  </a:lnTo>
                  <a:lnTo>
                    <a:pt x="0" y="176106"/>
                  </a:lnTo>
                  <a:lnTo>
                    <a:pt x="5767" y="220780"/>
                  </a:lnTo>
                  <a:lnTo>
                    <a:pt x="23071" y="263080"/>
                  </a:lnTo>
                  <a:lnTo>
                    <a:pt x="51911" y="300632"/>
                  </a:lnTo>
                  <a:lnTo>
                    <a:pt x="89704" y="329288"/>
                  </a:lnTo>
                  <a:lnTo>
                    <a:pt x="132275" y="346482"/>
                  </a:lnTo>
                  <a:lnTo>
                    <a:pt x="177235" y="352213"/>
                  </a:lnTo>
                  <a:lnTo>
                    <a:pt x="222195" y="346482"/>
                  </a:lnTo>
                  <a:lnTo>
                    <a:pt x="264766" y="329288"/>
                  </a:lnTo>
                  <a:lnTo>
                    <a:pt x="302559" y="300632"/>
                  </a:lnTo>
                  <a:lnTo>
                    <a:pt x="331399" y="263080"/>
                  </a:lnTo>
                  <a:lnTo>
                    <a:pt x="348703" y="220780"/>
                  </a:lnTo>
                  <a:lnTo>
                    <a:pt x="354470" y="176106"/>
                  </a:lnTo>
                  <a:lnTo>
                    <a:pt x="348703" y="131432"/>
                  </a:lnTo>
                  <a:lnTo>
                    <a:pt x="331399" y="89132"/>
                  </a:lnTo>
                  <a:lnTo>
                    <a:pt x="302559" y="51580"/>
                  </a:lnTo>
                  <a:lnTo>
                    <a:pt x="264766" y="22924"/>
                  </a:lnTo>
                  <a:lnTo>
                    <a:pt x="222195" y="5731"/>
                  </a:lnTo>
                  <a:lnTo>
                    <a:pt x="1772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423400" y="7848600"/>
              <a:ext cx="354965" cy="352425"/>
            </a:xfrm>
            <a:custGeom>
              <a:avLst/>
              <a:gdLst/>
              <a:ahLst/>
              <a:cxnLst/>
              <a:rect l="l" t="t" r="r" b="b"/>
              <a:pathLst>
                <a:path w="354965" h="352425">
                  <a:moveTo>
                    <a:pt x="302559" y="51580"/>
                  </a:moveTo>
                  <a:lnTo>
                    <a:pt x="331399" y="89132"/>
                  </a:lnTo>
                  <a:lnTo>
                    <a:pt x="348703" y="131432"/>
                  </a:lnTo>
                  <a:lnTo>
                    <a:pt x="354471" y="176106"/>
                  </a:lnTo>
                  <a:lnTo>
                    <a:pt x="348703" y="220780"/>
                  </a:lnTo>
                  <a:lnTo>
                    <a:pt x="331399" y="263080"/>
                  </a:lnTo>
                  <a:lnTo>
                    <a:pt x="302559" y="300632"/>
                  </a:lnTo>
                  <a:lnTo>
                    <a:pt x="264767" y="329288"/>
                  </a:lnTo>
                  <a:lnTo>
                    <a:pt x="222195" y="346482"/>
                  </a:lnTo>
                  <a:lnTo>
                    <a:pt x="177235" y="352213"/>
                  </a:lnTo>
                  <a:lnTo>
                    <a:pt x="132275" y="346482"/>
                  </a:lnTo>
                  <a:lnTo>
                    <a:pt x="89704" y="329288"/>
                  </a:lnTo>
                  <a:lnTo>
                    <a:pt x="51911" y="300632"/>
                  </a:lnTo>
                  <a:lnTo>
                    <a:pt x="23071" y="263080"/>
                  </a:lnTo>
                  <a:lnTo>
                    <a:pt x="5767" y="220780"/>
                  </a:lnTo>
                  <a:lnTo>
                    <a:pt x="0" y="176106"/>
                  </a:lnTo>
                  <a:lnTo>
                    <a:pt x="5767" y="131432"/>
                  </a:lnTo>
                  <a:lnTo>
                    <a:pt x="23071" y="89132"/>
                  </a:lnTo>
                  <a:lnTo>
                    <a:pt x="51911" y="51580"/>
                  </a:lnTo>
                  <a:lnTo>
                    <a:pt x="89704" y="22924"/>
                  </a:lnTo>
                  <a:lnTo>
                    <a:pt x="132275" y="5731"/>
                  </a:lnTo>
                  <a:lnTo>
                    <a:pt x="177235" y="0"/>
                  </a:lnTo>
                  <a:lnTo>
                    <a:pt x="222195" y="5731"/>
                  </a:lnTo>
                  <a:lnTo>
                    <a:pt x="264767" y="22924"/>
                  </a:lnTo>
                  <a:lnTo>
                    <a:pt x="302559" y="5158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0010589" y="7399337"/>
            <a:ext cx="2687320" cy="739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independent</a:t>
            </a:r>
            <a:r>
              <a:rPr sz="1600" b="1" spc="15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set</a:t>
            </a:r>
            <a:r>
              <a:rPr sz="1600" b="1" spc="15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of</a:t>
            </a:r>
            <a:r>
              <a:rPr sz="1600" b="1" spc="15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size</a:t>
            </a:r>
            <a:r>
              <a:rPr sz="1600" b="1" spc="150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6</a:t>
            </a:r>
            <a:endParaRPr sz="16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  <a:spcBef>
                <a:spcPts val="1780"/>
              </a:spcBef>
            </a:pPr>
            <a:r>
              <a:rPr sz="1600" b="1" dirty="0">
                <a:latin typeface="Tahoma"/>
                <a:cs typeface="Tahoma"/>
              </a:rPr>
              <a:t>vertex</a:t>
            </a:r>
            <a:r>
              <a:rPr sz="1600" b="1" spc="12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cover</a:t>
            </a:r>
            <a:r>
              <a:rPr sz="1600" b="1" spc="12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of</a:t>
            </a:r>
            <a:r>
              <a:rPr sz="1600" b="1" spc="12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size</a:t>
            </a:r>
            <a:r>
              <a:rPr sz="1600" b="1" spc="125" dirty="0">
                <a:latin typeface="Tahoma"/>
                <a:cs typeface="Tahoma"/>
              </a:rPr>
              <a:t> </a:t>
            </a:r>
            <a:r>
              <a:rPr sz="1600" b="1" spc="-50" dirty="0">
                <a:latin typeface="Tahoma"/>
                <a:cs typeface="Tahoma"/>
              </a:rPr>
              <a:t>4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Vertex</a:t>
            </a:r>
            <a:r>
              <a:rPr spc="105" dirty="0"/>
              <a:t> </a:t>
            </a:r>
            <a:r>
              <a:rPr dirty="0"/>
              <a:t>cover</a:t>
            </a:r>
            <a:r>
              <a:rPr spc="105" dirty="0"/>
              <a:t> </a:t>
            </a:r>
            <a:r>
              <a:rPr spc="60" dirty="0"/>
              <a:t>and</a:t>
            </a:r>
            <a:r>
              <a:rPr spc="110" dirty="0"/>
              <a:t> </a:t>
            </a:r>
            <a:r>
              <a:rPr dirty="0"/>
              <a:t>independent</a:t>
            </a:r>
            <a:r>
              <a:rPr spc="105" dirty="0"/>
              <a:t> </a:t>
            </a:r>
            <a:r>
              <a:rPr dirty="0"/>
              <a:t>set</a:t>
            </a:r>
            <a:r>
              <a:rPr spc="105" dirty="0"/>
              <a:t> </a:t>
            </a:r>
            <a:r>
              <a:rPr dirty="0"/>
              <a:t>reduce</a:t>
            </a:r>
            <a:r>
              <a:rPr spc="110" dirty="0"/>
              <a:t> </a:t>
            </a:r>
            <a:r>
              <a:rPr spc="50" dirty="0"/>
              <a:t>to</a:t>
            </a:r>
            <a:r>
              <a:rPr spc="105" dirty="0"/>
              <a:t> </a:t>
            </a:r>
            <a:r>
              <a:rPr dirty="0"/>
              <a:t>one</a:t>
            </a:r>
            <a:r>
              <a:rPr spc="105" dirty="0"/>
              <a:t> </a:t>
            </a:r>
            <a:r>
              <a:rPr spc="-10" dirty="0"/>
              <a:t>another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62000" y="1221740"/>
            <a:ext cx="10542905" cy="537083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19"/>
              </a:spcBef>
              <a:tabLst>
                <a:tab pos="16573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25" dirty="0">
                <a:latin typeface="Lucida Sans Unicode"/>
                <a:cs typeface="Lucida Sans Unicode"/>
              </a:rPr>
              <a:t>I</a:t>
            </a:r>
            <a:r>
              <a:rPr sz="1900" spc="-25" dirty="0">
                <a:latin typeface="Lucida Sans Unicode"/>
                <a:cs typeface="Lucida Sans Unicode"/>
              </a:rPr>
              <a:t>NDEPENDENT</a:t>
            </a:r>
            <a:r>
              <a:rPr sz="2400" spc="-25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S</a:t>
            </a:r>
            <a:r>
              <a:rPr sz="1900" spc="-10" dirty="0">
                <a:latin typeface="Lucida Sans Unicode"/>
                <a:cs typeface="Lucida Sans Unicode"/>
              </a:rPr>
              <a:t>ET</a:t>
            </a:r>
            <a:r>
              <a:rPr sz="1900" spc="9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Symbol"/>
                <a:cs typeface="Symbol"/>
              </a:rPr>
              <a:t>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472" baseline="-19097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V</a:t>
            </a:r>
            <a:r>
              <a:rPr sz="1900" spc="-40" dirty="0">
                <a:latin typeface="Lucida Sans Unicode"/>
                <a:cs typeface="Lucida Sans Unicode"/>
              </a:rPr>
              <a:t>ERTEX</a:t>
            </a:r>
            <a:r>
              <a:rPr sz="2400" spc="-40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50800" marR="43180">
              <a:lnSpc>
                <a:spcPct val="131900"/>
              </a:lnSpc>
              <a:tabLst>
                <a:tab pos="61976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We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show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independent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10" dirty="0">
                <a:latin typeface="Lucida Sans Unicode"/>
                <a:cs typeface="Lucida Sans Unicode"/>
              </a:rPr>
              <a:t> cover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</a:pPr>
            <a:r>
              <a:rPr sz="2400" spc="-50" dirty="0">
                <a:solidFill>
                  <a:srgbClr val="0048AA"/>
                </a:solidFill>
                <a:latin typeface="Symbol"/>
                <a:cs typeface="Symbol"/>
              </a:rPr>
              <a:t></a:t>
            </a:r>
            <a:endParaRPr sz="2400">
              <a:latin typeface="Symbol"/>
              <a:cs typeface="Symbol"/>
            </a:endParaRPr>
          </a:p>
          <a:p>
            <a:pPr marL="177800">
              <a:lnSpc>
                <a:spcPts val="3945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independent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−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– 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6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Consider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arbitrary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edge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spc="-15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spc="-10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E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  <a:tabLst>
                <a:tab pos="2961005" algn="l"/>
              </a:tabLst>
            </a:pPr>
            <a:r>
              <a:rPr sz="5775" spc="-67" baseline="-5772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independent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dirty="0">
                <a:latin typeface="Symbol"/>
                <a:cs typeface="Symbol"/>
              </a:rPr>
              <a:t>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either</a:t>
            </a:r>
            <a:r>
              <a:rPr sz="2400" spc="-17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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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both.</a:t>
            </a:r>
            <a:endParaRPr sz="2400">
              <a:latin typeface="Lucida Sans Unicode"/>
              <a:cs typeface="Lucida Sans Unicode"/>
            </a:endParaRPr>
          </a:p>
          <a:p>
            <a:pPr marL="2940050">
              <a:lnSpc>
                <a:spcPts val="2615"/>
              </a:lnSpc>
              <a:spcBef>
                <a:spcPts val="630"/>
              </a:spcBef>
              <a:tabLst>
                <a:tab pos="6655434" algn="l"/>
              </a:tabLst>
            </a:pPr>
            <a:r>
              <a:rPr sz="2400" dirty="0">
                <a:latin typeface="Symbol"/>
                <a:cs typeface="Symbol"/>
              </a:rPr>
              <a:t>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either</a:t>
            </a:r>
            <a:r>
              <a:rPr sz="2400" spc="-16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Symbol"/>
                <a:cs typeface="Symbol"/>
              </a:rPr>
              <a:t>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both.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355"/>
              </a:lnSpc>
              <a:tabLst>
                <a:tab pos="4340860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Thus,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covers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v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Vertex</a:t>
            </a:r>
            <a:r>
              <a:rPr spc="105" dirty="0"/>
              <a:t> </a:t>
            </a:r>
            <a:r>
              <a:rPr dirty="0"/>
              <a:t>cover</a:t>
            </a:r>
            <a:r>
              <a:rPr spc="105" dirty="0"/>
              <a:t> </a:t>
            </a:r>
            <a:r>
              <a:rPr spc="60" dirty="0"/>
              <a:t>and</a:t>
            </a:r>
            <a:r>
              <a:rPr spc="110" dirty="0"/>
              <a:t> </a:t>
            </a:r>
            <a:r>
              <a:rPr dirty="0"/>
              <a:t>independent</a:t>
            </a:r>
            <a:r>
              <a:rPr spc="105" dirty="0"/>
              <a:t> </a:t>
            </a:r>
            <a:r>
              <a:rPr dirty="0"/>
              <a:t>set</a:t>
            </a:r>
            <a:r>
              <a:rPr spc="105" dirty="0"/>
              <a:t> </a:t>
            </a:r>
            <a:r>
              <a:rPr dirty="0"/>
              <a:t>reduce</a:t>
            </a:r>
            <a:r>
              <a:rPr spc="110" dirty="0"/>
              <a:t> </a:t>
            </a:r>
            <a:r>
              <a:rPr spc="50" dirty="0"/>
              <a:t>to</a:t>
            </a:r>
            <a:r>
              <a:rPr spc="105" dirty="0"/>
              <a:t> </a:t>
            </a:r>
            <a:r>
              <a:rPr dirty="0"/>
              <a:t>one</a:t>
            </a:r>
            <a:r>
              <a:rPr spc="105" dirty="0"/>
              <a:t> </a:t>
            </a:r>
            <a:r>
              <a:rPr spc="-10" dirty="0"/>
              <a:t>another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62000" y="1221740"/>
            <a:ext cx="10542905" cy="5370830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19"/>
              </a:spcBef>
              <a:tabLst>
                <a:tab pos="16573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25" dirty="0">
                <a:latin typeface="Lucida Sans Unicode"/>
                <a:cs typeface="Lucida Sans Unicode"/>
              </a:rPr>
              <a:t>I</a:t>
            </a:r>
            <a:r>
              <a:rPr sz="1900" spc="-25" dirty="0">
                <a:latin typeface="Lucida Sans Unicode"/>
                <a:cs typeface="Lucida Sans Unicode"/>
              </a:rPr>
              <a:t>NDEPENDENT</a:t>
            </a:r>
            <a:r>
              <a:rPr sz="2400" spc="-25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S</a:t>
            </a:r>
            <a:r>
              <a:rPr sz="1900" spc="-10" dirty="0">
                <a:latin typeface="Lucida Sans Unicode"/>
                <a:cs typeface="Lucida Sans Unicode"/>
              </a:rPr>
              <a:t>ET</a:t>
            </a:r>
            <a:r>
              <a:rPr sz="1900" spc="9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Symbol"/>
                <a:cs typeface="Symbol"/>
              </a:rPr>
              <a:t>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472" baseline="-19097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V</a:t>
            </a:r>
            <a:r>
              <a:rPr sz="1900" spc="-40" dirty="0">
                <a:latin typeface="Lucida Sans Unicode"/>
                <a:cs typeface="Lucida Sans Unicode"/>
              </a:rPr>
              <a:t>ERTEX</a:t>
            </a:r>
            <a:r>
              <a:rPr sz="2400" spc="-40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50800" marR="43180">
              <a:lnSpc>
                <a:spcPct val="131900"/>
              </a:lnSpc>
              <a:tabLst>
                <a:tab pos="61976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We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show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independent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10" dirty="0">
                <a:latin typeface="Lucida Sans Unicode"/>
                <a:cs typeface="Lucida Sans Unicode"/>
              </a:rPr>
              <a:t> cover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</a:pPr>
            <a:r>
              <a:rPr sz="2400" spc="-50" dirty="0">
                <a:solidFill>
                  <a:srgbClr val="0048AA"/>
                </a:solidFill>
                <a:latin typeface="Symbol"/>
                <a:cs typeface="Symbol"/>
              </a:rPr>
              <a:t></a:t>
            </a:r>
            <a:endParaRPr sz="2400">
              <a:latin typeface="Symbol"/>
              <a:cs typeface="Symbol"/>
            </a:endParaRPr>
          </a:p>
          <a:p>
            <a:pPr marL="177800">
              <a:lnSpc>
                <a:spcPts val="3945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1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−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– 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  <a:tabLst>
                <a:tab pos="989965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i="1" spc="-50" dirty="0">
                <a:latin typeface="Times New Roman"/>
                <a:cs typeface="Times New Roman"/>
              </a:rPr>
              <a:t>S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6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Consider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arbitrary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edge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spc="-15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spc="-10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E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  <a:tabLst>
                <a:tab pos="4164965" algn="l"/>
                <a:tab pos="4658360" algn="l"/>
              </a:tabLst>
            </a:pPr>
            <a:r>
              <a:rPr sz="5775" spc="-67" baseline="-5772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 vertex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cover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Symbol"/>
                <a:cs typeface="Symbol"/>
              </a:rPr>
              <a:t>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either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both.</a:t>
            </a:r>
            <a:endParaRPr sz="2400">
              <a:latin typeface="Lucida Sans Unicode"/>
              <a:cs typeface="Lucida Sans Unicode"/>
            </a:endParaRPr>
          </a:p>
          <a:p>
            <a:pPr marL="4165600">
              <a:lnSpc>
                <a:spcPts val="2615"/>
              </a:lnSpc>
              <a:spcBef>
                <a:spcPts val="630"/>
              </a:spcBef>
              <a:tabLst>
                <a:tab pos="4618355" algn="l"/>
              </a:tabLst>
            </a:pPr>
            <a:r>
              <a:rPr sz="2400" spc="-50" dirty="0">
                <a:latin typeface="Symbol"/>
                <a:cs typeface="Symbol"/>
              </a:rPr>
              <a:t>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either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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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both.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355"/>
              </a:lnSpc>
              <a:tabLst>
                <a:tab pos="5304790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Thus,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independent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set.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Set</a:t>
            </a:r>
            <a:r>
              <a:rPr spc="-190" dirty="0"/>
              <a:t> </a:t>
            </a:r>
            <a:r>
              <a:rPr spc="-20" dirty="0"/>
              <a:t>cover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221740"/>
            <a:ext cx="11214735" cy="3923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17780">
              <a:lnSpc>
                <a:spcPct val="131900"/>
              </a:lnSpc>
              <a:spcBef>
                <a:spcPts val="100"/>
              </a:spcBef>
              <a:tabLst>
                <a:tab pos="1735455" algn="l"/>
              </a:tabLst>
            </a:pPr>
            <a:r>
              <a:rPr sz="24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S</a:t>
            </a:r>
            <a:r>
              <a:rPr sz="19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ET</a:t>
            </a:r>
            <a:r>
              <a:rPr sz="2400" spc="-70" dirty="0">
                <a:solidFill>
                  <a:srgbClr val="0048AA"/>
                </a:solidFill>
                <a:latin typeface="Lucida Sans Unicode"/>
                <a:cs typeface="Lucida Sans Unicode"/>
              </a:rPr>
              <a:t>-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</a:t>
            </a:r>
            <a:r>
              <a:rPr sz="19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OVER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elements,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collection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subsets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an </a:t>
            </a:r>
            <a:r>
              <a:rPr sz="2400" dirty="0">
                <a:latin typeface="Lucida Sans Unicode"/>
                <a:cs typeface="Lucida Sans Unicode"/>
              </a:rPr>
              <a:t>integer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are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these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subsets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whose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union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equal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spc="-2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?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Sample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application.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i="1" dirty="0">
                <a:latin typeface="Times New Roman"/>
                <a:cs typeface="Times New Roman"/>
              </a:rPr>
              <a:t>m</a:t>
            </a:r>
            <a:r>
              <a:rPr sz="2400" i="1" spc="1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available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pieces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software.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capabilities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spc="75" dirty="0">
                <a:latin typeface="Lucida Sans Unicode"/>
                <a:cs typeface="Lucida Sans Unicode"/>
              </a:rPr>
              <a:t>we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would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like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our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system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have.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800"/>
              </a:lnSpc>
            </a:pPr>
            <a:r>
              <a:rPr sz="5775" spc="-6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</a:t>
            </a:r>
            <a:r>
              <a:rPr sz="2400" i="1" baseline="17361" dirty="0">
                <a:latin typeface="Times New Roman"/>
                <a:cs typeface="Times New Roman"/>
              </a:rPr>
              <a:t>th</a:t>
            </a:r>
            <a:r>
              <a:rPr sz="2400" i="1" spc="540" baseline="17361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piece 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software provides the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775" i="1" baseline="-18018" dirty="0">
                <a:latin typeface="Times New Roman"/>
                <a:cs typeface="Times New Roman"/>
              </a:rPr>
              <a:t>i</a:t>
            </a:r>
            <a:r>
              <a:rPr sz="2775" i="1" spc="209" baseline="-18018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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 </a:t>
            </a:r>
            <a:r>
              <a:rPr sz="2400" spc="-10" dirty="0">
                <a:latin typeface="Lucida Sans Unicode"/>
                <a:cs typeface="Lucida Sans Unicode"/>
              </a:rPr>
              <a:t>capabilities.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  <a:tabLst>
                <a:tab pos="1617980" algn="l"/>
              </a:tabLst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spc="-10" dirty="0">
                <a:latin typeface="Lucida Sans Unicode"/>
                <a:cs typeface="Lucida Sans Unicode"/>
              </a:rPr>
              <a:t>Goal:</a:t>
            </a:r>
            <a:r>
              <a:rPr sz="2400" dirty="0">
                <a:latin typeface="Lucida Sans Unicode"/>
                <a:cs typeface="Lucida Sans Unicode"/>
              </a:rPr>
              <a:t>	achieve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capabilities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using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fewest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pieces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software.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67100" y="6119425"/>
            <a:ext cx="5511800" cy="2717800"/>
          </a:xfrm>
          <a:custGeom>
            <a:avLst/>
            <a:gdLst/>
            <a:ahLst/>
            <a:cxnLst/>
            <a:rect l="l" t="t" r="r" b="b"/>
            <a:pathLst>
              <a:path w="5511800" h="2717800">
                <a:moveTo>
                  <a:pt x="0" y="0"/>
                </a:moveTo>
                <a:lnTo>
                  <a:pt x="5511800" y="0"/>
                </a:lnTo>
                <a:lnTo>
                  <a:pt x="5511800" y="2717800"/>
                </a:lnTo>
                <a:lnTo>
                  <a:pt x="0" y="2717800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813485" y="6306749"/>
            <a:ext cx="29838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{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1, 2, 3,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4, 5, 6,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7 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21425" y="6626180"/>
            <a:ext cx="2185035" cy="1490345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65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17361" dirty="0">
                <a:latin typeface="Times New Roman"/>
                <a:cs typeface="Times New Roman"/>
              </a:rPr>
              <a:t>b</a:t>
            </a:r>
            <a:r>
              <a:rPr sz="2400" i="1" spc="300" baseline="-17361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{ 2, 4 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965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17361" dirty="0">
                <a:latin typeface="Times New Roman"/>
                <a:cs typeface="Times New Roman"/>
              </a:rPr>
              <a:t>d</a:t>
            </a:r>
            <a:r>
              <a:rPr sz="2400" i="1" spc="300" baseline="-17361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{ 5 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965"/>
              </a:spcBef>
              <a:tabLst>
                <a:tab pos="634365" algn="l"/>
              </a:tabLst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17361" dirty="0">
                <a:latin typeface="Times New Roman"/>
                <a:cs typeface="Times New Roman"/>
              </a:rPr>
              <a:t>f</a:t>
            </a:r>
            <a:r>
              <a:rPr sz="2400" i="1" spc="284" baseline="-17361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=</a:t>
            </a:r>
            <a:r>
              <a:rPr sz="2400" dirty="0">
                <a:latin typeface="Times New Roman"/>
                <a:cs typeface="Times New Roman"/>
              </a:rPr>
              <a:t>	{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1, 2, 6, 7 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788085" y="6626180"/>
            <a:ext cx="2142490" cy="1978660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65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17361" dirty="0">
                <a:latin typeface="Times New Roman"/>
                <a:cs typeface="Times New Roman"/>
              </a:rPr>
              <a:t>a</a:t>
            </a:r>
            <a:r>
              <a:rPr sz="2400" i="1" spc="300" baseline="-17361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{ 3, 7 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965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17361" dirty="0">
                <a:latin typeface="Times New Roman"/>
                <a:cs typeface="Times New Roman"/>
              </a:rPr>
              <a:t>c</a:t>
            </a:r>
            <a:r>
              <a:rPr sz="2400" i="1" spc="292" baseline="-17361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{ 3, 4,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5, 6 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965"/>
              </a:spcBef>
            </a:pP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17361" dirty="0">
                <a:latin typeface="Times New Roman"/>
                <a:cs typeface="Times New Roman"/>
              </a:rPr>
              <a:t>e</a:t>
            </a:r>
            <a:r>
              <a:rPr sz="2400" i="1" spc="292" baseline="-17361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{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 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965"/>
              </a:spcBef>
            </a:pPr>
            <a:r>
              <a:rPr sz="2400" i="1" dirty="0">
                <a:latin typeface="Times New Roman"/>
                <a:cs typeface="Times New Roman"/>
              </a:rPr>
              <a:t>k </a:t>
            </a:r>
            <a:r>
              <a:rPr sz="2400" dirty="0">
                <a:latin typeface="Times New Roman"/>
                <a:cs typeface="Times New Roman"/>
              </a:rPr>
              <a:t>= </a:t>
            </a:r>
            <a:r>
              <a:rPr sz="2400" spc="-50" dirty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56207" y="9088437"/>
            <a:ext cx="21094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latin typeface="Tahoma"/>
                <a:cs typeface="Tahoma"/>
              </a:rPr>
              <a:t>a</a:t>
            </a:r>
            <a:r>
              <a:rPr sz="1600" b="1" spc="7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set</a:t>
            </a:r>
            <a:r>
              <a:rPr sz="1600" b="1" spc="7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cover</a:t>
            </a:r>
            <a:r>
              <a:rPr sz="1600" b="1" spc="7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instance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613150" y="7245350"/>
            <a:ext cx="5067300" cy="952500"/>
            <a:chOff x="3613150" y="7245350"/>
            <a:chExt cx="5067300" cy="952500"/>
          </a:xfrm>
        </p:grpSpPr>
        <p:sp>
          <p:nvSpPr>
            <p:cNvPr id="11" name="object 11"/>
            <p:cNvSpPr/>
            <p:nvPr/>
          </p:nvSpPr>
          <p:spPr>
            <a:xfrm>
              <a:off x="3632200" y="7264400"/>
              <a:ext cx="2425700" cy="419100"/>
            </a:xfrm>
            <a:custGeom>
              <a:avLst/>
              <a:gdLst/>
              <a:ahLst/>
              <a:cxnLst/>
              <a:rect l="l" t="t" r="r" b="b"/>
              <a:pathLst>
                <a:path w="2425700" h="419100">
                  <a:moveTo>
                    <a:pt x="190500" y="0"/>
                  </a:moveTo>
                  <a:lnTo>
                    <a:pt x="2235200" y="0"/>
                  </a:lnTo>
                  <a:lnTo>
                    <a:pt x="2278880" y="5031"/>
                  </a:lnTo>
                  <a:lnTo>
                    <a:pt x="2318977" y="19362"/>
                  </a:lnTo>
                  <a:lnTo>
                    <a:pt x="2354348" y="41850"/>
                  </a:lnTo>
                  <a:lnTo>
                    <a:pt x="2383849" y="71351"/>
                  </a:lnTo>
                  <a:lnTo>
                    <a:pt x="2406337" y="106722"/>
                  </a:lnTo>
                  <a:lnTo>
                    <a:pt x="2420668" y="146820"/>
                  </a:lnTo>
                  <a:lnTo>
                    <a:pt x="2425700" y="190500"/>
                  </a:lnTo>
                  <a:lnTo>
                    <a:pt x="2425700" y="228600"/>
                  </a:lnTo>
                  <a:lnTo>
                    <a:pt x="2420668" y="272279"/>
                  </a:lnTo>
                  <a:lnTo>
                    <a:pt x="2406337" y="312377"/>
                  </a:lnTo>
                  <a:lnTo>
                    <a:pt x="2383849" y="347748"/>
                  </a:lnTo>
                  <a:lnTo>
                    <a:pt x="2354348" y="377249"/>
                  </a:lnTo>
                  <a:lnTo>
                    <a:pt x="2318977" y="399737"/>
                  </a:lnTo>
                  <a:lnTo>
                    <a:pt x="2278880" y="414068"/>
                  </a:lnTo>
                  <a:lnTo>
                    <a:pt x="2235200" y="419100"/>
                  </a:lnTo>
                  <a:lnTo>
                    <a:pt x="190500" y="419100"/>
                  </a:lnTo>
                  <a:lnTo>
                    <a:pt x="146820" y="414068"/>
                  </a:lnTo>
                  <a:lnTo>
                    <a:pt x="106722" y="399737"/>
                  </a:lnTo>
                  <a:lnTo>
                    <a:pt x="71351" y="377249"/>
                  </a:lnTo>
                  <a:lnTo>
                    <a:pt x="41850" y="347748"/>
                  </a:lnTo>
                  <a:lnTo>
                    <a:pt x="19362" y="312377"/>
                  </a:lnTo>
                  <a:lnTo>
                    <a:pt x="5031" y="272279"/>
                  </a:lnTo>
                  <a:lnTo>
                    <a:pt x="0" y="228600"/>
                  </a:lnTo>
                  <a:lnTo>
                    <a:pt x="0" y="190500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500" y="0"/>
                  </a:lnTo>
                  <a:close/>
                </a:path>
              </a:pathLst>
            </a:custGeom>
            <a:ln w="3810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08700" y="7759700"/>
              <a:ext cx="2552700" cy="419100"/>
            </a:xfrm>
            <a:custGeom>
              <a:avLst/>
              <a:gdLst/>
              <a:ahLst/>
              <a:cxnLst/>
              <a:rect l="l" t="t" r="r" b="b"/>
              <a:pathLst>
                <a:path w="2552700" h="419100">
                  <a:moveTo>
                    <a:pt x="190500" y="0"/>
                  </a:moveTo>
                  <a:lnTo>
                    <a:pt x="2362200" y="0"/>
                  </a:lnTo>
                  <a:lnTo>
                    <a:pt x="2405880" y="5031"/>
                  </a:lnTo>
                  <a:lnTo>
                    <a:pt x="2445977" y="19362"/>
                  </a:lnTo>
                  <a:lnTo>
                    <a:pt x="2481348" y="41850"/>
                  </a:lnTo>
                  <a:lnTo>
                    <a:pt x="2510849" y="71351"/>
                  </a:lnTo>
                  <a:lnTo>
                    <a:pt x="2533337" y="106722"/>
                  </a:lnTo>
                  <a:lnTo>
                    <a:pt x="2547668" y="146820"/>
                  </a:lnTo>
                  <a:lnTo>
                    <a:pt x="2552700" y="190500"/>
                  </a:lnTo>
                  <a:lnTo>
                    <a:pt x="2552700" y="228600"/>
                  </a:lnTo>
                  <a:lnTo>
                    <a:pt x="2547668" y="272279"/>
                  </a:lnTo>
                  <a:lnTo>
                    <a:pt x="2533337" y="312377"/>
                  </a:lnTo>
                  <a:lnTo>
                    <a:pt x="2510849" y="347748"/>
                  </a:lnTo>
                  <a:lnTo>
                    <a:pt x="2481348" y="377249"/>
                  </a:lnTo>
                  <a:lnTo>
                    <a:pt x="2445977" y="399737"/>
                  </a:lnTo>
                  <a:lnTo>
                    <a:pt x="2405880" y="414068"/>
                  </a:lnTo>
                  <a:lnTo>
                    <a:pt x="2362200" y="419100"/>
                  </a:lnTo>
                  <a:lnTo>
                    <a:pt x="190500" y="419100"/>
                  </a:lnTo>
                  <a:lnTo>
                    <a:pt x="146820" y="414068"/>
                  </a:lnTo>
                  <a:lnTo>
                    <a:pt x="106722" y="399737"/>
                  </a:lnTo>
                  <a:lnTo>
                    <a:pt x="71351" y="377249"/>
                  </a:lnTo>
                  <a:lnTo>
                    <a:pt x="41850" y="347748"/>
                  </a:lnTo>
                  <a:lnTo>
                    <a:pt x="19362" y="312377"/>
                  </a:lnTo>
                  <a:lnTo>
                    <a:pt x="5031" y="272279"/>
                  </a:lnTo>
                  <a:lnTo>
                    <a:pt x="0" y="228600"/>
                  </a:lnTo>
                  <a:lnTo>
                    <a:pt x="0" y="190500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500" y="0"/>
                  </a:lnTo>
                  <a:close/>
                </a:path>
              </a:pathLst>
            </a:custGeom>
            <a:ln w="3810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Vertex</a:t>
            </a:r>
            <a:r>
              <a:rPr spc="10" dirty="0"/>
              <a:t> </a:t>
            </a:r>
            <a:r>
              <a:rPr dirty="0"/>
              <a:t>cover</a:t>
            </a:r>
            <a:r>
              <a:rPr spc="10" dirty="0"/>
              <a:t> </a:t>
            </a:r>
            <a:r>
              <a:rPr dirty="0"/>
              <a:t>reduces</a:t>
            </a:r>
            <a:r>
              <a:rPr spc="10" dirty="0"/>
              <a:t> </a:t>
            </a:r>
            <a:r>
              <a:rPr spc="50" dirty="0"/>
              <a:t>to</a:t>
            </a:r>
            <a:r>
              <a:rPr spc="10" dirty="0"/>
              <a:t> </a:t>
            </a:r>
            <a:r>
              <a:rPr dirty="0"/>
              <a:t>set</a:t>
            </a:r>
            <a:r>
              <a:rPr spc="15" dirty="0"/>
              <a:t> </a:t>
            </a:r>
            <a:r>
              <a:rPr spc="-10" dirty="0"/>
              <a:t>cover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62000" y="1221740"/>
            <a:ext cx="10372090" cy="3923029"/>
          </a:xfrm>
          <a:prstGeom prst="rect">
            <a:avLst/>
          </a:prstGeom>
        </p:spPr>
        <p:txBody>
          <a:bodyPr vert="horz" wrap="square" lIns="0" tIns="12953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19"/>
              </a:spcBef>
              <a:tabLst>
                <a:tab pos="1657350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40" dirty="0">
                <a:latin typeface="Lucida Sans Unicode"/>
                <a:cs typeface="Lucida Sans Unicode"/>
              </a:rPr>
              <a:t>V</a:t>
            </a:r>
            <a:r>
              <a:rPr sz="1900" spc="-40" dirty="0">
                <a:latin typeface="Lucida Sans Unicode"/>
                <a:cs typeface="Lucida Sans Unicode"/>
              </a:rPr>
              <a:t>ERTEX</a:t>
            </a:r>
            <a:r>
              <a:rPr sz="2400" spc="-40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1900" spc="9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442" baseline="-19097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Lucida Sans Unicode"/>
                <a:cs typeface="Lucida Sans Unicode"/>
              </a:rPr>
              <a:t>S</a:t>
            </a:r>
            <a:r>
              <a:rPr sz="1900" spc="-70" dirty="0">
                <a:latin typeface="Lucida Sans Unicode"/>
                <a:cs typeface="Lucida Sans Unicode"/>
              </a:rPr>
              <a:t>ET</a:t>
            </a:r>
            <a:r>
              <a:rPr sz="2400" spc="-70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50800" marR="607695">
              <a:lnSpc>
                <a:spcPct val="131900"/>
              </a:lnSpc>
              <a:tabLst>
                <a:tab pos="61976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V</a:t>
            </a:r>
            <a:r>
              <a:rPr sz="1900" spc="-40" dirty="0">
                <a:latin typeface="Lucida Sans Unicode"/>
                <a:cs typeface="Lucida Sans Unicode"/>
              </a:rPr>
              <a:t>ERTEX</a:t>
            </a:r>
            <a:r>
              <a:rPr sz="2400" spc="-40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1900" spc="1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instance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75" dirty="0">
                <a:latin typeface="Lucida Sans Unicode"/>
                <a:cs typeface="Lucida Sans Unicode"/>
              </a:rPr>
              <a:t>we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construct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a </a:t>
            </a:r>
            <a:r>
              <a:rPr sz="2400" spc="-70" dirty="0">
                <a:latin typeface="Lucida Sans Unicode"/>
                <a:cs typeface="Lucida Sans Unicode"/>
              </a:rPr>
              <a:t>S</a:t>
            </a:r>
            <a:r>
              <a:rPr sz="1900" spc="-70" dirty="0">
                <a:latin typeface="Lucida Sans Unicode"/>
                <a:cs typeface="Lucida Sans Unicode"/>
              </a:rPr>
              <a:t>ET</a:t>
            </a:r>
            <a:r>
              <a:rPr sz="2400" spc="-70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1900" spc="1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instance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a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i="1" spc="-35" dirty="0">
                <a:latin typeface="Times New Roman"/>
                <a:cs typeface="Times New Roman"/>
              </a:rPr>
              <a:t>k</a:t>
            </a:r>
            <a:r>
              <a:rPr sz="2400" spc="-3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ts val="2615"/>
              </a:lnSpc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Construction.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3945"/>
              </a:lnSpc>
            </a:pPr>
            <a:r>
              <a:rPr sz="5775" spc="-67" baseline="-5050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Universe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i="1" spc="3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= </a:t>
            </a:r>
            <a:r>
              <a:rPr sz="2400" i="1" spc="-25" dirty="0">
                <a:latin typeface="Times New Roman"/>
                <a:cs typeface="Times New Roman"/>
              </a:rPr>
              <a:t>E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210"/>
              </a:lnSpc>
            </a:pPr>
            <a:r>
              <a:rPr sz="5775" spc="-6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Include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subset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node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6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: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775" i="1" baseline="-18018" dirty="0">
                <a:latin typeface="Times New Roman"/>
                <a:cs typeface="Times New Roman"/>
              </a:rPr>
              <a:t>v</a:t>
            </a:r>
            <a:r>
              <a:rPr sz="2775" i="1" spc="187" baseline="-18018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= {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: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incident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}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49328" y="5811732"/>
            <a:ext cx="4343400" cy="2453005"/>
            <a:chOff x="1549328" y="5811732"/>
            <a:chExt cx="4343400" cy="2453005"/>
          </a:xfrm>
        </p:grpSpPr>
        <p:sp>
          <p:nvSpPr>
            <p:cNvPr id="6" name="object 6"/>
            <p:cNvSpPr/>
            <p:nvPr/>
          </p:nvSpPr>
          <p:spPr>
            <a:xfrm>
              <a:off x="2701430" y="5830782"/>
              <a:ext cx="3149600" cy="1400175"/>
            </a:xfrm>
            <a:custGeom>
              <a:avLst/>
              <a:gdLst/>
              <a:ahLst/>
              <a:cxnLst/>
              <a:rect l="l" t="t" r="r" b="b"/>
              <a:pathLst>
                <a:path w="3149600" h="1400175">
                  <a:moveTo>
                    <a:pt x="0" y="0"/>
                  </a:moveTo>
                  <a:lnTo>
                    <a:pt x="3149600" y="1399821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20541" y="7230604"/>
              <a:ext cx="1230630" cy="1015365"/>
            </a:xfrm>
            <a:custGeom>
              <a:avLst/>
              <a:gdLst/>
              <a:ahLst/>
              <a:cxnLst/>
              <a:rect l="l" t="t" r="r" b="b"/>
              <a:pathLst>
                <a:path w="1230629" h="1015365">
                  <a:moveTo>
                    <a:pt x="1230488" y="0"/>
                  </a:moveTo>
                  <a:lnTo>
                    <a:pt x="0" y="1014800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620541" y="5840870"/>
              <a:ext cx="1230630" cy="1390015"/>
            </a:xfrm>
            <a:custGeom>
              <a:avLst/>
              <a:gdLst/>
              <a:ahLst/>
              <a:cxnLst/>
              <a:rect l="l" t="t" r="r" b="b"/>
              <a:pathLst>
                <a:path w="1230629" h="1390015">
                  <a:moveTo>
                    <a:pt x="0" y="0"/>
                  </a:moveTo>
                  <a:lnTo>
                    <a:pt x="1230488" y="1389733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90603" y="5840870"/>
              <a:ext cx="3030220" cy="1396365"/>
            </a:xfrm>
            <a:custGeom>
              <a:avLst/>
              <a:gdLst/>
              <a:ahLst/>
              <a:cxnLst/>
              <a:rect l="l" t="t" r="r" b="b"/>
              <a:pathLst>
                <a:path w="3030220" h="1396365">
                  <a:moveTo>
                    <a:pt x="0" y="1396083"/>
                  </a:moveTo>
                  <a:lnTo>
                    <a:pt x="3029938" y="0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0603" y="7236954"/>
              <a:ext cx="1361440" cy="1007110"/>
            </a:xfrm>
            <a:custGeom>
              <a:avLst/>
              <a:gdLst/>
              <a:ahLst/>
              <a:cxnLst/>
              <a:rect l="l" t="t" r="r" b="b"/>
              <a:pathLst>
                <a:path w="1361439" h="1007109">
                  <a:moveTo>
                    <a:pt x="0" y="0"/>
                  </a:moveTo>
                  <a:lnTo>
                    <a:pt x="1361440" y="1006969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71553" y="7233779"/>
              <a:ext cx="4298950" cy="0"/>
            </a:xfrm>
            <a:custGeom>
              <a:avLst/>
              <a:gdLst/>
              <a:ahLst/>
              <a:cxnLst/>
              <a:rect l="l" t="t" r="r" b="b"/>
              <a:pathLst>
                <a:path w="4298950">
                  <a:moveTo>
                    <a:pt x="0" y="0"/>
                  </a:moveTo>
                  <a:lnTo>
                    <a:pt x="2016272" y="0"/>
                  </a:lnTo>
                </a:path>
                <a:path w="4298950">
                  <a:moveTo>
                    <a:pt x="2268709" y="0"/>
                  </a:moveTo>
                  <a:lnTo>
                    <a:pt x="4298527" y="0"/>
                  </a:lnTo>
                </a:path>
              </a:pathLst>
            </a:custGeom>
            <a:ln w="4445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90603" y="5830782"/>
              <a:ext cx="1111250" cy="1406525"/>
            </a:xfrm>
            <a:custGeom>
              <a:avLst/>
              <a:gdLst/>
              <a:ahLst/>
              <a:cxnLst/>
              <a:rect l="l" t="t" r="r" b="b"/>
              <a:pathLst>
                <a:path w="1111250" h="1406525">
                  <a:moveTo>
                    <a:pt x="0" y="1406171"/>
                  </a:moveTo>
                  <a:lnTo>
                    <a:pt x="1110826" y="0"/>
                  </a:lnTo>
                </a:path>
              </a:pathLst>
            </a:custGeom>
            <a:ln w="38099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24410" y="7657012"/>
              <a:ext cx="252729" cy="339090"/>
            </a:xfrm>
            <a:custGeom>
              <a:avLst/>
              <a:gdLst/>
              <a:ahLst/>
              <a:cxnLst/>
              <a:rect l="l" t="t" r="r" b="b"/>
              <a:pathLst>
                <a:path w="252730" h="339090">
                  <a:moveTo>
                    <a:pt x="252437" y="0"/>
                  </a:moveTo>
                  <a:lnTo>
                    <a:pt x="0" y="0"/>
                  </a:lnTo>
                  <a:lnTo>
                    <a:pt x="0" y="338581"/>
                  </a:lnTo>
                  <a:lnTo>
                    <a:pt x="252437" y="338581"/>
                  </a:lnTo>
                  <a:lnTo>
                    <a:pt x="252437" y="0"/>
                  </a:lnTo>
                  <a:close/>
                </a:path>
              </a:pathLst>
            </a:custGeom>
            <a:solidFill>
              <a:srgbClr val="F2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213827" y="7631613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1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31848" y="6348631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29" h="339090">
                <a:moveTo>
                  <a:pt x="252437" y="0"/>
                </a:moveTo>
                <a:lnTo>
                  <a:pt x="0" y="0"/>
                </a:lnTo>
                <a:lnTo>
                  <a:pt x="0" y="338581"/>
                </a:lnTo>
                <a:lnTo>
                  <a:pt x="252437" y="338581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021265" y="6323231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2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457917" y="6473938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29" h="339090">
                <a:moveTo>
                  <a:pt x="252437" y="0"/>
                </a:moveTo>
                <a:lnTo>
                  <a:pt x="0" y="0"/>
                </a:lnTo>
                <a:lnTo>
                  <a:pt x="0" y="338582"/>
                </a:lnTo>
                <a:lnTo>
                  <a:pt x="252437" y="338582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72734" y="6448538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85471" y="6588153"/>
            <a:ext cx="110489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50" dirty="0"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107593" y="7577708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29" h="339090">
                <a:moveTo>
                  <a:pt x="252437" y="0"/>
                </a:moveTo>
                <a:lnTo>
                  <a:pt x="0" y="0"/>
                </a:lnTo>
                <a:lnTo>
                  <a:pt x="0" y="338581"/>
                </a:lnTo>
                <a:lnTo>
                  <a:pt x="252437" y="338581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097010" y="7552308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5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110697" y="6345809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29" h="339090">
                <a:moveTo>
                  <a:pt x="252437" y="0"/>
                </a:moveTo>
                <a:lnTo>
                  <a:pt x="0" y="0"/>
                </a:lnTo>
                <a:lnTo>
                  <a:pt x="0" y="338581"/>
                </a:lnTo>
                <a:lnTo>
                  <a:pt x="252437" y="338581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100114" y="6320408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4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587826" y="7059266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29" h="339090">
                <a:moveTo>
                  <a:pt x="252437" y="0"/>
                </a:moveTo>
                <a:lnTo>
                  <a:pt x="0" y="0"/>
                </a:lnTo>
                <a:lnTo>
                  <a:pt x="0" y="338581"/>
                </a:lnTo>
                <a:lnTo>
                  <a:pt x="252437" y="338581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577243" y="7033866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6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998068" y="6345809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30" h="339090">
                <a:moveTo>
                  <a:pt x="252437" y="0"/>
                </a:moveTo>
                <a:lnTo>
                  <a:pt x="0" y="0"/>
                </a:lnTo>
                <a:lnTo>
                  <a:pt x="0" y="338581"/>
                </a:lnTo>
                <a:lnTo>
                  <a:pt x="252437" y="338581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987485" y="6320408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7</a:t>
            </a:r>
            <a:endParaRPr sz="1950" baseline="-19230">
              <a:latin typeface="Times New Roman"/>
              <a:cs typeface="Times New Roman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2491316" y="5630757"/>
            <a:ext cx="420370" cy="420370"/>
            <a:chOff x="2491316" y="5630757"/>
            <a:chExt cx="420370" cy="420370"/>
          </a:xfrm>
        </p:grpSpPr>
        <p:sp>
          <p:nvSpPr>
            <p:cNvPr id="29" name="object 29"/>
            <p:cNvSpPr/>
            <p:nvPr/>
          </p:nvSpPr>
          <p:spPr>
            <a:xfrm>
              <a:off x="2496078" y="5635519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227974" y="0"/>
                  </a:moveTo>
                  <a:lnTo>
                    <a:pt x="182729" y="0"/>
                  </a:lnTo>
                  <a:lnTo>
                    <a:pt x="138362" y="9878"/>
                  </a:lnTo>
                  <a:lnTo>
                    <a:pt x="96625" y="29636"/>
                  </a:lnTo>
                  <a:lnTo>
                    <a:pt x="59272" y="59273"/>
                  </a:lnTo>
                  <a:lnTo>
                    <a:pt x="29636" y="96626"/>
                  </a:lnTo>
                  <a:lnTo>
                    <a:pt x="9878" y="138362"/>
                  </a:lnTo>
                  <a:lnTo>
                    <a:pt x="0" y="182730"/>
                  </a:lnTo>
                  <a:lnTo>
                    <a:pt x="0" y="227974"/>
                  </a:lnTo>
                  <a:lnTo>
                    <a:pt x="9878" y="272341"/>
                  </a:lnTo>
                  <a:lnTo>
                    <a:pt x="29636" y="314078"/>
                  </a:lnTo>
                  <a:lnTo>
                    <a:pt x="59272" y="351430"/>
                  </a:lnTo>
                  <a:lnTo>
                    <a:pt x="96625" y="381067"/>
                  </a:lnTo>
                  <a:lnTo>
                    <a:pt x="138362" y="400824"/>
                  </a:lnTo>
                  <a:lnTo>
                    <a:pt x="182729" y="410703"/>
                  </a:lnTo>
                  <a:lnTo>
                    <a:pt x="227974" y="410703"/>
                  </a:lnTo>
                  <a:lnTo>
                    <a:pt x="272341" y="400824"/>
                  </a:lnTo>
                  <a:lnTo>
                    <a:pt x="314078" y="381067"/>
                  </a:lnTo>
                  <a:lnTo>
                    <a:pt x="351431" y="351430"/>
                  </a:lnTo>
                  <a:lnTo>
                    <a:pt x="381067" y="314078"/>
                  </a:lnTo>
                  <a:lnTo>
                    <a:pt x="400825" y="272341"/>
                  </a:lnTo>
                  <a:lnTo>
                    <a:pt x="410703" y="227974"/>
                  </a:lnTo>
                  <a:lnTo>
                    <a:pt x="410703" y="182730"/>
                  </a:lnTo>
                  <a:lnTo>
                    <a:pt x="400825" y="138362"/>
                  </a:lnTo>
                  <a:lnTo>
                    <a:pt x="381067" y="96626"/>
                  </a:lnTo>
                  <a:lnTo>
                    <a:pt x="351431" y="59273"/>
                  </a:lnTo>
                  <a:lnTo>
                    <a:pt x="314078" y="29636"/>
                  </a:lnTo>
                  <a:lnTo>
                    <a:pt x="272341" y="9878"/>
                  </a:lnTo>
                  <a:lnTo>
                    <a:pt x="227974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96078" y="5635519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628239" y="5626806"/>
            <a:ext cx="152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410428" y="5630757"/>
            <a:ext cx="420370" cy="420370"/>
            <a:chOff x="4410428" y="5630757"/>
            <a:chExt cx="420370" cy="420370"/>
          </a:xfrm>
        </p:grpSpPr>
        <p:sp>
          <p:nvSpPr>
            <p:cNvPr id="33" name="object 33"/>
            <p:cNvSpPr/>
            <p:nvPr/>
          </p:nvSpPr>
          <p:spPr>
            <a:xfrm>
              <a:off x="4415190" y="5635519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27974" y="0"/>
                  </a:moveTo>
                  <a:lnTo>
                    <a:pt x="182730" y="0"/>
                  </a:lnTo>
                  <a:lnTo>
                    <a:pt x="138362" y="9878"/>
                  </a:lnTo>
                  <a:lnTo>
                    <a:pt x="96626" y="29636"/>
                  </a:lnTo>
                  <a:lnTo>
                    <a:pt x="59273" y="59273"/>
                  </a:lnTo>
                  <a:lnTo>
                    <a:pt x="29636" y="96626"/>
                  </a:lnTo>
                  <a:lnTo>
                    <a:pt x="9878" y="138362"/>
                  </a:lnTo>
                  <a:lnTo>
                    <a:pt x="0" y="182730"/>
                  </a:lnTo>
                  <a:lnTo>
                    <a:pt x="0" y="227974"/>
                  </a:lnTo>
                  <a:lnTo>
                    <a:pt x="9878" y="272341"/>
                  </a:lnTo>
                  <a:lnTo>
                    <a:pt x="29636" y="314078"/>
                  </a:lnTo>
                  <a:lnTo>
                    <a:pt x="59273" y="351430"/>
                  </a:lnTo>
                  <a:lnTo>
                    <a:pt x="96626" y="381067"/>
                  </a:lnTo>
                  <a:lnTo>
                    <a:pt x="138362" y="400824"/>
                  </a:lnTo>
                  <a:lnTo>
                    <a:pt x="182730" y="410703"/>
                  </a:lnTo>
                  <a:lnTo>
                    <a:pt x="227974" y="410703"/>
                  </a:lnTo>
                  <a:lnTo>
                    <a:pt x="272341" y="400824"/>
                  </a:lnTo>
                  <a:lnTo>
                    <a:pt x="314078" y="381067"/>
                  </a:lnTo>
                  <a:lnTo>
                    <a:pt x="351430" y="351430"/>
                  </a:lnTo>
                  <a:lnTo>
                    <a:pt x="381067" y="314078"/>
                  </a:lnTo>
                  <a:lnTo>
                    <a:pt x="400824" y="272341"/>
                  </a:lnTo>
                  <a:lnTo>
                    <a:pt x="410703" y="227974"/>
                  </a:lnTo>
                  <a:lnTo>
                    <a:pt x="410703" y="182730"/>
                  </a:lnTo>
                  <a:lnTo>
                    <a:pt x="400824" y="138362"/>
                  </a:lnTo>
                  <a:lnTo>
                    <a:pt x="381067" y="96626"/>
                  </a:lnTo>
                  <a:lnTo>
                    <a:pt x="351430" y="59273"/>
                  </a:lnTo>
                  <a:lnTo>
                    <a:pt x="314078" y="29636"/>
                  </a:lnTo>
                  <a:lnTo>
                    <a:pt x="272341" y="9878"/>
                  </a:lnTo>
                  <a:lnTo>
                    <a:pt x="227974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415190" y="5635519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560050" y="5652206"/>
            <a:ext cx="152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741930" y="8037548"/>
            <a:ext cx="420370" cy="420370"/>
            <a:chOff x="2741930" y="8037548"/>
            <a:chExt cx="420370" cy="420370"/>
          </a:xfrm>
        </p:grpSpPr>
        <p:sp>
          <p:nvSpPr>
            <p:cNvPr id="37" name="object 37"/>
            <p:cNvSpPr/>
            <p:nvPr/>
          </p:nvSpPr>
          <p:spPr>
            <a:xfrm>
              <a:off x="2746693" y="8042310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227973" y="0"/>
                  </a:moveTo>
                  <a:lnTo>
                    <a:pt x="182729" y="0"/>
                  </a:lnTo>
                  <a:lnTo>
                    <a:pt x="138361" y="9878"/>
                  </a:lnTo>
                  <a:lnTo>
                    <a:pt x="96625" y="29636"/>
                  </a:lnTo>
                  <a:lnTo>
                    <a:pt x="59272" y="59273"/>
                  </a:lnTo>
                  <a:lnTo>
                    <a:pt x="29636" y="96626"/>
                  </a:lnTo>
                  <a:lnTo>
                    <a:pt x="9878" y="138362"/>
                  </a:lnTo>
                  <a:lnTo>
                    <a:pt x="0" y="182730"/>
                  </a:lnTo>
                  <a:lnTo>
                    <a:pt x="0" y="227974"/>
                  </a:lnTo>
                  <a:lnTo>
                    <a:pt x="9878" y="272341"/>
                  </a:lnTo>
                  <a:lnTo>
                    <a:pt x="29636" y="314078"/>
                  </a:lnTo>
                  <a:lnTo>
                    <a:pt x="59272" y="351430"/>
                  </a:lnTo>
                  <a:lnTo>
                    <a:pt x="96625" y="381067"/>
                  </a:lnTo>
                  <a:lnTo>
                    <a:pt x="138361" y="400824"/>
                  </a:lnTo>
                  <a:lnTo>
                    <a:pt x="182729" y="410703"/>
                  </a:lnTo>
                  <a:lnTo>
                    <a:pt x="227973" y="410703"/>
                  </a:lnTo>
                  <a:lnTo>
                    <a:pt x="272340" y="400824"/>
                  </a:lnTo>
                  <a:lnTo>
                    <a:pt x="314077" y="381067"/>
                  </a:lnTo>
                  <a:lnTo>
                    <a:pt x="351429" y="351430"/>
                  </a:lnTo>
                  <a:lnTo>
                    <a:pt x="381066" y="314078"/>
                  </a:lnTo>
                  <a:lnTo>
                    <a:pt x="400824" y="272341"/>
                  </a:lnTo>
                  <a:lnTo>
                    <a:pt x="410703" y="227974"/>
                  </a:lnTo>
                  <a:lnTo>
                    <a:pt x="410703" y="182730"/>
                  </a:lnTo>
                  <a:lnTo>
                    <a:pt x="400824" y="138362"/>
                  </a:lnTo>
                  <a:lnTo>
                    <a:pt x="381066" y="96626"/>
                  </a:lnTo>
                  <a:lnTo>
                    <a:pt x="351429" y="59273"/>
                  </a:lnTo>
                  <a:lnTo>
                    <a:pt x="314077" y="29636"/>
                  </a:lnTo>
                  <a:lnTo>
                    <a:pt x="272340" y="9878"/>
                  </a:lnTo>
                  <a:lnTo>
                    <a:pt x="227973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746693" y="8042310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898684" y="8046297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380490" y="7030579"/>
            <a:ext cx="420370" cy="420370"/>
            <a:chOff x="1380490" y="7030579"/>
            <a:chExt cx="420370" cy="420370"/>
          </a:xfrm>
        </p:grpSpPr>
        <p:sp>
          <p:nvSpPr>
            <p:cNvPr id="41" name="object 41"/>
            <p:cNvSpPr/>
            <p:nvPr/>
          </p:nvSpPr>
          <p:spPr>
            <a:xfrm>
              <a:off x="1385253" y="7035342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227973" y="0"/>
                  </a:moveTo>
                  <a:lnTo>
                    <a:pt x="182729" y="0"/>
                  </a:lnTo>
                  <a:lnTo>
                    <a:pt x="138361" y="9878"/>
                  </a:lnTo>
                  <a:lnTo>
                    <a:pt x="96625" y="29636"/>
                  </a:lnTo>
                  <a:lnTo>
                    <a:pt x="59272" y="59272"/>
                  </a:lnTo>
                  <a:lnTo>
                    <a:pt x="29636" y="96625"/>
                  </a:lnTo>
                  <a:lnTo>
                    <a:pt x="9878" y="138361"/>
                  </a:lnTo>
                  <a:lnTo>
                    <a:pt x="0" y="182729"/>
                  </a:lnTo>
                  <a:lnTo>
                    <a:pt x="0" y="227973"/>
                  </a:lnTo>
                  <a:lnTo>
                    <a:pt x="9878" y="272340"/>
                  </a:lnTo>
                  <a:lnTo>
                    <a:pt x="29636" y="314077"/>
                  </a:lnTo>
                  <a:lnTo>
                    <a:pt x="59272" y="351429"/>
                  </a:lnTo>
                  <a:lnTo>
                    <a:pt x="96625" y="381066"/>
                  </a:lnTo>
                  <a:lnTo>
                    <a:pt x="138361" y="400824"/>
                  </a:lnTo>
                  <a:lnTo>
                    <a:pt x="182729" y="410703"/>
                  </a:lnTo>
                  <a:lnTo>
                    <a:pt x="227973" y="410703"/>
                  </a:lnTo>
                  <a:lnTo>
                    <a:pt x="272340" y="400824"/>
                  </a:lnTo>
                  <a:lnTo>
                    <a:pt x="314077" y="381066"/>
                  </a:lnTo>
                  <a:lnTo>
                    <a:pt x="351429" y="351429"/>
                  </a:lnTo>
                  <a:lnTo>
                    <a:pt x="381066" y="314077"/>
                  </a:lnTo>
                  <a:lnTo>
                    <a:pt x="400823" y="272340"/>
                  </a:lnTo>
                  <a:lnTo>
                    <a:pt x="410702" y="227973"/>
                  </a:lnTo>
                  <a:lnTo>
                    <a:pt x="410702" y="182729"/>
                  </a:lnTo>
                  <a:lnTo>
                    <a:pt x="400823" y="138361"/>
                  </a:lnTo>
                  <a:lnTo>
                    <a:pt x="381066" y="96625"/>
                  </a:lnTo>
                  <a:lnTo>
                    <a:pt x="351429" y="59272"/>
                  </a:lnTo>
                  <a:lnTo>
                    <a:pt x="314077" y="29636"/>
                  </a:lnTo>
                  <a:lnTo>
                    <a:pt x="272340" y="9878"/>
                  </a:lnTo>
                  <a:lnTo>
                    <a:pt x="227973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385252" y="703534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545628" y="7039328"/>
            <a:ext cx="96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410428" y="8035290"/>
            <a:ext cx="420370" cy="420370"/>
            <a:chOff x="4410428" y="8035290"/>
            <a:chExt cx="420370" cy="420370"/>
          </a:xfrm>
        </p:grpSpPr>
        <p:sp>
          <p:nvSpPr>
            <p:cNvPr id="45" name="object 45"/>
            <p:cNvSpPr/>
            <p:nvPr/>
          </p:nvSpPr>
          <p:spPr>
            <a:xfrm>
              <a:off x="4415190" y="8040052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27974" y="0"/>
                  </a:moveTo>
                  <a:lnTo>
                    <a:pt x="182730" y="0"/>
                  </a:lnTo>
                  <a:lnTo>
                    <a:pt x="138362" y="9878"/>
                  </a:lnTo>
                  <a:lnTo>
                    <a:pt x="96626" y="29636"/>
                  </a:lnTo>
                  <a:lnTo>
                    <a:pt x="59273" y="59272"/>
                  </a:lnTo>
                  <a:lnTo>
                    <a:pt x="29636" y="96625"/>
                  </a:lnTo>
                  <a:lnTo>
                    <a:pt x="9878" y="138361"/>
                  </a:lnTo>
                  <a:lnTo>
                    <a:pt x="0" y="182729"/>
                  </a:lnTo>
                  <a:lnTo>
                    <a:pt x="0" y="227973"/>
                  </a:lnTo>
                  <a:lnTo>
                    <a:pt x="9878" y="272340"/>
                  </a:lnTo>
                  <a:lnTo>
                    <a:pt x="29636" y="314077"/>
                  </a:lnTo>
                  <a:lnTo>
                    <a:pt x="59273" y="351429"/>
                  </a:lnTo>
                  <a:lnTo>
                    <a:pt x="96626" y="381066"/>
                  </a:lnTo>
                  <a:lnTo>
                    <a:pt x="138362" y="400823"/>
                  </a:lnTo>
                  <a:lnTo>
                    <a:pt x="182730" y="410702"/>
                  </a:lnTo>
                  <a:lnTo>
                    <a:pt x="227974" y="410702"/>
                  </a:lnTo>
                  <a:lnTo>
                    <a:pt x="272341" y="400823"/>
                  </a:lnTo>
                  <a:lnTo>
                    <a:pt x="314078" y="381066"/>
                  </a:lnTo>
                  <a:lnTo>
                    <a:pt x="351430" y="351429"/>
                  </a:lnTo>
                  <a:lnTo>
                    <a:pt x="381067" y="314077"/>
                  </a:lnTo>
                  <a:lnTo>
                    <a:pt x="400824" y="272340"/>
                  </a:lnTo>
                  <a:lnTo>
                    <a:pt x="410703" y="227973"/>
                  </a:lnTo>
                  <a:lnTo>
                    <a:pt x="410703" y="182729"/>
                  </a:lnTo>
                  <a:lnTo>
                    <a:pt x="400824" y="138361"/>
                  </a:lnTo>
                  <a:lnTo>
                    <a:pt x="381067" y="96625"/>
                  </a:lnTo>
                  <a:lnTo>
                    <a:pt x="351430" y="59272"/>
                  </a:lnTo>
                  <a:lnTo>
                    <a:pt x="314078" y="29636"/>
                  </a:lnTo>
                  <a:lnTo>
                    <a:pt x="272341" y="9878"/>
                  </a:lnTo>
                  <a:lnTo>
                    <a:pt x="227974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15190" y="8040052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547350" y="8056739"/>
            <a:ext cx="152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640917" y="7030579"/>
            <a:ext cx="420370" cy="420370"/>
            <a:chOff x="5640917" y="7030579"/>
            <a:chExt cx="420370" cy="420370"/>
          </a:xfrm>
        </p:grpSpPr>
        <p:sp>
          <p:nvSpPr>
            <p:cNvPr id="49" name="object 49"/>
            <p:cNvSpPr/>
            <p:nvPr/>
          </p:nvSpPr>
          <p:spPr>
            <a:xfrm>
              <a:off x="5645679" y="7035342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27974" y="0"/>
                  </a:moveTo>
                  <a:lnTo>
                    <a:pt x="182730" y="0"/>
                  </a:lnTo>
                  <a:lnTo>
                    <a:pt x="138362" y="9878"/>
                  </a:lnTo>
                  <a:lnTo>
                    <a:pt x="96626" y="29636"/>
                  </a:lnTo>
                  <a:lnTo>
                    <a:pt x="59273" y="59272"/>
                  </a:lnTo>
                  <a:lnTo>
                    <a:pt x="29636" y="96625"/>
                  </a:lnTo>
                  <a:lnTo>
                    <a:pt x="9878" y="138361"/>
                  </a:lnTo>
                  <a:lnTo>
                    <a:pt x="0" y="182729"/>
                  </a:lnTo>
                  <a:lnTo>
                    <a:pt x="0" y="227973"/>
                  </a:lnTo>
                  <a:lnTo>
                    <a:pt x="9878" y="272340"/>
                  </a:lnTo>
                  <a:lnTo>
                    <a:pt x="29636" y="314077"/>
                  </a:lnTo>
                  <a:lnTo>
                    <a:pt x="59273" y="351429"/>
                  </a:lnTo>
                  <a:lnTo>
                    <a:pt x="96626" y="381066"/>
                  </a:lnTo>
                  <a:lnTo>
                    <a:pt x="138362" y="400824"/>
                  </a:lnTo>
                  <a:lnTo>
                    <a:pt x="182730" y="410703"/>
                  </a:lnTo>
                  <a:lnTo>
                    <a:pt x="227974" y="410703"/>
                  </a:lnTo>
                  <a:lnTo>
                    <a:pt x="272341" y="400824"/>
                  </a:lnTo>
                  <a:lnTo>
                    <a:pt x="314078" y="381066"/>
                  </a:lnTo>
                  <a:lnTo>
                    <a:pt x="351430" y="351429"/>
                  </a:lnTo>
                  <a:lnTo>
                    <a:pt x="381067" y="314077"/>
                  </a:lnTo>
                  <a:lnTo>
                    <a:pt x="400824" y="272340"/>
                  </a:lnTo>
                  <a:lnTo>
                    <a:pt x="410703" y="227973"/>
                  </a:lnTo>
                  <a:lnTo>
                    <a:pt x="410703" y="182729"/>
                  </a:lnTo>
                  <a:lnTo>
                    <a:pt x="400824" y="138361"/>
                  </a:lnTo>
                  <a:lnTo>
                    <a:pt x="381067" y="96625"/>
                  </a:lnTo>
                  <a:lnTo>
                    <a:pt x="351430" y="59272"/>
                  </a:lnTo>
                  <a:lnTo>
                    <a:pt x="314078" y="29636"/>
                  </a:lnTo>
                  <a:lnTo>
                    <a:pt x="272341" y="9878"/>
                  </a:lnTo>
                  <a:lnTo>
                    <a:pt x="227974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645679" y="703534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810370" y="7026628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934200" y="6055925"/>
            <a:ext cx="5168900" cy="2192655"/>
          </a:xfrm>
          <a:custGeom>
            <a:avLst/>
            <a:gdLst/>
            <a:ahLst/>
            <a:cxnLst/>
            <a:rect l="l" t="t" r="r" b="b"/>
            <a:pathLst>
              <a:path w="5168900" h="2192654">
                <a:moveTo>
                  <a:pt x="0" y="0"/>
                </a:moveTo>
                <a:lnTo>
                  <a:pt x="5168900" y="0"/>
                </a:lnTo>
                <a:lnTo>
                  <a:pt x="5168900" y="2192477"/>
                </a:lnTo>
                <a:lnTo>
                  <a:pt x="0" y="2192477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280585" y="6262299"/>
            <a:ext cx="27362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200" i="1" dirty="0">
                <a:latin typeface="Times New Roman"/>
                <a:cs typeface="Times New Roman"/>
              </a:rPr>
              <a:t>U </a:t>
            </a:r>
            <a:r>
              <a:rPr sz="2200" dirty="0">
                <a:latin typeface="Times New Roman"/>
                <a:cs typeface="Times New Roman"/>
              </a:rPr>
              <a:t>= { 1, 2, 3, 4, 5, 6, 7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681466" y="8688220"/>
            <a:ext cx="2260600" cy="5619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600" b="1" dirty="0">
                <a:latin typeface="Tahoma"/>
                <a:cs typeface="Tahoma"/>
              </a:rPr>
              <a:t>vertex</a:t>
            </a:r>
            <a:r>
              <a:rPr sz="1600" b="1" spc="5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cover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instance</a:t>
            </a:r>
            <a:endParaRPr sz="16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600" b="1" dirty="0">
                <a:latin typeface="Tahoma"/>
                <a:cs typeface="Tahoma"/>
              </a:rPr>
              <a:t>(k</a:t>
            </a:r>
            <a:r>
              <a:rPr sz="1600" b="1" spc="-2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-15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2)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570118" y="8688784"/>
            <a:ext cx="1922780" cy="5619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600" b="1" dirty="0">
                <a:latin typeface="Tahoma"/>
                <a:cs typeface="Tahoma"/>
              </a:rPr>
              <a:t>set</a:t>
            </a:r>
            <a:r>
              <a:rPr sz="1600" b="1" spc="8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cover</a:t>
            </a:r>
            <a:r>
              <a:rPr sz="1600" b="1" spc="8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instance</a:t>
            </a:r>
            <a:endParaRPr sz="16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600" b="1" dirty="0">
                <a:latin typeface="Tahoma"/>
                <a:cs typeface="Tahoma"/>
              </a:rPr>
              <a:t>(k</a:t>
            </a:r>
            <a:r>
              <a:rPr sz="1600" b="1" spc="-2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-15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2)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54" name="object 54"/>
          <p:cNvSpPr txBox="1"/>
          <p:nvPr/>
        </p:nvSpPr>
        <p:spPr>
          <a:xfrm>
            <a:off x="7255185" y="6551250"/>
            <a:ext cx="1969135" cy="144462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85"/>
              </a:spcBef>
            </a:pP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2175" i="1" baseline="-19157" dirty="0">
                <a:latin typeface="Times New Roman"/>
                <a:cs typeface="Times New Roman"/>
              </a:rPr>
              <a:t>a</a:t>
            </a:r>
            <a:r>
              <a:rPr sz="2175" i="1" spc="277" baseline="-19157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 { 3,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7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</a:pP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2175" i="1" baseline="-19157" dirty="0">
                <a:latin typeface="Times New Roman"/>
                <a:cs typeface="Times New Roman"/>
              </a:rPr>
              <a:t>c</a:t>
            </a:r>
            <a:r>
              <a:rPr sz="2175" i="1" spc="277" baseline="-19157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 {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3, 4, 5,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6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</a:pP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2175" i="1" baseline="-19157" dirty="0">
                <a:latin typeface="Times New Roman"/>
                <a:cs typeface="Times New Roman"/>
              </a:rPr>
              <a:t>e</a:t>
            </a:r>
            <a:r>
              <a:rPr sz="2175" i="1" spc="277" baseline="-19157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{ 1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9547225" y="6551250"/>
            <a:ext cx="2078355" cy="144462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85"/>
              </a:spcBef>
            </a:pP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2175" i="1" baseline="-19157" dirty="0">
                <a:latin typeface="Times New Roman"/>
                <a:cs typeface="Times New Roman"/>
              </a:rPr>
              <a:t>b</a:t>
            </a:r>
            <a:r>
              <a:rPr sz="2175" i="1" spc="277" baseline="-19157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 { 2,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4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</a:pP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2175" i="1" baseline="-19157" dirty="0">
                <a:latin typeface="Times New Roman"/>
                <a:cs typeface="Times New Roman"/>
              </a:rPr>
              <a:t>d</a:t>
            </a:r>
            <a:r>
              <a:rPr sz="2175" i="1" spc="277" baseline="-19157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 {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5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  <a:tabLst>
                <a:tab pos="356235" algn="l"/>
                <a:tab pos="653415" algn="l"/>
              </a:tabLst>
            </a:pPr>
            <a:r>
              <a:rPr sz="2200" i="1" spc="-25" dirty="0">
                <a:latin typeface="Times New Roman"/>
                <a:cs typeface="Times New Roman"/>
              </a:rPr>
              <a:t>S</a:t>
            </a:r>
            <a:r>
              <a:rPr sz="2175" i="1" spc="-37" baseline="-19157" dirty="0">
                <a:latin typeface="Times New Roman"/>
                <a:cs typeface="Times New Roman"/>
              </a:rPr>
              <a:t>f</a:t>
            </a:r>
            <a:r>
              <a:rPr sz="2175" i="1" baseline="-19157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=</a:t>
            </a:r>
            <a:r>
              <a:rPr sz="2200" dirty="0">
                <a:latin typeface="Times New Roman"/>
                <a:cs typeface="Times New Roman"/>
              </a:rPr>
              <a:t>	{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1, 2, 6, 7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Vertex</a:t>
            </a:r>
            <a:r>
              <a:rPr spc="10" dirty="0"/>
              <a:t> </a:t>
            </a:r>
            <a:r>
              <a:rPr dirty="0"/>
              <a:t>cover</a:t>
            </a:r>
            <a:r>
              <a:rPr spc="10" dirty="0"/>
              <a:t> </a:t>
            </a:r>
            <a:r>
              <a:rPr dirty="0"/>
              <a:t>reduces</a:t>
            </a:r>
            <a:r>
              <a:rPr spc="10" dirty="0"/>
              <a:t> </a:t>
            </a:r>
            <a:r>
              <a:rPr spc="50" dirty="0"/>
              <a:t>to</a:t>
            </a:r>
            <a:r>
              <a:rPr spc="10" dirty="0"/>
              <a:t> </a:t>
            </a:r>
            <a:r>
              <a:rPr dirty="0"/>
              <a:t>set</a:t>
            </a:r>
            <a:r>
              <a:rPr spc="15" dirty="0"/>
              <a:t> </a:t>
            </a:r>
            <a:r>
              <a:rPr spc="-10" dirty="0"/>
              <a:t>cover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221740"/>
            <a:ext cx="1034859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137096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Lemma.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G </a:t>
            </a:r>
            <a:r>
              <a:rPr sz="2400" dirty="0">
                <a:latin typeface="Times New Roman"/>
                <a:cs typeface="Times New Roman"/>
              </a:rPr>
              <a:t>= (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contains a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 size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 </a:t>
            </a:r>
            <a:r>
              <a:rPr sz="2400" dirty="0">
                <a:latin typeface="Lucida Sans Unicode"/>
                <a:cs typeface="Lucida Sans Unicode"/>
              </a:rPr>
              <a:t>iff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contains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 size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2786380"/>
            <a:ext cx="7454900" cy="91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  <a:tabLst>
                <a:tab pos="607060" algn="l"/>
                <a:tab pos="1100455" algn="l"/>
                <a:tab pos="1981835" algn="l"/>
                <a:tab pos="235140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50" dirty="0">
                <a:solidFill>
                  <a:srgbClr val="0048AA"/>
                </a:solidFill>
                <a:latin typeface="Symbol"/>
                <a:cs typeface="Symbol"/>
              </a:rPr>
              <a:t>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X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Symbol"/>
                <a:cs typeface="Symbol"/>
              </a:rPr>
              <a:t>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 a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 cover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 size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 </a:t>
            </a:r>
            <a:r>
              <a:rPr sz="2400" i="1" spc="-25" dirty="0">
                <a:latin typeface="Times New Roman"/>
                <a:cs typeface="Times New Roman"/>
              </a:rPr>
              <a:t>G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4355"/>
              </a:lnSpc>
              <a:tabLst>
                <a:tab pos="7249159" algn="l"/>
              </a:tabLst>
            </a:pPr>
            <a:r>
              <a:rPr sz="5775" spc="-6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 {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6944" dirty="0">
                <a:latin typeface="Times New Roman"/>
                <a:cs typeface="Times New Roman"/>
              </a:rPr>
              <a:t>v</a:t>
            </a:r>
            <a:r>
              <a:rPr sz="2400" i="1" spc="300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}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34200" y="6055925"/>
            <a:ext cx="5168900" cy="2192655"/>
          </a:xfrm>
          <a:custGeom>
            <a:avLst/>
            <a:gdLst/>
            <a:ahLst/>
            <a:cxnLst/>
            <a:rect l="l" t="t" r="r" b="b"/>
            <a:pathLst>
              <a:path w="5168900" h="2192654">
                <a:moveTo>
                  <a:pt x="0" y="0"/>
                </a:moveTo>
                <a:lnTo>
                  <a:pt x="5168900" y="0"/>
                </a:lnTo>
                <a:lnTo>
                  <a:pt x="5168900" y="2192477"/>
                </a:lnTo>
                <a:lnTo>
                  <a:pt x="0" y="2192477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280585" y="6262299"/>
            <a:ext cx="27362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200" i="1" dirty="0">
                <a:latin typeface="Times New Roman"/>
                <a:cs typeface="Times New Roman"/>
              </a:rPr>
              <a:t>U </a:t>
            </a:r>
            <a:r>
              <a:rPr sz="2200" dirty="0">
                <a:latin typeface="Times New Roman"/>
                <a:cs typeface="Times New Roman"/>
              </a:rPr>
              <a:t>= { 1, 2, 3, 4, 5, 6, 7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55185" y="6551250"/>
            <a:ext cx="1969135" cy="144462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85"/>
              </a:spcBef>
            </a:pP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2175" i="1" baseline="-19157" dirty="0">
                <a:latin typeface="Times New Roman"/>
                <a:cs typeface="Times New Roman"/>
              </a:rPr>
              <a:t>a</a:t>
            </a:r>
            <a:r>
              <a:rPr sz="2175" i="1" spc="277" baseline="-19157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 { 3,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7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</a:pP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2175" i="1" baseline="-19157" dirty="0">
                <a:latin typeface="Times New Roman"/>
                <a:cs typeface="Times New Roman"/>
              </a:rPr>
              <a:t>c</a:t>
            </a:r>
            <a:r>
              <a:rPr sz="2175" i="1" spc="277" baseline="-19157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 {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3, 4, 5,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6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</a:pP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2175" i="1" baseline="-19157" dirty="0">
                <a:latin typeface="Times New Roman"/>
                <a:cs typeface="Times New Roman"/>
              </a:rPr>
              <a:t>e</a:t>
            </a:r>
            <a:r>
              <a:rPr sz="2175" i="1" spc="277" baseline="-19157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{ 1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47225" y="6551250"/>
            <a:ext cx="2078355" cy="144462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85"/>
              </a:spcBef>
            </a:pP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2175" i="1" baseline="-19157" dirty="0">
                <a:latin typeface="Times New Roman"/>
                <a:cs typeface="Times New Roman"/>
              </a:rPr>
              <a:t>b</a:t>
            </a:r>
            <a:r>
              <a:rPr sz="2175" i="1" spc="277" baseline="-19157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 { 2,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4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</a:pP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2175" i="1" baseline="-19157" dirty="0">
                <a:latin typeface="Times New Roman"/>
                <a:cs typeface="Times New Roman"/>
              </a:rPr>
              <a:t>d</a:t>
            </a:r>
            <a:r>
              <a:rPr sz="2175" i="1" spc="277" baseline="-19157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 {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5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  <a:tabLst>
                <a:tab pos="356235" algn="l"/>
                <a:tab pos="653415" algn="l"/>
              </a:tabLst>
            </a:pPr>
            <a:r>
              <a:rPr sz="2200" i="1" spc="-25" dirty="0">
                <a:latin typeface="Times New Roman"/>
                <a:cs typeface="Times New Roman"/>
              </a:rPr>
              <a:t>S</a:t>
            </a:r>
            <a:r>
              <a:rPr sz="2175" i="1" spc="-37" baseline="-19157" dirty="0">
                <a:latin typeface="Times New Roman"/>
                <a:cs typeface="Times New Roman"/>
              </a:rPr>
              <a:t>f</a:t>
            </a:r>
            <a:r>
              <a:rPr sz="2175" i="1" baseline="-19157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=</a:t>
            </a:r>
            <a:r>
              <a:rPr sz="2200" dirty="0">
                <a:latin typeface="Times New Roman"/>
                <a:cs typeface="Times New Roman"/>
              </a:rPr>
              <a:t>	{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1, 2, 6, 7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124700" y="7162800"/>
            <a:ext cx="4724400" cy="927100"/>
            <a:chOff x="7124700" y="7162800"/>
            <a:chExt cx="4724400" cy="927100"/>
          </a:xfrm>
        </p:grpSpPr>
        <p:sp>
          <p:nvSpPr>
            <p:cNvPr id="11" name="object 11"/>
            <p:cNvSpPr/>
            <p:nvPr/>
          </p:nvSpPr>
          <p:spPr>
            <a:xfrm>
              <a:off x="7137400" y="7175500"/>
              <a:ext cx="2184400" cy="419100"/>
            </a:xfrm>
            <a:custGeom>
              <a:avLst/>
              <a:gdLst/>
              <a:ahLst/>
              <a:cxnLst/>
              <a:rect l="l" t="t" r="r" b="b"/>
              <a:pathLst>
                <a:path w="2184400" h="419100">
                  <a:moveTo>
                    <a:pt x="190500" y="0"/>
                  </a:moveTo>
                  <a:lnTo>
                    <a:pt x="1993900" y="0"/>
                  </a:lnTo>
                  <a:lnTo>
                    <a:pt x="2037580" y="5031"/>
                  </a:lnTo>
                  <a:lnTo>
                    <a:pt x="2077677" y="19362"/>
                  </a:lnTo>
                  <a:lnTo>
                    <a:pt x="2113048" y="41850"/>
                  </a:lnTo>
                  <a:lnTo>
                    <a:pt x="2142549" y="71351"/>
                  </a:lnTo>
                  <a:lnTo>
                    <a:pt x="2165037" y="106722"/>
                  </a:lnTo>
                  <a:lnTo>
                    <a:pt x="2179368" y="146820"/>
                  </a:lnTo>
                  <a:lnTo>
                    <a:pt x="2184400" y="190500"/>
                  </a:lnTo>
                  <a:lnTo>
                    <a:pt x="2184400" y="228600"/>
                  </a:lnTo>
                  <a:lnTo>
                    <a:pt x="2179368" y="272279"/>
                  </a:lnTo>
                  <a:lnTo>
                    <a:pt x="2165037" y="312377"/>
                  </a:lnTo>
                  <a:lnTo>
                    <a:pt x="2142549" y="347748"/>
                  </a:lnTo>
                  <a:lnTo>
                    <a:pt x="2113048" y="377249"/>
                  </a:lnTo>
                  <a:lnTo>
                    <a:pt x="2077677" y="399737"/>
                  </a:lnTo>
                  <a:lnTo>
                    <a:pt x="2037580" y="414068"/>
                  </a:lnTo>
                  <a:lnTo>
                    <a:pt x="1993900" y="419100"/>
                  </a:lnTo>
                  <a:lnTo>
                    <a:pt x="190500" y="419100"/>
                  </a:lnTo>
                  <a:lnTo>
                    <a:pt x="146820" y="414068"/>
                  </a:lnTo>
                  <a:lnTo>
                    <a:pt x="106722" y="399737"/>
                  </a:lnTo>
                  <a:lnTo>
                    <a:pt x="71351" y="377249"/>
                  </a:lnTo>
                  <a:lnTo>
                    <a:pt x="41850" y="347748"/>
                  </a:lnTo>
                  <a:lnTo>
                    <a:pt x="19362" y="312377"/>
                  </a:lnTo>
                  <a:lnTo>
                    <a:pt x="5031" y="272279"/>
                  </a:lnTo>
                  <a:lnTo>
                    <a:pt x="0" y="228600"/>
                  </a:lnTo>
                  <a:lnTo>
                    <a:pt x="0" y="190500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500" y="0"/>
                  </a:lnTo>
                  <a:close/>
                </a:path>
              </a:pathLst>
            </a:custGeom>
            <a:ln w="2540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23400" y="7658100"/>
              <a:ext cx="2413000" cy="419100"/>
            </a:xfrm>
            <a:custGeom>
              <a:avLst/>
              <a:gdLst/>
              <a:ahLst/>
              <a:cxnLst/>
              <a:rect l="l" t="t" r="r" b="b"/>
              <a:pathLst>
                <a:path w="2413000" h="419100">
                  <a:moveTo>
                    <a:pt x="190500" y="0"/>
                  </a:moveTo>
                  <a:lnTo>
                    <a:pt x="2222500" y="0"/>
                  </a:lnTo>
                  <a:lnTo>
                    <a:pt x="2266180" y="5031"/>
                  </a:lnTo>
                  <a:lnTo>
                    <a:pt x="2306277" y="19362"/>
                  </a:lnTo>
                  <a:lnTo>
                    <a:pt x="2341648" y="41850"/>
                  </a:lnTo>
                  <a:lnTo>
                    <a:pt x="2371149" y="71351"/>
                  </a:lnTo>
                  <a:lnTo>
                    <a:pt x="2393637" y="106722"/>
                  </a:lnTo>
                  <a:lnTo>
                    <a:pt x="2407968" y="146820"/>
                  </a:lnTo>
                  <a:lnTo>
                    <a:pt x="2413000" y="190500"/>
                  </a:lnTo>
                  <a:lnTo>
                    <a:pt x="2413000" y="228600"/>
                  </a:lnTo>
                  <a:lnTo>
                    <a:pt x="2407968" y="272279"/>
                  </a:lnTo>
                  <a:lnTo>
                    <a:pt x="2393637" y="312377"/>
                  </a:lnTo>
                  <a:lnTo>
                    <a:pt x="2371149" y="347748"/>
                  </a:lnTo>
                  <a:lnTo>
                    <a:pt x="2341648" y="377249"/>
                  </a:lnTo>
                  <a:lnTo>
                    <a:pt x="2306277" y="399737"/>
                  </a:lnTo>
                  <a:lnTo>
                    <a:pt x="2266180" y="414068"/>
                  </a:lnTo>
                  <a:lnTo>
                    <a:pt x="2222500" y="419100"/>
                  </a:lnTo>
                  <a:lnTo>
                    <a:pt x="190500" y="419100"/>
                  </a:lnTo>
                  <a:lnTo>
                    <a:pt x="146820" y="414068"/>
                  </a:lnTo>
                  <a:lnTo>
                    <a:pt x="106722" y="399737"/>
                  </a:lnTo>
                  <a:lnTo>
                    <a:pt x="71351" y="377249"/>
                  </a:lnTo>
                  <a:lnTo>
                    <a:pt x="41850" y="347748"/>
                  </a:lnTo>
                  <a:lnTo>
                    <a:pt x="19362" y="312377"/>
                  </a:lnTo>
                  <a:lnTo>
                    <a:pt x="5031" y="272279"/>
                  </a:lnTo>
                  <a:lnTo>
                    <a:pt x="0" y="228600"/>
                  </a:lnTo>
                  <a:lnTo>
                    <a:pt x="0" y="190500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500" y="0"/>
                  </a:lnTo>
                  <a:close/>
                </a:path>
              </a:pathLst>
            </a:custGeom>
            <a:ln w="2540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549328" y="5811732"/>
            <a:ext cx="4343400" cy="2453005"/>
            <a:chOff x="1549328" y="5811732"/>
            <a:chExt cx="4343400" cy="2453005"/>
          </a:xfrm>
        </p:grpSpPr>
        <p:sp>
          <p:nvSpPr>
            <p:cNvPr id="14" name="object 14"/>
            <p:cNvSpPr/>
            <p:nvPr/>
          </p:nvSpPr>
          <p:spPr>
            <a:xfrm>
              <a:off x="2701430" y="5830782"/>
              <a:ext cx="3149600" cy="1400175"/>
            </a:xfrm>
            <a:custGeom>
              <a:avLst/>
              <a:gdLst/>
              <a:ahLst/>
              <a:cxnLst/>
              <a:rect l="l" t="t" r="r" b="b"/>
              <a:pathLst>
                <a:path w="3149600" h="1400175">
                  <a:moveTo>
                    <a:pt x="0" y="0"/>
                  </a:moveTo>
                  <a:lnTo>
                    <a:pt x="3149600" y="1399821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20541" y="7230604"/>
              <a:ext cx="1230630" cy="1015365"/>
            </a:xfrm>
            <a:custGeom>
              <a:avLst/>
              <a:gdLst/>
              <a:ahLst/>
              <a:cxnLst/>
              <a:rect l="l" t="t" r="r" b="b"/>
              <a:pathLst>
                <a:path w="1230629" h="1015365">
                  <a:moveTo>
                    <a:pt x="1230488" y="0"/>
                  </a:moveTo>
                  <a:lnTo>
                    <a:pt x="0" y="1014800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20541" y="5840870"/>
              <a:ext cx="1230630" cy="1390015"/>
            </a:xfrm>
            <a:custGeom>
              <a:avLst/>
              <a:gdLst/>
              <a:ahLst/>
              <a:cxnLst/>
              <a:rect l="l" t="t" r="r" b="b"/>
              <a:pathLst>
                <a:path w="1230629" h="1390015">
                  <a:moveTo>
                    <a:pt x="0" y="0"/>
                  </a:moveTo>
                  <a:lnTo>
                    <a:pt x="1230488" y="1389733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90603" y="5840870"/>
              <a:ext cx="3030220" cy="1396365"/>
            </a:xfrm>
            <a:custGeom>
              <a:avLst/>
              <a:gdLst/>
              <a:ahLst/>
              <a:cxnLst/>
              <a:rect l="l" t="t" r="r" b="b"/>
              <a:pathLst>
                <a:path w="3030220" h="1396365">
                  <a:moveTo>
                    <a:pt x="0" y="1396083"/>
                  </a:moveTo>
                  <a:lnTo>
                    <a:pt x="3029938" y="0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90603" y="7236954"/>
              <a:ext cx="1361440" cy="1007110"/>
            </a:xfrm>
            <a:custGeom>
              <a:avLst/>
              <a:gdLst/>
              <a:ahLst/>
              <a:cxnLst/>
              <a:rect l="l" t="t" r="r" b="b"/>
              <a:pathLst>
                <a:path w="1361439" h="1007109">
                  <a:moveTo>
                    <a:pt x="0" y="0"/>
                  </a:moveTo>
                  <a:lnTo>
                    <a:pt x="1361440" y="1006969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71553" y="7233779"/>
              <a:ext cx="4298950" cy="0"/>
            </a:xfrm>
            <a:custGeom>
              <a:avLst/>
              <a:gdLst/>
              <a:ahLst/>
              <a:cxnLst/>
              <a:rect l="l" t="t" r="r" b="b"/>
              <a:pathLst>
                <a:path w="4298950">
                  <a:moveTo>
                    <a:pt x="0" y="0"/>
                  </a:moveTo>
                  <a:lnTo>
                    <a:pt x="2016272" y="0"/>
                  </a:lnTo>
                </a:path>
                <a:path w="4298950">
                  <a:moveTo>
                    <a:pt x="2268709" y="0"/>
                  </a:moveTo>
                  <a:lnTo>
                    <a:pt x="4298527" y="0"/>
                  </a:lnTo>
                </a:path>
              </a:pathLst>
            </a:custGeom>
            <a:ln w="4445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90603" y="5830782"/>
              <a:ext cx="1111250" cy="1406525"/>
            </a:xfrm>
            <a:custGeom>
              <a:avLst/>
              <a:gdLst/>
              <a:ahLst/>
              <a:cxnLst/>
              <a:rect l="l" t="t" r="r" b="b"/>
              <a:pathLst>
                <a:path w="1111250" h="1406525">
                  <a:moveTo>
                    <a:pt x="0" y="1406171"/>
                  </a:moveTo>
                  <a:lnTo>
                    <a:pt x="1110826" y="0"/>
                  </a:lnTo>
                </a:path>
              </a:pathLst>
            </a:custGeom>
            <a:ln w="38099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24410" y="7657012"/>
              <a:ext cx="252729" cy="339090"/>
            </a:xfrm>
            <a:custGeom>
              <a:avLst/>
              <a:gdLst/>
              <a:ahLst/>
              <a:cxnLst/>
              <a:rect l="l" t="t" r="r" b="b"/>
              <a:pathLst>
                <a:path w="252730" h="339090">
                  <a:moveTo>
                    <a:pt x="252437" y="0"/>
                  </a:moveTo>
                  <a:lnTo>
                    <a:pt x="0" y="0"/>
                  </a:lnTo>
                  <a:lnTo>
                    <a:pt x="0" y="338581"/>
                  </a:lnTo>
                  <a:lnTo>
                    <a:pt x="252437" y="338581"/>
                  </a:lnTo>
                  <a:lnTo>
                    <a:pt x="252437" y="0"/>
                  </a:lnTo>
                  <a:close/>
                </a:path>
              </a:pathLst>
            </a:custGeom>
            <a:solidFill>
              <a:srgbClr val="F2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213827" y="7631613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1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31848" y="6348631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29" h="339090">
                <a:moveTo>
                  <a:pt x="252437" y="0"/>
                </a:moveTo>
                <a:lnTo>
                  <a:pt x="0" y="0"/>
                </a:lnTo>
                <a:lnTo>
                  <a:pt x="0" y="338581"/>
                </a:lnTo>
                <a:lnTo>
                  <a:pt x="252437" y="338581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021265" y="6323231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2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457917" y="6473938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29" h="339090">
                <a:moveTo>
                  <a:pt x="252437" y="0"/>
                </a:moveTo>
                <a:lnTo>
                  <a:pt x="0" y="0"/>
                </a:lnTo>
                <a:lnTo>
                  <a:pt x="0" y="338582"/>
                </a:lnTo>
                <a:lnTo>
                  <a:pt x="252437" y="338582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472734" y="6448538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85471" y="6588153"/>
            <a:ext cx="110489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50" dirty="0"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107593" y="7577708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29" h="339090">
                <a:moveTo>
                  <a:pt x="252437" y="0"/>
                </a:moveTo>
                <a:lnTo>
                  <a:pt x="0" y="0"/>
                </a:lnTo>
                <a:lnTo>
                  <a:pt x="0" y="338581"/>
                </a:lnTo>
                <a:lnTo>
                  <a:pt x="252437" y="338581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097010" y="7552308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5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110697" y="6345809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29" h="339090">
                <a:moveTo>
                  <a:pt x="252437" y="0"/>
                </a:moveTo>
                <a:lnTo>
                  <a:pt x="0" y="0"/>
                </a:lnTo>
                <a:lnTo>
                  <a:pt x="0" y="338581"/>
                </a:lnTo>
                <a:lnTo>
                  <a:pt x="252437" y="338581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100114" y="6320408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4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7826" y="7059266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29" h="339090">
                <a:moveTo>
                  <a:pt x="252437" y="0"/>
                </a:moveTo>
                <a:lnTo>
                  <a:pt x="0" y="0"/>
                </a:lnTo>
                <a:lnTo>
                  <a:pt x="0" y="338581"/>
                </a:lnTo>
                <a:lnTo>
                  <a:pt x="252437" y="338581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577243" y="7033866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6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998068" y="6345809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30" h="339090">
                <a:moveTo>
                  <a:pt x="252437" y="0"/>
                </a:moveTo>
                <a:lnTo>
                  <a:pt x="0" y="0"/>
                </a:lnTo>
                <a:lnTo>
                  <a:pt x="0" y="338581"/>
                </a:lnTo>
                <a:lnTo>
                  <a:pt x="252437" y="338581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987485" y="6320408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7</a:t>
            </a:r>
            <a:endParaRPr sz="1950" baseline="-1923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491316" y="5630757"/>
            <a:ext cx="420370" cy="420370"/>
            <a:chOff x="2491316" y="5630757"/>
            <a:chExt cx="420370" cy="420370"/>
          </a:xfrm>
        </p:grpSpPr>
        <p:sp>
          <p:nvSpPr>
            <p:cNvPr id="37" name="object 37"/>
            <p:cNvSpPr/>
            <p:nvPr/>
          </p:nvSpPr>
          <p:spPr>
            <a:xfrm>
              <a:off x="2496078" y="5635519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227974" y="0"/>
                  </a:moveTo>
                  <a:lnTo>
                    <a:pt x="182729" y="0"/>
                  </a:lnTo>
                  <a:lnTo>
                    <a:pt x="138362" y="9878"/>
                  </a:lnTo>
                  <a:lnTo>
                    <a:pt x="96625" y="29636"/>
                  </a:lnTo>
                  <a:lnTo>
                    <a:pt x="59272" y="59273"/>
                  </a:lnTo>
                  <a:lnTo>
                    <a:pt x="29636" y="96626"/>
                  </a:lnTo>
                  <a:lnTo>
                    <a:pt x="9878" y="138362"/>
                  </a:lnTo>
                  <a:lnTo>
                    <a:pt x="0" y="182730"/>
                  </a:lnTo>
                  <a:lnTo>
                    <a:pt x="0" y="227974"/>
                  </a:lnTo>
                  <a:lnTo>
                    <a:pt x="9878" y="272341"/>
                  </a:lnTo>
                  <a:lnTo>
                    <a:pt x="29636" y="314078"/>
                  </a:lnTo>
                  <a:lnTo>
                    <a:pt x="59272" y="351430"/>
                  </a:lnTo>
                  <a:lnTo>
                    <a:pt x="96625" y="381067"/>
                  </a:lnTo>
                  <a:lnTo>
                    <a:pt x="138362" y="400824"/>
                  </a:lnTo>
                  <a:lnTo>
                    <a:pt x="182729" y="410703"/>
                  </a:lnTo>
                  <a:lnTo>
                    <a:pt x="227974" y="410703"/>
                  </a:lnTo>
                  <a:lnTo>
                    <a:pt x="272341" y="400824"/>
                  </a:lnTo>
                  <a:lnTo>
                    <a:pt x="314078" y="381067"/>
                  </a:lnTo>
                  <a:lnTo>
                    <a:pt x="351431" y="351430"/>
                  </a:lnTo>
                  <a:lnTo>
                    <a:pt x="381067" y="314078"/>
                  </a:lnTo>
                  <a:lnTo>
                    <a:pt x="400825" y="272341"/>
                  </a:lnTo>
                  <a:lnTo>
                    <a:pt x="410703" y="227974"/>
                  </a:lnTo>
                  <a:lnTo>
                    <a:pt x="410703" y="182730"/>
                  </a:lnTo>
                  <a:lnTo>
                    <a:pt x="400825" y="138362"/>
                  </a:lnTo>
                  <a:lnTo>
                    <a:pt x="381067" y="96626"/>
                  </a:lnTo>
                  <a:lnTo>
                    <a:pt x="351431" y="59273"/>
                  </a:lnTo>
                  <a:lnTo>
                    <a:pt x="314078" y="29636"/>
                  </a:lnTo>
                  <a:lnTo>
                    <a:pt x="272341" y="9878"/>
                  </a:lnTo>
                  <a:lnTo>
                    <a:pt x="227974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96078" y="5635519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628239" y="5626806"/>
            <a:ext cx="152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410428" y="5630757"/>
            <a:ext cx="420370" cy="420370"/>
            <a:chOff x="4410428" y="5630757"/>
            <a:chExt cx="420370" cy="420370"/>
          </a:xfrm>
        </p:grpSpPr>
        <p:sp>
          <p:nvSpPr>
            <p:cNvPr id="41" name="object 41"/>
            <p:cNvSpPr/>
            <p:nvPr/>
          </p:nvSpPr>
          <p:spPr>
            <a:xfrm>
              <a:off x="4415190" y="5635519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27974" y="0"/>
                  </a:moveTo>
                  <a:lnTo>
                    <a:pt x="182730" y="0"/>
                  </a:lnTo>
                  <a:lnTo>
                    <a:pt x="138362" y="9878"/>
                  </a:lnTo>
                  <a:lnTo>
                    <a:pt x="96626" y="29636"/>
                  </a:lnTo>
                  <a:lnTo>
                    <a:pt x="59273" y="59273"/>
                  </a:lnTo>
                  <a:lnTo>
                    <a:pt x="29636" y="96626"/>
                  </a:lnTo>
                  <a:lnTo>
                    <a:pt x="9878" y="138362"/>
                  </a:lnTo>
                  <a:lnTo>
                    <a:pt x="0" y="182730"/>
                  </a:lnTo>
                  <a:lnTo>
                    <a:pt x="0" y="227974"/>
                  </a:lnTo>
                  <a:lnTo>
                    <a:pt x="9878" y="272341"/>
                  </a:lnTo>
                  <a:lnTo>
                    <a:pt x="29636" y="314078"/>
                  </a:lnTo>
                  <a:lnTo>
                    <a:pt x="59273" y="351430"/>
                  </a:lnTo>
                  <a:lnTo>
                    <a:pt x="96626" y="381067"/>
                  </a:lnTo>
                  <a:lnTo>
                    <a:pt x="138362" y="400824"/>
                  </a:lnTo>
                  <a:lnTo>
                    <a:pt x="182730" y="410703"/>
                  </a:lnTo>
                  <a:lnTo>
                    <a:pt x="227974" y="410703"/>
                  </a:lnTo>
                  <a:lnTo>
                    <a:pt x="272341" y="400824"/>
                  </a:lnTo>
                  <a:lnTo>
                    <a:pt x="314078" y="381067"/>
                  </a:lnTo>
                  <a:lnTo>
                    <a:pt x="351430" y="351430"/>
                  </a:lnTo>
                  <a:lnTo>
                    <a:pt x="381067" y="314078"/>
                  </a:lnTo>
                  <a:lnTo>
                    <a:pt x="400824" y="272341"/>
                  </a:lnTo>
                  <a:lnTo>
                    <a:pt x="410703" y="227974"/>
                  </a:lnTo>
                  <a:lnTo>
                    <a:pt x="410703" y="182730"/>
                  </a:lnTo>
                  <a:lnTo>
                    <a:pt x="400824" y="138362"/>
                  </a:lnTo>
                  <a:lnTo>
                    <a:pt x="381067" y="96626"/>
                  </a:lnTo>
                  <a:lnTo>
                    <a:pt x="351430" y="59273"/>
                  </a:lnTo>
                  <a:lnTo>
                    <a:pt x="314078" y="29636"/>
                  </a:lnTo>
                  <a:lnTo>
                    <a:pt x="272341" y="9878"/>
                  </a:lnTo>
                  <a:lnTo>
                    <a:pt x="227974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15190" y="5635519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560050" y="5652206"/>
            <a:ext cx="152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741930" y="8037548"/>
            <a:ext cx="420370" cy="420370"/>
            <a:chOff x="2741930" y="8037548"/>
            <a:chExt cx="420370" cy="420370"/>
          </a:xfrm>
        </p:grpSpPr>
        <p:sp>
          <p:nvSpPr>
            <p:cNvPr id="45" name="object 45"/>
            <p:cNvSpPr/>
            <p:nvPr/>
          </p:nvSpPr>
          <p:spPr>
            <a:xfrm>
              <a:off x="2746693" y="8042310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227973" y="0"/>
                  </a:moveTo>
                  <a:lnTo>
                    <a:pt x="182729" y="0"/>
                  </a:lnTo>
                  <a:lnTo>
                    <a:pt x="138361" y="9878"/>
                  </a:lnTo>
                  <a:lnTo>
                    <a:pt x="96625" y="29636"/>
                  </a:lnTo>
                  <a:lnTo>
                    <a:pt x="59272" y="59273"/>
                  </a:lnTo>
                  <a:lnTo>
                    <a:pt x="29636" y="96626"/>
                  </a:lnTo>
                  <a:lnTo>
                    <a:pt x="9878" y="138362"/>
                  </a:lnTo>
                  <a:lnTo>
                    <a:pt x="0" y="182730"/>
                  </a:lnTo>
                  <a:lnTo>
                    <a:pt x="0" y="227974"/>
                  </a:lnTo>
                  <a:lnTo>
                    <a:pt x="9878" y="272341"/>
                  </a:lnTo>
                  <a:lnTo>
                    <a:pt x="29636" y="314078"/>
                  </a:lnTo>
                  <a:lnTo>
                    <a:pt x="59272" y="351430"/>
                  </a:lnTo>
                  <a:lnTo>
                    <a:pt x="96625" y="381067"/>
                  </a:lnTo>
                  <a:lnTo>
                    <a:pt x="138361" y="400824"/>
                  </a:lnTo>
                  <a:lnTo>
                    <a:pt x="182729" y="410703"/>
                  </a:lnTo>
                  <a:lnTo>
                    <a:pt x="227973" y="410703"/>
                  </a:lnTo>
                  <a:lnTo>
                    <a:pt x="272340" y="400824"/>
                  </a:lnTo>
                  <a:lnTo>
                    <a:pt x="314077" y="381067"/>
                  </a:lnTo>
                  <a:lnTo>
                    <a:pt x="351429" y="351430"/>
                  </a:lnTo>
                  <a:lnTo>
                    <a:pt x="381066" y="314078"/>
                  </a:lnTo>
                  <a:lnTo>
                    <a:pt x="400824" y="272341"/>
                  </a:lnTo>
                  <a:lnTo>
                    <a:pt x="410703" y="227974"/>
                  </a:lnTo>
                  <a:lnTo>
                    <a:pt x="410703" y="182730"/>
                  </a:lnTo>
                  <a:lnTo>
                    <a:pt x="400824" y="138362"/>
                  </a:lnTo>
                  <a:lnTo>
                    <a:pt x="381066" y="96626"/>
                  </a:lnTo>
                  <a:lnTo>
                    <a:pt x="351429" y="59273"/>
                  </a:lnTo>
                  <a:lnTo>
                    <a:pt x="314077" y="29636"/>
                  </a:lnTo>
                  <a:lnTo>
                    <a:pt x="272340" y="9878"/>
                  </a:lnTo>
                  <a:lnTo>
                    <a:pt x="227973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46693" y="8042310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898684" y="8046297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380490" y="7030579"/>
            <a:ext cx="3450590" cy="1424940"/>
            <a:chOff x="1380490" y="7030579"/>
            <a:chExt cx="3450590" cy="1424940"/>
          </a:xfrm>
        </p:grpSpPr>
        <p:sp>
          <p:nvSpPr>
            <p:cNvPr id="49" name="object 49"/>
            <p:cNvSpPr/>
            <p:nvPr/>
          </p:nvSpPr>
          <p:spPr>
            <a:xfrm>
              <a:off x="1385253" y="7035342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227973" y="0"/>
                  </a:moveTo>
                  <a:lnTo>
                    <a:pt x="182729" y="0"/>
                  </a:lnTo>
                  <a:lnTo>
                    <a:pt x="138361" y="9878"/>
                  </a:lnTo>
                  <a:lnTo>
                    <a:pt x="96625" y="29636"/>
                  </a:lnTo>
                  <a:lnTo>
                    <a:pt x="59272" y="59272"/>
                  </a:lnTo>
                  <a:lnTo>
                    <a:pt x="29636" y="96625"/>
                  </a:lnTo>
                  <a:lnTo>
                    <a:pt x="9878" y="138361"/>
                  </a:lnTo>
                  <a:lnTo>
                    <a:pt x="0" y="182729"/>
                  </a:lnTo>
                  <a:lnTo>
                    <a:pt x="0" y="227973"/>
                  </a:lnTo>
                  <a:lnTo>
                    <a:pt x="9878" y="272340"/>
                  </a:lnTo>
                  <a:lnTo>
                    <a:pt x="29636" y="314077"/>
                  </a:lnTo>
                  <a:lnTo>
                    <a:pt x="59272" y="351429"/>
                  </a:lnTo>
                  <a:lnTo>
                    <a:pt x="96625" y="381066"/>
                  </a:lnTo>
                  <a:lnTo>
                    <a:pt x="138361" y="400824"/>
                  </a:lnTo>
                  <a:lnTo>
                    <a:pt x="182729" y="410703"/>
                  </a:lnTo>
                  <a:lnTo>
                    <a:pt x="227973" y="410703"/>
                  </a:lnTo>
                  <a:lnTo>
                    <a:pt x="272340" y="400824"/>
                  </a:lnTo>
                  <a:lnTo>
                    <a:pt x="314077" y="381066"/>
                  </a:lnTo>
                  <a:lnTo>
                    <a:pt x="351429" y="351429"/>
                  </a:lnTo>
                  <a:lnTo>
                    <a:pt x="381066" y="314077"/>
                  </a:lnTo>
                  <a:lnTo>
                    <a:pt x="400823" y="272340"/>
                  </a:lnTo>
                  <a:lnTo>
                    <a:pt x="410702" y="227973"/>
                  </a:lnTo>
                  <a:lnTo>
                    <a:pt x="410702" y="182729"/>
                  </a:lnTo>
                  <a:lnTo>
                    <a:pt x="400823" y="138361"/>
                  </a:lnTo>
                  <a:lnTo>
                    <a:pt x="381066" y="96625"/>
                  </a:lnTo>
                  <a:lnTo>
                    <a:pt x="351429" y="59272"/>
                  </a:lnTo>
                  <a:lnTo>
                    <a:pt x="314077" y="29636"/>
                  </a:lnTo>
                  <a:lnTo>
                    <a:pt x="272340" y="9878"/>
                  </a:lnTo>
                  <a:lnTo>
                    <a:pt x="227973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385252" y="703534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415190" y="8040053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27974" y="0"/>
                  </a:moveTo>
                  <a:lnTo>
                    <a:pt x="182730" y="0"/>
                  </a:lnTo>
                  <a:lnTo>
                    <a:pt x="138362" y="9878"/>
                  </a:lnTo>
                  <a:lnTo>
                    <a:pt x="96626" y="29636"/>
                  </a:lnTo>
                  <a:lnTo>
                    <a:pt x="59273" y="59272"/>
                  </a:lnTo>
                  <a:lnTo>
                    <a:pt x="29636" y="96625"/>
                  </a:lnTo>
                  <a:lnTo>
                    <a:pt x="9878" y="138361"/>
                  </a:lnTo>
                  <a:lnTo>
                    <a:pt x="0" y="182729"/>
                  </a:lnTo>
                  <a:lnTo>
                    <a:pt x="0" y="227973"/>
                  </a:lnTo>
                  <a:lnTo>
                    <a:pt x="9878" y="272340"/>
                  </a:lnTo>
                  <a:lnTo>
                    <a:pt x="29636" y="314077"/>
                  </a:lnTo>
                  <a:lnTo>
                    <a:pt x="59273" y="351429"/>
                  </a:lnTo>
                  <a:lnTo>
                    <a:pt x="96626" y="381066"/>
                  </a:lnTo>
                  <a:lnTo>
                    <a:pt x="138362" y="400823"/>
                  </a:lnTo>
                  <a:lnTo>
                    <a:pt x="182730" y="410702"/>
                  </a:lnTo>
                  <a:lnTo>
                    <a:pt x="227974" y="410702"/>
                  </a:lnTo>
                  <a:lnTo>
                    <a:pt x="272341" y="400823"/>
                  </a:lnTo>
                  <a:lnTo>
                    <a:pt x="314078" y="381066"/>
                  </a:lnTo>
                  <a:lnTo>
                    <a:pt x="351430" y="351429"/>
                  </a:lnTo>
                  <a:lnTo>
                    <a:pt x="381067" y="314077"/>
                  </a:lnTo>
                  <a:lnTo>
                    <a:pt x="400824" y="272340"/>
                  </a:lnTo>
                  <a:lnTo>
                    <a:pt x="410703" y="227973"/>
                  </a:lnTo>
                  <a:lnTo>
                    <a:pt x="410703" y="182729"/>
                  </a:lnTo>
                  <a:lnTo>
                    <a:pt x="400824" y="138361"/>
                  </a:lnTo>
                  <a:lnTo>
                    <a:pt x="381067" y="96625"/>
                  </a:lnTo>
                  <a:lnTo>
                    <a:pt x="351430" y="59272"/>
                  </a:lnTo>
                  <a:lnTo>
                    <a:pt x="314078" y="29636"/>
                  </a:lnTo>
                  <a:lnTo>
                    <a:pt x="272341" y="9878"/>
                  </a:lnTo>
                  <a:lnTo>
                    <a:pt x="227974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415191" y="8040052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4547350" y="8056739"/>
            <a:ext cx="152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640917" y="7030579"/>
            <a:ext cx="420370" cy="420370"/>
            <a:chOff x="5640917" y="7030579"/>
            <a:chExt cx="420370" cy="420370"/>
          </a:xfrm>
        </p:grpSpPr>
        <p:sp>
          <p:nvSpPr>
            <p:cNvPr id="55" name="object 55"/>
            <p:cNvSpPr/>
            <p:nvPr/>
          </p:nvSpPr>
          <p:spPr>
            <a:xfrm>
              <a:off x="5645679" y="7035342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27974" y="0"/>
                  </a:moveTo>
                  <a:lnTo>
                    <a:pt x="182730" y="0"/>
                  </a:lnTo>
                  <a:lnTo>
                    <a:pt x="138362" y="9878"/>
                  </a:lnTo>
                  <a:lnTo>
                    <a:pt x="96626" y="29636"/>
                  </a:lnTo>
                  <a:lnTo>
                    <a:pt x="59273" y="59272"/>
                  </a:lnTo>
                  <a:lnTo>
                    <a:pt x="29636" y="96625"/>
                  </a:lnTo>
                  <a:lnTo>
                    <a:pt x="9878" y="138361"/>
                  </a:lnTo>
                  <a:lnTo>
                    <a:pt x="0" y="182729"/>
                  </a:lnTo>
                  <a:lnTo>
                    <a:pt x="0" y="227973"/>
                  </a:lnTo>
                  <a:lnTo>
                    <a:pt x="9878" y="272340"/>
                  </a:lnTo>
                  <a:lnTo>
                    <a:pt x="29636" y="314077"/>
                  </a:lnTo>
                  <a:lnTo>
                    <a:pt x="59273" y="351429"/>
                  </a:lnTo>
                  <a:lnTo>
                    <a:pt x="96626" y="381066"/>
                  </a:lnTo>
                  <a:lnTo>
                    <a:pt x="138362" y="400824"/>
                  </a:lnTo>
                  <a:lnTo>
                    <a:pt x="182730" y="410703"/>
                  </a:lnTo>
                  <a:lnTo>
                    <a:pt x="227974" y="410703"/>
                  </a:lnTo>
                  <a:lnTo>
                    <a:pt x="272341" y="400824"/>
                  </a:lnTo>
                  <a:lnTo>
                    <a:pt x="314078" y="381066"/>
                  </a:lnTo>
                  <a:lnTo>
                    <a:pt x="351430" y="351429"/>
                  </a:lnTo>
                  <a:lnTo>
                    <a:pt x="381067" y="314077"/>
                  </a:lnTo>
                  <a:lnTo>
                    <a:pt x="400824" y="272340"/>
                  </a:lnTo>
                  <a:lnTo>
                    <a:pt x="410703" y="227973"/>
                  </a:lnTo>
                  <a:lnTo>
                    <a:pt x="410703" y="182729"/>
                  </a:lnTo>
                  <a:lnTo>
                    <a:pt x="400824" y="138361"/>
                  </a:lnTo>
                  <a:lnTo>
                    <a:pt x="381067" y="96625"/>
                  </a:lnTo>
                  <a:lnTo>
                    <a:pt x="351430" y="59272"/>
                  </a:lnTo>
                  <a:lnTo>
                    <a:pt x="314078" y="29636"/>
                  </a:lnTo>
                  <a:lnTo>
                    <a:pt x="272341" y="9878"/>
                  </a:lnTo>
                  <a:lnTo>
                    <a:pt x="227974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645679" y="703534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645679" y="7035342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27974" y="0"/>
                  </a:moveTo>
                  <a:lnTo>
                    <a:pt x="182730" y="0"/>
                  </a:lnTo>
                  <a:lnTo>
                    <a:pt x="138362" y="9878"/>
                  </a:lnTo>
                  <a:lnTo>
                    <a:pt x="96626" y="29636"/>
                  </a:lnTo>
                  <a:lnTo>
                    <a:pt x="59273" y="59272"/>
                  </a:lnTo>
                  <a:lnTo>
                    <a:pt x="29636" y="96625"/>
                  </a:lnTo>
                  <a:lnTo>
                    <a:pt x="9878" y="138361"/>
                  </a:lnTo>
                  <a:lnTo>
                    <a:pt x="0" y="182729"/>
                  </a:lnTo>
                  <a:lnTo>
                    <a:pt x="0" y="227973"/>
                  </a:lnTo>
                  <a:lnTo>
                    <a:pt x="9878" y="272340"/>
                  </a:lnTo>
                  <a:lnTo>
                    <a:pt x="29636" y="314077"/>
                  </a:lnTo>
                  <a:lnTo>
                    <a:pt x="59273" y="351429"/>
                  </a:lnTo>
                  <a:lnTo>
                    <a:pt x="96626" y="381066"/>
                  </a:lnTo>
                  <a:lnTo>
                    <a:pt x="138362" y="400824"/>
                  </a:lnTo>
                  <a:lnTo>
                    <a:pt x="182730" y="410703"/>
                  </a:lnTo>
                  <a:lnTo>
                    <a:pt x="227974" y="410703"/>
                  </a:lnTo>
                  <a:lnTo>
                    <a:pt x="272341" y="400824"/>
                  </a:lnTo>
                  <a:lnTo>
                    <a:pt x="314078" y="381066"/>
                  </a:lnTo>
                  <a:lnTo>
                    <a:pt x="351430" y="351429"/>
                  </a:lnTo>
                  <a:lnTo>
                    <a:pt x="381067" y="314077"/>
                  </a:lnTo>
                  <a:lnTo>
                    <a:pt x="400824" y="272340"/>
                  </a:lnTo>
                  <a:lnTo>
                    <a:pt x="410703" y="227973"/>
                  </a:lnTo>
                  <a:lnTo>
                    <a:pt x="410703" y="182729"/>
                  </a:lnTo>
                  <a:lnTo>
                    <a:pt x="400824" y="138361"/>
                  </a:lnTo>
                  <a:lnTo>
                    <a:pt x="381067" y="96625"/>
                  </a:lnTo>
                  <a:lnTo>
                    <a:pt x="351430" y="59272"/>
                  </a:lnTo>
                  <a:lnTo>
                    <a:pt x="314078" y="29636"/>
                  </a:lnTo>
                  <a:lnTo>
                    <a:pt x="272341" y="9878"/>
                  </a:lnTo>
                  <a:lnTo>
                    <a:pt x="227974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645679" y="703534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5810370" y="7026628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380490" y="7030579"/>
            <a:ext cx="420370" cy="420370"/>
            <a:chOff x="1380490" y="7030579"/>
            <a:chExt cx="420370" cy="420370"/>
          </a:xfrm>
        </p:grpSpPr>
        <p:sp>
          <p:nvSpPr>
            <p:cNvPr id="61" name="object 61"/>
            <p:cNvSpPr/>
            <p:nvPr/>
          </p:nvSpPr>
          <p:spPr>
            <a:xfrm>
              <a:off x="1385253" y="7035342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227973" y="0"/>
                  </a:moveTo>
                  <a:lnTo>
                    <a:pt x="182729" y="0"/>
                  </a:lnTo>
                  <a:lnTo>
                    <a:pt x="138361" y="9878"/>
                  </a:lnTo>
                  <a:lnTo>
                    <a:pt x="96625" y="29636"/>
                  </a:lnTo>
                  <a:lnTo>
                    <a:pt x="59272" y="59272"/>
                  </a:lnTo>
                  <a:lnTo>
                    <a:pt x="29636" y="96625"/>
                  </a:lnTo>
                  <a:lnTo>
                    <a:pt x="9878" y="138361"/>
                  </a:lnTo>
                  <a:lnTo>
                    <a:pt x="0" y="182729"/>
                  </a:lnTo>
                  <a:lnTo>
                    <a:pt x="0" y="227973"/>
                  </a:lnTo>
                  <a:lnTo>
                    <a:pt x="9878" y="272340"/>
                  </a:lnTo>
                  <a:lnTo>
                    <a:pt x="29636" y="314077"/>
                  </a:lnTo>
                  <a:lnTo>
                    <a:pt x="59272" y="351429"/>
                  </a:lnTo>
                  <a:lnTo>
                    <a:pt x="96625" y="381066"/>
                  </a:lnTo>
                  <a:lnTo>
                    <a:pt x="138361" y="400824"/>
                  </a:lnTo>
                  <a:lnTo>
                    <a:pt x="182729" y="410703"/>
                  </a:lnTo>
                  <a:lnTo>
                    <a:pt x="227973" y="410703"/>
                  </a:lnTo>
                  <a:lnTo>
                    <a:pt x="272340" y="400824"/>
                  </a:lnTo>
                  <a:lnTo>
                    <a:pt x="314077" y="381066"/>
                  </a:lnTo>
                  <a:lnTo>
                    <a:pt x="351429" y="351429"/>
                  </a:lnTo>
                  <a:lnTo>
                    <a:pt x="381066" y="314077"/>
                  </a:lnTo>
                  <a:lnTo>
                    <a:pt x="400823" y="272340"/>
                  </a:lnTo>
                  <a:lnTo>
                    <a:pt x="410702" y="227973"/>
                  </a:lnTo>
                  <a:lnTo>
                    <a:pt x="410702" y="182729"/>
                  </a:lnTo>
                  <a:lnTo>
                    <a:pt x="400823" y="138361"/>
                  </a:lnTo>
                  <a:lnTo>
                    <a:pt x="381066" y="96625"/>
                  </a:lnTo>
                  <a:lnTo>
                    <a:pt x="351429" y="59272"/>
                  </a:lnTo>
                  <a:lnTo>
                    <a:pt x="314077" y="29636"/>
                  </a:lnTo>
                  <a:lnTo>
                    <a:pt x="272340" y="9878"/>
                  </a:lnTo>
                  <a:lnTo>
                    <a:pt x="22797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385252" y="703534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1545628" y="7039328"/>
            <a:ext cx="96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8686800" y="2750098"/>
            <a:ext cx="0" cy="867410"/>
          </a:xfrm>
          <a:custGeom>
            <a:avLst/>
            <a:gdLst/>
            <a:ahLst/>
            <a:cxnLst/>
            <a:rect l="l" t="t" r="r" b="b"/>
            <a:pathLst>
              <a:path h="867410">
                <a:moveTo>
                  <a:pt x="0" y="867121"/>
                </a:moveTo>
                <a:lnTo>
                  <a:pt x="0" y="0"/>
                </a:lnTo>
              </a:path>
            </a:pathLst>
          </a:custGeom>
          <a:ln w="25400">
            <a:solidFill>
              <a:srgbClr val="8D31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8799229" y="2863282"/>
            <a:ext cx="3072765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2610" marR="5080" indent="-550545">
              <a:lnSpc>
                <a:spcPct val="1063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“yes”</a:t>
            </a:r>
            <a:r>
              <a:rPr sz="1600" spc="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instances</a:t>
            </a:r>
            <a:r>
              <a:rPr sz="1600" spc="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of</a:t>
            </a:r>
            <a:r>
              <a:rPr sz="1600" spc="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V</a:t>
            </a:r>
            <a:r>
              <a:rPr sz="125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ERTEX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-C</a:t>
            </a:r>
            <a:r>
              <a:rPr sz="125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OVER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are</a:t>
            </a:r>
            <a:r>
              <a:rPr sz="1600" spc="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solved</a:t>
            </a:r>
            <a:r>
              <a:rPr sz="1600" spc="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correctly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681466" y="8688220"/>
            <a:ext cx="2260600" cy="5619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600" b="1" dirty="0">
                <a:latin typeface="Tahoma"/>
                <a:cs typeface="Tahoma"/>
              </a:rPr>
              <a:t>vertex</a:t>
            </a:r>
            <a:r>
              <a:rPr sz="1600" b="1" spc="5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cover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instance</a:t>
            </a:r>
            <a:endParaRPr sz="16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600" b="1" dirty="0">
                <a:latin typeface="Tahoma"/>
                <a:cs typeface="Tahoma"/>
              </a:rPr>
              <a:t>(k</a:t>
            </a:r>
            <a:r>
              <a:rPr sz="1600" b="1" spc="-2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-15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2)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570118" y="8688784"/>
            <a:ext cx="1922780" cy="5619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600" b="1" dirty="0">
                <a:latin typeface="Tahoma"/>
                <a:cs typeface="Tahoma"/>
              </a:rPr>
              <a:t>set</a:t>
            </a:r>
            <a:r>
              <a:rPr sz="1600" b="1" spc="8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cover</a:t>
            </a:r>
            <a:r>
              <a:rPr sz="1600" b="1" spc="8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instance</a:t>
            </a:r>
            <a:endParaRPr sz="16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600" b="1" dirty="0">
                <a:latin typeface="Tahoma"/>
                <a:cs typeface="Tahoma"/>
              </a:rPr>
              <a:t>(k</a:t>
            </a:r>
            <a:r>
              <a:rPr sz="1600" b="1" spc="-2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-15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2)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Vertex</a:t>
            </a:r>
            <a:r>
              <a:rPr spc="10" dirty="0"/>
              <a:t> </a:t>
            </a:r>
            <a:r>
              <a:rPr dirty="0"/>
              <a:t>cover</a:t>
            </a:r>
            <a:r>
              <a:rPr spc="10" dirty="0"/>
              <a:t> </a:t>
            </a:r>
            <a:r>
              <a:rPr dirty="0"/>
              <a:t>reduces</a:t>
            </a:r>
            <a:r>
              <a:rPr spc="10" dirty="0"/>
              <a:t> </a:t>
            </a:r>
            <a:r>
              <a:rPr spc="50" dirty="0"/>
              <a:t>to</a:t>
            </a:r>
            <a:r>
              <a:rPr spc="10" dirty="0"/>
              <a:t> </a:t>
            </a:r>
            <a:r>
              <a:rPr dirty="0"/>
              <a:t>set</a:t>
            </a:r>
            <a:r>
              <a:rPr spc="15" dirty="0"/>
              <a:t> </a:t>
            </a:r>
            <a:r>
              <a:rPr spc="-10" dirty="0"/>
              <a:t>cover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221740"/>
            <a:ext cx="1034859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137096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Lemma.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G </a:t>
            </a:r>
            <a:r>
              <a:rPr sz="2400" dirty="0">
                <a:latin typeface="Times New Roman"/>
                <a:cs typeface="Times New Roman"/>
              </a:rPr>
              <a:t>= (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) </a:t>
            </a:r>
            <a:r>
              <a:rPr sz="2400" dirty="0">
                <a:latin typeface="Lucida Sans Unicode"/>
                <a:cs typeface="Lucida Sans Unicode"/>
              </a:rPr>
              <a:t>contains a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 size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 </a:t>
            </a:r>
            <a:r>
              <a:rPr sz="2400" dirty="0">
                <a:latin typeface="Lucida Sans Unicode"/>
                <a:cs typeface="Lucida Sans Unicode"/>
              </a:rPr>
              <a:t>iff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,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Times New Roman"/>
                <a:cs typeface="Times New Roman"/>
              </a:rPr>
              <a:t>)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contains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 size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000" y="2786380"/>
            <a:ext cx="8644890" cy="91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ts val="2615"/>
              </a:lnSpc>
              <a:spcBef>
                <a:spcPts val="100"/>
              </a:spcBef>
              <a:tabLst>
                <a:tab pos="619760" algn="l"/>
                <a:tab pos="1113155" algn="l"/>
                <a:tab pos="1977389" algn="l"/>
                <a:tab pos="2347595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50" dirty="0">
                <a:solidFill>
                  <a:srgbClr val="0048AA"/>
                </a:solidFill>
                <a:latin typeface="Symbol"/>
                <a:cs typeface="Symbol"/>
              </a:rPr>
              <a:t>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Let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spc="-50" dirty="0">
                <a:latin typeface="Times New Roman"/>
                <a:cs typeface="Times New Roman"/>
              </a:rPr>
              <a:t>Y</a:t>
            </a:r>
            <a:r>
              <a:rPr sz="2400" i="1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Symbol"/>
                <a:cs typeface="Symbol"/>
              </a:rPr>
              <a:t>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</a:t>
            </a:r>
            <a:r>
              <a:rPr sz="2400" i="1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Times New Roman"/>
                <a:cs typeface="Times New Roman"/>
              </a:rPr>
              <a:t>)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77800">
              <a:lnSpc>
                <a:spcPts val="4355"/>
              </a:lnSpc>
              <a:tabLst>
                <a:tab pos="8451850" algn="l"/>
              </a:tabLst>
            </a:pPr>
            <a:r>
              <a:rPr sz="5775" spc="-67" baseline="-5772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: </a:t>
            </a:r>
            <a:r>
              <a:rPr sz="2400" i="1" dirty="0">
                <a:latin typeface="Times New Roman"/>
                <a:cs typeface="Times New Roman"/>
              </a:rPr>
              <a:t>S</a:t>
            </a:r>
            <a:r>
              <a:rPr sz="2400" i="1" baseline="-6944" dirty="0">
                <a:latin typeface="Times New Roman"/>
                <a:cs typeface="Times New Roman"/>
              </a:rPr>
              <a:t>v</a:t>
            </a:r>
            <a:r>
              <a:rPr sz="2400" i="1" spc="307" baseline="-694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</a:t>
            </a:r>
            <a:r>
              <a:rPr sz="24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 </a:t>
            </a:r>
            <a:r>
              <a:rPr sz="2400" dirty="0">
                <a:latin typeface="Times New Roman"/>
                <a:cs typeface="Times New Roman"/>
              </a:rPr>
              <a:t>}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 vertex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 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 </a:t>
            </a:r>
            <a:r>
              <a:rPr sz="2400" i="1" spc="-25" dirty="0">
                <a:latin typeface="Times New Roman"/>
                <a:cs typeface="Times New Roman"/>
              </a:rPr>
              <a:t>G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934200" y="6055925"/>
            <a:ext cx="5168900" cy="2192655"/>
          </a:xfrm>
          <a:custGeom>
            <a:avLst/>
            <a:gdLst/>
            <a:ahLst/>
            <a:cxnLst/>
            <a:rect l="l" t="t" r="r" b="b"/>
            <a:pathLst>
              <a:path w="5168900" h="2192654">
                <a:moveTo>
                  <a:pt x="0" y="0"/>
                </a:moveTo>
                <a:lnTo>
                  <a:pt x="5168900" y="0"/>
                </a:lnTo>
                <a:lnTo>
                  <a:pt x="5168900" y="2192477"/>
                </a:lnTo>
                <a:lnTo>
                  <a:pt x="0" y="2192477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000000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280585" y="6262299"/>
            <a:ext cx="27362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200" i="1" dirty="0">
                <a:latin typeface="Times New Roman"/>
                <a:cs typeface="Times New Roman"/>
              </a:rPr>
              <a:t>U </a:t>
            </a:r>
            <a:r>
              <a:rPr sz="2200" dirty="0">
                <a:latin typeface="Times New Roman"/>
                <a:cs typeface="Times New Roman"/>
              </a:rPr>
              <a:t>= { 1, 2, 3, 4, 5, 6, 7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55185" y="6551250"/>
            <a:ext cx="1969135" cy="144462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85"/>
              </a:spcBef>
            </a:pP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2175" i="1" baseline="-19157" dirty="0">
                <a:latin typeface="Times New Roman"/>
                <a:cs typeface="Times New Roman"/>
              </a:rPr>
              <a:t>a</a:t>
            </a:r>
            <a:r>
              <a:rPr sz="2175" i="1" spc="277" baseline="-19157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 { 3,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7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</a:pP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2175" i="1" baseline="-19157" dirty="0">
                <a:latin typeface="Times New Roman"/>
                <a:cs typeface="Times New Roman"/>
              </a:rPr>
              <a:t>c</a:t>
            </a:r>
            <a:r>
              <a:rPr sz="2175" i="1" spc="277" baseline="-19157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 {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3, 4, 5,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6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</a:pP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2175" i="1" baseline="-19157" dirty="0">
                <a:latin typeface="Times New Roman"/>
                <a:cs typeface="Times New Roman"/>
              </a:rPr>
              <a:t>e</a:t>
            </a:r>
            <a:r>
              <a:rPr sz="2175" i="1" spc="277" baseline="-19157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{ 1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47225" y="6551250"/>
            <a:ext cx="2078355" cy="1444625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185"/>
              </a:spcBef>
            </a:pP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2175" i="1" baseline="-19157" dirty="0">
                <a:latin typeface="Times New Roman"/>
                <a:cs typeface="Times New Roman"/>
              </a:rPr>
              <a:t>b</a:t>
            </a:r>
            <a:r>
              <a:rPr sz="2175" i="1" spc="277" baseline="-19157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 { 2,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4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</a:pPr>
            <a:r>
              <a:rPr sz="2200" i="1" dirty="0">
                <a:latin typeface="Times New Roman"/>
                <a:cs typeface="Times New Roman"/>
              </a:rPr>
              <a:t>S</a:t>
            </a:r>
            <a:r>
              <a:rPr sz="2175" i="1" baseline="-19157" dirty="0">
                <a:latin typeface="Times New Roman"/>
                <a:cs typeface="Times New Roman"/>
              </a:rPr>
              <a:t>d</a:t>
            </a:r>
            <a:r>
              <a:rPr sz="2175" i="1" spc="277" baseline="-19157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 {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5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085"/>
              </a:spcBef>
              <a:tabLst>
                <a:tab pos="356235" algn="l"/>
                <a:tab pos="653415" algn="l"/>
              </a:tabLst>
            </a:pPr>
            <a:r>
              <a:rPr sz="2200" i="1" spc="-25" dirty="0">
                <a:latin typeface="Times New Roman"/>
                <a:cs typeface="Times New Roman"/>
              </a:rPr>
              <a:t>S</a:t>
            </a:r>
            <a:r>
              <a:rPr sz="2175" i="1" spc="-37" baseline="-19157" dirty="0">
                <a:latin typeface="Times New Roman"/>
                <a:cs typeface="Times New Roman"/>
              </a:rPr>
              <a:t>f</a:t>
            </a:r>
            <a:r>
              <a:rPr sz="2175" i="1" baseline="-19157" dirty="0">
                <a:latin typeface="Times New Roman"/>
                <a:cs typeface="Times New Roman"/>
              </a:rPr>
              <a:t>	</a:t>
            </a:r>
            <a:r>
              <a:rPr sz="2200" spc="-50" dirty="0">
                <a:latin typeface="Times New Roman"/>
                <a:cs typeface="Times New Roman"/>
              </a:rPr>
              <a:t>=</a:t>
            </a:r>
            <a:r>
              <a:rPr sz="2200" dirty="0">
                <a:latin typeface="Times New Roman"/>
                <a:cs typeface="Times New Roman"/>
              </a:rPr>
              <a:t>	{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1, 2, 6, 7 </a:t>
            </a: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124700" y="7162800"/>
            <a:ext cx="4724400" cy="927100"/>
            <a:chOff x="7124700" y="7162800"/>
            <a:chExt cx="4724400" cy="927100"/>
          </a:xfrm>
        </p:grpSpPr>
        <p:sp>
          <p:nvSpPr>
            <p:cNvPr id="11" name="object 11"/>
            <p:cNvSpPr/>
            <p:nvPr/>
          </p:nvSpPr>
          <p:spPr>
            <a:xfrm>
              <a:off x="7137400" y="7175500"/>
              <a:ext cx="2184400" cy="419100"/>
            </a:xfrm>
            <a:custGeom>
              <a:avLst/>
              <a:gdLst/>
              <a:ahLst/>
              <a:cxnLst/>
              <a:rect l="l" t="t" r="r" b="b"/>
              <a:pathLst>
                <a:path w="2184400" h="419100">
                  <a:moveTo>
                    <a:pt x="190500" y="0"/>
                  </a:moveTo>
                  <a:lnTo>
                    <a:pt x="1993900" y="0"/>
                  </a:lnTo>
                  <a:lnTo>
                    <a:pt x="2037580" y="5031"/>
                  </a:lnTo>
                  <a:lnTo>
                    <a:pt x="2077677" y="19362"/>
                  </a:lnTo>
                  <a:lnTo>
                    <a:pt x="2113048" y="41850"/>
                  </a:lnTo>
                  <a:lnTo>
                    <a:pt x="2142549" y="71351"/>
                  </a:lnTo>
                  <a:lnTo>
                    <a:pt x="2165037" y="106722"/>
                  </a:lnTo>
                  <a:lnTo>
                    <a:pt x="2179368" y="146820"/>
                  </a:lnTo>
                  <a:lnTo>
                    <a:pt x="2184400" y="190500"/>
                  </a:lnTo>
                  <a:lnTo>
                    <a:pt x="2184400" y="228600"/>
                  </a:lnTo>
                  <a:lnTo>
                    <a:pt x="2179368" y="272279"/>
                  </a:lnTo>
                  <a:lnTo>
                    <a:pt x="2165037" y="312377"/>
                  </a:lnTo>
                  <a:lnTo>
                    <a:pt x="2142549" y="347748"/>
                  </a:lnTo>
                  <a:lnTo>
                    <a:pt x="2113048" y="377249"/>
                  </a:lnTo>
                  <a:lnTo>
                    <a:pt x="2077677" y="399737"/>
                  </a:lnTo>
                  <a:lnTo>
                    <a:pt x="2037580" y="414068"/>
                  </a:lnTo>
                  <a:lnTo>
                    <a:pt x="1993900" y="419100"/>
                  </a:lnTo>
                  <a:lnTo>
                    <a:pt x="190500" y="419100"/>
                  </a:lnTo>
                  <a:lnTo>
                    <a:pt x="146820" y="414068"/>
                  </a:lnTo>
                  <a:lnTo>
                    <a:pt x="106722" y="399737"/>
                  </a:lnTo>
                  <a:lnTo>
                    <a:pt x="71351" y="377249"/>
                  </a:lnTo>
                  <a:lnTo>
                    <a:pt x="41850" y="347748"/>
                  </a:lnTo>
                  <a:lnTo>
                    <a:pt x="19362" y="312377"/>
                  </a:lnTo>
                  <a:lnTo>
                    <a:pt x="5031" y="272279"/>
                  </a:lnTo>
                  <a:lnTo>
                    <a:pt x="0" y="228600"/>
                  </a:lnTo>
                  <a:lnTo>
                    <a:pt x="0" y="190500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500" y="0"/>
                  </a:lnTo>
                  <a:close/>
                </a:path>
              </a:pathLst>
            </a:custGeom>
            <a:ln w="2540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423400" y="7658100"/>
              <a:ext cx="2413000" cy="419100"/>
            </a:xfrm>
            <a:custGeom>
              <a:avLst/>
              <a:gdLst/>
              <a:ahLst/>
              <a:cxnLst/>
              <a:rect l="l" t="t" r="r" b="b"/>
              <a:pathLst>
                <a:path w="2413000" h="419100">
                  <a:moveTo>
                    <a:pt x="190500" y="0"/>
                  </a:moveTo>
                  <a:lnTo>
                    <a:pt x="2222500" y="0"/>
                  </a:lnTo>
                  <a:lnTo>
                    <a:pt x="2266180" y="5031"/>
                  </a:lnTo>
                  <a:lnTo>
                    <a:pt x="2306277" y="19362"/>
                  </a:lnTo>
                  <a:lnTo>
                    <a:pt x="2341648" y="41850"/>
                  </a:lnTo>
                  <a:lnTo>
                    <a:pt x="2371149" y="71351"/>
                  </a:lnTo>
                  <a:lnTo>
                    <a:pt x="2393637" y="106722"/>
                  </a:lnTo>
                  <a:lnTo>
                    <a:pt x="2407968" y="146820"/>
                  </a:lnTo>
                  <a:lnTo>
                    <a:pt x="2413000" y="190500"/>
                  </a:lnTo>
                  <a:lnTo>
                    <a:pt x="2413000" y="228600"/>
                  </a:lnTo>
                  <a:lnTo>
                    <a:pt x="2407968" y="272279"/>
                  </a:lnTo>
                  <a:lnTo>
                    <a:pt x="2393637" y="312377"/>
                  </a:lnTo>
                  <a:lnTo>
                    <a:pt x="2371149" y="347748"/>
                  </a:lnTo>
                  <a:lnTo>
                    <a:pt x="2341648" y="377249"/>
                  </a:lnTo>
                  <a:lnTo>
                    <a:pt x="2306277" y="399737"/>
                  </a:lnTo>
                  <a:lnTo>
                    <a:pt x="2266180" y="414068"/>
                  </a:lnTo>
                  <a:lnTo>
                    <a:pt x="2222500" y="419100"/>
                  </a:lnTo>
                  <a:lnTo>
                    <a:pt x="190500" y="419100"/>
                  </a:lnTo>
                  <a:lnTo>
                    <a:pt x="146820" y="414068"/>
                  </a:lnTo>
                  <a:lnTo>
                    <a:pt x="106722" y="399737"/>
                  </a:lnTo>
                  <a:lnTo>
                    <a:pt x="71351" y="377249"/>
                  </a:lnTo>
                  <a:lnTo>
                    <a:pt x="41850" y="347748"/>
                  </a:lnTo>
                  <a:lnTo>
                    <a:pt x="19362" y="312377"/>
                  </a:lnTo>
                  <a:lnTo>
                    <a:pt x="5031" y="272279"/>
                  </a:lnTo>
                  <a:lnTo>
                    <a:pt x="0" y="228600"/>
                  </a:lnTo>
                  <a:lnTo>
                    <a:pt x="0" y="190500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500" y="0"/>
                  </a:lnTo>
                  <a:close/>
                </a:path>
              </a:pathLst>
            </a:custGeom>
            <a:ln w="25400">
              <a:solidFill>
                <a:srgbClr val="0048A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549328" y="5811732"/>
            <a:ext cx="4343400" cy="2453005"/>
            <a:chOff x="1549328" y="5811732"/>
            <a:chExt cx="4343400" cy="2453005"/>
          </a:xfrm>
        </p:grpSpPr>
        <p:sp>
          <p:nvSpPr>
            <p:cNvPr id="14" name="object 14"/>
            <p:cNvSpPr/>
            <p:nvPr/>
          </p:nvSpPr>
          <p:spPr>
            <a:xfrm>
              <a:off x="2701430" y="5830782"/>
              <a:ext cx="3149600" cy="1400175"/>
            </a:xfrm>
            <a:custGeom>
              <a:avLst/>
              <a:gdLst/>
              <a:ahLst/>
              <a:cxnLst/>
              <a:rect l="l" t="t" r="r" b="b"/>
              <a:pathLst>
                <a:path w="3149600" h="1400175">
                  <a:moveTo>
                    <a:pt x="0" y="0"/>
                  </a:moveTo>
                  <a:lnTo>
                    <a:pt x="3149600" y="1399821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620541" y="7230604"/>
              <a:ext cx="1230630" cy="1015365"/>
            </a:xfrm>
            <a:custGeom>
              <a:avLst/>
              <a:gdLst/>
              <a:ahLst/>
              <a:cxnLst/>
              <a:rect l="l" t="t" r="r" b="b"/>
              <a:pathLst>
                <a:path w="1230629" h="1015365">
                  <a:moveTo>
                    <a:pt x="1230488" y="0"/>
                  </a:moveTo>
                  <a:lnTo>
                    <a:pt x="0" y="1014800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20541" y="5840870"/>
              <a:ext cx="1230630" cy="1390015"/>
            </a:xfrm>
            <a:custGeom>
              <a:avLst/>
              <a:gdLst/>
              <a:ahLst/>
              <a:cxnLst/>
              <a:rect l="l" t="t" r="r" b="b"/>
              <a:pathLst>
                <a:path w="1230629" h="1390015">
                  <a:moveTo>
                    <a:pt x="0" y="0"/>
                  </a:moveTo>
                  <a:lnTo>
                    <a:pt x="1230488" y="1389733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90603" y="5840870"/>
              <a:ext cx="3030220" cy="1396365"/>
            </a:xfrm>
            <a:custGeom>
              <a:avLst/>
              <a:gdLst/>
              <a:ahLst/>
              <a:cxnLst/>
              <a:rect l="l" t="t" r="r" b="b"/>
              <a:pathLst>
                <a:path w="3030220" h="1396365">
                  <a:moveTo>
                    <a:pt x="0" y="1396083"/>
                  </a:moveTo>
                  <a:lnTo>
                    <a:pt x="3029938" y="0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90603" y="7236954"/>
              <a:ext cx="1361440" cy="1007110"/>
            </a:xfrm>
            <a:custGeom>
              <a:avLst/>
              <a:gdLst/>
              <a:ahLst/>
              <a:cxnLst/>
              <a:rect l="l" t="t" r="r" b="b"/>
              <a:pathLst>
                <a:path w="1361439" h="1007109">
                  <a:moveTo>
                    <a:pt x="0" y="0"/>
                  </a:moveTo>
                  <a:lnTo>
                    <a:pt x="1361440" y="1006969"/>
                  </a:lnTo>
                </a:path>
              </a:pathLst>
            </a:custGeom>
            <a:ln w="381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71553" y="7233779"/>
              <a:ext cx="4298950" cy="0"/>
            </a:xfrm>
            <a:custGeom>
              <a:avLst/>
              <a:gdLst/>
              <a:ahLst/>
              <a:cxnLst/>
              <a:rect l="l" t="t" r="r" b="b"/>
              <a:pathLst>
                <a:path w="4298950">
                  <a:moveTo>
                    <a:pt x="0" y="0"/>
                  </a:moveTo>
                  <a:lnTo>
                    <a:pt x="2016272" y="0"/>
                  </a:lnTo>
                </a:path>
                <a:path w="4298950">
                  <a:moveTo>
                    <a:pt x="2268709" y="0"/>
                  </a:moveTo>
                  <a:lnTo>
                    <a:pt x="4298527" y="0"/>
                  </a:lnTo>
                </a:path>
              </a:pathLst>
            </a:custGeom>
            <a:ln w="4445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90603" y="5830782"/>
              <a:ext cx="1111250" cy="1406525"/>
            </a:xfrm>
            <a:custGeom>
              <a:avLst/>
              <a:gdLst/>
              <a:ahLst/>
              <a:cxnLst/>
              <a:rect l="l" t="t" r="r" b="b"/>
              <a:pathLst>
                <a:path w="1111250" h="1406525">
                  <a:moveTo>
                    <a:pt x="0" y="1406171"/>
                  </a:moveTo>
                  <a:lnTo>
                    <a:pt x="1110826" y="0"/>
                  </a:lnTo>
                </a:path>
              </a:pathLst>
            </a:custGeom>
            <a:ln w="38099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24410" y="7657012"/>
              <a:ext cx="252729" cy="339090"/>
            </a:xfrm>
            <a:custGeom>
              <a:avLst/>
              <a:gdLst/>
              <a:ahLst/>
              <a:cxnLst/>
              <a:rect l="l" t="t" r="r" b="b"/>
              <a:pathLst>
                <a:path w="252730" h="339090">
                  <a:moveTo>
                    <a:pt x="252437" y="0"/>
                  </a:moveTo>
                  <a:lnTo>
                    <a:pt x="0" y="0"/>
                  </a:lnTo>
                  <a:lnTo>
                    <a:pt x="0" y="338581"/>
                  </a:lnTo>
                  <a:lnTo>
                    <a:pt x="252437" y="338581"/>
                  </a:lnTo>
                  <a:lnTo>
                    <a:pt x="252437" y="0"/>
                  </a:lnTo>
                  <a:close/>
                </a:path>
              </a:pathLst>
            </a:custGeom>
            <a:solidFill>
              <a:srgbClr val="F2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213827" y="7631613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1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31848" y="6348631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29" h="339090">
                <a:moveTo>
                  <a:pt x="252437" y="0"/>
                </a:moveTo>
                <a:lnTo>
                  <a:pt x="0" y="0"/>
                </a:lnTo>
                <a:lnTo>
                  <a:pt x="0" y="338581"/>
                </a:lnTo>
                <a:lnTo>
                  <a:pt x="252437" y="338581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021265" y="6323231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2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457917" y="6473938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29" h="339090">
                <a:moveTo>
                  <a:pt x="252437" y="0"/>
                </a:moveTo>
                <a:lnTo>
                  <a:pt x="0" y="0"/>
                </a:lnTo>
                <a:lnTo>
                  <a:pt x="0" y="338582"/>
                </a:lnTo>
                <a:lnTo>
                  <a:pt x="252437" y="338582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472734" y="6448538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85471" y="6588153"/>
            <a:ext cx="110489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50" dirty="0">
                <a:latin typeface="Times New Roman"/>
                <a:cs typeface="Times New Roman"/>
              </a:rPr>
              <a:t>3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107593" y="7577708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29" h="339090">
                <a:moveTo>
                  <a:pt x="252437" y="0"/>
                </a:moveTo>
                <a:lnTo>
                  <a:pt x="0" y="0"/>
                </a:lnTo>
                <a:lnTo>
                  <a:pt x="0" y="338581"/>
                </a:lnTo>
                <a:lnTo>
                  <a:pt x="252437" y="338581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097010" y="7552308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5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110697" y="6345809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29" h="339090">
                <a:moveTo>
                  <a:pt x="252437" y="0"/>
                </a:moveTo>
                <a:lnTo>
                  <a:pt x="0" y="0"/>
                </a:lnTo>
                <a:lnTo>
                  <a:pt x="0" y="338581"/>
                </a:lnTo>
                <a:lnTo>
                  <a:pt x="252437" y="338581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100114" y="6320408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4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587826" y="7059266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29" h="339090">
                <a:moveTo>
                  <a:pt x="252437" y="0"/>
                </a:moveTo>
                <a:lnTo>
                  <a:pt x="0" y="0"/>
                </a:lnTo>
                <a:lnTo>
                  <a:pt x="0" y="338581"/>
                </a:lnTo>
                <a:lnTo>
                  <a:pt x="252437" y="338581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3577243" y="7033866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6</a:t>
            </a:r>
            <a:endParaRPr sz="1950" baseline="-1923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998068" y="6345809"/>
            <a:ext cx="252729" cy="339090"/>
          </a:xfrm>
          <a:custGeom>
            <a:avLst/>
            <a:gdLst/>
            <a:ahLst/>
            <a:cxnLst/>
            <a:rect l="l" t="t" r="r" b="b"/>
            <a:pathLst>
              <a:path w="252730" h="339090">
                <a:moveTo>
                  <a:pt x="252437" y="0"/>
                </a:moveTo>
                <a:lnTo>
                  <a:pt x="0" y="0"/>
                </a:lnTo>
                <a:lnTo>
                  <a:pt x="0" y="338581"/>
                </a:lnTo>
                <a:lnTo>
                  <a:pt x="252437" y="338581"/>
                </a:lnTo>
                <a:lnTo>
                  <a:pt x="252437" y="0"/>
                </a:lnTo>
                <a:close/>
              </a:path>
            </a:pathLst>
          </a:custGeom>
          <a:solidFill>
            <a:srgbClr val="F2F6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987485" y="6320408"/>
            <a:ext cx="2736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i="1" spc="-25" dirty="0">
                <a:latin typeface="Times New Roman"/>
                <a:cs typeface="Times New Roman"/>
              </a:rPr>
              <a:t>e</a:t>
            </a:r>
            <a:r>
              <a:rPr sz="1950" spc="-37" baseline="-19230" dirty="0">
                <a:latin typeface="Times New Roman"/>
                <a:cs typeface="Times New Roman"/>
              </a:rPr>
              <a:t>7</a:t>
            </a:r>
            <a:endParaRPr sz="1950" baseline="-1923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491316" y="5630757"/>
            <a:ext cx="420370" cy="420370"/>
            <a:chOff x="2491316" y="5630757"/>
            <a:chExt cx="420370" cy="420370"/>
          </a:xfrm>
        </p:grpSpPr>
        <p:sp>
          <p:nvSpPr>
            <p:cNvPr id="37" name="object 37"/>
            <p:cNvSpPr/>
            <p:nvPr/>
          </p:nvSpPr>
          <p:spPr>
            <a:xfrm>
              <a:off x="2496078" y="5635519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227974" y="0"/>
                  </a:moveTo>
                  <a:lnTo>
                    <a:pt x="182729" y="0"/>
                  </a:lnTo>
                  <a:lnTo>
                    <a:pt x="138362" y="9878"/>
                  </a:lnTo>
                  <a:lnTo>
                    <a:pt x="96625" y="29636"/>
                  </a:lnTo>
                  <a:lnTo>
                    <a:pt x="59272" y="59273"/>
                  </a:lnTo>
                  <a:lnTo>
                    <a:pt x="29636" y="96626"/>
                  </a:lnTo>
                  <a:lnTo>
                    <a:pt x="9878" y="138362"/>
                  </a:lnTo>
                  <a:lnTo>
                    <a:pt x="0" y="182730"/>
                  </a:lnTo>
                  <a:lnTo>
                    <a:pt x="0" y="227974"/>
                  </a:lnTo>
                  <a:lnTo>
                    <a:pt x="9878" y="272341"/>
                  </a:lnTo>
                  <a:lnTo>
                    <a:pt x="29636" y="314078"/>
                  </a:lnTo>
                  <a:lnTo>
                    <a:pt x="59272" y="351430"/>
                  </a:lnTo>
                  <a:lnTo>
                    <a:pt x="96625" y="381067"/>
                  </a:lnTo>
                  <a:lnTo>
                    <a:pt x="138362" y="400824"/>
                  </a:lnTo>
                  <a:lnTo>
                    <a:pt x="182729" y="410703"/>
                  </a:lnTo>
                  <a:lnTo>
                    <a:pt x="227974" y="410703"/>
                  </a:lnTo>
                  <a:lnTo>
                    <a:pt x="272341" y="400824"/>
                  </a:lnTo>
                  <a:lnTo>
                    <a:pt x="314078" y="381067"/>
                  </a:lnTo>
                  <a:lnTo>
                    <a:pt x="351431" y="351430"/>
                  </a:lnTo>
                  <a:lnTo>
                    <a:pt x="381067" y="314078"/>
                  </a:lnTo>
                  <a:lnTo>
                    <a:pt x="400825" y="272341"/>
                  </a:lnTo>
                  <a:lnTo>
                    <a:pt x="410703" y="227974"/>
                  </a:lnTo>
                  <a:lnTo>
                    <a:pt x="410703" y="182730"/>
                  </a:lnTo>
                  <a:lnTo>
                    <a:pt x="400825" y="138362"/>
                  </a:lnTo>
                  <a:lnTo>
                    <a:pt x="381067" y="96626"/>
                  </a:lnTo>
                  <a:lnTo>
                    <a:pt x="351431" y="59273"/>
                  </a:lnTo>
                  <a:lnTo>
                    <a:pt x="314078" y="29636"/>
                  </a:lnTo>
                  <a:lnTo>
                    <a:pt x="272341" y="9878"/>
                  </a:lnTo>
                  <a:lnTo>
                    <a:pt x="227974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96078" y="5635519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628239" y="5626806"/>
            <a:ext cx="152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410428" y="5630757"/>
            <a:ext cx="420370" cy="420370"/>
            <a:chOff x="4410428" y="5630757"/>
            <a:chExt cx="420370" cy="420370"/>
          </a:xfrm>
        </p:grpSpPr>
        <p:sp>
          <p:nvSpPr>
            <p:cNvPr id="41" name="object 41"/>
            <p:cNvSpPr/>
            <p:nvPr/>
          </p:nvSpPr>
          <p:spPr>
            <a:xfrm>
              <a:off x="4415190" y="5635519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27974" y="0"/>
                  </a:moveTo>
                  <a:lnTo>
                    <a:pt x="182730" y="0"/>
                  </a:lnTo>
                  <a:lnTo>
                    <a:pt x="138362" y="9878"/>
                  </a:lnTo>
                  <a:lnTo>
                    <a:pt x="96626" y="29636"/>
                  </a:lnTo>
                  <a:lnTo>
                    <a:pt x="59273" y="59273"/>
                  </a:lnTo>
                  <a:lnTo>
                    <a:pt x="29636" y="96626"/>
                  </a:lnTo>
                  <a:lnTo>
                    <a:pt x="9878" y="138362"/>
                  </a:lnTo>
                  <a:lnTo>
                    <a:pt x="0" y="182730"/>
                  </a:lnTo>
                  <a:lnTo>
                    <a:pt x="0" y="227974"/>
                  </a:lnTo>
                  <a:lnTo>
                    <a:pt x="9878" y="272341"/>
                  </a:lnTo>
                  <a:lnTo>
                    <a:pt x="29636" y="314078"/>
                  </a:lnTo>
                  <a:lnTo>
                    <a:pt x="59273" y="351430"/>
                  </a:lnTo>
                  <a:lnTo>
                    <a:pt x="96626" y="381067"/>
                  </a:lnTo>
                  <a:lnTo>
                    <a:pt x="138362" y="400824"/>
                  </a:lnTo>
                  <a:lnTo>
                    <a:pt x="182730" y="410703"/>
                  </a:lnTo>
                  <a:lnTo>
                    <a:pt x="227974" y="410703"/>
                  </a:lnTo>
                  <a:lnTo>
                    <a:pt x="272341" y="400824"/>
                  </a:lnTo>
                  <a:lnTo>
                    <a:pt x="314078" y="381067"/>
                  </a:lnTo>
                  <a:lnTo>
                    <a:pt x="351430" y="351430"/>
                  </a:lnTo>
                  <a:lnTo>
                    <a:pt x="381067" y="314078"/>
                  </a:lnTo>
                  <a:lnTo>
                    <a:pt x="400824" y="272341"/>
                  </a:lnTo>
                  <a:lnTo>
                    <a:pt x="410703" y="227974"/>
                  </a:lnTo>
                  <a:lnTo>
                    <a:pt x="410703" y="182730"/>
                  </a:lnTo>
                  <a:lnTo>
                    <a:pt x="400824" y="138362"/>
                  </a:lnTo>
                  <a:lnTo>
                    <a:pt x="381067" y="96626"/>
                  </a:lnTo>
                  <a:lnTo>
                    <a:pt x="351430" y="59273"/>
                  </a:lnTo>
                  <a:lnTo>
                    <a:pt x="314078" y="29636"/>
                  </a:lnTo>
                  <a:lnTo>
                    <a:pt x="272341" y="9878"/>
                  </a:lnTo>
                  <a:lnTo>
                    <a:pt x="227974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15190" y="5635519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560050" y="5652206"/>
            <a:ext cx="152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741930" y="8037548"/>
            <a:ext cx="420370" cy="420370"/>
            <a:chOff x="2741930" y="8037548"/>
            <a:chExt cx="420370" cy="420370"/>
          </a:xfrm>
        </p:grpSpPr>
        <p:sp>
          <p:nvSpPr>
            <p:cNvPr id="45" name="object 45"/>
            <p:cNvSpPr/>
            <p:nvPr/>
          </p:nvSpPr>
          <p:spPr>
            <a:xfrm>
              <a:off x="2746693" y="8042310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227973" y="0"/>
                  </a:moveTo>
                  <a:lnTo>
                    <a:pt x="182729" y="0"/>
                  </a:lnTo>
                  <a:lnTo>
                    <a:pt x="138361" y="9878"/>
                  </a:lnTo>
                  <a:lnTo>
                    <a:pt x="96625" y="29636"/>
                  </a:lnTo>
                  <a:lnTo>
                    <a:pt x="59272" y="59273"/>
                  </a:lnTo>
                  <a:lnTo>
                    <a:pt x="29636" y="96626"/>
                  </a:lnTo>
                  <a:lnTo>
                    <a:pt x="9878" y="138362"/>
                  </a:lnTo>
                  <a:lnTo>
                    <a:pt x="0" y="182730"/>
                  </a:lnTo>
                  <a:lnTo>
                    <a:pt x="0" y="227974"/>
                  </a:lnTo>
                  <a:lnTo>
                    <a:pt x="9878" y="272341"/>
                  </a:lnTo>
                  <a:lnTo>
                    <a:pt x="29636" y="314078"/>
                  </a:lnTo>
                  <a:lnTo>
                    <a:pt x="59272" y="351430"/>
                  </a:lnTo>
                  <a:lnTo>
                    <a:pt x="96625" y="381067"/>
                  </a:lnTo>
                  <a:lnTo>
                    <a:pt x="138361" y="400824"/>
                  </a:lnTo>
                  <a:lnTo>
                    <a:pt x="182729" y="410703"/>
                  </a:lnTo>
                  <a:lnTo>
                    <a:pt x="227973" y="410703"/>
                  </a:lnTo>
                  <a:lnTo>
                    <a:pt x="272340" y="400824"/>
                  </a:lnTo>
                  <a:lnTo>
                    <a:pt x="314077" y="381067"/>
                  </a:lnTo>
                  <a:lnTo>
                    <a:pt x="351429" y="351430"/>
                  </a:lnTo>
                  <a:lnTo>
                    <a:pt x="381066" y="314078"/>
                  </a:lnTo>
                  <a:lnTo>
                    <a:pt x="400824" y="272341"/>
                  </a:lnTo>
                  <a:lnTo>
                    <a:pt x="410703" y="227974"/>
                  </a:lnTo>
                  <a:lnTo>
                    <a:pt x="410703" y="182730"/>
                  </a:lnTo>
                  <a:lnTo>
                    <a:pt x="400824" y="138362"/>
                  </a:lnTo>
                  <a:lnTo>
                    <a:pt x="381066" y="96626"/>
                  </a:lnTo>
                  <a:lnTo>
                    <a:pt x="351429" y="59273"/>
                  </a:lnTo>
                  <a:lnTo>
                    <a:pt x="314077" y="29636"/>
                  </a:lnTo>
                  <a:lnTo>
                    <a:pt x="272340" y="9878"/>
                  </a:lnTo>
                  <a:lnTo>
                    <a:pt x="227973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46693" y="8042310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898684" y="8046297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380490" y="7030579"/>
            <a:ext cx="3450590" cy="1424940"/>
            <a:chOff x="1380490" y="7030579"/>
            <a:chExt cx="3450590" cy="1424940"/>
          </a:xfrm>
        </p:grpSpPr>
        <p:sp>
          <p:nvSpPr>
            <p:cNvPr id="49" name="object 49"/>
            <p:cNvSpPr/>
            <p:nvPr/>
          </p:nvSpPr>
          <p:spPr>
            <a:xfrm>
              <a:off x="1385253" y="7035342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227973" y="0"/>
                  </a:moveTo>
                  <a:lnTo>
                    <a:pt x="182729" y="0"/>
                  </a:lnTo>
                  <a:lnTo>
                    <a:pt x="138361" y="9878"/>
                  </a:lnTo>
                  <a:lnTo>
                    <a:pt x="96625" y="29636"/>
                  </a:lnTo>
                  <a:lnTo>
                    <a:pt x="59272" y="59272"/>
                  </a:lnTo>
                  <a:lnTo>
                    <a:pt x="29636" y="96625"/>
                  </a:lnTo>
                  <a:lnTo>
                    <a:pt x="9878" y="138361"/>
                  </a:lnTo>
                  <a:lnTo>
                    <a:pt x="0" y="182729"/>
                  </a:lnTo>
                  <a:lnTo>
                    <a:pt x="0" y="227973"/>
                  </a:lnTo>
                  <a:lnTo>
                    <a:pt x="9878" y="272340"/>
                  </a:lnTo>
                  <a:lnTo>
                    <a:pt x="29636" y="314077"/>
                  </a:lnTo>
                  <a:lnTo>
                    <a:pt x="59272" y="351429"/>
                  </a:lnTo>
                  <a:lnTo>
                    <a:pt x="96625" y="381066"/>
                  </a:lnTo>
                  <a:lnTo>
                    <a:pt x="138361" y="400824"/>
                  </a:lnTo>
                  <a:lnTo>
                    <a:pt x="182729" y="410703"/>
                  </a:lnTo>
                  <a:lnTo>
                    <a:pt x="227973" y="410703"/>
                  </a:lnTo>
                  <a:lnTo>
                    <a:pt x="272340" y="400824"/>
                  </a:lnTo>
                  <a:lnTo>
                    <a:pt x="314077" y="381066"/>
                  </a:lnTo>
                  <a:lnTo>
                    <a:pt x="351429" y="351429"/>
                  </a:lnTo>
                  <a:lnTo>
                    <a:pt x="381066" y="314077"/>
                  </a:lnTo>
                  <a:lnTo>
                    <a:pt x="400823" y="272340"/>
                  </a:lnTo>
                  <a:lnTo>
                    <a:pt x="410702" y="227973"/>
                  </a:lnTo>
                  <a:lnTo>
                    <a:pt x="410702" y="182729"/>
                  </a:lnTo>
                  <a:lnTo>
                    <a:pt x="400823" y="138361"/>
                  </a:lnTo>
                  <a:lnTo>
                    <a:pt x="381066" y="96625"/>
                  </a:lnTo>
                  <a:lnTo>
                    <a:pt x="351429" y="59272"/>
                  </a:lnTo>
                  <a:lnTo>
                    <a:pt x="314077" y="29636"/>
                  </a:lnTo>
                  <a:lnTo>
                    <a:pt x="272340" y="9878"/>
                  </a:lnTo>
                  <a:lnTo>
                    <a:pt x="227973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385252" y="703534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415190" y="8040053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27974" y="0"/>
                  </a:moveTo>
                  <a:lnTo>
                    <a:pt x="182730" y="0"/>
                  </a:lnTo>
                  <a:lnTo>
                    <a:pt x="138362" y="9878"/>
                  </a:lnTo>
                  <a:lnTo>
                    <a:pt x="96626" y="29636"/>
                  </a:lnTo>
                  <a:lnTo>
                    <a:pt x="59273" y="59272"/>
                  </a:lnTo>
                  <a:lnTo>
                    <a:pt x="29636" y="96625"/>
                  </a:lnTo>
                  <a:lnTo>
                    <a:pt x="9878" y="138361"/>
                  </a:lnTo>
                  <a:lnTo>
                    <a:pt x="0" y="182729"/>
                  </a:lnTo>
                  <a:lnTo>
                    <a:pt x="0" y="227973"/>
                  </a:lnTo>
                  <a:lnTo>
                    <a:pt x="9878" y="272340"/>
                  </a:lnTo>
                  <a:lnTo>
                    <a:pt x="29636" y="314077"/>
                  </a:lnTo>
                  <a:lnTo>
                    <a:pt x="59273" y="351429"/>
                  </a:lnTo>
                  <a:lnTo>
                    <a:pt x="96626" y="381066"/>
                  </a:lnTo>
                  <a:lnTo>
                    <a:pt x="138362" y="400823"/>
                  </a:lnTo>
                  <a:lnTo>
                    <a:pt x="182730" y="410702"/>
                  </a:lnTo>
                  <a:lnTo>
                    <a:pt x="227974" y="410702"/>
                  </a:lnTo>
                  <a:lnTo>
                    <a:pt x="272341" y="400823"/>
                  </a:lnTo>
                  <a:lnTo>
                    <a:pt x="314078" y="381066"/>
                  </a:lnTo>
                  <a:lnTo>
                    <a:pt x="351430" y="351429"/>
                  </a:lnTo>
                  <a:lnTo>
                    <a:pt x="381067" y="314077"/>
                  </a:lnTo>
                  <a:lnTo>
                    <a:pt x="400824" y="272340"/>
                  </a:lnTo>
                  <a:lnTo>
                    <a:pt x="410703" y="227973"/>
                  </a:lnTo>
                  <a:lnTo>
                    <a:pt x="410703" y="182729"/>
                  </a:lnTo>
                  <a:lnTo>
                    <a:pt x="400824" y="138361"/>
                  </a:lnTo>
                  <a:lnTo>
                    <a:pt x="381067" y="96625"/>
                  </a:lnTo>
                  <a:lnTo>
                    <a:pt x="351430" y="59272"/>
                  </a:lnTo>
                  <a:lnTo>
                    <a:pt x="314078" y="29636"/>
                  </a:lnTo>
                  <a:lnTo>
                    <a:pt x="272341" y="9878"/>
                  </a:lnTo>
                  <a:lnTo>
                    <a:pt x="227974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415191" y="8040052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4547350" y="8056739"/>
            <a:ext cx="1524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5640917" y="7030579"/>
            <a:ext cx="420370" cy="420370"/>
            <a:chOff x="5640917" y="7030579"/>
            <a:chExt cx="420370" cy="420370"/>
          </a:xfrm>
        </p:grpSpPr>
        <p:sp>
          <p:nvSpPr>
            <p:cNvPr id="55" name="object 55"/>
            <p:cNvSpPr/>
            <p:nvPr/>
          </p:nvSpPr>
          <p:spPr>
            <a:xfrm>
              <a:off x="5645679" y="7035342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27974" y="0"/>
                  </a:moveTo>
                  <a:lnTo>
                    <a:pt x="182730" y="0"/>
                  </a:lnTo>
                  <a:lnTo>
                    <a:pt x="138362" y="9878"/>
                  </a:lnTo>
                  <a:lnTo>
                    <a:pt x="96626" y="29636"/>
                  </a:lnTo>
                  <a:lnTo>
                    <a:pt x="59273" y="59272"/>
                  </a:lnTo>
                  <a:lnTo>
                    <a:pt x="29636" y="96625"/>
                  </a:lnTo>
                  <a:lnTo>
                    <a:pt x="9878" y="138361"/>
                  </a:lnTo>
                  <a:lnTo>
                    <a:pt x="0" y="182729"/>
                  </a:lnTo>
                  <a:lnTo>
                    <a:pt x="0" y="227973"/>
                  </a:lnTo>
                  <a:lnTo>
                    <a:pt x="9878" y="272340"/>
                  </a:lnTo>
                  <a:lnTo>
                    <a:pt x="29636" y="314077"/>
                  </a:lnTo>
                  <a:lnTo>
                    <a:pt x="59273" y="351429"/>
                  </a:lnTo>
                  <a:lnTo>
                    <a:pt x="96626" y="381066"/>
                  </a:lnTo>
                  <a:lnTo>
                    <a:pt x="138362" y="400824"/>
                  </a:lnTo>
                  <a:lnTo>
                    <a:pt x="182730" y="410703"/>
                  </a:lnTo>
                  <a:lnTo>
                    <a:pt x="227974" y="410703"/>
                  </a:lnTo>
                  <a:lnTo>
                    <a:pt x="272341" y="400824"/>
                  </a:lnTo>
                  <a:lnTo>
                    <a:pt x="314078" y="381066"/>
                  </a:lnTo>
                  <a:lnTo>
                    <a:pt x="351430" y="351429"/>
                  </a:lnTo>
                  <a:lnTo>
                    <a:pt x="381067" y="314077"/>
                  </a:lnTo>
                  <a:lnTo>
                    <a:pt x="400824" y="272340"/>
                  </a:lnTo>
                  <a:lnTo>
                    <a:pt x="410703" y="227973"/>
                  </a:lnTo>
                  <a:lnTo>
                    <a:pt x="410703" y="182729"/>
                  </a:lnTo>
                  <a:lnTo>
                    <a:pt x="400824" y="138361"/>
                  </a:lnTo>
                  <a:lnTo>
                    <a:pt x="381067" y="96625"/>
                  </a:lnTo>
                  <a:lnTo>
                    <a:pt x="351430" y="59272"/>
                  </a:lnTo>
                  <a:lnTo>
                    <a:pt x="314078" y="29636"/>
                  </a:lnTo>
                  <a:lnTo>
                    <a:pt x="272341" y="9878"/>
                  </a:lnTo>
                  <a:lnTo>
                    <a:pt x="227974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645679" y="703534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5645679" y="7035342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227974" y="0"/>
                  </a:moveTo>
                  <a:lnTo>
                    <a:pt x="182730" y="0"/>
                  </a:lnTo>
                  <a:lnTo>
                    <a:pt x="138362" y="9878"/>
                  </a:lnTo>
                  <a:lnTo>
                    <a:pt x="96626" y="29636"/>
                  </a:lnTo>
                  <a:lnTo>
                    <a:pt x="59273" y="59272"/>
                  </a:lnTo>
                  <a:lnTo>
                    <a:pt x="29636" y="96625"/>
                  </a:lnTo>
                  <a:lnTo>
                    <a:pt x="9878" y="138361"/>
                  </a:lnTo>
                  <a:lnTo>
                    <a:pt x="0" y="182729"/>
                  </a:lnTo>
                  <a:lnTo>
                    <a:pt x="0" y="227973"/>
                  </a:lnTo>
                  <a:lnTo>
                    <a:pt x="9878" y="272340"/>
                  </a:lnTo>
                  <a:lnTo>
                    <a:pt x="29636" y="314077"/>
                  </a:lnTo>
                  <a:lnTo>
                    <a:pt x="59273" y="351429"/>
                  </a:lnTo>
                  <a:lnTo>
                    <a:pt x="96626" y="381066"/>
                  </a:lnTo>
                  <a:lnTo>
                    <a:pt x="138362" y="400824"/>
                  </a:lnTo>
                  <a:lnTo>
                    <a:pt x="182730" y="410703"/>
                  </a:lnTo>
                  <a:lnTo>
                    <a:pt x="227974" y="410703"/>
                  </a:lnTo>
                  <a:lnTo>
                    <a:pt x="272341" y="400824"/>
                  </a:lnTo>
                  <a:lnTo>
                    <a:pt x="314078" y="381066"/>
                  </a:lnTo>
                  <a:lnTo>
                    <a:pt x="351430" y="351429"/>
                  </a:lnTo>
                  <a:lnTo>
                    <a:pt x="381067" y="314077"/>
                  </a:lnTo>
                  <a:lnTo>
                    <a:pt x="400824" y="272340"/>
                  </a:lnTo>
                  <a:lnTo>
                    <a:pt x="410703" y="227973"/>
                  </a:lnTo>
                  <a:lnTo>
                    <a:pt x="410703" y="182729"/>
                  </a:lnTo>
                  <a:lnTo>
                    <a:pt x="400824" y="138361"/>
                  </a:lnTo>
                  <a:lnTo>
                    <a:pt x="381067" y="96625"/>
                  </a:lnTo>
                  <a:lnTo>
                    <a:pt x="351430" y="59272"/>
                  </a:lnTo>
                  <a:lnTo>
                    <a:pt x="314078" y="29636"/>
                  </a:lnTo>
                  <a:lnTo>
                    <a:pt x="272341" y="9878"/>
                  </a:lnTo>
                  <a:lnTo>
                    <a:pt x="227974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5645679" y="703534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5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5810370" y="7026628"/>
            <a:ext cx="1384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380490" y="7030579"/>
            <a:ext cx="420370" cy="420370"/>
            <a:chOff x="1380490" y="7030579"/>
            <a:chExt cx="420370" cy="420370"/>
          </a:xfrm>
        </p:grpSpPr>
        <p:sp>
          <p:nvSpPr>
            <p:cNvPr id="61" name="object 61"/>
            <p:cNvSpPr/>
            <p:nvPr/>
          </p:nvSpPr>
          <p:spPr>
            <a:xfrm>
              <a:off x="1385253" y="7035342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227973" y="0"/>
                  </a:moveTo>
                  <a:lnTo>
                    <a:pt x="182729" y="0"/>
                  </a:lnTo>
                  <a:lnTo>
                    <a:pt x="138361" y="9878"/>
                  </a:lnTo>
                  <a:lnTo>
                    <a:pt x="96625" y="29636"/>
                  </a:lnTo>
                  <a:lnTo>
                    <a:pt x="59272" y="59272"/>
                  </a:lnTo>
                  <a:lnTo>
                    <a:pt x="29636" y="96625"/>
                  </a:lnTo>
                  <a:lnTo>
                    <a:pt x="9878" y="138361"/>
                  </a:lnTo>
                  <a:lnTo>
                    <a:pt x="0" y="182729"/>
                  </a:lnTo>
                  <a:lnTo>
                    <a:pt x="0" y="227973"/>
                  </a:lnTo>
                  <a:lnTo>
                    <a:pt x="9878" y="272340"/>
                  </a:lnTo>
                  <a:lnTo>
                    <a:pt x="29636" y="314077"/>
                  </a:lnTo>
                  <a:lnTo>
                    <a:pt x="59272" y="351429"/>
                  </a:lnTo>
                  <a:lnTo>
                    <a:pt x="96625" y="381066"/>
                  </a:lnTo>
                  <a:lnTo>
                    <a:pt x="138361" y="400824"/>
                  </a:lnTo>
                  <a:lnTo>
                    <a:pt x="182729" y="410703"/>
                  </a:lnTo>
                  <a:lnTo>
                    <a:pt x="227973" y="410703"/>
                  </a:lnTo>
                  <a:lnTo>
                    <a:pt x="272340" y="400824"/>
                  </a:lnTo>
                  <a:lnTo>
                    <a:pt x="314077" y="381066"/>
                  </a:lnTo>
                  <a:lnTo>
                    <a:pt x="351429" y="351429"/>
                  </a:lnTo>
                  <a:lnTo>
                    <a:pt x="381066" y="314077"/>
                  </a:lnTo>
                  <a:lnTo>
                    <a:pt x="400823" y="272340"/>
                  </a:lnTo>
                  <a:lnTo>
                    <a:pt x="410702" y="227973"/>
                  </a:lnTo>
                  <a:lnTo>
                    <a:pt x="410702" y="182729"/>
                  </a:lnTo>
                  <a:lnTo>
                    <a:pt x="400823" y="138361"/>
                  </a:lnTo>
                  <a:lnTo>
                    <a:pt x="381066" y="96625"/>
                  </a:lnTo>
                  <a:lnTo>
                    <a:pt x="351429" y="59272"/>
                  </a:lnTo>
                  <a:lnTo>
                    <a:pt x="314077" y="29636"/>
                  </a:lnTo>
                  <a:lnTo>
                    <a:pt x="272340" y="9878"/>
                  </a:lnTo>
                  <a:lnTo>
                    <a:pt x="227973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385252" y="7035341"/>
              <a:ext cx="410845" cy="410845"/>
            </a:xfrm>
            <a:custGeom>
              <a:avLst/>
              <a:gdLst/>
              <a:ahLst/>
              <a:cxnLst/>
              <a:rect l="l" t="t" r="r" b="b"/>
              <a:pathLst>
                <a:path w="410844" h="410845">
                  <a:moveTo>
                    <a:pt x="351430" y="59272"/>
                  </a:moveTo>
                  <a:lnTo>
                    <a:pt x="381067" y="96625"/>
                  </a:lnTo>
                  <a:lnTo>
                    <a:pt x="400824" y="138362"/>
                  </a:lnTo>
                  <a:lnTo>
                    <a:pt x="410703" y="182729"/>
                  </a:lnTo>
                  <a:lnTo>
                    <a:pt x="410703" y="227973"/>
                  </a:lnTo>
                  <a:lnTo>
                    <a:pt x="400824" y="272341"/>
                  </a:lnTo>
                  <a:lnTo>
                    <a:pt x="381067" y="314078"/>
                  </a:lnTo>
                  <a:lnTo>
                    <a:pt x="351430" y="351430"/>
                  </a:lnTo>
                  <a:lnTo>
                    <a:pt x="314078" y="381067"/>
                  </a:lnTo>
                  <a:lnTo>
                    <a:pt x="272341" y="400824"/>
                  </a:lnTo>
                  <a:lnTo>
                    <a:pt x="227973" y="410703"/>
                  </a:lnTo>
                  <a:lnTo>
                    <a:pt x="182729" y="410703"/>
                  </a:lnTo>
                  <a:lnTo>
                    <a:pt x="138362" y="400824"/>
                  </a:lnTo>
                  <a:lnTo>
                    <a:pt x="96625" y="381067"/>
                  </a:lnTo>
                  <a:lnTo>
                    <a:pt x="59272" y="351430"/>
                  </a:lnTo>
                  <a:lnTo>
                    <a:pt x="29636" y="314078"/>
                  </a:lnTo>
                  <a:lnTo>
                    <a:pt x="9878" y="272341"/>
                  </a:lnTo>
                  <a:lnTo>
                    <a:pt x="0" y="227973"/>
                  </a:lnTo>
                  <a:lnTo>
                    <a:pt x="0" y="182729"/>
                  </a:lnTo>
                  <a:lnTo>
                    <a:pt x="9878" y="138362"/>
                  </a:lnTo>
                  <a:lnTo>
                    <a:pt x="29636" y="96625"/>
                  </a:lnTo>
                  <a:lnTo>
                    <a:pt x="59272" y="59272"/>
                  </a:lnTo>
                  <a:lnTo>
                    <a:pt x="96625" y="29636"/>
                  </a:lnTo>
                  <a:lnTo>
                    <a:pt x="138362" y="9878"/>
                  </a:lnTo>
                  <a:lnTo>
                    <a:pt x="182729" y="0"/>
                  </a:lnTo>
                  <a:lnTo>
                    <a:pt x="227973" y="0"/>
                  </a:lnTo>
                  <a:lnTo>
                    <a:pt x="272341" y="9878"/>
                  </a:lnTo>
                  <a:lnTo>
                    <a:pt x="314078" y="29636"/>
                  </a:lnTo>
                  <a:lnTo>
                    <a:pt x="351430" y="59272"/>
                  </a:lnTo>
                </a:path>
              </a:pathLst>
            </a:custGeom>
            <a:ln w="9525">
              <a:solidFill>
                <a:srgbClr val="01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1545628" y="7039328"/>
            <a:ext cx="965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spc="-50" dirty="0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9588500" y="2750098"/>
            <a:ext cx="0" cy="867410"/>
          </a:xfrm>
          <a:custGeom>
            <a:avLst/>
            <a:gdLst/>
            <a:ahLst/>
            <a:cxnLst/>
            <a:rect l="l" t="t" r="r" b="b"/>
            <a:pathLst>
              <a:path h="867410">
                <a:moveTo>
                  <a:pt x="0" y="867121"/>
                </a:moveTo>
                <a:lnTo>
                  <a:pt x="0" y="0"/>
                </a:lnTo>
              </a:path>
            </a:pathLst>
          </a:custGeom>
          <a:ln w="25400">
            <a:solidFill>
              <a:srgbClr val="8D31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9741671" y="2863282"/>
            <a:ext cx="2991485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1970" marR="5080" indent="-509905">
              <a:lnSpc>
                <a:spcPct val="1063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“no”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instances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of</a:t>
            </a:r>
            <a:r>
              <a:rPr sz="1600" spc="-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V</a:t>
            </a:r>
            <a:r>
              <a:rPr sz="125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ERTEX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-C</a:t>
            </a:r>
            <a:r>
              <a:rPr sz="125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OVER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are</a:t>
            </a:r>
            <a:r>
              <a:rPr sz="1600" spc="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solved</a:t>
            </a:r>
            <a:r>
              <a:rPr sz="1600" spc="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correctly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681466" y="8688220"/>
            <a:ext cx="2260600" cy="5619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600" b="1" dirty="0">
                <a:latin typeface="Tahoma"/>
                <a:cs typeface="Tahoma"/>
              </a:rPr>
              <a:t>vertex</a:t>
            </a:r>
            <a:r>
              <a:rPr sz="1600" b="1" spc="5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cover</a:t>
            </a:r>
            <a:r>
              <a:rPr sz="1600" b="1" spc="60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instance</a:t>
            </a:r>
            <a:endParaRPr sz="16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600" b="1" dirty="0">
                <a:latin typeface="Tahoma"/>
                <a:cs typeface="Tahoma"/>
              </a:rPr>
              <a:t>(k</a:t>
            </a:r>
            <a:r>
              <a:rPr sz="1600" b="1" spc="-2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-15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2)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570118" y="8688784"/>
            <a:ext cx="1922780" cy="56197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1600" b="1" dirty="0">
                <a:latin typeface="Tahoma"/>
                <a:cs typeface="Tahoma"/>
              </a:rPr>
              <a:t>set</a:t>
            </a:r>
            <a:r>
              <a:rPr sz="1600" b="1" spc="8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cover</a:t>
            </a:r>
            <a:r>
              <a:rPr sz="1600" b="1" spc="85" dirty="0">
                <a:latin typeface="Tahoma"/>
                <a:cs typeface="Tahoma"/>
              </a:rPr>
              <a:t> </a:t>
            </a:r>
            <a:r>
              <a:rPr sz="1600" b="1" spc="-10" dirty="0">
                <a:latin typeface="Tahoma"/>
                <a:cs typeface="Tahoma"/>
              </a:rPr>
              <a:t>instance</a:t>
            </a:r>
            <a:endParaRPr sz="16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20"/>
              </a:spcBef>
            </a:pPr>
            <a:r>
              <a:rPr sz="1600" b="1" dirty="0">
                <a:latin typeface="Tahoma"/>
                <a:cs typeface="Tahoma"/>
              </a:rPr>
              <a:t>(k</a:t>
            </a:r>
            <a:r>
              <a:rPr sz="1600" b="1" spc="-20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=</a:t>
            </a:r>
            <a:r>
              <a:rPr sz="1600" b="1" spc="-15" dirty="0">
                <a:latin typeface="Tahoma"/>
                <a:cs typeface="Tahoma"/>
              </a:rPr>
              <a:t> </a:t>
            </a:r>
            <a:r>
              <a:rPr sz="1600" b="1" spc="-25" dirty="0">
                <a:latin typeface="Tahoma"/>
                <a:cs typeface="Tahoma"/>
              </a:rPr>
              <a:t>2)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68" name="object 6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Satisfiability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8580"/>
            <a:ext cx="10375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Literal.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44700" y="1338580"/>
            <a:ext cx="51161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Boolean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variable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negation.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0100" y="2303780"/>
            <a:ext cx="4803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56665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Clause.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disjunction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0" dirty="0">
                <a:latin typeface="Lucida Sans Unicode"/>
                <a:cs typeface="Lucida Sans Unicode"/>
              </a:rPr>
              <a:t> literals.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0100" y="3152139"/>
            <a:ext cx="7181215" cy="990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490029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Conjunctive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normal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form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(CNF).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propositional </a:t>
            </a:r>
            <a:r>
              <a:rPr sz="2400" dirty="0">
                <a:latin typeface="Lucida Sans Unicode"/>
                <a:cs typeface="Lucida Sans Unicode"/>
              </a:rPr>
              <a:t>formula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245" dirty="0">
                <a:latin typeface="Times New Roman"/>
                <a:cs typeface="Times New Roman"/>
              </a:rPr>
              <a:t>Φ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conjunction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clauses.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0100" y="4599939"/>
            <a:ext cx="10747375" cy="147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100"/>
              </a:spcBef>
              <a:tabLst>
                <a:tab pos="788035" algn="l"/>
                <a:tab pos="1080135" algn="l"/>
              </a:tabLst>
            </a:pP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S</a:t>
            </a:r>
            <a:r>
              <a:rPr sz="19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AT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CNF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formula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spc="114" dirty="0">
                <a:latin typeface="Times New Roman"/>
                <a:cs typeface="Times New Roman"/>
              </a:rPr>
              <a:t>Φ</a:t>
            </a:r>
            <a:r>
              <a:rPr sz="2400" spc="114" dirty="0">
                <a:latin typeface="Lucida Sans Unicode"/>
                <a:cs typeface="Lucida Sans Unicode"/>
              </a:rPr>
              <a:t>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does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have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satisfying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truth</a:t>
            </a:r>
            <a:r>
              <a:rPr sz="2400" spc="-10" dirty="0">
                <a:latin typeface="Lucida Sans Unicode"/>
                <a:cs typeface="Lucida Sans Unicode"/>
              </a:rPr>
              <a:t> assignment? </a:t>
            </a:r>
            <a:r>
              <a:rPr sz="2400" spc="-225" dirty="0">
                <a:solidFill>
                  <a:srgbClr val="0048AA"/>
                </a:solidFill>
                <a:latin typeface="Lucida Sans Unicode"/>
                <a:cs typeface="Lucida Sans Unicode"/>
              </a:rPr>
              <a:t>3-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S</a:t>
            </a:r>
            <a:r>
              <a:rPr sz="19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AT</a:t>
            </a:r>
            <a:r>
              <a:rPr sz="2400" spc="-20" dirty="0">
                <a:solidFill>
                  <a:srgbClr val="0048AA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SAT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where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clause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contains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exactly</a:t>
            </a:r>
            <a:r>
              <a:rPr sz="2400" spc="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3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literals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400" dirty="0">
                <a:latin typeface="Lucida Sans Unicode"/>
                <a:cs typeface="Lucida Sans Unicode"/>
              </a:rPr>
              <a:t>(and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each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literal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corresponds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different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variable).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0100" y="8577580"/>
            <a:ext cx="7888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7238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Key</a:t>
            </a:r>
            <a:r>
              <a:rPr sz="2400" spc="7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application.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Electronic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design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automation</a:t>
            </a:r>
            <a:r>
              <a:rPr sz="2400" spc="-7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(EDA).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373220" y="2353000"/>
            <a:ext cx="280035" cy="0"/>
          </a:xfrm>
          <a:custGeom>
            <a:avLst/>
            <a:gdLst/>
            <a:ahLst/>
            <a:cxnLst/>
            <a:rect l="l" t="t" r="r" b="b"/>
            <a:pathLst>
              <a:path w="280034">
                <a:moveTo>
                  <a:pt x="0" y="0"/>
                </a:moveTo>
                <a:lnTo>
                  <a:pt x="279475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819115" y="2290008"/>
            <a:ext cx="2676525" cy="4210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553085" algn="l"/>
                <a:tab pos="1210945" algn="l"/>
                <a:tab pos="1562735" algn="l"/>
                <a:tab pos="1986280" algn="l"/>
                <a:tab pos="2338070" algn="l"/>
              </a:tabLst>
            </a:pPr>
            <a:r>
              <a:rPr sz="2600" i="1" spc="85" dirty="0">
                <a:latin typeface="Times New Roman"/>
                <a:cs typeface="Times New Roman"/>
              </a:rPr>
              <a:t>C</a:t>
            </a:r>
            <a:r>
              <a:rPr sz="2550" i="1" spc="127" baseline="-21241" dirty="0">
                <a:latin typeface="Times New Roman"/>
                <a:cs typeface="Times New Roman"/>
              </a:rPr>
              <a:t>j</a:t>
            </a:r>
            <a:r>
              <a:rPr sz="2550" i="1" baseline="-21241" dirty="0">
                <a:latin typeface="Times New Roman"/>
                <a:cs typeface="Times New Roman"/>
              </a:rPr>
              <a:t>	</a:t>
            </a:r>
            <a:r>
              <a:rPr sz="2600" dirty="0">
                <a:latin typeface="Symbol"/>
                <a:cs typeface="Symbol"/>
              </a:rPr>
              <a:t></a:t>
            </a:r>
            <a:r>
              <a:rPr sz="2600" spc="45" dirty="0">
                <a:latin typeface="Times New Roman"/>
                <a:cs typeface="Times New Roman"/>
              </a:rPr>
              <a:t> </a:t>
            </a:r>
            <a:r>
              <a:rPr sz="2600" i="1" spc="-25" dirty="0">
                <a:latin typeface="Times New Roman"/>
                <a:cs typeface="Times New Roman"/>
              </a:rPr>
              <a:t>x</a:t>
            </a:r>
            <a:r>
              <a:rPr sz="2550" spc="-37" baseline="-21241" dirty="0">
                <a:latin typeface="Times New Roman"/>
                <a:cs typeface="Times New Roman"/>
              </a:rPr>
              <a:t>1</a:t>
            </a:r>
            <a:r>
              <a:rPr sz="2550" baseline="-21241" dirty="0"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Symbol"/>
                <a:cs typeface="Symbol"/>
              </a:rPr>
              <a:t>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i="1" spc="-25" dirty="0">
                <a:latin typeface="Times New Roman"/>
                <a:cs typeface="Times New Roman"/>
              </a:rPr>
              <a:t>x</a:t>
            </a:r>
            <a:r>
              <a:rPr sz="2550" spc="-37" baseline="-21241" dirty="0">
                <a:latin typeface="Times New Roman"/>
                <a:cs typeface="Times New Roman"/>
              </a:rPr>
              <a:t>2</a:t>
            </a:r>
            <a:r>
              <a:rPr sz="2550" baseline="-21241" dirty="0">
                <a:latin typeface="Times New Roman"/>
                <a:cs typeface="Times New Roman"/>
              </a:rPr>
              <a:t>	</a:t>
            </a:r>
            <a:r>
              <a:rPr sz="2600" spc="-50" dirty="0">
                <a:latin typeface="Symbol"/>
                <a:cs typeface="Symbol"/>
              </a:rPr>
              <a:t>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i="1" spc="-25" dirty="0">
                <a:latin typeface="Times New Roman"/>
                <a:cs typeface="Times New Roman"/>
              </a:rPr>
              <a:t>x</a:t>
            </a:r>
            <a:r>
              <a:rPr sz="2550" spc="-37" baseline="-21241" dirty="0">
                <a:latin typeface="Times New Roman"/>
                <a:cs typeface="Times New Roman"/>
              </a:rPr>
              <a:t>3</a:t>
            </a:r>
            <a:endParaRPr sz="2550" baseline="-21241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98929" y="1314775"/>
            <a:ext cx="1173480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448309" algn="l"/>
                <a:tab pos="916940" algn="l"/>
              </a:tabLst>
            </a:pPr>
            <a:r>
              <a:rPr sz="2550" i="1" spc="-25" dirty="0">
                <a:latin typeface="Times New Roman"/>
                <a:cs typeface="Times New Roman"/>
              </a:rPr>
              <a:t>x</a:t>
            </a:r>
            <a:r>
              <a:rPr sz="2550" i="1" spc="-37" baseline="-21241" dirty="0">
                <a:latin typeface="Times New Roman"/>
                <a:cs typeface="Times New Roman"/>
              </a:rPr>
              <a:t>i</a:t>
            </a:r>
            <a:r>
              <a:rPr sz="2550" i="1" baseline="-21241" dirty="0">
                <a:latin typeface="Times New Roman"/>
                <a:cs typeface="Times New Roman"/>
              </a:rPr>
              <a:t>	</a:t>
            </a:r>
            <a:r>
              <a:rPr sz="2550" spc="-25" dirty="0">
                <a:latin typeface="Times New Roman"/>
                <a:cs typeface="Times New Roman"/>
              </a:rPr>
              <a:t>or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spc="-25" dirty="0">
                <a:latin typeface="Times New Roman"/>
                <a:cs typeface="Times New Roman"/>
              </a:rPr>
              <a:t>x</a:t>
            </a:r>
            <a:r>
              <a:rPr sz="2550" i="1" spc="-37" baseline="-21241" dirty="0">
                <a:latin typeface="Times New Roman"/>
                <a:cs typeface="Times New Roman"/>
              </a:rPr>
              <a:t>i</a:t>
            </a:r>
            <a:endParaRPr sz="2550" baseline="-21241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707073" y="1377416"/>
            <a:ext cx="244475" cy="0"/>
          </a:xfrm>
          <a:custGeom>
            <a:avLst/>
            <a:gdLst/>
            <a:ahLst/>
            <a:cxnLst/>
            <a:rect l="l" t="t" r="r" b="b"/>
            <a:pathLst>
              <a:path w="244475">
                <a:moveTo>
                  <a:pt x="0" y="0"/>
                </a:moveTo>
                <a:lnTo>
                  <a:pt x="244308" y="0"/>
                </a:lnTo>
              </a:path>
            </a:pathLst>
          </a:custGeom>
          <a:ln w="908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707627" y="3355662"/>
            <a:ext cx="3235325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443230" algn="l"/>
                <a:tab pos="830580" algn="l"/>
                <a:tab pos="2162175" algn="l"/>
                <a:tab pos="2872105" algn="l"/>
              </a:tabLst>
            </a:pPr>
            <a:r>
              <a:rPr sz="2550" spc="-50" dirty="0">
                <a:latin typeface="Symbol"/>
                <a:cs typeface="Symbol"/>
              </a:rPr>
              <a:t>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50" dirty="0">
                <a:latin typeface="Symbol"/>
                <a:cs typeface="Symbol"/>
              </a:rPr>
              <a:t>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spc="-60" dirty="0">
                <a:latin typeface="Times New Roman"/>
                <a:cs typeface="Times New Roman"/>
              </a:rPr>
              <a:t>C</a:t>
            </a:r>
            <a:r>
              <a:rPr sz="2550" spc="-89" baseline="-21241" dirty="0">
                <a:latin typeface="Times New Roman"/>
                <a:cs typeface="Times New Roman"/>
              </a:rPr>
              <a:t>1</a:t>
            </a:r>
            <a:r>
              <a:rPr sz="2550" spc="-60" baseline="-21241" dirty="0">
                <a:latin typeface="Times New Roman"/>
                <a:cs typeface="Times New Roman"/>
              </a:rPr>
              <a:t> </a:t>
            </a:r>
            <a:r>
              <a:rPr sz="2550" dirty="0">
                <a:latin typeface="Symbol"/>
                <a:cs typeface="Symbol"/>
              </a:rPr>
              <a:t></a:t>
            </a:r>
            <a:r>
              <a:rPr sz="2550" spc="-265" dirty="0">
                <a:latin typeface="Times New Roman"/>
                <a:cs typeface="Times New Roman"/>
              </a:rPr>
              <a:t> </a:t>
            </a:r>
            <a:r>
              <a:rPr sz="2550" i="1" dirty="0">
                <a:latin typeface="Times New Roman"/>
                <a:cs typeface="Times New Roman"/>
              </a:rPr>
              <a:t>C</a:t>
            </a:r>
            <a:r>
              <a:rPr sz="2550" baseline="-21241" dirty="0">
                <a:latin typeface="Times New Roman"/>
                <a:cs typeface="Times New Roman"/>
              </a:rPr>
              <a:t>2</a:t>
            </a:r>
            <a:r>
              <a:rPr sz="2550" spc="195" baseline="-21241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Symbol"/>
                <a:cs typeface="Symbol"/>
              </a:rPr>
              <a:t>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dirty="0">
                <a:latin typeface="Times New Roman"/>
                <a:cs typeface="Times New Roman"/>
              </a:rPr>
              <a:t>C</a:t>
            </a:r>
            <a:r>
              <a:rPr sz="2550" baseline="-21241" dirty="0">
                <a:latin typeface="Times New Roman"/>
                <a:cs typeface="Times New Roman"/>
              </a:rPr>
              <a:t>3</a:t>
            </a:r>
            <a:r>
              <a:rPr sz="2550" spc="-30" baseline="-21241" dirty="0">
                <a:latin typeface="Times New Roman"/>
                <a:cs typeface="Times New Roman"/>
              </a:rPr>
              <a:t> </a:t>
            </a:r>
            <a:r>
              <a:rPr sz="2550" spc="-50" dirty="0">
                <a:latin typeface="Symbol"/>
                <a:cs typeface="Symbol"/>
              </a:rPr>
              <a:t>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i="1" spc="-25" dirty="0">
                <a:latin typeface="Times New Roman"/>
                <a:cs typeface="Times New Roman"/>
              </a:rPr>
              <a:t>C</a:t>
            </a:r>
            <a:r>
              <a:rPr sz="2550" spc="-37" baseline="-21241" dirty="0">
                <a:latin typeface="Times New Roman"/>
                <a:cs typeface="Times New Roman"/>
              </a:rPr>
              <a:t>4</a:t>
            </a:r>
            <a:endParaRPr sz="2550" baseline="-21241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75304" y="7640649"/>
            <a:ext cx="6504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703070" algn="l"/>
              </a:tabLst>
            </a:pPr>
            <a:r>
              <a:rPr sz="1800" b="1" dirty="0">
                <a:latin typeface="Tahoma"/>
                <a:cs typeface="Tahoma"/>
              </a:rPr>
              <a:t>yes</a:t>
            </a:r>
            <a:r>
              <a:rPr sz="1800" b="1" spc="13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instance:</a:t>
            </a:r>
            <a:r>
              <a:rPr sz="1800" b="1" dirty="0">
                <a:latin typeface="Tahoma"/>
                <a:cs typeface="Tahoma"/>
              </a:rPr>
              <a:t>	x</a:t>
            </a:r>
            <a:r>
              <a:rPr sz="1800" b="1" baseline="-20833" dirty="0">
                <a:latin typeface="Tahoma"/>
                <a:cs typeface="Tahoma"/>
              </a:rPr>
              <a:t>1</a:t>
            </a:r>
            <a:r>
              <a:rPr sz="1800" b="1" spc="300" baseline="-20833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2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true,</a:t>
            </a:r>
            <a:r>
              <a:rPr sz="1800" b="1" spc="2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x</a:t>
            </a:r>
            <a:r>
              <a:rPr sz="1800" b="1" baseline="-20833" dirty="0">
                <a:latin typeface="Tahoma"/>
                <a:cs typeface="Tahoma"/>
              </a:rPr>
              <a:t>2</a:t>
            </a:r>
            <a:r>
              <a:rPr sz="1800" b="1" spc="300" baseline="-20833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2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true,</a:t>
            </a:r>
            <a:r>
              <a:rPr sz="1800" b="1" spc="2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x</a:t>
            </a:r>
            <a:r>
              <a:rPr sz="1800" b="1" baseline="-20833" dirty="0">
                <a:latin typeface="Tahoma"/>
                <a:cs typeface="Tahoma"/>
              </a:rPr>
              <a:t>3</a:t>
            </a:r>
            <a:r>
              <a:rPr sz="1800" b="1" spc="300" baseline="-20833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2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false,</a:t>
            </a:r>
            <a:r>
              <a:rPr sz="1800" b="1" spc="2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x</a:t>
            </a:r>
            <a:r>
              <a:rPr sz="1800" b="1" baseline="-20833" dirty="0">
                <a:latin typeface="Tahoma"/>
                <a:cs typeface="Tahoma"/>
              </a:rPr>
              <a:t>4</a:t>
            </a:r>
            <a:r>
              <a:rPr sz="1800" b="1" spc="307" baseline="-20833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=</a:t>
            </a:r>
            <a:r>
              <a:rPr sz="1800" b="1" spc="25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false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01617" y="6876532"/>
            <a:ext cx="220979" cy="0"/>
          </a:xfrm>
          <a:custGeom>
            <a:avLst/>
            <a:gdLst/>
            <a:ahLst/>
            <a:cxnLst/>
            <a:rect l="l" t="t" r="r" b="b"/>
            <a:pathLst>
              <a:path w="220979">
                <a:moveTo>
                  <a:pt x="0" y="0"/>
                </a:moveTo>
                <a:lnTo>
                  <a:pt x="220435" y="0"/>
                </a:lnTo>
              </a:path>
            </a:pathLst>
          </a:custGeom>
          <a:ln w="81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20363" y="6876532"/>
            <a:ext cx="253365" cy="0"/>
          </a:xfrm>
          <a:custGeom>
            <a:avLst/>
            <a:gdLst/>
            <a:ahLst/>
            <a:cxnLst/>
            <a:rect l="l" t="t" r="r" b="b"/>
            <a:pathLst>
              <a:path w="253365">
                <a:moveTo>
                  <a:pt x="0" y="0"/>
                </a:moveTo>
                <a:lnTo>
                  <a:pt x="253092" y="0"/>
                </a:lnTo>
              </a:path>
            </a:pathLst>
          </a:custGeom>
          <a:ln w="81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8081807" y="6876532"/>
            <a:ext cx="220979" cy="0"/>
          </a:xfrm>
          <a:custGeom>
            <a:avLst/>
            <a:gdLst/>
            <a:ahLst/>
            <a:cxnLst/>
            <a:rect l="l" t="t" r="r" b="b"/>
            <a:pathLst>
              <a:path w="220979">
                <a:moveTo>
                  <a:pt x="0" y="0"/>
                </a:moveTo>
                <a:lnTo>
                  <a:pt x="220435" y="0"/>
                </a:lnTo>
              </a:path>
            </a:pathLst>
          </a:custGeom>
          <a:ln w="816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057400" y="6565900"/>
            <a:ext cx="8077200" cy="901700"/>
          </a:xfrm>
          <a:prstGeom prst="rect">
            <a:avLst/>
          </a:prstGeom>
          <a:ln w="19050">
            <a:solidFill>
              <a:srgbClr val="000000"/>
            </a:solidFill>
          </a:ln>
        </p:spPr>
        <p:txBody>
          <a:bodyPr vert="horz" wrap="square" lIns="0" tIns="114935" rIns="0" bIns="0" rtlCol="0">
            <a:spAutoFit/>
          </a:bodyPr>
          <a:lstStyle/>
          <a:p>
            <a:pPr marL="323215">
              <a:lnSpc>
                <a:spcPct val="100000"/>
              </a:lnSpc>
              <a:spcBef>
                <a:spcPts val="905"/>
              </a:spcBef>
              <a:tabLst>
                <a:tab pos="731520" algn="l"/>
                <a:tab pos="1047750" algn="l"/>
                <a:tab pos="1603375" algn="l"/>
                <a:tab pos="1921510" algn="l"/>
                <a:tab pos="2305050" algn="l"/>
                <a:tab pos="2623820" algn="l"/>
                <a:tab pos="3952240" algn="l"/>
                <a:tab pos="4271010" algn="l"/>
                <a:tab pos="4654550" algn="l"/>
                <a:tab pos="4972685" algn="l"/>
                <a:tab pos="5534025" algn="l"/>
                <a:tab pos="6383020" algn="l"/>
                <a:tab pos="6701790" algn="l"/>
                <a:tab pos="7085330" algn="l"/>
                <a:tab pos="7404100" algn="l"/>
              </a:tabLst>
            </a:pPr>
            <a:r>
              <a:rPr sz="2300" spc="-50" dirty="0">
                <a:latin typeface="Symbol"/>
                <a:cs typeface="Symbol"/>
              </a:rPr>
              <a:t>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50" dirty="0">
                <a:latin typeface="Symbol"/>
                <a:cs typeface="Symbol"/>
              </a:rPr>
              <a:t>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5250" spc="-600" baseline="-6349" dirty="0">
                <a:latin typeface="Symbol"/>
                <a:cs typeface="Symbol"/>
              </a:rPr>
              <a:t></a:t>
            </a:r>
            <a:r>
              <a:rPr sz="5250" spc="-60" baseline="-6349" dirty="0">
                <a:latin typeface="Times New Roman"/>
                <a:cs typeface="Times New Roman"/>
              </a:rPr>
              <a:t> </a:t>
            </a:r>
            <a:r>
              <a:rPr sz="2300" i="1" spc="-25" dirty="0">
                <a:latin typeface="Times New Roman"/>
                <a:cs typeface="Times New Roman"/>
              </a:rPr>
              <a:t>x</a:t>
            </a:r>
            <a:r>
              <a:rPr sz="2325" spc="-37" baseline="-21505" dirty="0">
                <a:latin typeface="Times New Roman"/>
                <a:cs typeface="Times New Roman"/>
              </a:rPr>
              <a:t>1</a:t>
            </a:r>
            <a:r>
              <a:rPr sz="2325" baseline="-21505" dirty="0">
                <a:latin typeface="Times New Roman"/>
                <a:cs typeface="Times New Roman"/>
              </a:rPr>
              <a:t>	</a:t>
            </a:r>
            <a:r>
              <a:rPr sz="2300" spc="-50" dirty="0">
                <a:latin typeface="Symbol"/>
                <a:cs typeface="Symbol"/>
              </a:rPr>
              <a:t>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i="1" spc="-25" dirty="0">
                <a:latin typeface="Times New Roman"/>
                <a:cs typeface="Times New Roman"/>
              </a:rPr>
              <a:t>x</a:t>
            </a:r>
            <a:r>
              <a:rPr sz="2325" spc="-37" baseline="-21505" dirty="0">
                <a:latin typeface="Times New Roman"/>
                <a:cs typeface="Times New Roman"/>
              </a:rPr>
              <a:t>2</a:t>
            </a:r>
            <a:r>
              <a:rPr sz="2325" baseline="-21505" dirty="0">
                <a:latin typeface="Times New Roman"/>
                <a:cs typeface="Times New Roman"/>
              </a:rPr>
              <a:t>	</a:t>
            </a:r>
            <a:r>
              <a:rPr sz="2300" spc="-50" dirty="0">
                <a:latin typeface="Symbol"/>
                <a:cs typeface="Symbol"/>
              </a:rPr>
              <a:t>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i="1" dirty="0">
                <a:latin typeface="Times New Roman"/>
                <a:cs typeface="Times New Roman"/>
              </a:rPr>
              <a:t>x</a:t>
            </a:r>
            <a:r>
              <a:rPr sz="2325" baseline="-21505" dirty="0">
                <a:latin typeface="Times New Roman"/>
                <a:cs typeface="Times New Roman"/>
              </a:rPr>
              <a:t>3</a:t>
            </a:r>
            <a:r>
              <a:rPr sz="5250" baseline="-6349" dirty="0">
                <a:latin typeface="Symbol"/>
                <a:cs typeface="Symbol"/>
              </a:rPr>
              <a:t></a:t>
            </a:r>
            <a:r>
              <a:rPr sz="5250" baseline="-6349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Symbol"/>
                <a:cs typeface="Symbol"/>
              </a:rPr>
              <a:t></a:t>
            </a:r>
            <a:r>
              <a:rPr sz="2300" spc="265" dirty="0">
                <a:latin typeface="Times New Roman"/>
                <a:cs typeface="Times New Roman"/>
              </a:rPr>
              <a:t> </a:t>
            </a:r>
            <a:r>
              <a:rPr sz="5250" spc="-600" baseline="-6349" dirty="0">
                <a:latin typeface="Symbol"/>
                <a:cs typeface="Symbol"/>
              </a:rPr>
              <a:t></a:t>
            </a:r>
            <a:r>
              <a:rPr sz="5250" spc="-60" baseline="-6349" dirty="0">
                <a:latin typeface="Times New Roman"/>
                <a:cs typeface="Times New Roman"/>
              </a:rPr>
              <a:t> </a:t>
            </a:r>
            <a:r>
              <a:rPr sz="2300" i="1" spc="-25" dirty="0">
                <a:latin typeface="Times New Roman"/>
                <a:cs typeface="Times New Roman"/>
              </a:rPr>
              <a:t>x</a:t>
            </a:r>
            <a:r>
              <a:rPr sz="2325" spc="-37" baseline="-21505" dirty="0">
                <a:latin typeface="Times New Roman"/>
                <a:cs typeface="Times New Roman"/>
              </a:rPr>
              <a:t>1</a:t>
            </a:r>
            <a:r>
              <a:rPr sz="2325" baseline="-21505" dirty="0">
                <a:latin typeface="Times New Roman"/>
                <a:cs typeface="Times New Roman"/>
              </a:rPr>
              <a:t>	</a:t>
            </a:r>
            <a:r>
              <a:rPr sz="2300" spc="-50" dirty="0">
                <a:latin typeface="Symbol"/>
                <a:cs typeface="Symbol"/>
              </a:rPr>
              <a:t>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i="1" spc="-25" dirty="0">
                <a:latin typeface="Times New Roman"/>
                <a:cs typeface="Times New Roman"/>
              </a:rPr>
              <a:t>x</a:t>
            </a:r>
            <a:r>
              <a:rPr sz="2325" spc="-37" baseline="-21505" dirty="0">
                <a:latin typeface="Times New Roman"/>
                <a:cs typeface="Times New Roman"/>
              </a:rPr>
              <a:t>2</a:t>
            </a:r>
            <a:r>
              <a:rPr sz="2325" baseline="-21505" dirty="0">
                <a:latin typeface="Times New Roman"/>
                <a:cs typeface="Times New Roman"/>
              </a:rPr>
              <a:t>	</a:t>
            </a:r>
            <a:r>
              <a:rPr sz="2300" spc="-50" dirty="0">
                <a:latin typeface="Symbol"/>
                <a:cs typeface="Symbol"/>
              </a:rPr>
              <a:t>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i="1" spc="-25" dirty="0">
                <a:latin typeface="Times New Roman"/>
                <a:cs typeface="Times New Roman"/>
              </a:rPr>
              <a:t>x</a:t>
            </a:r>
            <a:r>
              <a:rPr sz="2325" spc="-37" baseline="-21505" dirty="0">
                <a:latin typeface="Times New Roman"/>
                <a:cs typeface="Times New Roman"/>
              </a:rPr>
              <a:t>3</a:t>
            </a:r>
            <a:r>
              <a:rPr sz="5250" spc="-37" baseline="-6349" dirty="0">
                <a:latin typeface="Symbol"/>
                <a:cs typeface="Symbol"/>
              </a:rPr>
              <a:t></a:t>
            </a:r>
            <a:r>
              <a:rPr sz="5250" baseline="-6349" dirty="0">
                <a:latin typeface="Times New Roman"/>
                <a:cs typeface="Times New Roman"/>
              </a:rPr>
              <a:t>	</a:t>
            </a:r>
            <a:r>
              <a:rPr sz="2300" dirty="0">
                <a:latin typeface="Symbol"/>
                <a:cs typeface="Symbol"/>
              </a:rPr>
              <a:t></a:t>
            </a:r>
            <a:r>
              <a:rPr sz="2300" spc="340" dirty="0">
                <a:latin typeface="Times New Roman"/>
                <a:cs typeface="Times New Roman"/>
              </a:rPr>
              <a:t> </a:t>
            </a:r>
            <a:r>
              <a:rPr sz="5250" spc="-600" baseline="-6349" dirty="0">
                <a:latin typeface="Symbol"/>
                <a:cs typeface="Symbol"/>
              </a:rPr>
              <a:t></a:t>
            </a:r>
            <a:r>
              <a:rPr sz="5250" spc="-60" baseline="-6349" dirty="0">
                <a:latin typeface="Times New Roman"/>
                <a:cs typeface="Times New Roman"/>
              </a:rPr>
              <a:t> </a:t>
            </a:r>
            <a:r>
              <a:rPr sz="2300" i="1" spc="-25" dirty="0">
                <a:latin typeface="Times New Roman"/>
                <a:cs typeface="Times New Roman"/>
              </a:rPr>
              <a:t>x</a:t>
            </a:r>
            <a:r>
              <a:rPr sz="2325" spc="-37" baseline="-21505" dirty="0">
                <a:latin typeface="Times New Roman"/>
                <a:cs typeface="Times New Roman"/>
              </a:rPr>
              <a:t>1</a:t>
            </a:r>
            <a:r>
              <a:rPr sz="2325" baseline="-21505" dirty="0">
                <a:latin typeface="Times New Roman"/>
                <a:cs typeface="Times New Roman"/>
              </a:rPr>
              <a:t>	</a:t>
            </a:r>
            <a:r>
              <a:rPr sz="2300" spc="-50" dirty="0">
                <a:latin typeface="Symbol"/>
                <a:cs typeface="Symbol"/>
              </a:rPr>
              <a:t>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i="1" spc="-25" dirty="0">
                <a:latin typeface="Times New Roman"/>
                <a:cs typeface="Times New Roman"/>
              </a:rPr>
              <a:t>x</a:t>
            </a:r>
            <a:r>
              <a:rPr sz="2325" spc="-37" baseline="-21505" dirty="0">
                <a:latin typeface="Times New Roman"/>
                <a:cs typeface="Times New Roman"/>
              </a:rPr>
              <a:t>2</a:t>
            </a:r>
            <a:r>
              <a:rPr sz="2325" baseline="-21505" dirty="0">
                <a:latin typeface="Times New Roman"/>
                <a:cs typeface="Times New Roman"/>
              </a:rPr>
              <a:t>	</a:t>
            </a:r>
            <a:r>
              <a:rPr sz="2300" spc="-50" dirty="0">
                <a:latin typeface="Symbol"/>
                <a:cs typeface="Symbol"/>
              </a:rPr>
              <a:t>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i="1" dirty="0">
                <a:latin typeface="Times New Roman"/>
                <a:cs typeface="Times New Roman"/>
              </a:rPr>
              <a:t>x</a:t>
            </a:r>
            <a:r>
              <a:rPr sz="2325" baseline="-21505" dirty="0">
                <a:latin typeface="Times New Roman"/>
                <a:cs typeface="Times New Roman"/>
              </a:rPr>
              <a:t>4</a:t>
            </a:r>
            <a:r>
              <a:rPr sz="2325" spc="-142" baseline="-21505" dirty="0">
                <a:latin typeface="Times New Roman"/>
                <a:cs typeface="Times New Roman"/>
              </a:rPr>
              <a:t> </a:t>
            </a:r>
            <a:r>
              <a:rPr sz="5250" spc="-675" baseline="-6349" dirty="0">
                <a:latin typeface="Symbol"/>
                <a:cs typeface="Symbol"/>
              </a:rPr>
              <a:t></a:t>
            </a:r>
            <a:endParaRPr sz="5250" baseline="-6349">
              <a:latin typeface="Symbol"/>
              <a:cs typeface="Symbo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Satisfiability</a:t>
            </a:r>
            <a:r>
              <a:rPr spc="90" dirty="0"/>
              <a:t> </a:t>
            </a:r>
            <a:r>
              <a:rPr dirty="0"/>
              <a:t>is</a:t>
            </a:r>
            <a:r>
              <a:rPr spc="95" dirty="0"/>
              <a:t> </a:t>
            </a:r>
            <a:r>
              <a:rPr spc="45" dirty="0"/>
              <a:t>hard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00100" y="1338580"/>
            <a:ext cx="11175365" cy="1356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3946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Scientific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hypothesis.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does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not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exist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spc="-70" dirty="0">
                <a:latin typeface="Lucida Sans Unicode"/>
                <a:cs typeface="Lucida Sans Unicode"/>
              </a:rPr>
              <a:t>poly-</a:t>
            </a:r>
            <a:r>
              <a:rPr sz="2400" spc="-25" dirty="0">
                <a:latin typeface="Lucida Sans Unicode"/>
                <a:cs typeface="Lucida Sans Unicode"/>
              </a:rPr>
              <a:t>time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algorithm</a:t>
            </a:r>
            <a:r>
              <a:rPr sz="2400" spc="-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60" dirty="0">
                <a:latin typeface="Lucida Sans Unicode"/>
                <a:cs typeface="Lucida Sans Unicode"/>
              </a:rPr>
              <a:t> </a:t>
            </a:r>
            <a:r>
              <a:rPr sz="2400" spc="-225" dirty="0">
                <a:latin typeface="Lucida Sans Unicode"/>
                <a:cs typeface="Lucida Sans Unicode"/>
              </a:rPr>
              <a:t>3-</a:t>
            </a:r>
            <a:r>
              <a:rPr sz="2400" spc="-20" dirty="0">
                <a:latin typeface="Lucida Sans Unicode"/>
                <a:cs typeface="Lucida Sans Unicode"/>
              </a:rPr>
              <a:t>S</a:t>
            </a:r>
            <a:r>
              <a:rPr sz="1900" spc="-20" dirty="0">
                <a:latin typeface="Lucida Sans Unicode"/>
                <a:cs typeface="Lucida Sans Unicode"/>
              </a:rPr>
              <a:t>AT</a:t>
            </a:r>
            <a:r>
              <a:rPr sz="2400" spc="-2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tabLst>
                <a:tab pos="1482725" algn="l"/>
              </a:tabLst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P</a:t>
            </a:r>
            <a:r>
              <a:rPr sz="2400" spc="5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vs.</a:t>
            </a:r>
            <a:r>
              <a:rPr sz="2400" spc="6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NP.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This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hypothesis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equivalent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b="1" spc="155" dirty="0">
                <a:latin typeface="Trebuchet MS"/>
                <a:cs typeface="Trebuchet MS"/>
              </a:rPr>
              <a:t>P</a:t>
            </a:r>
            <a:r>
              <a:rPr sz="2400" b="1" spc="9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ahoma"/>
                <a:cs typeface="Tahoma"/>
              </a:rPr>
              <a:t>≠</a:t>
            </a:r>
            <a:r>
              <a:rPr sz="2400" b="1" spc="105" dirty="0">
                <a:latin typeface="Tahoma"/>
                <a:cs typeface="Tahoma"/>
              </a:rPr>
              <a:t> </a:t>
            </a:r>
            <a:r>
              <a:rPr sz="2400" b="1" spc="210" dirty="0">
                <a:latin typeface="Trebuchet MS"/>
                <a:cs typeface="Trebuchet MS"/>
              </a:rPr>
              <a:t>NP</a:t>
            </a:r>
            <a:r>
              <a:rPr sz="2400" b="1" spc="2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conjecture.</a:t>
            </a:r>
            <a:endParaRPr sz="2400">
              <a:latin typeface="Lucida Sans Unicode"/>
              <a:cs typeface="Lucida Sans Unicode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9462" y="3594100"/>
            <a:ext cx="8125874" cy="429893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922564" y="8167687"/>
            <a:ext cx="51574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10" dirty="0">
                <a:solidFill>
                  <a:srgbClr val="AAAAAA"/>
                </a:solidFill>
                <a:latin typeface="Tahoma"/>
                <a:cs typeface="Tahoma"/>
              </a:rPr>
              <a:t>https://</a:t>
            </a:r>
            <a:r>
              <a:rPr sz="1600" b="1" spc="-10" dirty="0">
                <a:solidFill>
                  <a:srgbClr val="AAAAAA"/>
                </a:solidFill>
                <a:latin typeface="Tahoma"/>
                <a:cs typeface="Tahoma"/>
                <a:hlinkClick r:id="rId3"/>
              </a:rPr>
              <a:t>www.facebook.com/pg/npcompleteteens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0100" y="347980"/>
            <a:ext cx="11582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Review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774700" y="1338580"/>
            <a:ext cx="8975725" cy="18757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615"/>
              </a:lnSpc>
              <a:spcBef>
                <a:spcPts val="100"/>
              </a:spcBef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Basic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reduction</a:t>
            </a:r>
            <a:r>
              <a:rPr sz="2400" spc="-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strategies.</a:t>
            </a:r>
            <a:endParaRPr sz="2400">
              <a:latin typeface="Lucida Sans Unicode"/>
              <a:cs typeface="Lucida Sans Unicode"/>
            </a:endParaRPr>
          </a:p>
          <a:p>
            <a:pPr marL="165100">
              <a:lnSpc>
                <a:spcPts val="3945"/>
              </a:lnSpc>
              <a:tabLst>
                <a:tab pos="3780790" algn="l"/>
              </a:tabLst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Simple</a:t>
            </a:r>
            <a:r>
              <a:rPr sz="2400" spc="-8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equivalence: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25" dirty="0">
                <a:latin typeface="Lucida Sans Unicode"/>
                <a:cs typeface="Lucida Sans Unicode"/>
              </a:rPr>
              <a:t>I</a:t>
            </a:r>
            <a:r>
              <a:rPr sz="1900" spc="-25" dirty="0">
                <a:latin typeface="Lucida Sans Unicode"/>
                <a:cs typeface="Lucida Sans Unicode"/>
              </a:rPr>
              <a:t>NDEPENDENT</a:t>
            </a:r>
            <a:r>
              <a:rPr sz="2400" spc="-25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S</a:t>
            </a:r>
            <a:r>
              <a:rPr sz="1900" spc="-10" dirty="0">
                <a:latin typeface="Lucida Sans Unicode"/>
                <a:cs typeface="Lucida Sans Unicode"/>
              </a:rPr>
              <a:t>ET</a:t>
            </a:r>
            <a:r>
              <a:rPr sz="1900" spc="1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Symbol"/>
                <a:cs typeface="Symbol"/>
              </a:rPr>
              <a:t>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480" baseline="-19097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Lucida Sans Unicode"/>
                <a:cs typeface="Lucida Sans Unicode"/>
              </a:rPr>
              <a:t>V</a:t>
            </a:r>
            <a:r>
              <a:rPr sz="1900" spc="-40" dirty="0">
                <a:latin typeface="Lucida Sans Unicode"/>
                <a:cs typeface="Lucida Sans Unicode"/>
              </a:rPr>
              <a:t>ERTEX</a:t>
            </a:r>
            <a:r>
              <a:rPr sz="2400" spc="-40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2200" spc="-10" dirty="0">
                <a:latin typeface="Lucida Sans Unicode"/>
                <a:cs typeface="Lucida Sans Unicode"/>
              </a:rPr>
              <a:t>.</a:t>
            </a:r>
            <a:endParaRPr sz="2200">
              <a:latin typeface="Lucida Sans Unicode"/>
              <a:cs typeface="Lucida Sans Unicode"/>
            </a:endParaRPr>
          </a:p>
          <a:p>
            <a:pPr marL="165100">
              <a:lnSpc>
                <a:spcPts val="3800"/>
              </a:lnSpc>
              <a:tabLst>
                <a:tab pos="5058410" algn="l"/>
              </a:tabLst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Special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case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general</a:t>
            </a:r>
            <a:r>
              <a:rPr sz="2400" spc="-3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case: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40" dirty="0">
                <a:latin typeface="Lucida Sans Unicode"/>
                <a:cs typeface="Lucida Sans Unicode"/>
              </a:rPr>
              <a:t>V</a:t>
            </a:r>
            <a:r>
              <a:rPr sz="1900" spc="-40" dirty="0">
                <a:latin typeface="Lucida Sans Unicode"/>
                <a:cs typeface="Lucida Sans Unicode"/>
              </a:rPr>
              <a:t>ERTEX</a:t>
            </a:r>
            <a:r>
              <a:rPr sz="2400" spc="-40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1900" spc="5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427" baseline="-19097" dirty="0">
                <a:latin typeface="Times New Roman"/>
                <a:cs typeface="Times New Roman"/>
              </a:rPr>
              <a:t> </a:t>
            </a:r>
            <a:r>
              <a:rPr sz="2400" spc="-70" dirty="0">
                <a:latin typeface="Lucida Sans Unicode"/>
                <a:cs typeface="Lucida Sans Unicode"/>
              </a:rPr>
              <a:t>S</a:t>
            </a:r>
            <a:r>
              <a:rPr sz="1900" spc="-70" dirty="0">
                <a:latin typeface="Lucida Sans Unicode"/>
                <a:cs typeface="Lucida Sans Unicode"/>
              </a:rPr>
              <a:t>ET</a:t>
            </a:r>
            <a:r>
              <a:rPr sz="2400" spc="-70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2200" spc="-10" dirty="0">
                <a:latin typeface="Lucida Sans Unicode"/>
                <a:cs typeface="Lucida Sans Unicode"/>
              </a:rPr>
              <a:t>.</a:t>
            </a:r>
            <a:endParaRPr sz="2200">
              <a:latin typeface="Lucida Sans Unicode"/>
              <a:cs typeface="Lucida Sans Unicode"/>
            </a:endParaRPr>
          </a:p>
          <a:p>
            <a:pPr marL="165100">
              <a:lnSpc>
                <a:spcPts val="4210"/>
              </a:lnSpc>
              <a:tabLst>
                <a:tab pos="4318635" algn="l"/>
              </a:tabLst>
            </a:pPr>
            <a:r>
              <a:rPr sz="5775" spc="-67" baseline="-7215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Encoding</a:t>
            </a:r>
            <a:r>
              <a:rPr sz="2400" spc="7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with</a:t>
            </a:r>
            <a:r>
              <a:rPr sz="2400" spc="7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gadgets: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225" dirty="0">
                <a:latin typeface="Lucida Sans Unicode"/>
                <a:cs typeface="Lucida Sans Unicode"/>
              </a:rPr>
              <a:t>3-</a:t>
            </a:r>
            <a:r>
              <a:rPr sz="2400" dirty="0">
                <a:latin typeface="Lucida Sans Unicode"/>
                <a:cs typeface="Lucida Sans Unicode"/>
              </a:rPr>
              <a:t>S</a:t>
            </a:r>
            <a:r>
              <a:rPr sz="1900" dirty="0">
                <a:latin typeface="Lucida Sans Unicode"/>
                <a:cs typeface="Lucida Sans Unicode"/>
              </a:rPr>
              <a:t>AT</a:t>
            </a:r>
            <a:r>
              <a:rPr sz="1900" spc="1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502" baseline="-19097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Lucida Sans Unicode"/>
                <a:cs typeface="Lucida Sans Unicode"/>
              </a:rPr>
              <a:t>I</a:t>
            </a:r>
            <a:r>
              <a:rPr sz="1900" spc="-25" dirty="0">
                <a:latin typeface="Lucida Sans Unicode"/>
                <a:cs typeface="Lucida Sans Unicode"/>
              </a:rPr>
              <a:t>NDEPENDENT</a:t>
            </a:r>
            <a:r>
              <a:rPr sz="2400" spc="-25" dirty="0">
                <a:latin typeface="Lucida Sans Unicode"/>
                <a:cs typeface="Lucida Sans Unicode"/>
              </a:rPr>
              <a:t>-</a:t>
            </a:r>
            <a:r>
              <a:rPr sz="2400" spc="-20" dirty="0">
                <a:latin typeface="Lucida Sans Unicode"/>
                <a:cs typeface="Lucida Sans Unicode"/>
              </a:rPr>
              <a:t>S</a:t>
            </a:r>
            <a:r>
              <a:rPr sz="1900" spc="-20" dirty="0">
                <a:latin typeface="Lucida Sans Unicode"/>
                <a:cs typeface="Lucida Sans Unicode"/>
              </a:rPr>
              <a:t>ET</a:t>
            </a:r>
            <a:r>
              <a:rPr sz="2200" spc="-20" dirty="0">
                <a:latin typeface="Lucida Sans Unicode"/>
                <a:cs typeface="Lucida Sans Unicode"/>
              </a:rPr>
              <a:t>.</a:t>
            </a:r>
            <a:endParaRPr sz="22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000" y="4117339"/>
            <a:ext cx="9134475" cy="1955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2531110">
              <a:lnSpc>
                <a:spcPct val="131900"/>
              </a:lnSpc>
              <a:spcBef>
                <a:spcPts val="100"/>
              </a:spcBef>
              <a:tabLst>
                <a:tab pos="1334135" algn="l"/>
                <a:tab pos="2009139" algn="l"/>
              </a:tabLst>
            </a:pP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Transitivity.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3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284" baseline="-1909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and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Y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292" baseline="-19097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Z</a:t>
            </a:r>
            <a:r>
              <a:rPr sz="2400" dirty="0">
                <a:latin typeface="Lucida Sans Unicode"/>
                <a:cs typeface="Lucida Sans Unicode"/>
              </a:rPr>
              <a:t>,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X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284" baseline="-19097" dirty="0">
                <a:latin typeface="Times New Roman"/>
                <a:cs typeface="Times New Roman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Z</a:t>
            </a:r>
            <a:r>
              <a:rPr sz="2400" spc="-25" dirty="0">
                <a:latin typeface="Lucida Sans Unicode"/>
                <a:cs typeface="Lucida Sans Unicode"/>
              </a:rPr>
              <a:t>. 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Pf</a:t>
            </a:r>
            <a:r>
              <a:rPr sz="2400" spc="-30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48AA"/>
                </a:solidFill>
                <a:latin typeface="Lucida Sans Unicode"/>
                <a:cs typeface="Lucida Sans Unicode"/>
              </a:rPr>
              <a:t>idea.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Compose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two</a:t>
            </a:r>
            <a:r>
              <a:rPr sz="2400" spc="-10" dirty="0">
                <a:latin typeface="Lucida Sans Unicode"/>
                <a:cs typeface="Lucida Sans Unicode"/>
              </a:rPr>
              <a:t> algorithms.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tabLst>
                <a:tab pos="691515" algn="l"/>
                <a:tab pos="1663064" algn="l"/>
                <a:tab pos="2154555" algn="l"/>
                <a:tab pos="4561840" algn="l"/>
                <a:tab pos="5039995" algn="l"/>
                <a:tab pos="7087234" algn="l"/>
                <a:tab pos="7565390" algn="l"/>
              </a:tabLst>
            </a:pPr>
            <a:r>
              <a:rPr sz="2400" spc="-25" dirty="0">
                <a:solidFill>
                  <a:srgbClr val="0048AA"/>
                </a:solidFill>
                <a:latin typeface="Lucida Sans Unicode"/>
                <a:cs typeface="Lucida Sans Unicode"/>
              </a:rPr>
              <a:t>Ex.</a:t>
            </a: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	</a:t>
            </a:r>
            <a:r>
              <a:rPr sz="2400" spc="-225" dirty="0">
                <a:latin typeface="Lucida Sans Unicode"/>
                <a:cs typeface="Lucida Sans Unicode"/>
              </a:rPr>
              <a:t>3-</a:t>
            </a:r>
            <a:r>
              <a:rPr sz="2400" spc="-25" dirty="0">
                <a:latin typeface="Lucida Sans Unicode"/>
                <a:cs typeface="Lucida Sans Unicode"/>
              </a:rPr>
              <a:t>S</a:t>
            </a:r>
            <a:r>
              <a:rPr sz="1900" spc="-25" dirty="0">
                <a:latin typeface="Lucida Sans Unicode"/>
                <a:cs typeface="Lucida Sans Unicode"/>
              </a:rPr>
              <a:t>AT</a:t>
            </a:r>
            <a:r>
              <a:rPr sz="1900" dirty="0"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75" baseline="-19097" dirty="0">
                <a:latin typeface="Times New Roman"/>
                <a:cs typeface="Times New Roman"/>
              </a:rPr>
              <a:t>P</a:t>
            </a:r>
            <a:r>
              <a:rPr sz="2400" baseline="-19097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Lucida Sans Unicode"/>
                <a:cs typeface="Lucida Sans Unicode"/>
              </a:rPr>
              <a:t>I</a:t>
            </a:r>
            <a:r>
              <a:rPr sz="1900" spc="-25" dirty="0">
                <a:latin typeface="Lucida Sans Unicode"/>
                <a:cs typeface="Lucida Sans Unicode"/>
              </a:rPr>
              <a:t>NDEPENDENT</a:t>
            </a:r>
            <a:r>
              <a:rPr sz="2400" spc="-25" dirty="0">
                <a:latin typeface="Lucida Sans Unicode"/>
                <a:cs typeface="Lucida Sans Unicode"/>
              </a:rPr>
              <a:t>-S</a:t>
            </a:r>
            <a:r>
              <a:rPr sz="1900" spc="-25" dirty="0">
                <a:latin typeface="Lucida Sans Unicode"/>
                <a:cs typeface="Lucida Sans Unicode"/>
              </a:rPr>
              <a:t>ET</a:t>
            </a:r>
            <a:r>
              <a:rPr sz="1900" dirty="0"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75" baseline="-19097" dirty="0">
                <a:latin typeface="Times New Roman"/>
                <a:cs typeface="Times New Roman"/>
              </a:rPr>
              <a:t>P</a:t>
            </a:r>
            <a:r>
              <a:rPr sz="2400" baseline="-19097" dirty="0">
                <a:latin typeface="Times New Roman"/>
                <a:cs typeface="Times New Roman"/>
              </a:rPr>
              <a:t>	</a:t>
            </a:r>
            <a:r>
              <a:rPr sz="2400" spc="-40" dirty="0">
                <a:latin typeface="Lucida Sans Unicode"/>
                <a:cs typeface="Lucida Sans Unicode"/>
              </a:rPr>
              <a:t>V</a:t>
            </a:r>
            <a:r>
              <a:rPr sz="1900" spc="-40" dirty="0">
                <a:latin typeface="Lucida Sans Unicode"/>
                <a:cs typeface="Lucida Sans Unicode"/>
              </a:rPr>
              <a:t>ERTEX</a:t>
            </a:r>
            <a:r>
              <a:rPr sz="2400" spc="-40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1900" dirty="0">
                <a:latin typeface="Lucida Sans Unicode"/>
                <a:cs typeface="Lucida Sans Unicode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≤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75" baseline="-19097" dirty="0">
                <a:latin typeface="Times New Roman"/>
                <a:cs typeface="Times New Roman"/>
              </a:rPr>
              <a:t>P</a:t>
            </a:r>
            <a:r>
              <a:rPr sz="2400" baseline="-19097" dirty="0">
                <a:latin typeface="Times New Roman"/>
                <a:cs typeface="Times New Roman"/>
              </a:rPr>
              <a:t>	</a:t>
            </a:r>
            <a:r>
              <a:rPr sz="2400" spc="-70" dirty="0">
                <a:latin typeface="Lucida Sans Unicode"/>
                <a:cs typeface="Lucida Sans Unicode"/>
              </a:rPr>
              <a:t>S</a:t>
            </a:r>
            <a:r>
              <a:rPr sz="1900" spc="-70" dirty="0">
                <a:latin typeface="Lucida Sans Unicode"/>
                <a:cs typeface="Lucida Sans Unicode"/>
              </a:rPr>
              <a:t>ET</a:t>
            </a:r>
            <a:r>
              <a:rPr sz="2400" spc="-70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CCD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3004800" cy="1270000"/>
          </a:xfrm>
          <a:custGeom>
            <a:avLst/>
            <a:gdLst/>
            <a:ahLst/>
            <a:cxnLst/>
            <a:rect l="l" t="t" r="r" b="b"/>
            <a:pathLst>
              <a:path w="13004800" h="1270000">
                <a:moveTo>
                  <a:pt x="13004800" y="0"/>
                </a:moveTo>
                <a:lnTo>
                  <a:pt x="0" y="0"/>
                </a:lnTo>
                <a:lnTo>
                  <a:pt x="0" y="1270000"/>
                </a:lnTo>
                <a:lnTo>
                  <a:pt x="13004800" y="12700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4000" b="1" cap="small" spc="-345" dirty="0">
                <a:solidFill>
                  <a:srgbClr val="FFFFFF"/>
                </a:solidFill>
                <a:latin typeface="Tahoma"/>
                <a:cs typeface="Tahoma"/>
              </a:rPr>
              <a:t>Decision,</a:t>
            </a:r>
            <a:r>
              <a:rPr sz="4000" b="1" cap="small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280" dirty="0">
                <a:solidFill>
                  <a:srgbClr val="FFFFFF"/>
                </a:solidFill>
                <a:latin typeface="Tahoma"/>
                <a:cs typeface="Tahoma"/>
              </a:rPr>
              <a:t>search,</a:t>
            </a:r>
            <a:r>
              <a:rPr sz="4000" b="1" cap="small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1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4000" b="1" cap="small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35" dirty="0">
                <a:solidFill>
                  <a:srgbClr val="FFFFFF"/>
                </a:solidFill>
                <a:latin typeface="Tahoma"/>
                <a:cs typeface="Tahoma"/>
              </a:rPr>
              <a:t>optimization</a:t>
            </a:r>
            <a:r>
              <a:rPr sz="4000" b="1" cap="small" spc="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70" dirty="0">
                <a:solidFill>
                  <a:srgbClr val="FFFFFF"/>
                </a:solidFill>
                <a:latin typeface="Tahoma"/>
                <a:cs typeface="Tahoma"/>
              </a:rPr>
              <a:t>problems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8802" y="1778000"/>
            <a:ext cx="10120630" cy="250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51205">
              <a:lnSpc>
                <a:spcPct val="135400"/>
              </a:lnSpc>
              <a:spcBef>
                <a:spcPts val="100"/>
              </a:spcBef>
              <a:tabLst>
                <a:tab pos="2609850" algn="l"/>
                <a:tab pos="2899410" algn="l"/>
                <a:tab pos="6948170" algn="l"/>
                <a:tab pos="9020175" algn="l"/>
              </a:tabLst>
            </a:pP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Decision</a:t>
            </a:r>
            <a:r>
              <a:rPr sz="2400" spc="-5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problem.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Does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exist</a:t>
            </a:r>
            <a:r>
              <a:rPr sz="24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k </a:t>
            </a:r>
            <a:r>
              <a:rPr sz="2400" spc="-50" dirty="0">
                <a:latin typeface="Lucida Sans Unicode"/>
                <a:cs typeface="Lucida Sans Unicode"/>
              </a:rPr>
              <a:t>? 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Search</a:t>
            </a:r>
            <a:r>
              <a:rPr sz="2400" spc="-5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problem.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Find</a:t>
            </a:r>
            <a:r>
              <a:rPr sz="2400" spc="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019"/>
              </a:spcBef>
              <a:tabLst>
                <a:tab pos="3561079" algn="l"/>
              </a:tabLst>
            </a:pP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Optimization</a:t>
            </a:r>
            <a:r>
              <a:rPr sz="2400" spc="-160" dirty="0">
                <a:solidFill>
                  <a:srgbClr val="005493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problem.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Find</a:t>
            </a:r>
            <a:r>
              <a:rPr sz="2400" spc="1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solidFill>
                  <a:srgbClr val="8D3124"/>
                </a:solidFill>
                <a:latin typeface="Lucida Sans Unicode"/>
                <a:cs typeface="Lucida Sans Unicode"/>
              </a:rPr>
              <a:t>minimum</a:t>
            </a:r>
            <a:r>
              <a:rPr sz="2400" spc="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size.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0048AA"/>
                </a:solidFill>
                <a:latin typeface="Lucida Sans Unicode"/>
                <a:cs typeface="Lucida Sans Unicode"/>
              </a:rPr>
              <a:t>Goal.</a:t>
            </a:r>
            <a:r>
              <a:rPr sz="2400" spc="-45" dirty="0">
                <a:solidFill>
                  <a:srgbClr val="0048AA"/>
                </a:solidFill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Show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all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three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70" dirty="0">
                <a:latin typeface="Lucida Sans Unicode"/>
                <a:cs typeface="Lucida Sans Unicode"/>
              </a:rPr>
              <a:t>poly-</a:t>
            </a:r>
            <a:r>
              <a:rPr sz="2400" spc="-25" dirty="0">
                <a:latin typeface="Lucida Sans Unicode"/>
                <a:cs typeface="Lucida Sans Unicode"/>
              </a:rPr>
              <a:t>time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reduce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one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another.</a:t>
            </a:r>
            <a:endParaRPr sz="24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493500" y="382788"/>
            <a:ext cx="687705" cy="468630"/>
            <a:chOff x="11493500" y="382788"/>
            <a:chExt cx="687705" cy="4686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8639" y="382931"/>
              <a:ext cx="105542" cy="10545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0539" y="382788"/>
              <a:ext cx="104743" cy="10598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496332" y="486028"/>
              <a:ext cx="681355" cy="365760"/>
            </a:xfrm>
            <a:custGeom>
              <a:avLst/>
              <a:gdLst/>
              <a:ahLst/>
              <a:cxnLst/>
              <a:rect l="l" t="t" r="r" b="b"/>
              <a:pathLst>
                <a:path w="681354" h="365759">
                  <a:moveTo>
                    <a:pt x="266928" y="133972"/>
                  </a:moveTo>
                  <a:lnTo>
                    <a:pt x="227545" y="105029"/>
                  </a:lnTo>
                  <a:lnTo>
                    <a:pt x="164452" y="99237"/>
                  </a:lnTo>
                  <a:lnTo>
                    <a:pt x="157441" y="98234"/>
                  </a:lnTo>
                  <a:lnTo>
                    <a:pt x="119087" y="28854"/>
                  </a:lnTo>
                  <a:lnTo>
                    <a:pt x="114084" y="21018"/>
                  </a:lnTo>
                  <a:lnTo>
                    <a:pt x="85852" y="20713"/>
                  </a:lnTo>
                  <a:lnTo>
                    <a:pt x="79019" y="20053"/>
                  </a:lnTo>
                  <a:lnTo>
                    <a:pt x="73367" y="18453"/>
                  </a:lnTo>
                  <a:lnTo>
                    <a:pt x="60388" y="12509"/>
                  </a:lnTo>
                  <a:lnTo>
                    <a:pt x="52374" y="7835"/>
                  </a:lnTo>
                  <a:lnTo>
                    <a:pt x="42697" y="0"/>
                  </a:lnTo>
                  <a:lnTo>
                    <a:pt x="35864" y="5003"/>
                  </a:lnTo>
                  <a:lnTo>
                    <a:pt x="12903" y="59690"/>
                  </a:lnTo>
                  <a:lnTo>
                    <a:pt x="7340" y="114376"/>
                  </a:lnTo>
                  <a:lnTo>
                    <a:pt x="2273" y="171627"/>
                  </a:lnTo>
                  <a:lnTo>
                    <a:pt x="0" y="206984"/>
                  </a:lnTo>
                  <a:lnTo>
                    <a:pt x="1473" y="219824"/>
                  </a:lnTo>
                  <a:lnTo>
                    <a:pt x="32473" y="247408"/>
                  </a:lnTo>
                  <a:lnTo>
                    <a:pt x="136423" y="254342"/>
                  </a:lnTo>
                  <a:lnTo>
                    <a:pt x="139623" y="306705"/>
                  </a:lnTo>
                  <a:lnTo>
                    <a:pt x="143192" y="345592"/>
                  </a:lnTo>
                  <a:lnTo>
                    <a:pt x="169951" y="364972"/>
                  </a:lnTo>
                  <a:lnTo>
                    <a:pt x="178790" y="360921"/>
                  </a:lnTo>
                  <a:lnTo>
                    <a:pt x="190144" y="292392"/>
                  </a:lnTo>
                  <a:lnTo>
                    <a:pt x="191096" y="250583"/>
                  </a:lnTo>
                  <a:lnTo>
                    <a:pt x="190461" y="225996"/>
                  </a:lnTo>
                  <a:lnTo>
                    <a:pt x="160223" y="194386"/>
                  </a:lnTo>
                  <a:lnTo>
                    <a:pt x="108077" y="185966"/>
                  </a:lnTo>
                  <a:lnTo>
                    <a:pt x="107594" y="140487"/>
                  </a:lnTo>
                  <a:lnTo>
                    <a:pt x="107797" y="132257"/>
                  </a:lnTo>
                  <a:lnTo>
                    <a:pt x="108610" y="130048"/>
                  </a:lnTo>
                  <a:lnTo>
                    <a:pt x="110248" y="131762"/>
                  </a:lnTo>
                  <a:lnTo>
                    <a:pt x="114795" y="137769"/>
                  </a:lnTo>
                  <a:lnTo>
                    <a:pt x="119418" y="142735"/>
                  </a:lnTo>
                  <a:lnTo>
                    <a:pt x="161747" y="152514"/>
                  </a:lnTo>
                  <a:lnTo>
                    <a:pt x="253669" y="152615"/>
                  </a:lnTo>
                  <a:lnTo>
                    <a:pt x="258178" y="148437"/>
                  </a:lnTo>
                  <a:lnTo>
                    <a:pt x="264058" y="141376"/>
                  </a:lnTo>
                  <a:lnTo>
                    <a:pt x="266928" y="133972"/>
                  </a:lnTo>
                  <a:close/>
                </a:path>
                <a:path w="681354" h="365759">
                  <a:moveTo>
                    <a:pt x="474154" y="170624"/>
                  </a:moveTo>
                  <a:lnTo>
                    <a:pt x="470992" y="165785"/>
                  </a:lnTo>
                  <a:lnTo>
                    <a:pt x="462826" y="163449"/>
                  </a:lnTo>
                  <a:lnTo>
                    <a:pt x="435063" y="162433"/>
                  </a:lnTo>
                  <a:lnTo>
                    <a:pt x="375399" y="161950"/>
                  </a:lnTo>
                  <a:lnTo>
                    <a:pt x="305117" y="162001"/>
                  </a:lnTo>
                  <a:lnTo>
                    <a:pt x="245491" y="162560"/>
                  </a:lnTo>
                  <a:lnTo>
                    <a:pt x="217817" y="163614"/>
                  </a:lnTo>
                  <a:lnTo>
                    <a:pt x="210477" y="165785"/>
                  </a:lnTo>
                  <a:lnTo>
                    <a:pt x="207314" y="170954"/>
                  </a:lnTo>
                  <a:lnTo>
                    <a:pt x="207314" y="187299"/>
                  </a:lnTo>
                  <a:lnTo>
                    <a:pt x="208153" y="189471"/>
                  </a:lnTo>
                  <a:lnTo>
                    <a:pt x="216979" y="198475"/>
                  </a:lnTo>
                  <a:lnTo>
                    <a:pt x="464489" y="198475"/>
                  </a:lnTo>
                  <a:lnTo>
                    <a:pt x="473329" y="189471"/>
                  </a:lnTo>
                  <a:lnTo>
                    <a:pt x="474154" y="187299"/>
                  </a:lnTo>
                  <a:lnTo>
                    <a:pt x="474154" y="170624"/>
                  </a:lnTo>
                  <a:close/>
                </a:path>
                <a:path w="681354" h="365759">
                  <a:moveTo>
                    <a:pt x="681304" y="207162"/>
                  </a:moveTo>
                  <a:lnTo>
                    <a:pt x="674509" y="119951"/>
                  </a:lnTo>
                  <a:lnTo>
                    <a:pt x="669480" y="64630"/>
                  </a:lnTo>
                  <a:lnTo>
                    <a:pt x="657225" y="17386"/>
                  </a:lnTo>
                  <a:lnTo>
                    <a:pt x="638441" y="330"/>
                  </a:lnTo>
                  <a:lnTo>
                    <a:pt x="638111" y="330"/>
                  </a:lnTo>
                  <a:lnTo>
                    <a:pt x="631444" y="5676"/>
                  </a:lnTo>
                  <a:lnTo>
                    <a:pt x="627608" y="8674"/>
                  </a:lnTo>
                  <a:lnTo>
                    <a:pt x="566889" y="21018"/>
                  </a:lnTo>
                  <a:lnTo>
                    <a:pt x="540537" y="67881"/>
                  </a:lnTo>
                  <a:lnTo>
                    <a:pt x="524027" y="98247"/>
                  </a:lnTo>
                  <a:lnTo>
                    <a:pt x="511238" y="99847"/>
                  </a:lnTo>
                  <a:lnTo>
                    <a:pt x="445300" y="105879"/>
                  </a:lnTo>
                  <a:lnTo>
                    <a:pt x="430276" y="108458"/>
                  </a:lnTo>
                  <a:lnTo>
                    <a:pt x="422351" y="112229"/>
                  </a:lnTo>
                  <a:lnTo>
                    <a:pt x="417791" y="118262"/>
                  </a:lnTo>
                  <a:lnTo>
                    <a:pt x="414655" y="126263"/>
                  </a:lnTo>
                  <a:lnTo>
                    <a:pt x="414540" y="133985"/>
                  </a:lnTo>
                  <a:lnTo>
                    <a:pt x="417410" y="141389"/>
                  </a:lnTo>
                  <a:lnTo>
                    <a:pt x="423291" y="148450"/>
                  </a:lnTo>
                  <a:lnTo>
                    <a:pt x="427799" y="152615"/>
                  </a:lnTo>
                  <a:lnTo>
                    <a:pt x="519722" y="152527"/>
                  </a:lnTo>
                  <a:lnTo>
                    <a:pt x="557441" y="146646"/>
                  </a:lnTo>
                  <a:lnTo>
                    <a:pt x="571233" y="131775"/>
                  </a:lnTo>
                  <a:lnTo>
                    <a:pt x="572858" y="130048"/>
                  </a:lnTo>
                  <a:lnTo>
                    <a:pt x="573671" y="132270"/>
                  </a:lnTo>
                  <a:lnTo>
                    <a:pt x="573874" y="140500"/>
                  </a:lnTo>
                  <a:lnTo>
                    <a:pt x="573405" y="185966"/>
                  </a:lnTo>
                  <a:lnTo>
                    <a:pt x="547382" y="189649"/>
                  </a:lnTo>
                  <a:lnTo>
                    <a:pt x="524484" y="193598"/>
                  </a:lnTo>
                  <a:lnTo>
                    <a:pt x="493014" y="215988"/>
                  </a:lnTo>
                  <a:lnTo>
                    <a:pt x="490410" y="237998"/>
                  </a:lnTo>
                  <a:lnTo>
                    <a:pt x="491210" y="287197"/>
                  </a:lnTo>
                  <a:lnTo>
                    <a:pt x="493395" y="338886"/>
                  </a:lnTo>
                  <a:lnTo>
                    <a:pt x="516356" y="365163"/>
                  </a:lnTo>
                  <a:lnTo>
                    <a:pt x="522947" y="364312"/>
                  </a:lnTo>
                  <a:lnTo>
                    <a:pt x="540778" y="320027"/>
                  </a:lnTo>
                  <a:lnTo>
                    <a:pt x="545045" y="254355"/>
                  </a:lnTo>
                  <a:lnTo>
                    <a:pt x="623176" y="250177"/>
                  </a:lnTo>
                  <a:lnTo>
                    <a:pt x="667092" y="238569"/>
                  </a:lnTo>
                  <a:lnTo>
                    <a:pt x="679869" y="220052"/>
                  </a:lnTo>
                  <a:lnTo>
                    <a:pt x="681304" y="207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7009" y="692835"/>
              <a:ext cx="177125" cy="15844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493500" y="747877"/>
              <a:ext cx="687705" cy="38735"/>
            </a:xfrm>
            <a:custGeom>
              <a:avLst/>
              <a:gdLst/>
              <a:ahLst/>
              <a:cxnLst/>
              <a:rect l="l" t="t" r="r" b="b"/>
              <a:pathLst>
                <a:path w="687704" h="38734">
                  <a:moveTo>
                    <a:pt x="129578" y="38531"/>
                  </a:moveTo>
                  <a:lnTo>
                    <a:pt x="114084" y="3594"/>
                  </a:lnTo>
                  <a:lnTo>
                    <a:pt x="52793" y="596"/>
                  </a:lnTo>
                  <a:lnTo>
                    <a:pt x="17348" y="0"/>
                  </a:lnTo>
                  <a:lnTo>
                    <a:pt x="13004" y="673"/>
                  </a:lnTo>
                  <a:lnTo>
                    <a:pt x="8839" y="3340"/>
                  </a:lnTo>
                  <a:lnTo>
                    <a:pt x="2171" y="7353"/>
                  </a:lnTo>
                  <a:lnTo>
                    <a:pt x="0" y="11341"/>
                  </a:lnTo>
                  <a:lnTo>
                    <a:pt x="0" y="25019"/>
                  </a:lnTo>
                  <a:lnTo>
                    <a:pt x="1168" y="28028"/>
                  </a:lnTo>
                  <a:lnTo>
                    <a:pt x="9664" y="37541"/>
                  </a:lnTo>
                  <a:lnTo>
                    <a:pt x="129578" y="38531"/>
                  </a:lnTo>
                  <a:close/>
                </a:path>
                <a:path w="687704" h="38734">
                  <a:moveTo>
                    <a:pt x="687108" y="15887"/>
                  </a:moveTo>
                  <a:lnTo>
                    <a:pt x="683856" y="8242"/>
                  </a:lnTo>
                  <a:lnTo>
                    <a:pt x="677138" y="2514"/>
                  </a:lnTo>
                  <a:lnTo>
                    <a:pt x="668909" y="812"/>
                  </a:lnTo>
                  <a:lnTo>
                    <a:pt x="652475" y="228"/>
                  </a:lnTo>
                  <a:lnTo>
                    <a:pt x="627430" y="749"/>
                  </a:lnTo>
                  <a:lnTo>
                    <a:pt x="570077" y="3860"/>
                  </a:lnTo>
                  <a:lnTo>
                    <a:pt x="557377" y="38531"/>
                  </a:lnTo>
                  <a:lnTo>
                    <a:pt x="677468" y="37541"/>
                  </a:lnTo>
                  <a:lnTo>
                    <a:pt x="682307" y="32029"/>
                  </a:lnTo>
                  <a:lnTo>
                    <a:pt x="686663" y="24231"/>
                  </a:lnTo>
                  <a:lnTo>
                    <a:pt x="687108" y="15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2662627" y="9407431"/>
            <a:ext cx="218440" cy="20637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spc="-25" dirty="0">
                <a:latin typeface="Lucida Sans Unicode"/>
                <a:cs typeface="Lucida Sans Unicode"/>
              </a:rPr>
              <a:t>31</a:t>
            </a:r>
            <a:endParaRPr sz="12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CCD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3004800" cy="1270000"/>
          </a:xfrm>
          <a:custGeom>
            <a:avLst/>
            <a:gdLst/>
            <a:ahLst/>
            <a:cxnLst/>
            <a:rect l="l" t="t" r="r" b="b"/>
            <a:pathLst>
              <a:path w="13004800" h="1270000">
                <a:moveTo>
                  <a:pt x="13004800" y="0"/>
                </a:moveTo>
                <a:lnTo>
                  <a:pt x="0" y="0"/>
                </a:lnTo>
                <a:lnTo>
                  <a:pt x="0" y="1270000"/>
                </a:lnTo>
                <a:lnTo>
                  <a:pt x="13004800" y="12700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4000" b="1" cap="small" spc="-335" dirty="0">
                <a:solidFill>
                  <a:srgbClr val="FFFFFF"/>
                </a:solidFill>
                <a:latin typeface="Tahoma"/>
                <a:cs typeface="Tahoma"/>
              </a:rPr>
              <a:t>Search</a:t>
            </a:r>
            <a:r>
              <a:rPr sz="4000" b="1" cap="small" spc="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60" dirty="0">
                <a:solidFill>
                  <a:srgbClr val="FFFFFF"/>
                </a:solidFill>
                <a:latin typeface="Tahoma"/>
                <a:cs typeface="Tahoma"/>
              </a:rPr>
              <a:t>problems</a:t>
            </a:r>
            <a:r>
              <a:rPr sz="4000" b="1" cap="small" spc="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175" dirty="0">
                <a:solidFill>
                  <a:srgbClr val="FFFFFF"/>
                </a:solidFill>
                <a:latin typeface="Tahoma"/>
                <a:cs typeface="Tahoma"/>
              </a:rPr>
              <a:t>vs.</a:t>
            </a:r>
            <a:r>
              <a:rPr sz="4000" b="1" cap="small" spc="-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55" dirty="0">
                <a:solidFill>
                  <a:srgbClr val="FFFFFF"/>
                </a:solidFill>
                <a:latin typeface="Tahoma"/>
                <a:cs typeface="Tahoma"/>
              </a:rPr>
              <a:t>decision</a:t>
            </a:r>
            <a:r>
              <a:rPr sz="4000" b="1" cap="small" spc="2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70" dirty="0">
                <a:solidFill>
                  <a:srgbClr val="FFFFFF"/>
                </a:solidFill>
                <a:latin typeface="Tahoma"/>
                <a:cs typeface="Tahoma"/>
              </a:rPr>
              <a:t>problems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9902" y="1778000"/>
            <a:ext cx="10568940" cy="700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1600" marR="1838960">
              <a:lnSpc>
                <a:spcPct val="135400"/>
              </a:lnSpc>
              <a:spcBef>
                <a:spcPts val="100"/>
              </a:spcBef>
              <a:tabLst>
                <a:tab pos="2260600" algn="l"/>
                <a:tab pos="2956560" algn="l"/>
                <a:tab pos="7294880" algn="l"/>
                <a:tab pos="8381365" algn="l"/>
              </a:tabLst>
            </a:pPr>
            <a:r>
              <a:rPr sz="2400" spc="-40" dirty="0">
                <a:solidFill>
                  <a:srgbClr val="005493"/>
                </a:solidFill>
                <a:latin typeface="Lucida Sans Unicode"/>
                <a:cs typeface="Lucida Sans Unicode"/>
              </a:rPr>
              <a:t>V</a:t>
            </a:r>
            <a:r>
              <a:rPr sz="1900" spc="-40" dirty="0">
                <a:solidFill>
                  <a:srgbClr val="005493"/>
                </a:solidFill>
                <a:latin typeface="Lucida Sans Unicode"/>
                <a:cs typeface="Lucida Sans Unicode"/>
              </a:rPr>
              <a:t>ERTEX</a:t>
            </a:r>
            <a:r>
              <a:rPr sz="2400" spc="-40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C</a:t>
            </a:r>
            <a:r>
              <a:rPr sz="19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OVER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Does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exist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k </a:t>
            </a:r>
            <a:r>
              <a:rPr sz="2400" spc="-50" dirty="0">
                <a:latin typeface="Lucida Sans Unicode"/>
                <a:cs typeface="Lucida Sans Unicode"/>
              </a:rPr>
              <a:t>? </a:t>
            </a:r>
            <a:r>
              <a:rPr sz="2400" spc="-60" dirty="0">
                <a:solidFill>
                  <a:srgbClr val="005493"/>
                </a:solidFill>
                <a:latin typeface="Lucida Sans Unicode"/>
                <a:cs typeface="Lucida Sans Unicode"/>
              </a:rPr>
              <a:t>F</a:t>
            </a:r>
            <a:r>
              <a:rPr sz="1900" spc="-60" dirty="0">
                <a:solidFill>
                  <a:srgbClr val="005493"/>
                </a:solidFill>
                <a:latin typeface="Lucida Sans Unicode"/>
                <a:cs typeface="Lucida Sans Unicode"/>
              </a:rPr>
              <a:t>IND</a:t>
            </a:r>
            <a:r>
              <a:rPr sz="2400" spc="-60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85" dirty="0">
                <a:solidFill>
                  <a:srgbClr val="005493"/>
                </a:solidFill>
                <a:latin typeface="Lucida Sans Unicode"/>
                <a:cs typeface="Lucida Sans Unicode"/>
              </a:rPr>
              <a:t>V</a:t>
            </a:r>
            <a:r>
              <a:rPr sz="1900" spc="-85" dirty="0">
                <a:solidFill>
                  <a:srgbClr val="005493"/>
                </a:solidFill>
                <a:latin typeface="Lucida Sans Unicode"/>
                <a:cs typeface="Lucida Sans Unicode"/>
              </a:rPr>
              <a:t>ERTEX</a:t>
            </a:r>
            <a:r>
              <a:rPr sz="2400" spc="-85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C</a:t>
            </a:r>
            <a:r>
              <a:rPr sz="19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OVER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01600">
              <a:lnSpc>
                <a:spcPct val="100000"/>
              </a:lnSpc>
              <a:tabLst>
                <a:tab pos="1708150" algn="l"/>
              </a:tabLst>
            </a:pP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spc="-40" dirty="0">
                <a:latin typeface="Lucida Sans Unicode"/>
                <a:cs typeface="Lucida Sans Unicode"/>
              </a:rPr>
              <a:t>V</a:t>
            </a:r>
            <a:r>
              <a:rPr sz="1900" spc="-40" dirty="0">
                <a:latin typeface="Lucida Sans Unicode"/>
                <a:cs typeface="Lucida Sans Unicode"/>
              </a:rPr>
              <a:t>ERTEX</a:t>
            </a:r>
            <a:r>
              <a:rPr sz="2400" spc="-40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1900" spc="1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Symbol"/>
                <a:cs typeface="Symbol"/>
              </a:rPr>
              <a:t>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472" baseline="-19097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Lucida Sans Unicode"/>
                <a:cs typeface="Lucida Sans Unicode"/>
              </a:rPr>
              <a:t>F</a:t>
            </a:r>
            <a:r>
              <a:rPr sz="1900" spc="-60" dirty="0">
                <a:latin typeface="Lucida Sans Unicode"/>
                <a:cs typeface="Lucida Sans Unicode"/>
              </a:rPr>
              <a:t>IND</a:t>
            </a:r>
            <a:r>
              <a:rPr sz="2400" spc="-60" dirty="0">
                <a:latin typeface="Lucida Sans Unicode"/>
                <a:cs typeface="Lucida Sans Unicode"/>
              </a:rPr>
              <a:t>-</a:t>
            </a:r>
            <a:r>
              <a:rPr sz="2400" spc="-85" dirty="0">
                <a:latin typeface="Lucida Sans Unicode"/>
                <a:cs typeface="Lucida Sans Unicode"/>
              </a:rPr>
              <a:t>V</a:t>
            </a:r>
            <a:r>
              <a:rPr sz="1900" spc="-85" dirty="0">
                <a:latin typeface="Lucida Sans Unicode"/>
                <a:cs typeface="Lucida Sans Unicode"/>
              </a:rPr>
              <a:t>ERTEX</a:t>
            </a:r>
            <a:r>
              <a:rPr sz="2400" spc="-85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1900">
              <a:latin typeface="Lucida Sans Unicode"/>
              <a:cs typeface="Lucida Sans Unicode"/>
            </a:endParaRPr>
          </a:p>
          <a:p>
            <a:pPr marL="101600">
              <a:lnSpc>
                <a:spcPct val="100000"/>
              </a:lnSpc>
              <a:tabLst>
                <a:tab pos="670560" algn="l"/>
                <a:tab pos="1290320" algn="l"/>
                <a:tab pos="9437370" algn="l"/>
              </a:tabLst>
            </a:pPr>
            <a:r>
              <a:rPr sz="2400" spc="-25" dirty="0">
                <a:solidFill>
                  <a:srgbClr val="005493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≤</a:t>
            </a:r>
            <a:r>
              <a:rPr sz="2400" spc="-20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75" baseline="-19097" dirty="0">
                <a:solidFill>
                  <a:srgbClr val="0048AA"/>
                </a:solidFill>
                <a:latin typeface="Times New Roman"/>
                <a:cs typeface="Times New Roman"/>
              </a:rPr>
              <a:t>P</a:t>
            </a:r>
            <a:r>
              <a:rPr sz="2400" baseline="-19097" dirty="0">
                <a:solidFill>
                  <a:srgbClr val="0048AA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Decision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special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case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search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problem.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101600">
              <a:lnSpc>
                <a:spcPct val="100000"/>
              </a:lnSpc>
              <a:tabLst>
                <a:tab pos="670560" algn="l"/>
              </a:tabLst>
            </a:pPr>
            <a:r>
              <a:rPr sz="2400" spc="-25" dirty="0">
                <a:solidFill>
                  <a:srgbClr val="005493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≥</a:t>
            </a:r>
            <a:r>
              <a:rPr sz="2400" spc="-20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75" baseline="-19097" dirty="0">
                <a:solidFill>
                  <a:srgbClr val="0048AA"/>
                </a:solidFill>
                <a:latin typeface="Times New Roman"/>
                <a:cs typeface="Times New Roman"/>
              </a:rPr>
              <a:t>P</a:t>
            </a:r>
            <a:endParaRPr sz="2400" baseline="-19097">
              <a:latin typeface="Times New Roman"/>
              <a:cs typeface="Times New Roman"/>
            </a:endParaRPr>
          </a:p>
          <a:p>
            <a:pPr marL="101600">
              <a:lnSpc>
                <a:spcPts val="2590"/>
              </a:lnSpc>
              <a:spcBef>
                <a:spcPts val="1019"/>
              </a:spcBef>
              <a:tabLst>
                <a:tab pos="4864735" algn="l"/>
              </a:tabLst>
            </a:pPr>
            <a:r>
              <a:rPr sz="2400" dirty="0">
                <a:latin typeface="Lucida Sans Unicode"/>
                <a:cs typeface="Lucida Sans Unicode"/>
              </a:rPr>
              <a:t>To find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15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Lucida Sans Unicode"/>
                <a:cs typeface="Lucida Sans Unicode"/>
              </a:rPr>
              <a:t>:</a:t>
            </a:r>
            <a:endParaRPr sz="2400">
              <a:latin typeface="Lucida Sans Unicode"/>
              <a:cs typeface="Lucida Sans Unicode"/>
            </a:endParaRPr>
          </a:p>
          <a:p>
            <a:pPr marL="169545">
              <a:lnSpc>
                <a:spcPts val="4060"/>
              </a:lnSpc>
              <a:tabLst>
                <a:tab pos="8047355" algn="l"/>
              </a:tabLst>
            </a:pPr>
            <a:r>
              <a:rPr sz="6000" baseline="-8333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Determine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there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exists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2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677545" marR="55880" indent="-508000">
              <a:lnSpc>
                <a:spcPts val="3900"/>
              </a:lnSpc>
              <a:spcBef>
                <a:spcPts val="430"/>
              </a:spcBef>
              <a:tabLst>
                <a:tab pos="6784340" algn="l"/>
                <a:tab pos="9796145" algn="l"/>
              </a:tabLst>
            </a:pPr>
            <a:r>
              <a:rPr sz="6000" baseline="-10416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such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that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 </a:t>
            </a:r>
            <a:r>
              <a:rPr sz="2400" dirty="0">
                <a:latin typeface="Times New Roman"/>
                <a:cs typeface="Times New Roman"/>
              </a:rPr>
              <a:t>− {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}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has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 vertex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k </a:t>
            </a:r>
            <a:r>
              <a:rPr sz="2400" dirty="0">
                <a:latin typeface="Times New Roman"/>
                <a:cs typeface="Times New Roman"/>
              </a:rPr>
              <a:t>− </a:t>
            </a:r>
            <a:r>
              <a:rPr sz="2400" spc="-25" dirty="0">
                <a:latin typeface="Times New Roman"/>
                <a:cs typeface="Times New Roman"/>
              </a:rPr>
              <a:t>1</a:t>
            </a:r>
            <a:r>
              <a:rPr sz="2400" spc="-25" dirty="0">
                <a:latin typeface="Lucida Sans Unicode"/>
                <a:cs typeface="Lucida Sans Unicode"/>
              </a:rPr>
              <a:t>. </a:t>
            </a:r>
            <a:r>
              <a:rPr sz="2400" dirty="0">
                <a:latin typeface="Lucida Sans Unicode"/>
                <a:cs typeface="Lucida Sans Unicode"/>
              </a:rPr>
              <a:t>(any</a:t>
            </a:r>
            <a:r>
              <a:rPr sz="2400" spc="3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any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will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have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this</a:t>
            </a:r>
            <a:r>
              <a:rPr sz="2400" spc="40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property)</a:t>
            </a:r>
            <a:endParaRPr sz="2400">
              <a:latin typeface="Lucida Sans Unicode"/>
              <a:cs typeface="Lucida Sans Unicode"/>
            </a:endParaRPr>
          </a:p>
          <a:p>
            <a:pPr marL="169545">
              <a:lnSpc>
                <a:spcPts val="3470"/>
              </a:lnSpc>
            </a:pPr>
            <a:r>
              <a:rPr sz="6000" baseline="-8333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Include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the vertex</a:t>
            </a:r>
            <a:r>
              <a:rPr sz="2400" spc="-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cover.</a:t>
            </a:r>
            <a:endParaRPr sz="2400">
              <a:latin typeface="Lucida Sans Unicode"/>
              <a:cs typeface="Lucida Sans Unicode"/>
            </a:endParaRPr>
          </a:p>
          <a:p>
            <a:pPr marL="169545">
              <a:lnSpc>
                <a:spcPts val="4350"/>
              </a:lnSpc>
              <a:tabLst>
                <a:tab pos="6743700" algn="l"/>
                <a:tab pos="9188450" algn="l"/>
              </a:tabLst>
            </a:pPr>
            <a:r>
              <a:rPr sz="6000" baseline="-10416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Recursively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2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in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G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−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{</a:t>
            </a:r>
            <a:r>
              <a:rPr sz="2400" spc="-204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v</a:t>
            </a:r>
            <a:r>
              <a:rPr sz="2400" i="1" spc="-20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}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62627" y="9397678"/>
            <a:ext cx="218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Lucida Sans Unicode"/>
                <a:cs typeface="Lucida Sans Unicode"/>
              </a:rPr>
              <a:t>32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493500" y="382788"/>
            <a:ext cx="687705" cy="468630"/>
            <a:chOff x="11493500" y="382788"/>
            <a:chExt cx="687705" cy="46863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8639" y="382931"/>
              <a:ext cx="105542" cy="10545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0539" y="382788"/>
              <a:ext cx="104743" cy="1059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496332" y="486028"/>
              <a:ext cx="681355" cy="365760"/>
            </a:xfrm>
            <a:custGeom>
              <a:avLst/>
              <a:gdLst/>
              <a:ahLst/>
              <a:cxnLst/>
              <a:rect l="l" t="t" r="r" b="b"/>
              <a:pathLst>
                <a:path w="681354" h="365759">
                  <a:moveTo>
                    <a:pt x="266928" y="133972"/>
                  </a:moveTo>
                  <a:lnTo>
                    <a:pt x="227545" y="105029"/>
                  </a:lnTo>
                  <a:lnTo>
                    <a:pt x="164452" y="99237"/>
                  </a:lnTo>
                  <a:lnTo>
                    <a:pt x="157441" y="98234"/>
                  </a:lnTo>
                  <a:lnTo>
                    <a:pt x="119087" y="28854"/>
                  </a:lnTo>
                  <a:lnTo>
                    <a:pt x="114084" y="21018"/>
                  </a:lnTo>
                  <a:lnTo>
                    <a:pt x="85852" y="20713"/>
                  </a:lnTo>
                  <a:lnTo>
                    <a:pt x="79019" y="20053"/>
                  </a:lnTo>
                  <a:lnTo>
                    <a:pt x="73367" y="18453"/>
                  </a:lnTo>
                  <a:lnTo>
                    <a:pt x="60388" y="12509"/>
                  </a:lnTo>
                  <a:lnTo>
                    <a:pt x="52374" y="7835"/>
                  </a:lnTo>
                  <a:lnTo>
                    <a:pt x="42697" y="0"/>
                  </a:lnTo>
                  <a:lnTo>
                    <a:pt x="35864" y="5003"/>
                  </a:lnTo>
                  <a:lnTo>
                    <a:pt x="12903" y="59690"/>
                  </a:lnTo>
                  <a:lnTo>
                    <a:pt x="7340" y="114376"/>
                  </a:lnTo>
                  <a:lnTo>
                    <a:pt x="2273" y="171627"/>
                  </a:lnTo>
                  <a:lnTo>
                    <a:pt x="0" y="206984"/>
                  </a:lnTo>
                  <a:lnTo>
                    <a:pt x="1473" y="219824"/>
                  </a:lnTo>
                  <a:lnTo>
                    <a:pt x="32473" y="247408"/>
                  </a:lnTo>
                  <a:lnTo>
                    <a:pt x="136423" y="254342"/>
                  </a:lnTo>
                  <a:lnTo>
                    <a:pt x="139623" y="306705"/>
                  </a:lnTo>
                  <a:lnTo>
                    <a:pt x="143192" y="345592"/>
                  </a:lnTo>
                  <a:lnTo>
                    <a:pt x="169951" y="364972"/>
                  </a:lnTo>
                  <a:lnTo>
                    <a:pt x="178790" y="360921"/>
                  </a:lnTo>
                  <a:lnTo>
                    <a:pt x="190144" y="292392"/>
                  </a:lnTo>
                  <a:lnTo>
                    <a:pt x="191096" y="250583"/>
                  </a:lnTo>
                  <a:lnTo>
                    <a:pt x="190461" y="225996"/>
                  </a:lnTo>
                  <a:lnTo>
                    <a:pt x="160223" y="194386"/>
                  </a:lnTo>
                  <a:lnTo>
                    <a:pt x="108077" y="185966"/>
                  </a:lnTo>
                  <a:lnTo>
                    <a:pt x="107594" y="140487"/>
                  </a:lnTo>
                  <a:lnTo>
                    <a:pt x="107797" y="132257"/>
                  </a:lnTo>
                  <a:lnTo>
                    <a:pt x="108610" y="130048"/>
                  </a:lnTo>
                  <a:lnTo>
                    <a:pt x="110248" y="131762"/>
                  </a:lnTo>
                  <a:lnTo>
                    <a:pt x="114795" y="137769"/>
                  </a:lnTo>
                  <a:lnTo>
                    <a:pt x="119418" y="142735"/>
                  </a:lnTo>
                  <a:lnTo>
                    <a:pt x="161747" y="152514"/>
                  </a:lnTo>
                  <a:lnTo>
                    <a:pt x="253669" y="152615"/>
                  </a:lnTo>
                  <a:lnTo>
                    <a:pt x="258178" y="148437"/>
                  </a:lnTo>
                  <a:lnTo>
                    <a:pt x="264058" y="141376"/>
                  </a:lnTo>
                  <a:lnTo>
                    <a:pt x="266928" y="133972"/>
                  </a:lnTo>
                  <a:close/>
                </a:path>
                <a:path w="681354" h="365759">
                  <a:moveTo>
                    <a:pt x="474154" y="170624"/>
                  </a:moveTo>
                  <a:lnTo>
                    <a:pt x="470992" y="165785"/>
                  </a:lnTo>
                  <a:lnTo>
                    <a:pt x="462826" y="163449"/>
                  </a:lnTo>
                  <a:lnTo>
                    <a:pt x="435063" y="162433"/>
                  </a:lnTo>
                  <a:lnTo>
                    <a:pt x="375399" y="161950"/>
                  </a:lnTo>
                  <a:lnTo>
                    <a:pt x="305117" y="162001"/>
                  </a:lnTo>
                  <a:lnTo>
                    <a:pt x="245491" y="162560"/>
                  </a:lnTo>
                  <a:lnTo>
                    <a:pt x="217817" y="163614"/>
                  </a:lnTo>
                  <a:lnTo>
                    <a:pt x="210477" y="165785"/>
                  </a:lnTo>
                  <a:lnTo>
                    <a:pt x="207314" y="170954"/>
                  </a:lnTo>
                  <a:lnTo>
                    <a:pt x="207314" y="187299"/>
                  </a:lnTo>
                  <a:lnTo>
                    <a:pt x="208153" y="189471"/>
                  </a:lnTo>
                  <a:lnTo>
                    <a:pt x="216979" y="198475"/>
                  </a:lnTo>
                  <a:lnTo>
                    <a:pt x="464489" y="198475"/>
                  </a:lnTo>
                  <a:lnTo>
                    <a:pt x="473329" y="189471"/>
                  </a:lnTo>
                  <a:lnTo>
                    <a:pt x="474154" y="187299"/>
                  </a:lnTo>
                  <a:lnTo>
                    <a:pt x="474154" y="170624"/>
                  </a:lnTo>
                  <a:close/>
                </a:path>
                <a:path w="681354" h="365759">
                  <a:moveTo>
                    <a:pt x="681304" y="207162"/>
                  </a:moveTo>
                  <a:lnTo>
                    <a:pt x="674509" y="119951"/>
                  </a:lnTo>
                  <a:lnTo>
                    <a:pt x="669480" y="64630"/>
                  </a:lnTo>
                  <a:lnTo>
                    <a:pt x="657225" y="17386"/>
                  </a:lnTo>
                  <a:lnTo>
                    <a:pt x="638441" y="330"/>
                  </a:lnTo>
                  <a:lnTo>
                    <a:pt x="638111" y="330"/>
                  </a:lnTo>
                  <a:lnTo>
                    <a:pt x="631444" y="5676"/>
                  </a:lnTo>
                  <a:lnTo>
                    <a:pt x="627608" y="8674"/>
                  </a:lnTo>
                  <a:lnTo>
                    <a:pt x="566889" y="21018"/>
                  </a:lnTo>
                  <a:lnTo>
                    <a:pt x="540537" y="67881"/>
                  </a:lnTo>
                  <a:lnTo>
                    <a:pt x="524027" y="98247"/>
                  </a:lnTo>
                  <a:lnTo>
                    <a:pt x="511238" y="99847"/>
                  </a:lnTo>
                  <a:lnTo>
                    <a:pt x="445300" y="105879"/>
                  </a:lnTo>
                  <a:lnTo>
                    <a:pt x="430276" y="108458"/>
                  </a:lnTo>
                  <a:lnTo>
                    <a:pt x="422351" y="112229"/>
                  </a:lnTo>
                  <a:lnTo>
                    <a:pt x="417791" y="118262"/>
                  </a:lnTo>
                  <a:lnTo>
                    <a:pt x="414655" y="126263"/>
                  </a:lnTo>
                  <a:lnTo>
                    <a:pt x="414540" y="133985"/>
                  </a:lnTo>
                  <a:lnTo>
                    <a:pt x="417410" y="141389"/>
                  </a:lnTo>
                  <a:lnTo>
                    <a:pt x="423291" y="148450"/>
                  </a:lnTo>
                  <a:lnTo>
                    <a:pt x="427799" y="152615"/>
                  </a:lnTo>
                  <a:lnTo>
                    <a:pt x="519722" y="152527"/>
                  </a:lnTo>
                  <a:lnTo>
                    <a:pt x="557441" y="146646"/>
                  </a:lnTo>
                  <a:lnTo>
                    <a:pt x="571233" y="131775"/>
                  </a:lnTo>
                  <a:lnTo>
                    <a:pt x="572858" y="130048"/>
                  </a:lnTo>
                  <a:lnTo>
                    <a:pt x="573671" y="132270"/>
                  </a:lnTo>
                  <a:lnTo>
                    <a:pt x="573874" y="140500"/>
                  </a:lnTo>
                  <a:lnTo>
                    <a:pt x="573405" y="185966"/>
                  </a:lnTo>
                  <a:lnTo>
                    <a:pt x="547382" y="189649"/>
                  </a:lnTo>
                  <a:lnTo>
                    <a:pt x="524484" y="193598"/>
                  </a:lnTo>
                  <a:lnTo>
                    <a:pt x="493014" y="215988"/>
                  </a:lnTo>
                  <a:lnTo>
                    <a:pt x="490410" y="237998"/>
                  </a:lnTo>
                  <a:lnTo>
                    <a:pt x="491210" y="287197"/>
                  </a:lnTo>
                  <a:lnTo>
                    <a:pt x="493395" y="338886"/>
                  </a:lnTo>
                  <a:lnTo>
                    <a:pt x="516356" y="365163"/>
                  </a:lnTo>
                  <a:lnTo>
                    <a:pt x="522947" y="364312"/>
                  </a:lnTo>
                  <a:lnTo>
                    <a:pt x="540778" y="320027"/>
                  </a:lnTo>
                  <a:lnTo>
                    <a:pt x="545045" y="254355"/>
                  </a:lnTo>
                  <a:lnTo>
                    <a:pt x="623176" y="250177"/>
                  </a:lnTo>
                  <a:lnTo>
                    <a:pt x="667092" y="238569"/>
                  </a:lnTo>
                  <a:lnTo>
                    <a:pt x="679869" y="220052"/>
                  </a:lnTo>
                  <a:lnTo>
                    <a:pt x="681304" y="207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7009" y="692835"/>
              <a:ext cx="177125" cy="15844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493500" y="747877"/>
              <a:ext cx="687705" cy="38735"/>
            </a:xfrm>
            <a:custGeom>
              <a:avLst/>
              <a:gdLst/>
              <a:ahLst/>
              <a:cxnLst/>
              <a:rect l="l" t="t" r="r" b="b"/>
              <a:pathLst>
                <a:path w="687704" h="38734">
                  <a:moveTo>
                    <a:pt x="129578" y="38531"/>
                  </a:moveTo>
                  <a:lnTo>
                    <a:pt x="114084" y="3594"/>
                  </a:lnTo>
                  <a:lnTo>
                    <a:pt x="52793" y="596"/>
                  </a:lnTo>
                  <a:lnTo>
                    <a:pt x="17348" y="0"/>
                  </a:lnTo>
                  <a:lnTo>
                    <a:pt x="13004" y="673"/>
                  </a:lnTo>
                  <a:lnTo>
                    <a:pt x="8839" y="3340"/>
                  </a:lnTo>
                  <a:lnTo>
                    <a:pt x="2171" y="7353"/>
                  </a:lnTo>
                  <a:lnTo>
                    <a:pt x="0" y="11341"/>
                  </a:lnTo>
                  <a:lnTo>
                    <a:pt x="0" y="25019"/>
                  </a:lnTo>
                  <a:lnTo>
                    <a:pt x="1168" y="28028"/>
                  </a:lnTo>
                  <a:lnTo>
                    <a:pt x="9664" y="37541"/>
                  </a:lnTo>
                  <a:lnTo>
                    <a:pt x="129578" y="38531"/>
                  </a:lnTo>
                  <a:close/>
                </a:path>
                <a:path w="687704" h="38734">
                  <a:moveTo>
                    <a:pt x="687108" y="15887"/>
                  </a:moveTo>
                  <a:lnTo>
                    <a:pt x="683856" y="8242"/>
                  </a:lnTo>
                  <a:lnTo>
                    <a:pt x="677138" y="2514"/>
                  </a:lnTo>
                  <a:lnTo>
                    <a:pt x="668909" y="812"/>
                  </a:lnTo>
                  <a:lnTo>
                    <a:pt x="652475" y="228"/>
                  </a:lnTo>
                  <a:lnTo>
                    <a:pt x="627430" y="749"/>
                  </a:lnTo>
                  <a:lnTo>
                    <a:pt x="570077" y="3860"/>
                  </a:lnTo>
                  <a:lnTo>
                    <a:pt x="557377" y="38531"/>
                  </a:lnTo>
                  <a:lnTo>
                    <a:pt x="677468" y="37541"/>
                  </a:lnTo>
                  <a:lnTo>
                    <a:pt x="682307" y="32029"/>
                  </a:lnTo>
                  <a:lnTo>
                    <a:pt x="686663" y="24231"/>
                  </a:lnTo>
                  <a:lnTo>
                    <a:pt x="687108" y="15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710974" y="9306418"/>
            <a:ext cx="302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delete</a:t>
            </a:r>
            <a:r>
              <a:rPr sz="1600" spc="-2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800" i="1" dirty="0">
                <a:solidFill>
                  <a:srgbClr val="8D3124"/>
                </a:solidFill>
                <a:latin typeface="Times New Roman"/>
                <a:cs typeface="Times New Roman"/>
              </a:rPr>
              <a:t>v</a:t>
            </a:r>
            <a:r>
              <a:rPr sz="1800" i="1" spc="45" dirty="0">
                <a:solidFill>
                  <a:srgbClr val="8D3124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and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all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incident</a:t>
            </a:r>
            <a:r>
              <a:rPr sz="1600" spc="-1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edges</a:t>
            </a:r>
            <a:endParaRPr sz="16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014941" y="8764958"/>
            <a:ext cx="280670" cy="493395"/>
            <a:chOff x="9014941" y="8764958"/>
            <a:chExt cx="280670" cy="493395"/>
          </a:xfrm>
        </p:grpSpPr>
        <p:sp>
          <p:nvSpPr>
            <p:cNvPr id="15" name="object 15"/>
            <p:cNvSpPr/>
            <p:nvPr/>
          </p:nvSpPr>
          <p:spPr>
            <a:xfrm>
              <a:off x="9053285" y="8833731"/>
              <a:ext cx="229870" cy="412115"/>
            </a:xfrm>
            <a:custGeom>
              <a:avLst/>
              <a:gdLst/>
              <a:ahLst/>
              <a:cxnLst/>
              <a:rect l="l" t="t" r="r" b="b"/>
              <a:pathLst>
                <a:path w="229870" h="412115">
                  <a:moveTo>
                    <a:pt x="0" y="0"/>
                  </a:moveTo>
                  <a:lnTo>
                    <a:pt x="6184" y="11092"/>
                  </a:lnTo>
                  <a:lnTo>
                    <a:pt x="229548" y="411695"/>
                  </a:lnTo>
                </a:path>
              </a:pathLst>
            </a:custGeom>
            <a:ln w="25400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14941" y="8764958"/>
              <a:ext cx="113030" cy="136525"/>
            </a:xfrm>
            <a:custGeom>
              <a:avLst/>
              <a:gdLst/>
              <a:ahLst/>
              <a:cxnLst/>
              <a:rect l="l" t="t" r="r" b="b"/>
              <a:pathLst>
                <a:path w="113029" h="136525">
                  <a:moveTo>
                    <a:pt x="0" y="0"/>
                  </a:moveTo>
                  <a:lnTo>
                    <a:pt x="6127" y="136172"/>
                  </a:lnTo>
                  <a:lnTo>
                    <a:pt x="44528" y="79865"/>
                  </a:lnTo>
                  <a:lnTo>
                    <a:pt x="112614" y="768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3004800" cy="9753600"/>
          </a:xfrm>
          <a:custGeom>
            <a:avLst/>
            <a:gdLst/>
            <a:ahLst/>
            <a:cxnLst/>
            <a:rect l="l" t="t" r="r" b="b"/>
            <a:pathLst>
              <a:path w="13004800" h="9753600">
                <a:moveTo>
                  <a:pt x="13004800" y="0"/>
                </a:moveTo>
                <a:lnTo>
                  <a:pt x="0" y="0"/>
                </a:lnTo>
                <a:lnTo>
                  <a:pt x="0" y="9753600"/>
                </a:lnTo>
                <a:lnTo>
                  <a:pt x="13004800" y="97536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CCDA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3004800" cy="1270000"/>
          </a:xfrm>
          <a:custGeom>
            <a:avLst/>
            <a:gdLst/>
            <a:ahLst/>
            <a:cxnLst/>
            <a:rect l="l" t="t" r="r" b="b"/>
            <a:pathLst>
              <a:path w="13004800" h="1270000">
                <a:moveTo>
                  <a:pt x="13004800" y="0"/>
                </a:moveTo>
                <a:lnTo>
                  <a:pt x="0" y="0"/>
                </a:lnTo>
                <a:lnTo>
                  <a:pt x="0" y="1270000"/>
                </a:lnTo>
                <a:lnTo>
                  <a:pt x="13004800" y="1270000"/>
                </a:lnTo>
                <a:lnTo>
                  <a:pt x="130048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4000" b="1" cap="small" spc="-340" dirty="0">
                <a:solidFill>
                  <a:srgbClr val="FFFFFF"/>
                </a:solidFill>
                <a:latin typeface="Tahoma"/>
                <a:cs typeface="Tahoma"/>
              </a:rPr>
              <a:t>Optimization</a:t>
            </a:r>
            <a:r>
              <a:rPr sz="4000" b="1" cap="small" spc="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60" dirty="0">
                <a:solidFill>
                  <a:srgbClr val="FFFFFF"/>
                </a:solidFill>
                <a:latin typeface="Tahoma"/>
                <a:cs typeface="Tahoma"/>
              </a:rPr>
              <a:t>problems</a:t>
            </a:r>
            <a:r>
              <a:rPr sz="4000" b="1" cap="small" spc="22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175" dirty="0">
                <a:solidFill>
                  <a:srgbClr val="FFFFFF"/>
                </a:solidFill>
                <a:latin typeface="Tahoma"/>
                <a:cs typeface="Tahoma"/>
              </a:rPr>
              <a:t>vs.</a:t>
            </a:r>
            <a:r>
              <a:rPr sz="4000" b="1" cap="small" spc="-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10" dirty="0">
                <a:solidFill>
                  <a:srgbClr val="FFFFFF"/>
                </a:solidFill>
                <a:latin typeface="Tahoma"/>
                <a:cs typeface="Tahoma"/>
              </a:rPr>
              <a:t>search</a:t>
            </a:r>
            <a:r>
              <a:rPr sz="4000" b="1" cap="small" spc="2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000" b="1" cap="small" spc="-370" dirty="0">
                <a:solidFill>
                  <a:srgbClr val="FFFFFF"/>
                </a:solidFill>
                <a:latin typeface="Tahoma"/>
                <a:cs typeface="Tahoma"/>
              </a:rPr>
              <a:t>problems</a:t>
            </a:r>
            <a:endParaRPr sz="4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302" y="1778000"/>
            <a:ext cx="10263505" cy="501904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120"/>
              </a:spcBef>
              <a:tabLst>
                <a:tab pos="2931160" algn="l"/>
                <a:tab pos="7269480" algn="l"/>
              </a:tabLst>
            </a:pPr>
            <a:r>
              <a:rPr sz="2400" spc="-60" dirty="0">
                <a:solidFill>
                  <a:srgbClr val="005493"/>
                </a:solidFill>
                <a:latin typeface="Lucida Sans Unicode"/>
                <a:cs typeface="Lucida Sans Unicode"/>
              </a:rPr>
              <a:t>F</a:t>
            </a:r>
            <a:r>
              <a:rPr sz="1900" spc="-60" dirty="0">
                <a:solidFill>
                  <a:srgbClr val="005493"/>
                </a:solidFill>
                <a:latin typeface="Lucida Sans Unicode"/>
                <a:cs typeface="Lucida Sans Unicode"/>
              </a:rPr>
              <a:t>IND</a:t>
            </a:r>
            <a:r>
              <a:rPr sz="2400" spc="-60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85" dirty="0">
                <a:solidFill>
                  <a:srgbClr val="005493"/>
                </a:solidFill>
                <a:latin typeface="Lucida Sans Unicode"/>
                <a:cs typeface="Lucida Sans Unicode"/>
              </a:rPr>
              <a:t>V</a:t>
            </a:r>
            <a:r>
              <a:rPr sz="1900" spc="-85" dirty="0">
                <a:solidFill>
                  <a:srgbClr val="005493"/>
                </a:solidFill>
                <a:latin typeface="Lucida Sans Unicode"/>
                <a:cs typeface="Lucida Sans Unicode"/>
              </a:rPr>
              <a:t>ERTEX</a:t>
            </a:r>
            <a:r>
              <a:rPr sz="2400" spc="-85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C</a:t>
            </a:r>
            <a:r>
              <a:rPr sz="19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OVER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≤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spcBef>
                <a:spcPts val="1019"/>
              </a:spcBef>
              <a:tabLst>
                <a:tab pos="3543300" algn="l"/>
              </a:tabLst>
            </a:pPr>
            <a:r>
              <a:rPr sz="2400" spc="-55" dirty="0">
                <a:solidFill>
                  <a:srgbClr val="005493"/>
                </a:solidFill>
                <a:latin typeface="Lucida Sans Unicode"/>
                <a:cs typeface="Lucida Sans Unicode"/>
              </a:rPr>
              <a:t>F</a:t>
            </a:r>
            <a:r>
              <a:rPr sz="1900" spc="-55" dirty="0">
                <a:solidFill>
                  <a:srgbClr val="005493"/>
                </a:solidFill>
                <a:latin typeface="Lucida Sans Unicode"/>
                <a:cs typeface="Lucida Sans Unicode"/>
              </a:rPr>
              <a:t>IND</a:t>
            </a:r>
            <a:r>
              <a:rPr sz="2400" spc="-55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170" dirty="0">
                <a:solidFill>
                  <a:srgbClr val="005493"/>
                </a:solidFill>
                <a:latin typeface="Lucida Sans Unicode"/>
                <a:cs typeface="Lucida Sans Unicode"/>
              </a:rPr>
              <a:t>M</a:t>
            </a:r>
            <a:r>
              <a:rPr sz="1900" spc="-170" dirty="0">
                <a:solidFill>
                  <a:srgbClr val="005493"/>
                </a:solidFill>
                <a:latin typeface="Lucida Sans Unicode"/>
                <a:cs typeface="Lucida Sans Unicode"/>
              </a:rPr>
              <a:t>IN</a:t>
            </a:r>
            <a:r>
              <a:rPr sz="2400" spc="-170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85" dirty="0">
                <a:solidFill>
                  <a:srgbClr val="005493"/>
                </a:solidFill>
                <a:latin typeface="Lucida Sans Unicode"/>
                <a:cs typeface="Lucida Sans Unicode"/>
              </a:rPr>
              <a:t>V</a:t>
            </a:r>
            <a:r>
              <a:rPr sz="1900" spc="-85" dirty="0">
                <a:solidFill>
                  <a:srgbClr val="005493"/>
                </a:solidFill>
                <a:latin typeface="Lucida Sans Unicode"/>
                <a:cs typeface="Lucida Sans Unicode"/>
              </a:rPr>
              <a:t>ERTEX</a:t>
            </a:r>
            <a:r>
              <a:rPr sz="2400" spc="-85" dirty="0">
                <a:solidFill>
                  <a:srgbClr val="005493"/>
                </a:solidFill>
                <a:latin typeface="Lucida Sans Unicode"/>
                <a:cs typeface="Lucida Sans Unicode"/>
              </a:rPr>
              <a:t>-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C</a:t>
            </a:r>
            <a:r>
              <a:rPr sz="19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OVER</a:t>
            </a: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1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minimum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size.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tabLst>
                <a:tab pos="1682750" algn="l"/>
              </a:tabLst>
            </a:pPr>
            <a:r>
              <a:rPr sz="2400" spc="-10" dirty="0">
                <a:solidFill>
                  <a:srgbClr val="005493"/>
                </a:solidFill>
                <a:latin typeface="Lucida Sans Unicode"/>
                <a:cs typeface="Lucida Sans Unicode"/>
              </a:rPr>
              <a:t>Theorem.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spc="-60" dirty="0">
                <a:latin typeface="Lucida Sans Unicode"/>
                <a:cs typeface="Lucida Sans Unicode"/>
              </a:rPr>
              <a:t>F</a:t>
            </a:r>
            <a:r>
              <a:rPr sz="1900" spc="-60" dirty="0">
                <a:latin typeface="Lucida Sans Unicode"/>
                <a:cs typeface="Lucida Sans Unicode"/>
              </a:rPr>
              <a:t>IND</a:t>
            </a:r>
            <a:r>
              <a:rPr sz="2400" spc="-60" dirty="0">
                <a:latin typeface="Lucida Sans Unicode"/>
                <a:cs typeface="Lucida Sans Unicode"/>
              </a:rPr>
              <a:t>-</a:t>
            </a:r>
            <a:r>
              <a:rPr sz="2400" spc="-85" dirty="0">
                <a:latin typeface="Lucida Sans Unicode"/>
                <a:cs typeface="Lucida Sans Unicode"/>
              </a:rPr>
              <a:t>V</a:t>
            </a:r>
            <a:r>
              <a:rPr sz="1900" spc="-85" dirty="0">
                <a:latin typeface="Lucida Sans Unicode"/>
                <a:cs typeface="Lucida Sans Unicode"/>
              </a:rPr>
              <a:t>ERTEX</a:t>
            </a:r>
            <a:r>
              <a:rPr sz="2400" spc="-85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1900" spc="1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Symbol"/>
                <a:cs typeface="Symbol"/>
              </a:rPr>
              <a:t>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baseline="-19097" dirty="0">
                <a:latin typeface="Times New Roman"/>
                <a:cs typeface="Times New Roman"/>
              </a:rPr>
              <a:t>P</a:t>
            </a:r>
            <a:r>
              <a:rPr sz="2400" spc="517" baseline="-19097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Lucida Sans Unicode"/>
                <a:cs typeface="Lucida Sans Unicode"/>
              </a:rPr>
              <a:t>F</a:t>
            </a:r>
            <a:r>
              <a:rPr sz="1900" spc="-55" dirty="0">
                <a:latin typeface="Lucida Sans Unicode"/>
                <a:cs typeface="Lucida Sans Unicode"/>
              </a:rPr>
              <a:t>IND</a:t>
            </a:r>
            <a:r>
              <a:rPr sz="2400" spc="-55" dirty="0">
                <a:latin typeface="Lucida Sans Unicode"/>
                <a:cs typeface="Lucida Sans Unicode"/>
              </a:rPr>
              <a:t>-</a:t>
            </a:r>
            <a:r>
              <a:rPr sz="2400" spc="-170" dirty="0">
                <a:latin typeface="Lucida Sans Unicode"/>
                <a:cs typeface="Lucida Sans Unicode"/>
              </a:rPr>
              <a:t>M</a:t>
            </a:r>
            <a:r>
              <a:rPr sz="1900" spc="-170" dirty="0">
                <a:latin typeface="Lucida Sans Unicode"/>
                <a:cs typeface="Lucida Sans Unicode"/>
              </a:rPr>
              <a:t>IN</a:t>
            </a:r>
            <a:r>
              <a:rPr sz="2400" spc="-170" dirty="0">
                <a:latin typeface="Lucida Sans Unicode"/>
                <a:cs typeface="Lucida Sans Unicode"/>
              </a:rPr>
              <a:t>-</a:t>
            </a:r>
            <a:r>
              <a:rPr sz="2400" spc="-85" dirty="0">
                <a:latin typeface="Lucida Sans Unicode"/>
                <a:cs typeface="Lucida Sans Unicode"/>
              </a:rPr>
              <a:t>V</a:t>
            </a:r>
            <a:r>
              <a:rPr sz="1900" spc="-85" dirty="0">
                <a:latin typeface="Lucida Sans Unicode"/>
                <a:cs typeface="Lucida Sans Unicode"/>
              </a:rPr>
              <a:t>ERTEX</a:t>
            </a:r>
            <a:r>
              <a:rPr sz="2400" spc="-85" dirty="0">
                <a:latin typeface="Lucida Sans Unicode"/>
                <a:cs typeface="Lucida Sans Unicode"/>
              </a:rPr>
              <a:t>-</a:t>
            </a:r>
            <a:r>
              <a:rPr sz="2400" spc="-10" dirty="0">
                <a:latin typeface="Lucida Sans Unicode"/>
                <a:cs typeface="Lucida Sans Unicode"/>
              </a:rPr>
              <a:t>C</a:t>
            </a:r>
            <a:r>
              <a:rPr sz="1900" spc="-10" dirty="0">
                <a:latin typeface="Lucida Sans Unicode"/>
                <a:cs typeface="Lucida Sans Unicode"/>
              </a:rPr>
              <a:t>OVER</a:t>
            </a:r>
            <a:r>
              <a:rPr sz="2400" spc="-10" dirty="0">
                <a:latin typeface="Lucida Sans Unicode"/>
                <a:cs typeface="Lucida Sans Unicode"/>
              </a:rPr>
              <a:t>.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000"/>
              </a:spcBef>
            </a:pPr>
            <a:endParaRPr sz="1900">
              <a:latin typeface="Lucida Sans Unicode"/>
              <a:cs typeface="Lucida Sans Unicode"/>
            </a:endParaRPr>
          </a:p>
          <a:p>
            <a:pPr marL="76200">
              <a:lnSpc>
                <a:spcPct val="100000"/>
              </a:lnSpc>
              <a:tabLst>
                <a:tab pos="645160" algn="l"/>
                <a:tab pos="1264920" algn="l"/>
                <a:tab pos="10032365" algn="l"/>
              </a:tabLst>
            </a:pPr>
            <a:r>
              <a:rPr sz="2400" spc="-25" dirty="0">
                <a:solidFill>
                  <a:srgbClr val="005493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≤</a:t>
            </a:r>
            <a:r>
              <a:rPr sz="2400" spc="-20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75" baseline="-19097" dirty="0">
                <a:solidFill>
                  <a:srgbClr val="0048AA"/>
                </a:solidFill>
                <a:latin typeface="Times New Roman"/>
                <a:cs typeface="Times New Roman"/>
              </a:rPr>
              <a:t>P</a:t>
            </a:r>
            <a:r>
              <a:rPr sz="2400" baseline="-19097" dirty="0">
                <a:solidFill>
                  <a:srgbClr val="0048AA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Search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is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a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special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case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4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optimization</a:t>
            </a:r>
            <a:r>
              <a:rPr sz="2400" spc="-4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problem.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230"/>
              </a:spcBef>
            </a:pPr>
            <a:endParaRPr sz="2400">
              <a:latin typeface="Lucida Sans Unicode"/>
              <a:cs typeface="Lucida Sans Unicode"/>
            </a:endParaRPr>
          </a:p>
          <a:p>
            <a:pPr marL="76200">
              <a:lnSpc>
                <a:spcPts val="2590"/>
              </a:lnSpc>
              <a:spcBef>
                <a:spcPts val="5"/>
              </a:spcBef>
              <a:tabLst>
                <a:tab pos="645160" algn="l"/>
                <a:tab pos="1223010" algn="l"/>
              </a:tabLst>
            </a:pPr>
            <a:r>
              <a:rPr sz="2400" spc="-25" dirty="0">
                <a:solidFill>
                  <a:srgbClr val="005493"/>
                </a:solidFill>
                <a:latin typeface="Lucida Sans Unicode"/>
                <a:cs typeface="Lucida Sans Unicode"/>
              </a:rPr>
              <a:t>Pf.</a:t>
            </a:r>
            <a:r>
              <a:rPr sz="2400" dirty="0">
                <a:solidFill>
                  <a:srgbClr val="005493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solidFill>
                  <a:srgbClr val="0048AA"/>
                </a:solidFill>
                <a:latin typeface="Times New Roman"/>
                <a:cs typeface="Times New Roman"/>
              </a:rPr>
              <a:t>≥</a:t>
            </a:r>
            <a:r>
              <a:rPr sz="2400" spc="-200" dirty="0">
                <a:solidFill>
                  <a:srgbClr val="0048AA"/>
                </a:solidFill>
                <a:latin typeface="Times New Roman"/>
                <a:cs typeface="Times New Roman"/>
              </a:rPr>
              <a:t> </a:t>
            </a:r>
            <a:r>
              <a:rPr sz="2400" spc="-75" baseline="-19097" dirty="0">
                <a:solidFill>
                  <a:srgbClr val="0048AA"/>
                </a:solidFill>
                <a:latin typeface="Times New Roman"/>
                <a:cs typeface="Times New Roman"/>
              </a:rPr>
              <a:t>P</a:t>
            </a:r>
            <a:r>
              <a:rPr sz="2400" baseline="-19097" dirty="0">
                <a:solidFill>
                  <a:srgbClr val="0048AA"/>
                </a:solidFill>
                <a:latin typeface="Times New Roman"/>
                <a:cs typeface="Times New Roman"/>
              </a:rPr>
              <a:t>	</a:t>
            </a:r>
            <a:r>
              <a:rPr sz="2400" dirty="0">
                <a:latin typeface="Lucida Sans Unicode"/>
                <a:cs typeface="Lucida Sans Unicode"/>
              </a:rPr>
              <a:t>To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find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cover</a:t>
            </a:r>
            <a:r>
              <a:rPr sz="2400" spc="20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minimum</a:t>
            </a:r>
            <a:r>
              <a:rPr sz="2400" spc="15" dirty="0">
                <a:latin typeface="Lucida Sans Unicode"/>
                <a:cs typeface="Lucida Sans Unicode"/>
              </a:rPr>
              <a:t> </a:t>
            </a:r>
            <a:r>
              <a:rPr sz="2400" spc="-20" dirty="0">
                <a:latin typeface="Lucida Sans Unicode"/>
                <a:cs typeface="Lucida Sans Unicode"/>
              </a:rPr>
              <a:t>size:</a:t>
            </a:r>
            <a:endParaRPr sz="2400">
              <a:latin typeface="Lucida Sans Unicode"/>
              <a:cs typeface="Lucida Sans Unicode"/>
            </a:endParaRPr>
          </a:p>
          <a:p>
            <a:pPr marL="144145">
              <a:lnSpc>
                <a:spcPts val="4060"/>
              </a:lnSpc>
            </a:pPr>
            <a:r>
              <a:rPr sz="6000" baseline="-8333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Binary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search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(or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linear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search)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size</a:t>
            </a:r>
            <a:r>
              <a:rPr sz="2400" spc="-10" dirty="0">
                <a:latin typeface="Lucida Sans Unicode"/>
                <a:cs typeface="Lucida Sans Unicode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k</a:t>
            </a:r>
            <a:r>
              <a:rPr sz="2400" baseline="19097" dirty="0">
                <a:latin typeface="Times New Roman"/>
                <a:cs typeface="Times New Roman"/>
              </a:rPr>
              <a:t>*</a:t>
            </a:r>
            <a:r>
              <a:rPr sz="2400" spc="517" baseline="19097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of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min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vertex</a:t>
            </a:r>
            <a:r>
              <a:rPr sz="2400" spc="-15" dirty="0">
                <a:latin typeface="Lucida Sans Unicode"/>
                <a:cs typeface="Lucida Sans Unicode"/>
              </a:rPr>
              <a:t> </a:t>
            </a:r>
            <a:r>
              <a:rPr sz="2400" spc="-10" dirty="0">
                <a:latin typeface="Lucida Sans Unicode"/>
                <a:cs typeface="Lucida Sans Unicode"/>
              </a:rPr>
              <a:t>cover.</a:t>
            </a:r>
            <a:endParaRPr sz="2400">
              <a:latin typeface="Lucida Sans Unicode"/>
              <a:cs typeface="Lucida Sans Unicode"/>
            </a:endParaRPr>
          </a:p>
          <a:p>
            <a:pPr marL="144145">
              <a:lnSpc>
                <a:spcPts val="4350"/>
              </a:lnSpc>
              <a:tabLst>
                <a:tab pos="5881370" algn="l"/>
              </a:tabLst>
            </a:pPr>
            <a:r>
              <a:rPr sz="6000" baseline="-8333" dirty="0">
                <a:latin typeface="Microsoft JhengHei UI"/>
                <a:cs typeface="Microsoft JhengHei UI"/>
              </a:rPr>
              <a:t>・</a:t>
            </a:r>
            <a:r>
              <a:rPr sz="2400" dirty="0">
                <a:latin typeface="Lucida Sans Unicode"/>
                <a:cs typeface="Lucida Sans Unicode"/>
              </a:rPr>
              <a:t>Solve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search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problem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for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dirty="0">
                <a:latin typeface="Lucida Sans Unicode"/>
                <a:cs typeface="Lucida Sans Unicode"/>
              </a:rPr>
              <a:t>given</a:t>
            </a:r>
            <a:r>
              <a:rPr sz="2400" spc="5" dirty="0">
                <a:latin typeface="Lucida Sans Unicode"/>
                <a:cs typeface="Lucida Sans Unicode"/>
              </a:rPr>
              <a:t> </a:t>
            </a:r>
            <a:r>
              <a:rPr sz="2400" i="1" spc="-25" dirty="0">
                <a:latin typeface="Times New Roman"/>
                <a:cs typeface="Times New Roman"/>
              </a:rPr>
              <a:t>k</a:t>
            </a:r>
            <a:r>
              <a:rPr sz="2400" spc="-37" baseline="19097" dirty="0">
                <a:latin typeface="Times New Roman"/>
                <a:cs typeface="Times New Roman"/>
              </a:rPr>
              <a:t>*</a:t>
            </a:r>
            <a:r>
              <a:rPr sz="2400" spc="-25" dirty="0">
                <a:latin typeface="Lucida Sans Unicode"/>
                <a:cs typeface="Lucida Sans Unicode"/>
              </a:rPr>
              <a:t>.</a:t>
            </a:r>
            <a:r>
              <a:rPr sz="2400" dirty="0">
                <a:latin typeface="Lucida Sans Unicode"/>
                <a:cs typeface="Lucida Sans Unicode"/>
              </a:rPr>
              <a:t>	</a:t>
            </a:r>
            <a:r>
              <a:rPr sz="2400" spc="-50" dirty="0">
                <a:latin typeface="Lucida Sans Unicode"/>
                <a:cs typeface="Lucida Sans Unicode"/>
              </a:rPr>
              <a:t>▪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62627" y="9397678"/>
            <a:ext cx="218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Lucida Sans Unicode"/>
                <a:cs typeface="Lucida Sans Unicode"/>
              </a:rPr>
              <a:t>33</a:t>
            </a:r>
            <a:endParaRPr sz="12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493500" y="382788"/>
            <a:ext cx="687705" cy="468630"/>
            <a:chOff x="11493500" y="382788"/>
            <a:chExt cx="687705" cy="46863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38639" y="382931"/>
              <a:ext cx="105542" cy="10545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30539" y="382788"/>
              <a:ext cx="104743" cy="10598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1496332" y="486028"/>
              <a:ext cx="681355" cy="365760"/>
            </a:xfrm>
            <a:custGeom>
              <a:avLst/>
              <a:gdLst/>
              <a:ahLst/>
              <a:cxnLst/>
              <a:rect l="l" t="t" r="r" b="b"/>
              <a:pathLst>
                <a:path w="681354" h="365759">
                  <a:moveTo>
                    <a:pt x="266928" y="133972"/>
                  </a:moveTo>
                  <a:lnTo>
                    <a:pt x="227545" y="105029"/>
                  </a:lnTo>
                  <a:lnTo>
                    <a:pt x="164452" y="99237"/>
                  </a:lnTo>
                  <a:lnTo>
                    <a:pt x="157441" y="98234"/>
                  </a:lnTo>
                  <a:lnTo>
                    <a:pt x="119087" y="28854"/>
                  </a:lnTo>
                  <a:lnTo>
                    <a:pt x="114084" y="21018"/>
                  </a:lnTo>
                  <a:lnTo>
                    <a:pt x="85852" y="20713"/>
                  </a:lnTo>
                  <a:lnTo>
                    <a:pt x="79019" y="20053"/>
                  </a:lnTo>
                  <a:lnTo>
                    <a:pt x="73367" y="18453"/>
                  </a:lnTo>
                  <a:lnTo>
                    <a:pt x="60388" y="12509"/>
                  </a:lnTo>
                  <a:lnTo>
                    <a:pt x="52374" y="7835"/>
                  </a:lnTo>
                  <a:lnTo>
                    <a:pt x="42697" y="0"/>
                  </a:lnTo>
                  <a:lnTo>
                    <a:pt x="35864" y="5003"/>
                  </a:lnTo>
                  <a:lnTo>
                    <a:pt x="12903" y="59690"/>
                  </a:lnTo>
                  <a:lnTo>
                    <a:pt x="7340" y="114376"/>
                  </a:lnTo>
                  <a:lnTo>
                    <a:pt x="2273" y="171627"/>
                  </a:lnTo>
                  <a:lnTo>
                    <a:pt x="0" y="206984"/>
                  </a:lnTo>
                  <a:lnTo>
                    <a:pt x="1473" y="219824"/>
                  </a:lnTo>
                  <a:lnTo>
                    <a:pt x="32473" y="247408"/>
                  </a:lnTo>
                  <a:lnTo>
                    <a:pt x="136423" y="254342"/>
                  </a:lnTo>
                  <a:lnTo>
                    <a:pt x="139623" y="306705"/>
                  </a:lnTo>
                  <a:lnTo>
                    <a:pt x="143192" y="345592"/>
                  </a:lnTo>
                  <a:lnTo>
                    <a:pt x="169951" y="364972"/>
                  </a:lnTo>
                  <a:lnTo>
                    <a:pt x="178790" y="360921"/>
                  </a:lnTo>
                  <a:lnTo>
                    <a:pt x="190144" y="292392"/>
                  </a:lnTo>
                  <a:lnTo>
                    <a:pt x="191096" y="250583"/>
                  </a:lnTo>
                  <a:lnTo>
                    <a:pt x="190461" y="225996"/>
                  </a:lnTo>
                  <a:lnTo>
                    <a:pt x="160223" y="194386"/>
                  </a:lnTo>
                  <a:lnTo>
                    <a:pt x="108077" y="185966"/>
                  </a:lnTo>
                  <a:lnTo>
                    <a:pt x="107594" y="140487"/>
                  </a:lnTo>
                  <a:lnTo>
                    <a:pt x="107797" y="132257"/>
                  </a:lnTo>
                  <a:lnTo>
                    <a:pt x="108610" y="130048"/>
                  </a:lnTo>
                  <a:lnTo>
                    <a:pt x="110248" y="131762"/>
                  </a:lnTo>
                  <a:lnTo>
                    <a:pt x="114795" y="137769"/>
                  </a:lnTo>
                  <a:lnTo>
                    <a:pt x="119418" y="142735"/>
                  </a:lnTo>
                  <a:lnTo>
                    <a:pt x="161747" y="152514"/>
                  </a:lnTo>
                  <a:lnTo>
                    <a:pt x="253669" y="152615"/>
                  </a:lnTo>
                  <a:lnTo>
                    <a:pt x="258178" y="148437"/>
                  </a:lnTo>
                  <a:lnTo>
                    <a:pt x="264058" y="141376"/>
                  </a:lnTo>
                  <a:lnTo>
                    <a:pt x="266928" y="133972"/>
                  </a:lnTo>
                  <a:close/>
                </a:path>
                <a:path w="681354" h="365759">
                  <a:moveTo>
                    <a:pt x="474154" y="170624"/>
                  </a:moveTo>
                  <a:lnTo>
                    <a:pt x="470992" y="165785"/>
                  </a:lnTo>
                  <a:lnTo>
                    <a:pt x="462826" y="163449"/>
                  </a:lnTo>
                  <a:lnTo>
                    <a:pt x="435063" y="162433"/>
                  </a:lnTo>
                  <a:lnTo>
                    <a:pt x="375399" y="161950"/>
                  </a:lnTo>
                  <a:lnTo>
                    <a:pt x="305117" y="162001"/>
                  </a:lnTo>
                  <a:lnTo>
                    <a:pt x="245491" y="162560"/>
                  </a:lnTo>
                  <a:lnTo>
                    <a:pt x="217817" y="163614"/>
                  </a:lnTo>
                  <a:lnTo>
                    <a:pt x="210477" y="165785"/>
                  </a:lnTo>
                  <a:lnTo>
                    <a:pt x="207314" y="170954"/>
                  </a:lnTo>
                  <a:lnTo>
                    <a:pt x="207314" y="187299"/>
                  </a:lnTo>
                  <a:lnTo>
                    <a:pt x="208153" y="189471"/>
                  </a:lnTo>
                  <a:lnTo>
                    <a:pt x="216979" y="198475"/>
                  </a:lnTo>
                  <a:lnTo>
                    <a:pt x="464489" y="198475"/>
                  </a:lnTo>
                  <a:lnTo>
                    <a:pt x="473329" y="189471"/>
                  </a:lnTo>
                  <a:lnTo>
                    <a:pt x="474154" y="187299"/>
                  </a:lnTo>
                  <a:lnTo>
                    <a:pt x="474154" y="170624"/>
                  </a:lnTo>
                  <a:close/>
                </a:path>
                <a:path w="681354" h="365759">
                  <a:moveTo>
                    <a:pt x="681304" y="207162"/>
                  </a:moveTo>
                  <a:lnTo>
                    <a:pt x="674509" y="119951"/>
                  </a:lnTo>
                  <a:lnTo>
                    <a:pt x="669480" y="64630"/>
                  </a:lnTo>
                  <a:lnTo>
                    <a:pt x="657225" y="17386"/>
                  </a:lnTo>
                  <a:lnTo>
                    <a:pt x="638441" y="330"/>
                  </a:lnTo>
                  <a:lnTo>
                    <a:pt x="638111" y="330"/>
                  </a:lnTo>
                  <a:lnTo>
                    <a:pt x="631444" y="5676"/>
                  </a:lnTo>
                  <a:lnTo>
                    <a:pt x="627608" y="8674"/>
                  </a:lnTo>
                  <a:lnTo>
                    <a:pt x="566889" y="21018"/>
                  </a:lnTo>
                  <a:lnTo>
                    <a:pt x="540537" y="67881"/>
                  </a:lnTo>
                  <a:lnTo>
                    <a:pt x="524027" y="98247"/>
                  </a:lnTo>
                  <a:lnTo>
                    <a:pt x="511238" y="99847"/>
                  </a:lnTo>
                  <a:lnTo>
                    <a:pt x="445300" y="105879"/>
                  </a:lnTo>
                  <a:lnTo>
                    <a:pt x="430276" y="108458"/>
                  </a:lnTo>
                  <a:lnTo>
                    <a:pt x="422351" y="112229"/>
                  </a:lnTo>
                  <a:lnTo>
                    <a:pt x="417791" y="118262"/>
                  </a:lnTo>
                  <a:lnTo>
                    <a:pt x="414655" y="126263"/>
                  </a:lnTo>
                  <a:lnTo>
                    <a:pt x="414540" y="133985"/>
                  </a:lnTo>
                  <a:lnTo>
                    <a:pt x="417410" y="141389"/>
                  </a:lnTo>
                  <a:lnTo>
                    <a:pt x="423291" y="148450"/>
                  </a:lnTo>
                  <a:lnTo>
                    <a:pt x="427799" y="152615"/>
                  </a:lnTo>
                  <a:lnTo>
                    <a:pt x="519722" y="152527"/>
                  </a:lnTo>
                  <a:lnTo>
                    <a:pt x="557441" y="146646"/>
                  </a:lnTo>
                  <a:lnTo>
                    <a:pt x="571233" y="131775"/>
                  </a:lnTo>
                  <a:lnTo>
                    <a:pt x="572858" y="130048"/>
                  </a:lnTo>
                  <a:lnTo>
                    <a:pt x="573671" y="132270"/>
                  </a:lnTo>
                  <a:lnTo>
                    <a:pt x="573874" y="140500"/>
                  </a:lnTo>
                  <a:lnTo>
                    <a:pt x="573405" y="185966"/>
                  </a:lnTo>
                  <a:lnTo>
                    <a:pt x="547382" y="189649"/>
                  </a:lnTo>
                  <a:lnTo>
                    <a:pt x="524484" y="193598"/>
                  </a:lnTo>
                  <a:lnTo>
                    <a:pt x="493014" y="215988"/>
                  </a:lnTo>
                  <a:lnTo>
                    <a:pt x="490410" y="237998"/>
                  </a:lnTo>
                  <a:lnTo>
                    <a:pt x="491210" y="287197"/>
                  </a:lnTo>
                  <a:lnTo>
                    <a:pt x="493395" y="338886"/>
                  </a:lnTo>
                  <a:lnTo>
                    <a:pt x="516356" y="365163"/>
                  </a:lnTo>
                  <a:lnTo>
                    <a:pt x="522947" y="364312"/>
                  </a:lnTo>
                  <a:lnTo>
                    <a:pt x="540778" y="320027"/>
                  </a:lnTo>
                  <a:lnTo>
                    <a:pt x="545045" y="254355"/>
                  </a:lnTo>
                  <a:lnTo>
                    <a:pt x="623176" y="250177"/>
                  </a:lnTo>
                  <a:lnTo>
                    <a:pt x="667092" y="238569"/>
                  </a:lnTo>
                  <a:lnTo>
                    <a:pt x="679869" y="220052"/>
                  </a:lnTo>
                  <a:lnTo>
                    <a:pt x="681304" y="2071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747009" y="692835"/>
              <a:ext cx="177125" cy="15844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493500" y="747877"/>
              <a:ext cx="687705" cy="38735"/>
            </a:xfrm>
            <a:custGeom>
              <a:avLst/>
              <a:gdLst/>
              <a:ahLst/>
              <a:cxnLst/>
              <a:rect l="l" t="t" r="r" b="b"/>
              <a:pathLst>
                <a:path w="687704" h="38734">
                  <a:moveTo>
                    <a:pt x="129578" y="38531"/>
                  </a:moveTo>
                  <a:lnTo>
                    <a:pt x="114084" y="3594"/>
                  </a:lnTo>
                  <a:lnTo>
                    <a:pt x="52793" y="596"/>
                  </a:lnTo>
                  <a:lnTo>
                    <a:pt x="17348" y="0"/>
                  </a:lnTo>
                  <a:lnTo>
                    <a:pt x="13004" y="673"/>
                  </a:lnTo>
                  <a:lnTo>
                    <a:pt x="8839" y="3340"/>
                  </a:lnTo>
                  <a:lnTo>
                    <a:pt x="2171" y="7353"/>
                  </a:lnTo>
                  <a:lnTo>
                    <a:pt x="0" y="11341"/>
                  </a:lnTo>
                  <a:lnTo>
                    <a:pt x="0" y="25019"/>
                  </a:lnTo>
                  <a:lnTo>
                    <a:pt x="1168" y="28028"/>
                  </a:lnTo>
                  <a:lnTo>
                    <a:pt x="9664" y="37541"/>
                  </a:lnTo>
                  <a:lnTo>
                    <a:pt x="129578" y="38531"/>
                  </a:lnTo>
                  <a:close/>
                </a:path>
                <a:path w="687704" h="38734">
                  <a:moveTo>
                    <a:pt x="687108" y="15887"/>
                  </a:moveTo>
                  <a:lnTo>
                    <a:pt x="683856" y="8242"/>
                  </a:lnTo>
                  <a:lnTo>
                    <a:pt x="677138" y="2514"/>
                  </a:lnTo>
                  <a:lnTo>
                    <a:pt x="668909" y="812"/>
                  </a:lnTo>
                  <a:lnTo>
                    <a:pt x="652475" y="228"/>
                  </a:lnTo>
                  <a:lnTo>
                    <a:pt x="627430" y="749"/>
                  </a:lnTo>
                  <a:lnTo>
                    <a:pt x="570077" y="3860"/>
                  </a:lnTo>
                  <a:lnTo>
                    <a:pt x="557377" y="38531"/>
                  </a:lnTo>
                  <a:lnTo>
                    <a:pt x="677468" y="37541"/>
                  </a:lnTo>
                  <a:lnTo>
                    <a:pt x="682307" y="32029"/>
                  </a:lnTo>
                  <a:lnTo>
                    <a:pt x="686663" y="24231"/>
                  </a:lnTo>
                  <a:lnTo>
                    <a:pt x="687108" y="1588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Poly-</a:t>
            </a:r>
            <a:r>
              <a:rPr dirty="0"/>
              <a:t>time</a:t>
            </a:r>
            <a:r>
              <a:rPr spc="10" dirty="0"/>
              <a:t> </a:t>
            </a:r>
            <a:r>
              <a:rPr spc="-10" dirty="0"/>
              <a:t>reductions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163551" y="2062579"/>
            <a:ext cx="1045844" cy="550545"/>
          </a:xfrm>
          <a:prstGeom prst="rect">
            <a:avLst/>
          </a:prstGeom>
          <a:solidFill>
            <a:srgbClr val="8D3124"/>
          </a:solidFill>
        </p:spPr>
        <p:txBody>
          <a:bodyPr vert="horz" wrap="square" lIns="0" tIns="94615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745"/>
              </a:spcBef>
            </a:pPr>
            <a:r>
              <a:rPr sz="2000" spc="-254" dirty="0">
                <a:solidFill>
                  <a:srgbClr val="FFFFFF"/>
                </a:solidFill>
                <a:latin typeface="Lucida Sans Unicode"/>
                <a:cs typeface="Lucida Sans Unicode"/>
              </a:rPr>
              <a:t>3-</a:t>
            </a:r>
            <a:r>
              <a:rPr sz="20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S</a:t>
            </a:r>
            <a:r>
              <a:rPr sz="16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AT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09331" y="4404740"/>
            <a:ext cx="2102485" cy="55054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745"/>
              </a:spcBef>
            </a:pPr>
            <a:r>
              <a:rPr sz="2000" cap="small" spc="-75" dirty="0">
                <a:latin typeface="Lucida Sans Unicode"/>
                <a:cs typeface="Lucida Sans Unicode"/>
              </a:rPr>
              <a:t>Dir-</a:t>
            </a:r>
            <a:r>
              <a:rPr sz="2000" cap="small" spc="-140" dirty="0">
                <a:latin typeface="Lucida Sans Unicode"/>
                <a:cs typeface="Lucida Sans Unicode"/>
              </a:rPr>
              <a:t>Ham-</a:t>
            </a:r>
            <a:r>
              <a:rPr sz="2000" cap="small" spc="-20" dirty="0">
                <a:latin typeface="Lucida Sans Unicode"/>
                <a:cs typeface="Lucida Sans Unicode"/>
              </a:rPr>
              <a:t>Cycle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023493" y="2600297"/>
            <a:ext cx="590550" cy="1804670"/>
            <a:chOff x="5023493" y="2600297"/>
            <a:chExt cx="590550" cy="1804670"/>
          </a:xfrm>
        </p:grpSpPr>
        <p:sp>
          <p:nvSpPr>
            <p:cNvPr id="7" name="object 7"/>
            <p:cNvSpPr/>
            <p:nvPr/>
          </p:nvSpPr>
          <p:spPr>
            <a:xfrm>
              <a:off x="5068938" y="2612997"/>
              <a:ext cx="532130" cy="1717039"/>
            </a:xfrm>
            <a:custGeom>
              <a:avLst/>
              <a:gdLst/>
              <a:ahLst/>
              <a:cxnLst/>
              <a:rect l="l" t="t" r="r" b="b"/>
              <a:pathLst>
                <a:path w="532129" h="1717039">
                  <a:moveTo>
                    <a:pt x="531982" y="0"/>
                  </a:moveTo>
                  <a:lnTo>
                    <a:pt x="3764" y="1704384"/>
                  </a:lnTo>
                  <a:lnTo>
                    <a:pt x="0" y="171653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23493" y="4270239"/>
              <a:ext cx="116839" cy="134620"/>
            </a:xfrm>
            <a:custGeom>
              <a:avLst/>
              <a:gdLst/>
              <a:ahLst/>
              <a:cxnLst/>
              <a:rect l="l" t="t" r="r" b="b"/>
              <a:pathLst>
                <a:path w="116839" h="134620">
                  <a:moveTo>
                    <a:pt x="0" y="0"/>
                  </a:moveTo>
                  <a:lnTo>
                    <a:pt x="22136" y="134501"/>
                  </a:lnTo>
                  <a:lnTo>
                    <a:pt x="116455" y="36092"/>
                  </a:lnTo>
                  <a:lnTo>
                    <a:pt x="49204" y="47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86375" y="4404740"/>
            <a:ext cx="2255520" cy="55054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745"/>
              </a:spcBef>
            </a:pPr>
            <a:r>
              <a:rPr sz="2000" cap="small" spc="-30" dirty="0">
                <a:latin typeface="Lucida Sans Unicode"/>
                <a:cs typeface="Lucida Sans Unicode"/>
              </a:rPr>
              <a:t>Independent-</a:t>
            </a:r>
            <a:r>
              <a:rPr sz="2000" cap="small" spc="-25" dirty="0">
                <a:latin typeface="Lucida Sans Unicode"/>
                <a:cs typeface="Lucida Sans Unicode"/>
              </a:rPr>
              <a:t>Set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445438" y="2600297"/>
            <a:ext cx="2822575" cy="1804670"/>
            <a:chOff x="2445438" y="2600297"/>
            <a:chExt cx="2822575" cy="1804670"/>
          </a:xfrm>
        </p:grpSpPr>
        <p:sp>
          <p:nvSpPr>
            <p:cNvPr id="11" name="object 11"/>
            <p:cNvSpPr/>
            <p:nvPr/>
          </p:nvSpPr>
          <p:spPr>
            <a:xfrm>
              <a:off x="2511825" y="2612997"/>
              <a:ext cx="2743200" cy="1749425"/>
            </a:xfrm>
            <a:custGeom>
              <a:avLst/>
              <a:gdLst/>
              <a:ahLst/>
              <a:cxnLst/>
              <a:rect l="l" t="t" r="r" b="b"/>
              <a:pathLst>
                <a:path w="2743200" h="1749425">
                  <a:moveTo>
                    <a:pt x="2742888" y="0"/>
                  </a:moveTo>
                  <a:lnTo>
                    <a:pt x="10723" y="1742563"/>
                  </a:lnTo>
                  <a:lnTo>
                    <a:pt x="0" y="174940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45438" y="4287784"/>
              <a:ext cx="135890" cy="117475"/>
            </a:xfrm>
            <a:custGeom>
              <a:avLst/>
              <a:gdLst/>
              <a:ahLst/>
              <a:cxnLst/>
              <a:rect l="l" t="t" r="r" b="b"/>
              <a:pathLst>
                <a:path w="135889" h="117475">
                  <a:moveTo>
                    <a:pt x="70012" y="0"/>
                  </a:moveTo>
                  <a:lnTo>
                    <a:pt x="0" y="116956"/>
                  </a:lnTo>
                  <a:lnTo>
                    <a:pt x="135572" y="102792"/>
                  </a:lnTo>
                  <a:lnTo>
                    <a:pt x="77094" y="67786"/>
                  </a:lnTo>
                  <a:lnTo>
                    <a:pt x="700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42052" y="5972767"/>
            <a:ext cx="1955164" cy="55054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745"/>
              </a:spcBef>
            </a:pPr>
            <a:r>
              <a:rPr sz="2000" cap="small" spc="-45" dirty="0">
                <a:latin typeface="Lucida Sans Unicode"/>
                <a:cs typeface="Lucida Sans Unicode"/>
              </a:rPr>
              <a:t>Vertex-</a:t>
            </a:r>
            <a:r>
              <a:rPr sz="2000" cap="small" spc="-10" dirty="0">
                <a:latin typeface="Lucida Sans Unicode"/>
                <a:cs typeface="Lucida Sans Unicode"/>
              </a:rPr>
              <a:t>Cover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57151" y="4942459"/>
            <a:ext cx="121920" cy="1030605"/>
            <a:chOff x="1957151" y="4942459"/>
            <a:chExt cx="121920" cy="1030605"/>
          </a:xfrm>
        </p:grpSpPr>
        <p:sp>
          <p:nvSpPr>
            <p:cNvPr id="15" name="object 15"/>
            <p:cNvSpPr/>
            <p:nvPr/>
          </p:nvSpPr>
          <p:spPr>
            <a:xfrm>
              <a:off x="2014918" y="4955159"/>
              <a:ext cx="3810" cy="939165"/>
            </a:xfrm>
            <a:custGeom>
              <a:avLst/>
              <a:gdLst/>
              <a:ahLst/>
              <a:cxnLst/>
              <a:rect l="l" t="t" r="r" b="b"/>
              <a:pathLst>
                <a:path w="3810" h="939164">
                  <a:moveTo>
                    <a:pt x="0" y="0"/>
                  </a:moveTo>
                  <a:lnTo>
                    <a:pt x="3300" y="926169"/>
                  </a:lnTo>
                  <a:lnTo>
                    <a:pt x="3346" y="938869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57151" y="5850631"/>
              <a:ext cx="121920" cy="122555"/>
            </a:xfrm>
            <a:custGeom>
              <a:avLst/>
              <a:gdLst/>
              <a:ahLst/>
              <a:cxnLst/>
              <a:rect l="l" t="t" r="r" b="b"/>
              <a:pathLst>
                <a:path w="121919" h="122554">
                  <a:moveTo>
                    <a:pt x="121918" y="0"/>
                  </a:moveTo>
                  <a:lnTo>
                    <a:pt x="61067" y="30697"/>
                  </a:lnTo>
                  <a:lnTo>
                    <a:pt x="0" y="434"/>
                  </a:lnTo>
                  <a:lnTo>
                    <a:pt x="61394" y="122137"/>
                  </a:lnTo>
                  <a:lnTo>
                    <a:pt x="1219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925035" y="4421673"/>
            <a:ext cx="1676400" cy="55054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94615" rIns="0" bIns="0" rtlCol="0">
            <a:spAutoFit/>
          </a:bodyPr>
          <a:lstStyle/>
          <a:p>
            <a:pPr marL="351790">
              <a:lnSpc>
                <a:spcPct val="100000"/>
              </a:lnSpc>
              <a:spcBef>
                <a:spcPts val="745"/>
              </a:spcBef>
            </a:pPr>
            <a:r>
              <a:rPr sz="2000" cap="small" spc="-254" dirty="0">
                <a:solidFill>
                  <a:srgbClr val="929292"/>
                </a:solidFill>
                <a:latin typeface="Lucida Sans Unicode"/>
                <a:cs typeface="Lucida Sans Unicode"/>
              </a:rPr>
              <a:t>3-</a:t>
            </a:r>
            <a:r>
              <a:rPr sz="2000" cap="small" spc="-10" dirty="0">
                <a:solidFill>
                  <a:srgbClr val="929292"/>
                </a:solidFill>
                <a:latin typeface="Lucida Sans Unicode"/>
                <a:cs typeface="Lucida Sans Unicode"/>
              </a:rPr>
              <a:t>Color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15816" y="2600297"/>
            <a:ext cx="1605280" cy="1821814"/>
            <a:chOff x="5915816" y="2600297"/>
            <a:chExt cx="1605280" cy="1821814"/>
          </a:xfrm>
        </p:grpSpPr>
        <p:sp>
          <p:nvSpPr>
            <p:cNvPr id="19" name="object 19"/>
            <p:cNvSpPr/>
            <p:nvPr/>
          </p:nvSpPr>
          <p:spPr>
            <a:xfrm>
              <a:off x="5928516" y="2612997"/>
              <a:ext cx="1540510" cy="1750060"/>
            </a:xfrm>
            <a:custGeom>
              <a:avLst/>
              <a:gdLst/>
              <a:ahLst/>
              <a:cxnLst/>
              <a:rect l="l" t="t" r="r" b="b"/>
              <a:pathLst>
                <a:path w="1540509" h="1750060">
                  <a:moveTo>
                    <a:pt x="0" y="0"/>
                  </a:moveTo>
                  <a:lnTo>
                    <a:pt x="1531990" y="1740044"/>
                  </a:lnTo>
                  <a:lnTo>
                    <a:pt x="1540385" y="1749578"/>
                  </a:lnTo>
                </a:path>
              </a:pathLst>
            </a:custGeom>
            <a:ln w="254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394614" y="4289883"/>
              <a:ext cx="126364" cy="132080"/>
            </a:xfrm>
            <a:custGeom>
              <a:avLst/>
              <a:gdLst/>
              <a:ahLst/>
              <a:cxnLst/>
              <a:rect l="l" t="t" r="r" b="b"/>
              <a:pathLst>
                <a:path w="126365" h="132079">
                  <a:moveTo>
                    <a:pt x="91507" y="0"/>
                  </a:moveTo>
                  <a:lnTo>
                    <a:pt x="65895" y="63160"/>
                  </a:lnTo>
                  <a:lnTo>
                    <a:pt x="0" y="80566"/>
                  </a:lnTo>
                  <a:lnTo>
                    <a:pt x="126319" y="131790"/>
                  </a:lnTo>
                  <a:lnTo>
                    <a:pt x="91507" y="0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133566" y="5997602"/>
            <a:ext cx="1642110" cy="55054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745"/>
              </a:spcBef>
            </a:pPr>
            <a:r>
              <a:rPr sz="2000" cap="small" spc="-70" dirty="0">
                <a:latin typeface="Lucida Sans Unicode"/>
                <a:cs typeface="Lucida Sans Unicode"/>
              </a:rPr>
              <a:t>Ham-</a:t>
            </a:r>
            <a:r>
              <a:rPr sz="2000" cap="small" spc="-10" dirty="0">
                <a:latin typeface="Lucida Sans Unicode"/>
                <a:cs typeface="Lucida Sans Unicode"/>
              </a:rPr>
              <a:t>Cycle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895072" y="4942459"/>
            <a:ext cx="121920" cy="1055370"/>
            <a:chOff x="4895072" y="4942459"/>
            <a:chExt cx="121920" cy="1055370"/>
          </a:xfrm>
        </p:grpSpPr>
        <p:sp>
          <p:nvSpPr>
            <p:cNvPr id="23" name="object 23"/>
            <p:cNvSpPr/>
            <p:nvPr/>
          </p:nvSpPr>
          <p:spPr>
            <a:xfrm>
              <a:off x="4955877" y="4955159"/>
              <a:ext cx="3810" cy="963930"/>
            </a:xfrm>
            <a:custGeom>
              <a:avLst/>
              <a:gdLst/>
              <a:ahLst/>
              <a:cxnLst/>
              <a:rect l="l" t="t" r="r" b="b"/>
              <a:pathLst>
                <a:path w="3810" h="963929">
                  <a:moveTo>
                    <a:pt x="3470" y="0"/>
                  </a:moveTo>
                  <a:lnTo>
                    <a:pt x="45" y="951005"/>
                  </a:lnTo>
                  <a:lnTo>
                    <a:pt x="0" y="96370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895072" y="5875464"/>
              <a:ext cx="121920" cy="122555"/>
            </a:xfrm>
            <a:custGeom>
              <a:avLst/>
              <a:gdLst/>
              <a:ahLst/>
              <a:cxnLst/>
              <a:rect l="l" t="t" r="r" b="b"/>
              <a:pathLst>
                <a:path w="121920" h="122554">
                  <a:moveTo>
                    <a:pt x="0" y="0"/>
                  </a:moveTo>
                  <a:lnTo>
                    <a:pt x="60520" y="122138"/>
                  </a:lnTo>
                  <a:lnTo>
                    <a:pt x="121918" y="439"/>
                  </a:lnTo>
                  <a:lnTo>
                    <a:pt x="60849" y="30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855136" y="4430706"/>
            <a:ext cx="1816100" cy="55054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68605">
              <a:lnSpc>
                <a:spcPct val="100000"/>
              </a:lnSpc>
              <a:spcBef>
                <a:spcPts val="745"/>
              </a:spcBef>
            </a:pPr>
            <a:r>
              <a:rPr sz="2000" cap="small" spc="-55" dirty="0">
                <a:solidFill>
                  <a:srgbClr val="929292"/>
                </a:solidFill>
                <a:latin typeface="Lucida Sans Unicode"/>
                <a:cs typeface="Lucida Sans Unicode"/>
              </a:rPr>
              <a:t>Subset-</a:t>
            </a:r>
            <a:r>
              <a:rPr sz="2000" cap="small" spc="-25" dirty="0">
                <a:solidFill>
                  <a:srgbClr val="929292"/>
                </a:solidFill>
                <a:latin typeface="Lucida Sans Unicode"/>
                <a:cs typeface="Lucida Sans Unicode"/>
              </a:rPr>
              <a:t>Sum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196174" y="2568880"/>
            <a:ext cx="3977004" cy="1865630"/>
            <a:chOff x="6196174" y="2568880"/>
            <a:chExt cx="3977004" cy="1865630"/>
          </a:xfrm>
        </p:grpSpPr>
        <p:sp>
          <p:nvSpPr>
            <p:cNvPr id="27" name="object 27"/>
            <p:cNvSpPr/>
            <p:nvPr/>
          </p:nvSpPr>
          <p:spPr>
            <a:xfrm>
              <a:off x="6208874" y="2581580"/>
              <a:ext cx="3893185" cy="1816100"/>
            </a:xfrm>
            <a:custGeom>
              <a:avLst/>
              <a:gdLst/>
              <a:ahLst/>
              <a:cxnLst/>
              <a:rect l="l" t="t" r="r" b="b"/>
              <a:pathLst>
                <a:path w="3893184" h="1816100">
                  <a:moveTo>
                    <a:pt x="0" y="0"/>
                  </a:moveTo>
                  <a:lnTo>
                    <a:pt x="3881405" y="1810461"/>
                  </a:lnTo>
                  <a:lnTo>
                    <a:pt x="3892937" y="1815842"/>
                  </a:lnTo>
                </a:path>
              </a:pathLst>
            </a:custGeom>
            <a:ln w="254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0036911" y="4323924"/>
              <a:ext cx="136525" cy="110489"/>
            </a:xfrm>
            <a:custGeom>
              <a:avLst/>
              <a:gdLst/>
              <a:ahLst/>
              <a:cxnLst/>
              <a:rect l="l" t="t" r="r" b="b"/>
              <a:pathLst>
                <a:path w="136525" h="110489">
                  <a:moveTo>
                    <a:pt x="51535" y="0"/>
                  </a:moveTo>
                  <a:lnTo>
                    <a:pt x="53390" y="68130"/>
                  </a:lnTo>
                  <a:lnTo>
                    <a:pt x="0" y="110492"/>
                  </a:lnTo>
                  <a:lnTo>
                    <a:pt x="136260" y="106781"/>
                  </a:lnTo>
                  <a:lnTo>
                    <a:pt x="51535" y="0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10019036" y="5988572"/>
            <a:ext cx="1488440" cy="55054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745"/>
              </a:spcBef>
            </a:pPr>
            <a:r>
              <a:rPr sz="2000" cap="small" spc="-10" dirty="0">
                <a:solidFill>
                  <a:srgbClr val="929292"/>
                </a:solidFill>
                <a:latin typeface="Lucida Sans Unicode"/>
                <a:cs typeface="Lucida Sans Unicode"/>
              </a:rPr>
              <a:t>Knapsack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0702226" y="4981124"/>
            <a:ext cx="121920" cy="1007744"/>
            <a:chOff x="10702226" y="4981124"/>
            <a:chExt cx="121920" cy="1007744"/>
          </a:xfrm>
        </p:grpSpPr>
        <p:sp>
          <p:nvSpPr>
            <p:cNvPr id="31" name="object 31"/>
            <p:cNvSpPr/>
            <p:nvPr/>
          </p:nvSpPr>
          <p:spPr>
            <a:xfrm>
              <a:off x="10763186" y="4981124"/>
              <a:ext cx="0" cy="929005"/>
            </a:xfrm>
            <a:custGeom>
              <a:avLst/>
              <a:gdLst/>
              <a:ahLst/>
              <a:cxnLst/>
              <a:rect l="l" t="t" r="r" b="b"/>
              <a:pathLst>
                <a:path h="929004">
                  <a:moveTo>
                    <a:pt x="0" y="0"/>
                  </a:moveTo>
                  <a:lnTo>
                    <a:pt x="0" y="916008"/>
                  </a:lnTo>
                  <a:lnTo>
                    <a:pt x="0" y="928708"/>
                  </a:lnTo>
                </a:path>
              </a:pathLst>
            </a:custGeom>
            <a:ln w="25400">
              <a:solidFill>
                <a:srgbClr val="BABA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0702226" y="5866652"/>
              <a:ext cx="121920" cy="121920"/>
            </a:xfrm>
            <a:custGeom>
              <a:avLst/>
              <a:gdLst/>
              <a:ahLst/>
              <a:cxnLst/>
              <a:rect l="l" t="t" r="r" b="b"/>
              <a:pathLst>
                <a:path w="121920" h="121920">
                  <a:moveTo>
                    <a:pt x="121919" y="0"/>
                  </a:moveTo>
                  <a:lnTo>
                    <a:pt x="60959" y="30479"/>
                  </a:lnTo>
                  <a:lnTo>
                    <a:pt x="0" y="0"/>
                  </a:lnTo>
                  <a:lnTo>
                    <a:pt x="60959" y="121919"/>
                  </a:lnTo>
                  <a:lnTo>
                    <a:pt x="121919" y="0"/>
                  </a:lnTo>
                  <a:close/>
                </a:path>
              </a:pathLst>
            </a:custGeom>
            <a:solidFill>
              <a:srgbClr val="BABAB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229252" y="7584820"/>
            <a:ext cx="1560195" cy="55054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94615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745"/>
              </a:spcBef>
            </a:pPr>
            <a:r>
              <a:rPr sz="2000" cap="small" spc="-70" dirty="0">
                <a:latin typeface="Lucida Sans Unicode"/>
                <a:cs typeface="Lucida Sans Unicode"/>
              </a:rPr>
              <a:t>Set-</a:t>
            </a:r>
            <a:r>
              <a:rPr sz="2000" cap="small" spc="-10" dirty="0">
                <a:latin typeface="Lucida Sans Unicode"/>
                <a:cs typeface="Lucida Sans Unicode"/>
              </a:rPr>
              <a:t>Cover</a:t>
            </a:r>
            <a:endParaRPr sz="2000">
              <a:latin typeface="Lucida Sans Unicode"/>
              <a:cs typeface="Lucida Sans Unicode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950740" y="6510486"/>
            <a:ext cx="121920" cy="1074420"/>
            <a:chOff x="1950740" y="6510486"/>
            <a:chExt cx="121920" cy="1074420"/>
          </a:xfrm>
        </p:grpSpPr>
        <p:sp>
          <p:nvSpPr>
            <p:cNvPr id="35" name="object 35"/>
            <p:cNvSpPr/>
            <p:nvPr/>
          </p:nvSpPr>
          <p:spPr>
            <a:xfrm>
              <a:off x="2011420" y="6523186"/>
              <a:ext cx="6350" cy="982980"/>
            </a:xfrm>
            <a:custGeom>
              <a:avLst/>
              <a:gdLst/>
              <a:ahLst/>
              <a:cxnLst/>
              <a:rect l="l" t="t" r="r" b="b"/>
              <a:pathLst>
                <a:path w="6350" h="982979">
                  <a:moveTo>
                    <a:pt x="6332" y="0"/>
                  </a:moveTo>
                  <a:lnTo>
                    <a:pt x="81" y="970197"/>
                  </a:lnTo>
                  <a:lnTo>
                    <a:pt x="0" y="982897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950740" y="7462511"/>
              <a:ext cx="121920" cy="122555"/>
            </a:xfrm>
            <a:custGeom>
              <a:avLst/>
              <a:gdLst/>
              <a:ahLst/>
              <a:cxnLst/>
              <a:rect l="l" t="t" r="r" b="b"/>
              <a:pathLst>
                <a:path w="121919" h="122554">
                  <a:moveTo>
                    <a:pt x="0" y="0"/>
                  </a:moveTo>
                  <a:lnTo>
                    <a:pt x="60172" y="122309"/>
                  </a:lnTo>
                  <a:lnTo>
                    <a:pt x="121917" y="784"/>
                  </a:lnTo>
                  <a:lnTo>
                    <a:pt x="60761" y="308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98503" y="8583828"/>
            <a:ext cx="25558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packing</a:t>
            </a:r>
            <a:r>
              <a:rPr sz="1800" b="1" spc="185" dirty="0">
                <a:latin typeface="Tahoma"/>
                <a:cs typeface="Tahoma"/>
              </a:rPr>
              <a:t> </a:t>
            </a:r>
            <a:r>
              <a:rPr sz="1800" b="1" dirty="0">
                <a:latin typeface="Tahoma"/>
                <a:cs typeface="Tahoma"/>
              </a:rPr>
              <a:t>and</a:t>
            </a:r>
            <a:r>
              <a:rPr sz="1800" b="1" spc="19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covering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38" name="object 38"/>
          <p:cNvSpPr txBox="1"/>
          <p:nvPr/>
        </p:nvSpPr>
        <p:spPr>
          <a:xfrm>
            <a:off x="4232909" y="8581570"/>
            <a:ext cx="1371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Tahoma"/>
                <a:cs typeface="Tahoma"/>
              </a:rPr>
              <a:t>sequencing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082311" y="8581570"/>
            <a:ext cx="1420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BABABA"/>
                </a:solidFill>
                <a:latin typeface="Tahoma"/>
                <a:cs typeface="Tahoma"/>
              </a:rPr>
              <a:t>partitioning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101148" y="8581570"/>
            <a:ext cx="1189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BABABA"/>
                </a:solidFill>
                <a:latin typeface="Tahoma"/>
                <a:cs typeface="Tahoma"/>
              </a:rPr>
              <a:t>numerical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427781" y="1628179"/>
            <a:ext cx="2670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ahoma"/>
                <a:cs typeface="Tahoma"/>
              </a:rPr>
              <a:t>constraint</a:t>
            </a:r>
            <a:r>
              <a:rPr sz="1800" b="1" spc="24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satisfaction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 rot="19680000">
            <a:off x="2523501" y="3593909"/>
            <a:ext cx="391823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sz="1600" spc="-155" dirty="0">
                <a:solidFill>
                  <a:srgbClr val="8D3124"/>
                </a:solidFill>
                <a:latin typeface="Lucida Sans Unicode"/>
                <a:cs typeface="Lucida Sans Unicode"/>
              </a:rPr>
              <a:t>3-</a:t>
            </a:r>
            <a:r>
              <a:rPr sz="1600" spc="-150" dirty="0">
                <a:solidFill>
                  <a:srgbClr val="8D3124"/>
                </a:solidFill>
                <a:latin typeface="Lucida Sans Unicode"/>
                <a:cs typeface="Lucida Sans Unicode"/>
              </a:rPr>
              <a:t>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43" name="object 43"/>
          <p:cNvSpPr txBox="1"/>
          <p:nvPr/>
        </p:nvSpPr>
        <p:spPr>
          <a:xfrm rot="19680000">
            <a:off x="2799957" y="3490020"/>
            <a:ext cx="291832" cy="186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5"/>
              </a:lnSpc>
            </a:pPr>
            <a:r>
              <a:rPr sz="125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AT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44" name="object 44"/>
          <p:cNvSpPr txBox="1"/>
          <p:nvPr/>
        </p:nvSpPr>
        <p:spPr>
          <a:xfrm rot="19680000">
            <a:off x="2944853" y="2913788"/>
            <a:ext cx="1781372" cy="203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600"/>
              </a:lnSpc>
            </a:pP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poly-</a:t>
            </a:r>
            <a:r>
              <a:rPr sz="160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time</a:t>
            </a:r>
            <a:r>
              <a:rPr sz="1600" spc="-55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2400" spc="-15" baseline="1736" dirty="0">
                <a:solidFill>
                  <a:srgbClr val="8D3124"/>
                </a:solidFill>
                <a:latin typeface="Lucida Sans Unicode"/>
                <a:cs typeface="Lucida Sans Unicode"/>
              </a:rPr>
              <a:t>reduces</a:t>
            </a:r>
            <a:endParaRPr sz="2400" baseline="1736">
              <a:latin typeface="Lucida Sans Unicode"/>
              <a:cs typeface="Lucida Sans Unicode"/>
            </a:endParaRPr>
          </a:p>
        </p:txBody>
      </p:sp>
      <p:sp>
        <p:nvSpPr>
          <p:cNvPr id="45" name="object 45"/>
          <p:cNvSpPr txBox="1"/>
          <p:nvPr/>
        </p:nvSpPr>
        <p:spPr>
          <a:xfrm rot="19680000">
            <a:off x="2905614" y="3630626"/>
            <a:ext cx="406908" cy="2336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9"/>
              </a:lnSpc>
            </a:pPr>
            <a:r>
              <a:rPr sz="1600" dirty="0">
                <a:solidFill>
                  <a:srgbClr val="8D3124"/>
                </a:solidFill>
                <a:latin typeface="Lucida Sans Unicode"/>
                <a:cs typeface="Lucida Sans Unicode"/>
              </a:rPr>
              <a:t>to</a:t>
            </a:r>
            <a:r>
              <a:rPr sz="1600" spc="-40" dirty="0">
                <a:solidFill>
                  <a:srgbClr val="8D3124"/>
                </a:solidFill>
                <a:latin typeface="Lucida Sans Unicode"/>
                <a:cs typeface="Lucida Sans Unicode"/>
              </a:rPr>
              <a:t> </a:t>
            </a:r>
            <a:r>
              <a:rPr sz="1600" spc="-50" dirty="0">
                <a:solidFill>
                  <a:srgbClr val="8D3124"/>
                </a:solidFill>
                <a:latin typeface="Lucida Sans Unicode"/>
                <a:cs typeface="Lucida Sans Unicode"/>
              </a:rPr>
              <a:t>I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46" name="object 46"/>
          <p:cNvSpPr txBox="1"/>
          <p:nvPr/>
        </p:nvSpPr>
        <p:spPr>
          <a:xfrm rot="19680000">
            <a:off x="3159355" y="3307873"/>
            <a:ext cx="1083366" cy="15875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1250" spc="-10" dirty="0">
                <a:solidFill>
                  <a:srgbClr val="8D3124"/>
                </a:solidFill>
                <a:latin typeface="Lucida Sans Unicode"/>
                <a:cs typeface="Lucida Sans Unicode"/>
              </a:rPr>
              <a:t>NDEPENDENT</a:t>
            </a:r>
            <a:endParaRPr sz="1250">
              <a:latin typeface="Lucida Sans Unicode"/>
              <a:cs typeface="Lucida Sans Unicode"/>
            </a:endParaRPr>
          </a:p>
        </p:txBody>
      </p:sp>
      <p:sp>
        <p:nvSpPr>
          <p:cNvPr id="47" name="object 47"/>
          <p:cNvSpPr txBox="1"/>
          <p:nvPr/>
        </p:nvSpPr>
        <p:spPr>
          <a:xfrm rot="19680000">
            <a:off x="4064812" y="2926585"/>
            <a:ext cx="300754" cy="232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30"/>
              </a:lnSpc>
            </a:pPr>
            <a:r>
              <a:rPr sz="1600" spc="-220" dirty="0">
                <a:solidFill>
                  <a:srgbClr val="8D3124"/>
                </a:solidFill>
                <a:latin typeface="Lucida Sans Unicode"/>
                <a:cs typeface="Lucida Sans Unicode"/>
              </a:rPr>
              <a:t>-</a:t>
            </a:r>
            <a:r>
              <a:rPr sz="1600" spc="-229" dirty="0">
                <a:solidFill>
                  <a:srgbClr val="8D3124"/>
                </a:solidFill>
                <a:latin typeface="Lucida Sans Unicode"/>
                <a:cs typeface="Lucida Sans Unicode"/>
              </a:rPr>
              <a:t>S</a:t>
            </a:r>
            <a:endParaRPr sz="1600">
              <a:latin typeface="Lucida Sans Unicode"/>
              <a:cs typeface="Lucida Sans Unicode"/>
            </a:endParaRPr>
          </a:p>
        </p:txBody>
      </p:sp>
      <p:sp>
        <p:nvSpPr>
          <p:cNvPr id="48" name="object 48"/>
          <p:cNvSpPr txBox="1"/>
          <p:nvPr/>
        </p:nvSpPr>
        <p:spPr>
          <a:xfrm rot="19680000">
            <a:off x="4240194" y="2863576"/>
            <a:ext cx="274350" cy="185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460"/>
              </a:lnSpc>
            </a:pPr>
            <a:r>
              <a:rPr sz="1250" spc="-25" dirty="0">
                <a:solidFill>
                  <a:srgbClr val="8D3124"/>
                </a:solidFill>
                <a:latin typeface="Lucida Sans Unicode"/>
                <a:cs typeface="Lucida Sans Unicode"/>
              </a:rPr>
              <a:t>ET</a:t>
            </a:r>
            <a:endParaRPr sz="12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5500" y="990573"/>
            <a:ext cx="11366500" cy="635"/>
          </a:xfrm>
          <a:custGeom>
            <a:avLst/>
            <a:gdLst/>
            <a:ahLst/>
            <a:cxnLst/>
            <a:rect l="l" t="t" r="r" b="b"/>
            <a:pathLst>
              <a:path w="11366500" h="634">
                <a:moveTo>
                  <a:pt x="0" y="27"/>
                </a:moveTo>
                <a:lnTo>
                  <a:pt x="11366498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448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0" dirty="0"/>
              <a:t>My</a:t>
            </a:r>
            <a:r>
              <a:rPr spc="85" dirty="0"/>
              <a:t> </a:t>
            </a:r>
            <a:r>
              <a:rPr spc="55" dirty="0"/>
              <a:t>hobby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4185" y="1658461"/>
            <a:ext cx="10124687" cy="654940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13926" y="8429443"/>
            <a:ext cx="472567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3765" marR="906780" algn="ctr">
              <a:lnSpc>
                <a:spcPct val="121400"/>
              </a:lnSpc>
              <a:spcBef>
                <a:spcPts val="100"/>
              </a:spcBef>
            </a:pPr>
            <a:r>
              <a:rPr sz="1400" b="1" spc="70" dirty="0">
                <a:solidFill>
                  <a:srgbClr val="AAAAAA"/>
                </a:solidFill>
                <a:latin typeface="Tahoma"/>
                <a:cs typeface="Tahoma"/>
              </a:rPr>
              <a:t>NP-</a:t>
            </a:r>
            <a:r>
              <a:rPr sz="1400" b="1" dirty="0">
                <a:solidFill>
                  <a:srgbClr val="AAAAAA"/>
                </a:solidFill>
                <a:latin typeface="Tahoma"/>
                <a:cs typeface="Tahoma"/>
              </a:rPr>
              <a:t>Complete</a:t>
            </a:r>
            <a:r>
              <a:rPr sz="1400" b="1" spc="114" dirty="0">
                <a:solidFill>
                  <a:srgbClr val="AAAAAA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AAAAAA"/>
                </a:solidFill>
                <a:latin typeface="Tahoma"/>
                <a:cs typeface="Tahoma"/>
              </a:rPr>
              <a:t>by</a:t>
            </a:r>
            <a:r>
              <a:rPr sz="1400" b="1" spc="114" dirty="0">
                <a:solidFill>
                  <a:srgbClr val="AAAAAA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AAAAAA"/>
                </a:solidFill>
                <a:latin typeface="Tahoma"/>
                <a:cs typeface="Tahoma"/>
              </a:rPr>
              <a:t>Randall</a:t>
            </a:r>
            <a:r>
              <a:rPr sz="1400" b="1" spc="114" dirty="0">
                <a:solidFill>
                  <a:srgbClr val="AAAAAA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AAAAAA"/>
                </a:solidFill>
                <a:latin typeface="Tahoma"/>
                <a:cs typeface="Tahoma"/>
              </a:rPr>
              <a:t>Munro </a:t>
            </a:r>
            <a:r>
              <a:rPr sz="1400" b="1" spc="-10" dirty="0">
                <a:solidFill>
                  <a:srgbClr val="AAAAAA"/>
                </a:solidFill>
                <a:latin typeface="Tahoma"/>
                <a:cs typeface="Tahoma"/>
                <a:hlinkClick r:id="rId3"/>
              </a:rPr>
              <a:t>http://xkcd.com/287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60"/>
              </a:spcBef>
            </a:pPr>
            <a:r>
              <a:rPr sz="1400" b="1" dirty="0">
                <a:solidFill>
                  <a:srgbClr val="AAAAAA"/>
                </a:solidFill>
                <a:latin typeface="Tahoma"/>
                <a:cs typeface="Tahoma"/>
              </a:rPr>
              <a:t>Creative</a:t>
            </a:r>
            <a:r>
              <a:rPr sz="1400" b="1" spc="320" dirty="0">
                <a:solidFill>
                  <a:srgbClr val="AAAAAA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AAAAAA"/>
                </a:solidFill>
                <a:latin typeface="Tahoma"/>
                <a:cs typeface="Tahoma"/>
              </a:rPr>
              <a:t>Commons</a:t>
            </a:r>
            <a:r>
              <a:rPr sz="1400" b="1" spc="320" dirty="0">
                <a:solidFill>
                  <a:srgbClr val="AAAAAA"/>
                </a:solidFill>
                <a:latin typeface="Tahoma"/>
                <a:cs typeface="Tahoma"/>
              </a:rPr>
              <a:t> </a:t>
            </a:r>
            <a:r>
              <a:rPr sz="1400" b="1" dirty="0">
                <a:solidFill>
                  <a:srgbClr val="AAAAAA"/>
                </a:solidFill>
                <a:latin typeface="Tahoma"/>
                <a:cs typeface="Tahoma"/>
              </a:rPr>
              <a:t>Attribution-NonCommercial</a:t>
            </a:r>
            <a:r>
              <a:rPr sz="1400" b="1" spc="320" dirty="0">
                <a:solidFill>
                  <a:srgbClr val="AAAAAA"/>
                </a:solidFill>
                <a:latin typeface="Tahoma"/>
                <a:cs typeface="Tahoma"/>
              </a:rPr>
              <a:t> </a:t>
            </a:r>
            <a:r>
              <a:rPr sz="1400" b="1" spc="-25" dirty="0">
                <a:solidFill>
                  <a:srgbClr val="AAAAAA"/>
                </a:solidFill>
                <a:latin typeface="Tahoma"/>
                <a:cs typeface="Tahoma"/>
              </a:rPr>
              <a:t>2.5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AAAAA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896</Words>
  <Application>Microsoft Office PowerPoint</Application>
  <PresentationFormat>Custom</PresentationFormat>
  <Paragraphs>375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8. Intractability I</vt:lpstr>
      <vt:lpstr>8. Intractability I</vt:lpstr>
      <vt:lpstr>Algorithm design patterns and antipatterns</vt:lpstr>
      <vt:lpstr>Classify problems according to computational requirements</vt:lpstr>
      <vt:lpstr>Classify problems according to computational requirements</vt:lpstr>
      <vt:lpstr>Classify problems</vt:lpstr>
      <vt:lpstr>Poly-time reductions</vt:lpstr>
      <vt:lpstr>Poly-time reductions</vt:lpstr>
      <vt:lpstr>Poly-time reductions</vt:lpstr>
      <vt:lpstr>8. Intractability I</vt:lpstr>
      <vt:lpstr>Independent set</vt:lpstr>
      <vt:lpstr>Vertex cover</vt:lpstr>
      <vt:lpstr>Intractability: quiz 3</vt:lpstr>
      <vt:lpstr>Vertex cover and independent set reduce to one another</vt:lpstr>
      <vt:lpstr>Vertex cover and independent set reduce to one another</vt:lpstr>
      <vt:lpstr>Vertex cover and independent set reduce to one another</vt:lpstr>
      <vt:lpstr>Set cover</vt:lpstr>
      <vt:lpstr>Vertex cover reduces to set cover</vt:lpstr>
      <vt:lpstr>Vertex cover reduces to set cover</vt:lpstr>
      <vt:lpstr>Vertex cover reduces to set cover</vt:lpstr>
      <vt:lpstr>Satisfiability</vt:lpstr>
      <vt:lpstr>Satisfiability is hard</vt:lpstr>
      <vt:lpstr>Review</vt:lpstr>
      <vt:lpstr>Decision, search, and optimization problems</vt:lpstr>
      <vt:lpstr>Search problems vs. decision problems</vt:lpstr>
      <vt:lpstr>Optimization problems vs. search problems</vt:lpstr>
      <vt:lpstr>Poly-time reductions</vt:lpstr>
      <vt:lpstr>My hobby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08IntractabilityI</dc:title>
  <dc:creator>Administrator</dc:creator>
  <cp:lastModifiedBy>Admin</cp:lastModifiedBy>
  <cp:revision>1</cp:revision>
  <dcterms:created xsi:type="dcterms:W3CDTF">2025-05-22T09:33:45Z</dcterms:created>
  <dcterms:modified xsi:type="dcterms:W3CDTF">2025-05-22T09:13:27Z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2022-01-05T00:00:00Z</vt:filetime>
  </property>
  <property fmtid="{D5CDD505-2E9C-101B-9397-08002B2CF9AE}" pid="3" name="Creator">
    <vt:lpwstr>Keynote</vt:lpwstr>
  </property>
  <property fmtid="{D5CDD505-2E9C-101B-9397-08002B2CF9AE}" pid="4" name="LastSaved">
    <vt:filetime>2025-05-22T00:00:00Z</vt:filetime>
  </property>
  <property fmtid="{D5CDD505-2E9C-101B-9397-08002B2CF9AE}" pid="5" name="Producer">
    <vt:lpwstr>macOS Version 10.15.7 (Build 19H1519) Quartz PDFContext</vt:lpwstr>
  </property>
</Properties>
</file>