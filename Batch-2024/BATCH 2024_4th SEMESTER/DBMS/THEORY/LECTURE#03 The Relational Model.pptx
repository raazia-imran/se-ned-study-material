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coQexe87OfheExR33Z5WBS2R7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375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3741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0191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2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738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70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 txBox="1"/>
          <p:nvPr/>
        </p:nvSpPr>
        <p:spPr>
          <a:xfrm>
            <a:off x="4143375" y="9120187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  <p:sp>
        <p:nvSpPr>
          <p:cNvPr id="200" name="Google Shape;2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2313"/>
            <a:ext cx="4799012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4:notes"/>
          <p:cNvSpPr txBox="1">
            <a:spLocks noGrp="1"/>
          </p:cNvSpPr>
          <p:nvPr>
            <p:ph type="body" idx="1"/>
          </p:nvPr>
        </p:nvSpPr>
        <p:spPr>
          <a:xfrm>
            <a:off x="731837" y="4560887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984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marL="2286000" lvl="4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marL="2743200" lvl="5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marL="3200400" lvl="6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marL="3657600" lvl="7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marL="4114800" lvl="8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6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>
            <a:spLocks noGrp="1"/>
          </p:cNvSpPr>
          <p:nvPr>
            <p:ph type="title"/>
          </p:nvPr>
        </p:nvSpPr>
        <p:spPr>
          <a:xfrm rot="5400000">
            <a:off x="4859338" y="2303463"/>
            <a:ext cx="5597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body" idx="1"/>
          </p:nvPr>
        </p:nvSpPr>
        <p:spPr>
          <a:xfrm rot="5400000">
            <a:off x="668338" y="322262"/>
            <a:ext cx="5597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1"/>
          </p:nvPr>
        </p:nvSpPr>
        <p:spPr>
          <a:xfrm rot="5400000">
            <a:off x="2420938" y="-134937"/>
            <a:ext cx="43021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□"/>
              <a:defRPr/>
            </a:lvl1pPr>
            <a:lvl2pPr marL="914400" lvl="1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/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126" name="Google Shape;126;p3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□"/>
              <a:defRPr sz="3200"/>
            </a:lvl1pPr>
            <a:lvl2pPr marL="914400" lvl="1" indent="-361950" algn="l">
              <a:spcBef>
                <a:spcPts val="560"/>
              </a:spcBef>
              <a:spcAft>
                <a:spcPts val="0"/>
              </a:spcAft>
              <a:buSzPts val="2100"/>
              <a:buChar char="■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□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4pPr>
            <a:lvl5pPr marL="2286000" lvl="4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5pPr>
            <a:lvl6pPr marL="2743200" lvl="5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6pPr>
            <a:lvl7pPr marL="3200400" lvl="6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7pPr>
            <a:lvl8pPr marL="3657600" lvl="7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8pPr>
            <a:lvl9pPr marL="4114800" lvl="8" indent="-292100" algn="l">
              <a:spcBef>
                <a:spcPts val="400"/>
              </a:spcBef>
              <a:spcAft>
                <a:spcPts val="0"/>
              </a:spcAft>
              <a:buSzPts val="1000"/>
              <a:buChar char="□"/>
              <a:defRPr sz="20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9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3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□"/>
              <a:defRPr sz="2400"/>
            </a:lvl1pPr>
            <a:lvl2pPr marL="914400" lvl="1" indent="-323850" algn="l">
              <a:spcBef>
                <a:spcPts val="400"/>
              </a:spcBef>
              <a:spcAft>
                <a:spcPts val="0"/>
              </a:spcAft>
              <a:buSzPts val="1500"/>
              <a:buChar char="■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□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□"/>
              <a:defRPr sz="1600"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2"/>
          </p:nvPr>
        </p:nvSpPr>
        <p:spPr>
          <a:xfrm>
            <a:off x="4648200" y="1828800"/>
            <a:ext cx="4038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□"/>
              <a:defRPr sz="2800"/>
            </a:lvl1pPr>
            <a:lvl2pPr marL="914400" lvl="1" indent="-342900" algn="l">
              <a:spcBef>
                <a:spcPts val="480"/>
              </a:spcBef>
              <a:spcAft>
                <a:spcPts val="0"/>
              </a:spcAft>
              <a:buSzPts val="1800"/>
              <a:buChar char="■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□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□"/>
              <a:defRPr sz="1800"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35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381000" y="990600"/>
            <a:ext cx="76200" cy="510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oogle Shape;11;p15"/>
          <p:cNvGrpSpPr/>
          <p:nvPr/>
        </p:nvGrpSpPr>
        <p:grpSpPr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12" name="Google Shape;12;p15"/>
            <p:cNvSpPr txBox="1"/>
            <p:nvPr/>
          </p:nvSpPr>
          <p:spPr>
            <a:xfrm rot="10800000" flipH="1">
              <a:off x="5236" y="192"/>
              <a:ext cx="288" cy="288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5"/>
            <p:cNvSpPr txBox="1"/>
            <p:nvPr/>
          </p:nvSpPr>
          <p:spPr>
            <a:xfrm rot="10800000" flipH="1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5"/>
            <p:cNvSpPr txBox="1"/>
            <p:nvPr/>
          </p:nvSpPr>
          <p:spPr>
            <a:xfrm rot="10800000" flipH="1">
              <a:off x="240" y="480"/>
              <a:ext cx="5004" cy="144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5"/>
            <p:cNvSpPr txBox="1"/>
            <p:nvPr/>
          </p:nvSpPr>
          <p:spPr>
            <a:xfrm rot="10800000" flipH="1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" name="Google Shape;16;p15"/>
            <p:cNvCxnSpPr/>
            <p:nvPr/>
          </p:nvCxnSpPr>
          <p:spPr>
            <a:xfrm rot="10800000">
              <a:off x="480" y="2256"/>
              <a:ext cx="4848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" name="Google Shape;17;p15"/>
            <p:cNvSpPr txBox="1"/>
            <p:nvPr/>
          </p:nvSpPr>
          <p:spPr>
            <a:xfrm>
              <a:off x="240" y="192"/>
              <a:ext cx="5286" cy="3648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2240"/>
              <a:buFont typeface="Noto Sans Symbols"/>
              <a:buChar char="□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195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2766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 b="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2766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560"/>
              <a:buFont typeface="Noto Sans Symbols"/>
              <a:buChar char="□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98" name="Google Shape;98;p17"/>
          <p:cNvGrpSpPr/>
          <p:nvPr/>
        </p:nvGrpSpPr>
        <p:grpSpPr>
          <a:xfrm>
            <a:off x="279400" y="152400"/>
            <a:ext cx="8686800" cy="1600200"/>
            <a:chOff x="176" y="96"/>
            <a:chExt cx="5472" cy="1008"/>
          </a:xfrm>
        </p:grpSpPr>
        <p:cxnSp>
          <p:nvCxnSpPr>
            <p:cNvPr id="99" name="Google Shape;99;p17"/>
            <p:cNvCxnSpPr/>
            <p:nvPr/>
          </p:nvCxnSpPr>
          <p:spPr>
            <a:xfrm rot="10800000">
              <a:off x="288" y="1104"/>
              <a:ext cx="5232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0" name="Google Shape;100;p17"/>
            <p:cNvSpPr txBox="1"/>
            <p:nvPr/>
          </p:nvSpPr>
          <p:spPr>
            <a:xfrm>
              <a:off x="5504" y="96"/>
              <a:ext cx="144" cy="144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176" y="240"/>
              <a:ext cx="5326" cy="88"/>
            </a:xfrm>
            <a:prstGeom prst="rect">
              <a:avLst/>
            </a:prstGeom>
            <a:solidFill>
              <a:schemeClr val="l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"/>
          <p:cNvSpPr txBox="1"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</a:t>
            </a:r>
            <a:r>
              <a:rPr lang="en-US" sz="4400" b="0" i="0" u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dirty="0"/>
          </a:p>
        </p:txBody>
      </p:sp>
      <p:sp>
        <p:nvSpPr>
          <p:cNvPr id="179" name="Google Shape;17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872287" cy="220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</a:pPr>
            <a:r>
              <a:rPr lang="en-US" sz="4000" dirty="0"/>
              <a:t>The Relational </a:t>
            </a:r>
            <a:r>
              <a:rPr lang="en-US" sz="4000" dirty="0" smtClean="0"/>
              <a:t>Model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endParaRPr sz="1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Course Instructor: Engr.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Ruqqiya</a:t>
            </a:r>
            <a:r>
              <a:rPr lang="en-US" sz="1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Asad</a:t>
            </a:r>
            <a:endParaRPr dirty="0"/>
          </a:p>
        </p:txBody>
      </p:sp>
      <p:sp>
        <p:nvSpPr>
          <p:cNvPr id="180" name="Google Shape;180;p1"/>
          <p:cNvSpPr txBox="1"/>
          <p:nvPr/>
        </p:nvSpPr>
        <p:spPr>
          <a:xfrm>
            <a:off x="685800" y="1052512"/>
            <a:ext cx="68389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System SE-208</a:t>
            </a:r>
            <a:endParaRPr/>
          </a:p>
        </p:txBody>
      </p:sp>
      <p:sp>
        <p:nvSpPr>
          <p:cNvPr id="181" name="Google Shape;181;p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US" sz="44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188" name="Google Shape;188;p2"/>
          <p:cNvSpPr txBox="1">
            <a:spLocks noGrp="1"/>
          </p:cNvSpPr>
          <p:nvPr>
            <p:ph type="body" idx="1"/>
          </p:nvPr>
        </p:nvSpPr>
        <p:spPr>
          <a:xfrm>
            <a:off x="457200" y="1828800"/>
            <a:ext cx="8229600" cy="430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469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Three-Level ANSI-SPARC Architecture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Languages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Models and Conceptual Modeling</a:t>
            </a:r>
            <a:endParaRPr/>
          </a:p>
          <a:p>
            <a:pPr marL="469900" marR="0" lvl="0" indent="-469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□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a DBMS</a:t>
            </a:r>
            <a:endParaRPr/>
          </a:p>
          <a:p>
            <a:pPr marL="469900" marR="0" lvl="0" indent="-3632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632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632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6322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6322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"/>
          <p:cNvSpPr txBox="1">
            <a:spLocks noGrp="1"/>
          </p:cNvSpPr>
          <p:nvPr>
            <p:ph type="title"/>
          </p:nvPr>
        </p:nvSpPr>
        <p:spPr>
          <a:xfrm>
            <a:off x="457200" y="869950"/>
            <a:ext cx="8229600" cy="92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dk2"/>
              </a:buClr>
              <a:buSzPts val="3600"/>
            </a:pPr>
            <a:r>
              <a:rPr lang="en-US" sz="3600" dirty="0"/>
              <a:t>Brief History of the Relational Model</a:t>
            </a:r>
            <a:endParaRPr dirty="0"/>
          </a:p>
        </p:txBody>
      </p:sp>
      <p:sp>
        <p:nvSpPr>
          <p:cNvPr id="197" name="Google Shape;197;p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28600" y="1867079"/>
            <a:ext cx="765933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by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 F.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Codd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1970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 IBM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Published in the paper </a:t>
            </a:r>
            <a:r>
              <a:rPr kumimoji="0" lang="en-US" alt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Relational Model of Data for Large Shared Data Banks”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the idea of storing data in the form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 (tables)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goal: achieve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independence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physical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redundancy and improve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 Project (IBM, USA)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Proved that the relational model is practical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 to the development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(Structured Query Language)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INGRES Project (University of California, Berkeley)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prototype RDBMS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Resulted in academic and commercial database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Peterlee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Relational Test Vehicle (IBM UK)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theoretical issues like query processing and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1970s–1980s: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commercial RDBMS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Oracle, DB2, SQL/DS, INGRES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Relational model became the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model for database systems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Later, extensions were proposed: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 Databases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and Deductive Databases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 txBox="1">
            <a:spLocks noGrp="1"/>
          </p:cNvSpPr>
          <p:nvPr>
            <p:ph type="title"/>
          </p:nvPr>
        </p:nvSpPr>
        <p:spPr>
          <a:xfrm>
            <a:off x="428625" y="571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Clr>
                <a:schemeClr val="dk2"/>
              </a:buClr>
              <a:buSzPts val="3600"/>
            </a:pPr>
            <a:r>
              <a:rPr lang="en-US" sz="3600" dirty="0"/>
              <a:t>Relational Model Objectives</a:t>
            </a:r>
            <a:endParaRPr dirty="0"/>
          </a:p>
        </p:txBody>
      </p:sp>
      <p:sp>
        <p:nvSpPr>
          <p:cNvPr id="205" name="Google Shape;205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206" name="Google Shape;206;p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8625" y="1974162"/>
            <a:ext cx="858879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degree of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independence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(Programs not affected by changes in file structure, record order, or access paths)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of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semantics, consistency, and redundancy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(Introduction of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relations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no repeating groups)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for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set-oriented data manipulation languages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(Foundation for powerful query languages like 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Relation:</a:t>
            </a:r>
            <a:r>
              <a:rPr lang="en-US" dirty="0" smtClean="0"/>
              <a:t> A </a:t>
            </a:r>
            <a:r>
              <a:rPr lang="en-US" dirty="0"/>
              <a:t>relation is a table with columns and </a:t>
            </a:r>
            <a:r>
              <a:rPr lang="en-US" dirty="0" smtClean="0"/>
              <a:t>rows</a:t>
            </a:r>
            <a:endParaRPr lang="en-US" dirty="0"/>
          </a:p>
          <a:p>
            <a:r>
              <a:rPr lang="en-US" b="1" dirty="0" smtClean="0"/>
              <a:t>Attribute:</a:t>
            </a:r>
            <a:r>
              <a:rPr lang="en-US" dirty="0" smtClean="0"/>
              <a:t> </a:t>
            </a:r>
            <a:r>
              <a:rPr lang="en-US" dirty="0"/>
              <a:t>An attribute is a named column of a </a:t>
            </a:r>
            <a:r>
              <a:rPr lang="en-US" dirty="0" smtClean="0"/>
              <a:t>relation</a:t>
            </a:r>
          </a:p>
          <a:p>
            <a:r>
              <a:rPr lang="en-US" b="1" dirty="0" smtClean="0"/>
              <a:t>Domain:</a:t>
            </a:r>
            <a:r>
              <a:rPr lang="en-US" dirty="0" smtClean="0"/>
              <a:t> </a:t>
            </a:r>
            <a:r>
              <a:rPr lang="en-US" dirty="0"/>
              <a:t>A domain is the set of allowable values for one or more attributes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Tuple: </a:t>
            </a:r>
            <a:r>
              <a:rPr lang="en-US" dirty="0"/>
              <a:t>A tuple is a row of a </a:t>
            </a:r>
            <a:r>
              <a:rPr lang="en-US" dirty="0" smtClean="0"/>
              <a:t>relation</a:t>
            </a:r>
          </a:p>
          <a:p>
            <a:r>
              <a:rPr lang="en-US" b="1" dirty="0" smtClean="0"/>
              <a:t>Degree:</a:t>
            </a:r>
            <a:r>
              <a:rPr lang="en-US" dirty="0" smtClean="0"/>
              <a:t> </a:t>
            </a:r>
            <a:r>
              <a:rPr lang="en-US" dirty="0"/>
              <a:t>The degree of a relation is the number of attributes it contains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Cardinality: </a:t>
            </a:r>
            <a:r>
              <a:rPr lang="en-US" dirty="0" smtClean="0"/>
              <a:t>The </a:t>
            </a:r>
            <a:r>
              <a:rPr lang="en-US" dirty="0"/>
              <a:t>cardinality of a relation is the number of tuples it contains</a:t>
            </a:r>
            <a:r>
              <a:rPr lang="en-US" dirty="0" smtClean="0"/>
              <a:t>.</a:t>
            </a:r>
          </a:p>
          <a:p>
            <a:r>
              <a:rPr lang="en-US" b="1" dirty="0"/>
              <a:t>Relational </a:t>
            </a:r>
            <a:r>
              <a:rPr lang="en-US" b="1" dirty="0" smtClean="0"/>
              <a:t>database: </a:t>
            </a:r>
            <a:r>
              <a:rPr lang="en-US" dirty="0"/>
              <a:t>A collection of normalized relations with distinct relation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0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Instances of the Branch and Staff relations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14512"/>
            <a:ext cx="6524624" cy="481448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3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Domains for some attributes of the Branch and Staff </a:t>
            </a:r>
            <a:r>
              <a:rPr lang="en-US" sz="3200" dirty="0" smtClean="0"/>
              <a:t>relations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5737" y="2138363"/>
            <a:ext cx="8570896" cy="3276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9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Alternative terminology for relational model terms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3162"/>
            <a:ext cx="8490923" cy="25431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1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Relations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based on the concept of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Cartesian product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D1 = {2, 4} and D2 = {1, 3, 5}, then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D1 × D2 = {(2,1), (2,3), (2,5), (4,1), (4,3), (4,5)}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subset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 Cartesian product is called a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R = {(2,1), (4,1)}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relation can be defined using a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= {(x, y) | x ∈ D1, y ∈ D2, y = 1}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 can also be defined by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rules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S = {(x, y) | x = 2y} → S = {(2,1)}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three sets, relations are formed from </a:t>
            </a: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triples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D1 × D2 × D3 → {(d1, d2, d3)}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general, for n sets:</a:t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D1 × D2 × … × Dn = {(d1, d2, …, dn)}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subset of these n-tuples is an n-ary relation.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623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Relation </a:t>
            </a:r>
            <a:r>
              <a:rPr lang="en-US" b="1" dirty="0" smtClean="0"/>
              <a:t>schema: </a:t>
            </a:r>
            <a:r>
              <a:rPr lang="en-US" dirty="0"/>
              <a:t>A named relation defined by a set of attribute and domain name pairs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2938" y="2663844"/>
            <a:ext cx="72923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 A1, A2, …, An be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domains D1, D2, …,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set {A1:D1, A2:D2, …,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An:Dn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 is called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 Schema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 (R)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set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tuples (rows)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follow this schema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tuple has the form: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(A1:d1, A2:d2, …,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An:dn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where d1 ∈ D1, d2 ∈ D2, …,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∈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table form: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 → Column headings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Tuples → Rows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(Branch Relation):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relation is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subset of the Cartesian product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attribute domains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Attributes: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branchNo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street, city, postcode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tuple: (B005, 22 Deer Rd, London, SW1 4EH)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specific set of tuples at a time is called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 Instance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is just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representation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a mathematical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</a:t>
            </a:r>
          </a:p>
        </p:txBody>
      </p:sp>
    </p:spTree>
    <p:extLst>
      <p:ext uri="{BB962C8B-B14F-4D97-AF65-F5344CB8AC3E}">
        <p14:creationId xmlns:p14="http://schemas.microsoft.com/office/powerpoint/2010/main" val="4060499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8590" indent="0">
              <a:buNone/>
            </a:pPr>
            <a:r>
              <a:rPr lang="en-US" sz="3600" b="1" dirty="0"/>
              <a:t>Relational database </a:t>
            </a:r>
            <a:r>
              <a:rPr lang="en-US" sz="3600" b="1" dirty="0" smtClean="0"/>
              <a:t>schema: </a:t>
            </a:r>
            <a:r>
              <a:rPr lang="en-US" sz="3600" dirty="0"/>
              <a:t>A set of relation schemas, each with a distinct name. If R1 , R2 , . . . , Rn are a set of relation schemas, then we can write the relational database schema, or simply relational schema, R, as: </a:t>
            </a:r>
            <a:endParaRPr lang="en-US" sz="3600" dirty="0" smtClean="0"/>
          </a:p>
          <a:p>
            <a:pPr marL="148590" indent="0">
              <a:buNone/>
            </a:pPr>
            <a:r>
              <a:rPr lang="en-US" sz="3600" dirty="0" smtClean="0"/>
              <a:t>R </a:t>
            </a:r>
            <a:r>
              <a:rPr lang="en-US" sz="3600" dirty="0"/>
              <a:t>= {R1 , R2 , . . . , Rn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00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8590" indent="0">
              <a:buNone/>
            </a:pPr>
            <a:r>
              <a:rPr lang="en-US" dirty="0"/>
              <a:t>A relation has the following properties: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relation has a name that is distinct from all other relation names in the </a:t>
            </a:r>
            <a:r>
              <a:rPr lang="en-US" dirty="0" smtClean="0"/>
              <a:t>relational </a:t>
            </a:r>
            <a:r>
              <a:rPr lang="en-US" dirty="0"/>
              <a:t>schema;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cell of the relation contains exactly one atomic (single) value;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attribute has a distinct name;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values of an attribute are all from the same domain</a:t>
            </a:r>
            <a:r>
              <a:rPr lang="en-US" dirty="0" smtClean="0"/>
              <a:t>;</a:t>
            </a:r>
          </a:p>
          <a:p>
            <a:r>
              <a:rPr lang="en-US" dirty="0" smtClean="0"/>
              <a:t> each </a:t>
            </a:r>
            <a:r>
              <a:rPr lang="en-US" dirty="0"/>
              <a:t>tuple is distinct; there are no duplicate tuples;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order of attributes has no significance; 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 </a:t>
            </a:r>
            <a:r>
              <a:rPr lang="en-US" dirty="0"/>
              <a:t>order of tuples has no significance, theoretically. (However, in practice, the order may affect the efficiency of accessing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8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Super key: </a:t>
            </a:r>
            <a:r>
              <a:rPr lang="en-US" dirty="0" smtClean="0"/>
              <a:t>An </a:t>
            </a:r>
            <a:r>
              <a:rPr lang="en-US" dirty="0"/>
              <a:t>attribute, or set of attributes, that uniquely </a:t>
            </a:r>
            <a:r>
              <a:rPr lang="en-US" dirty="0" smtClean="0"/>
              <a:t>id</a:t>
            </a:r>
          </a:p>
          <a:p>
            <a:r>
              <a:rPr lang="en-US" b="1" dirty="0"/>
              <a:t>Candidate </a:t>
            </a:r>
            <a:r>
              <a:rPr lang="en-US" b="1" dirty="0" smtClean="0"/>
              <a:t>key: </a:t>
            </a:r>
            <a:r>
              <a:rPr lang="en-US" dirty="0"/>
              <a:t>A </a:t>
            </a:r>
            <a:r>
              <a:rPr lang="en-US" dirty="0" smtClean="0"/>
              <a:t>super key </a:t>
            </a:r>
            <a:r>
              <a:rPr lang="en-US" dirty="0"/>
              <a:t>such that no proper subset is a </a:t>
            </a:r>
            <a:r>
              <a:rPr lang="en-US" dirty="0" smtClean="0"/>
              <a:t>super key </a:t>
            </a:r>
            <a:r>
              <a:rPr lang="en-US" dirty="0"/>
              <a:t>within the </a:t>
            </a:r>
            <a:r>
              <a:rPr lang="en-US" dirty="0" smtClean="0"/>
              <a:t>relation.</a:t>
            </a:r>
          </a:p>
          <a:p>
            <a:r>
              <a:rPr lang="en-US" dirty="0"/>
              <a:t>A candidate key K for a relation R has two properties: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Uniqueness</a:t>
            </a:r>
            <a:r>
              <a:rPr lang="en-US" dirty="0"/>
              <a:t>. In each tuple of R, the values of K uniquely identify that tuple.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Irreducibility</a:t>
            </a:r>
            <a:r>
              <a:rPr lang="en-US" dirty="0"/>
              <a:t>. No proper subset of K has the uniqueness property. There may be several candidate keys for a relation. When a key consists of more than one attribute, we call it a composite key.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Keys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Primary </a:t>
            </a:r>
            <a:r>
              <a:rPr lang="en-US" b="1" dirty="0" smtClean="0"/>
              <a:t>key: </a:t>
            </a:r>
            <a:r>
              <a:rPr lang="en-US" dirty="0"/>
              <a:t>The candidate key that is selected to identify tuples uniquely within the relation</a:t>
            </a:r>
            <a:r>
              <a:rPr lang="en-US" dirty="0" smtClean="0"/>
              <a:t>.</a:t>
            </a:r>
          </a:p>
          <a:p>
            <a:r>
              <a:rPr lang="en-US" dirty="0"/>
              <a:t>The candidate keys that are not selected to be the primary key are called </a:t>
            </a:r>
            <a:r>
              <a:rPr lang="en-US" b="1" dirty="0"/>
              <a:t>alternate keys</a:t>
            </a:r>
            <a:r>
              <a:rPr lang="en-US" b="1" dirty="0" smtClean="0"/>
              <a:t>.</a:t>
            </a:r>
          </a:p>
          <a:p>
            <a:r>
              <a:rPr lang="en-US" b="1" dirty="0"/>
              <a:t>Foreign </a:t>
            </a:r>
            <a:r>
              <a:rPr lang="en-US" b="1" dirty="0" smtClean="0"/>
              <a:t>key: </a:t>
            </a:r>
            <a:r>
              <a:rPr lang="en-US" dirty="0"/>
              <a:t>An attribute, or set of attributes, within one relation that matches the candidate key of some (possibly the same) relation.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78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Representing Relational Database Schemas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8590" indent="0">
              <a:buNone/>
            </a:pPr>
            <a:r>
              <a:rPr lang="en-US" dirty="0"/>
              <a:t>A relational database consists of any number of normalized relations. The </a:t>
            </a:r>
            <a:r>
              <a:rPr lang="en-US" dirty="0" smtClean="0"/>
              <a:t>relational </a:t>
            </a:r>
            <a:r>
              <a:rPr lang="en-US" dirty="0"/>
              <a:t>schema for part of the </a:t>
            </a:r>
            <a:r>
              <a:rPr lang="en-US" dirty="0" err="1"/>
              <a:t>DreamHome</a:t>
            </a:r>
            <a:r>
              <a:rPr lang="en-US" dirty="0"/>
              <a:t> case study is: </a:t>
            </a:r>
          </a:p>
          <a:p>
            <a:pPr marL="148590" indent="0">
              <a:buNone/>
            </a:pPr>
            <a:r>
              <a:rPr lang="en-US" sz="2000" b="1" dirty="0"/>
              <a:t>Branch</a:t>
            </a:r>
            <a:r>
              <a:rPr lang="en-US" sz="2000" dirty="0"/>
              <a:t> (</a:t>
            </a:r>
            <a:r>
              <a:rPr lang="en-US" sz="2000" dirty="0" err="1"/>
              <a:t>branchNo</a:t>
            </a:r>
            <a:r>
              <a:rPr lang="en-US" sz="2000" dirty="0"/>
              <a:t>, street, city, postcode) </a:t>
            </a:r>
            <a:endParaRPr lang="en-US" sz="2000" dirty="0" smtClean="0"/>
          </a:p>
          <a:p>
            <a:pPr marL="148590" indent="0">
              <a:buNone/>
            </a:pPr>
            <a:r>
              <a:rPr lang="en-US" sz="2000" b="1" dirty="0" smtClean="0"/>
              <a:t>Staff</a:t>
            </a:r>
            <a:r>
              <a:rPr lang="en-US" sz="2000" dirty="0" smtClean="0"/>
              <a:t> </a:t>
            </a:r>
            <a:r>
              <a:rPr lang="en-US" sz="2000" dirty="0"/>
              <a:t>(</a:t>
            </a:r>
            <a:r>
              <a:rPr lang="en-US" sz="2000" dirty="0" err="1"/>
              <a:t>staffNo</a:t>
            </a:r>
            <a:r>
              <a:rPr lang="en-US" sz="2000" dirty="0"/>
              <a:t>, </a:t>
            </a:r>
            <a:r>
              <a:rPr lang="en-US" sz="2000" dirty="0" err="1"/>
              <a:t>fName</a:t>
            </a:r>
            <a:r>
              <a:rPr lang="en-US" sz="2000" dirty="0"/>
              <a:t>, </a:t>
            </a:r>
            <a:r>
              <a:rPr lang="en-US" sz="2000" dirty="0" err="1"/>
              <a:t>IName</a:t>
            </a:r>
            <a:r>
              <a:rPr lang="en-US" sz="2000" dirty="0"/>
              <a:t>, position, sex, DOB, salary, </a:t>
            </a:r>
            <a:r>
              <a:rPr lang="en-US" sz="2000" dirty="0" err="1"/>
              <a:t>branchNo</a:t>
            </a:r>
            <a:r>
              <a:rPr lang="en-US" sz="2000" dirty="0"/>
              <a:t>) </a:t>
            </a:r>
            <a:endParaRPr lang="en-US" sz="2000" dirty="0" smtClean="0"/>
          </a:p>
          <a:p>
            <a:pPr marL="148590" indent="0">
              <a:buNone/>
            </a:pPr>
            <a:r>
              <a:rPr lang="en-US" sz="2000" b="1" dirty="0" err="1" smtClean="0"/>
              <a:t>PropertyForRent</a:t>
            </a:r>
            <a:r>
              <a:rPr lang="en-US" sz="2000" dirty="0"/>
              <a:t> (</a:t>
            </a:r>
            <a:r>
              <a:rPr lang="en-US" sz="2000" dirty="0" err="1"/>
              <a:t>propertyNo</a:t>
            </a:r>
            <a:r>
              <a:rPr lang="en-US" sz="2000" dirty="0"/>
              <a:t>, street, city, postcode, type, rooms, rent, </a:t>
            </a:r>
            <a:r>
              <a:rPr lang="en-US" sz="2000" dirty="0" err="1"/>
              <a:t>ownerNo</a:t>
            </a:r>
            <a:r>
              <a:rPr lang="en-US" sz="2000" dirty="0"/>
              <a:t>, </a:t>
            </a:r>
            <a:r>
              <a:rPr lang="en-US" sz="2000" dirty="0" err="1"/>
              <a:t>staffNo</a:t>
            </a:r>
            <a:r>
              <a:rPr lang="en-US" sz="2000" dirty="0"/>
              <a:t>, </a:t>
            </a:r>
            <a:r>
              <a:rPr lang="en-US" sz="2000" dirty="0" err="1"/>
              <a:t>branchNo</a:t>
            </a:r>
            <a:r>
              <a:rPr lang="en-US" sz="2000" dirty="0" smtClean="0"/>
              <a:t>)</a:t>
            </a:r>
          </a:p>
          <a:p>
            <a:pPr marL="148590" indent="0">
              <a:buNone/>
            </a:pPr>
            <a:r>
              <a:rPr lang="en-US" sz="2000" b="1" dirty="0" smtClean="0"/>
              <a:t>Client</a:t>
            </a:r>
            <a:r>
              <a:rPr lang="en-US" sz="2000" dirty="0" smtClean="0"/>
              <a:t> </a:t>
            </a:r>
            <a:r>
              <a:rPr lang="en-US" sz="2000" dirty="0"/>
              <a:t>(</a:t>
            </a:r>
            <a:r>
              <a:rPr lang="en-US" sz="2000" dirty="0" err="1"/>
              <a:t>clientNo</a:t>
            </a:r>
            <a:r>
              <a:rPr lang="en-US" sz="2000" dirty="0"/>
              <a:t>, </a:t>
            </a:r>
            <a:r>
              <a:rPr lang="en-US" sz="2000" dirty="0" err="1"/>
              <a:t>fName</a:t>
            </a:r>
            <a:r>
              <a:rPr lang="en-US" sz="2000" dirty="0"/>
              <a:t>, </a:t>
            </a:r>
            <a:r>
              <a:rPr lang="en-US" sz="2000" dirty="0" err="1"/>
              <a:t>IName</a:t>
            </a:r>
            <a:r>
              <a:rPr lang="en-US" sz="2000" dirty="0"/>
              <a:t>, </a:t>
            </a:r>
            <a:r>
              <a:rPr lang="en-US" sz="2000" dirty="0" err="1"/>
              <a:t>telNo</a:t>
            </a:r>
            <a:r>
              <a:rPr lang="en-US" sz="2000" dirty="0"/>
              <a:t>, </a:t>
            </a:r>
            <a:r>
              <a:rPr lang="en-US" sz="2000" dirty="0" err="1"/>
              <a:t>prefType</a:t>
            </a:r>
            <a:r>
              <a:rPr lang="en-US" sz="2000" dirty="0"/>
              <a:t>, </a:t>
            </a:r>
            <a:r>
              <a:rPr lang="en-US" sz="2000" dirty="0" err="1"/>
              <a:t>maxRent</a:t>
            </a:r>
            <a:r>
              <a:rPr lang="en-US" sz="2000" dirty="0"/>
              <a:t>, </a:t>
            </a:r>
            <a:r>
              <a:rPr lang="en-US" sz="2000" dirty="0" err="1"/>
              <a:t>eMail</a:t>
            </a:r>
            <a:r>
              <a:rPr lang="en-US" sz="2000" dirty="0"/>
              <a:t>) </a:t>
            </a:r>
            <a:endParaRPr lang="en-US" sz="2000" dirty="0" smtClean="0"/>
          </a:p>
          <a:p>
            <a:pPr marL="148590" indent="0">
              <a:buNone/>
            </a:pPr>
            <a:r>
              <a:rPr lang="en-US" sz="2000" b="1" dirty="0" err="1" smtClean="0"/>
              <a:t>PrivateOwner</a:t>
            </a:r>
            <a:r>
              <a:rPr lang="en-US" sz="2000" dirty="0"/>
              <a:t> (</a:t>
            </a:r>
            <a:r>
              <a:rPr lang="en-US" sz="2000" dirty="0" err="1"/>
              <a:t>ownerNo</a:t>
            </a:r>
            <a:r>
              <a:rPr lang="en-US" sz="2000" dirty="0"/>
              <a:t>, </a:t>
            </a:r>
            <a:r>
              <a:rPr lang="en-US" sz="2000" dirty="0" err="1"/>
              <a:t>fName</a:t>
            </a:r>
            <a:r>
              <a:rPr lang="en-US" sz="2000" dirty="0"/>
              <a:t>, </a:t>
            </a:r>
            <a:r>
              <a:rPr lang="en-US" sz="2000" dirty="0" err="1"/>
              <a:t>IName</a:t>
            </a:r>
            <a:r>
              <a:rPr lang="en-US" sz="2000" dirty="0"/>
              <a:t>, address, </a:t>
            </a:r>
            <a:r>
              <a:rPr lang="en-US" sz="2000" dirty="0" err="1"/>
              <a:t>telNo</a:t>
            </a:r>
            <a:r>
              <a:rPr lang="en-US" sz="2000" dirty="0"/>
              <a:t>, </a:t>
            </a:r>
            <a:r>
              <a:rPr lang="en-US" sz="2000" dirty="0" err="1"/>
              <a:t>eMail</a:t>
            </a:r>
            <a:r>
              <a:rPr lang="en-US" sz="2000" dirty="0"/>
              <a:t>, password)</a:t>
            </a:r>
            <a:r>
              <a:rPr lang="en-US" sz="2000" dirty="0" smtClean="0"/>
              <a:t> </a:t>
            </a:r>
          </a:p>
          <a:p>
            <a:pPr marL="148590" indent="0">
              <a:buNone/>
            </a:pPr>
            <a:r>
              <a:rPr lang="en-US" sz="2000" b="1" dirty="0" smtClean="0"/>
              <a:t>Viewing</a:t>
            </a:r>
            <a:r>
              <a:rPr lang="en-US" sz="2000" dirty="0" smtClean="0"/>
              <a:t> </a:t>
            </a:r>
            <a:r>
              <a:rPr lang="en-US" sz="2000" dirty="0"/>
              <a:t>(</a:t>
            </a:r>
            <a:r>
              <a:rPr lang="en-US" sz="2000" dirty="0" err="1"/>
              <a:t>clientNo</a:t>
            </a:r>
            <a:r>
              <a:rPr lang="en-US" sz="2000" dirty="0"/>
              <a:t>, </a:t>
            </a:r>
            <a:r>
              <a:rPr lang="en-US" sz="2000" dirty="0" err="1"/>
              <a:t>propertyNo</a:t>
            </a:r>
            <a:r>
              <a:rPr lang="en-US" sz="2000" dirty="0"/>
              <a:t>, </a:t>
            </a:r>
            <a:r>
              <a:rPr lang="en-US" sz="2000" dirty="0" err="1"/>
              <a:t>viewDate</a:t>
            </a:r>
            <a:r>
              <a:rPr lang="en-US" sz="2000" dirty="0"/>
              <a:t>, comment) </a:t>
            </a:r>
            <a:endParaRPr lang="en-US" sz="2000" dirty="0" smtClean="0"/>
          </a:p>
          <a:p>
            <a:pPr marL="148590" indent="0">
              <a:buNone/>
            </a:pPr>
            <a:r>
              <a:rPr lang="en-US" sz="2000" b="1" dirty="0" smtClean="0"/>
              <a:t>Registration</a:t>
            </a:r>
            <a:r>
              <a:rPr lang="en-US" sz="2000" dirty="0" smtClean="0"/>
              <a:t> (</a:t>
            </a:r>
            <a:r>
              <a:rPr lang="en-US" sz="2000" dirty="0" err="1"/>
              <a:t>clientNo</a:t>
            </a:r>
            <a:r>
              <a:rPr lang="en-US" sz="2000" dirty="0"/>
              <a:t>, </a:t>
            </a:r>
            <a:r>
              <a:rPr lang="en-US" sz="2000" dirty="0" err="1"/>
              <a:t>branchNo</a:t>
            </a:r>
            <a:r>
              <a:rPr lang="en-US" sz="2000" dirty="0"/>
              <a:t>, </a:t>
            </a:r>
            <a:r>
              <a:rPr lang="en-US" sz="2000" dirty="0" err="1"/>
              <a:t>staffNo</a:t>
            </a:r>
            <a:r>
              <a:rPr lang="en-US" sz="2000" dirty="0"/>
              <a:t>, </a:t>
            </a:r>
            <a:r>
              <a:rPr lang="en-US" sz="2000" dirty="0" err="1"/>
              <a:t>dateJoined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Null: </a:t>
            </a:r>
            <a:r>
              <a:rPr lang="en-US" dirty="0" smtClean="0"/>
              <a:t>Represents </a:t>
            </a:r>
            <a:r>
              <a:rPr lang="en-US" dirty="0"/>
              <a:t>a value for an attribute that is currently unknown or is not applicable for this </a:t>
            </a:r>
            <a:r>
              <a:rPr lang="en-US" dirty="0" smtClean="0"/>
              <a:t>tuple</a:t>
            </a:r>
          </a:p>
          <a:p>
            <a:r>
              <a:rPr lang="en-US" b="1" dirty="0"/>
              <a:t>E</a:t>
            </a:r>
            <a:r>
              <a:rPr lang="en-US" b="1" dirty="0" smtClean="0"/>
              <a:t>ntity integrity:</a:t>
            </a:r>
            <a:r>
              <a:rPr lang="en-US" dirty="0" smtClean="0"/>
              <a:t> </a:t>
            </a:r>
            <a:r>
              <a:rPr lang="en-US" dirty="0"/>
              <a:t>In a base relation, no attribute of a primary key can be </a:t>
            </a:r>
            <a:r>
              <a:rPr lang="en-US" dirty="0" smtClean="0"/>
              <a:t>null</a:t>
            </a:r>
          </a:p>
          <a:p>
            <a:r>
              <a:rPr lang="en-US" b="1" dirty="0"/>
              <a:t>Referential </a:t>
            </a:r>
            <a:r>
              <a:rPr lang="en-US" b="1" dirty="0" smtClean="0"/>
              <a:t>integrity: </a:t>
            </a:r>
            <a:r>
              <a:rPr lang="en-US" dirty="0"/>
              <a:t>If a foreign key exists in a relation, either the foreign key value must match a candidate key value of some tuple in its home relation or the foreign key value must be wholly null</a:t>
            </a:r>
            <a:r>
              <a:rPr lang="en-US" dirty="0" smtClean="0"/>
              <a:t>.</a:t>
            </a:r>
          </a:p>
          <a:p>
            <a:r>
              <a:rPr lang="en-US" b="1" dirty="0"/>
              <a:t>General </a:t>
            </a:r>
            <a:r>
              <a:rPr lang="en-US" b="1" dirty="0" smtClean="0"/>
              <a:t>constraints: </a:t>
            </a:r>
            <a:r>
              <a:rPr lang="en-US" dirty="0"/>
              <a:t>Additional rules specified by the users or database administrators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81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Base </a:t>
            </a:r>
            <a:r>
              <a:rPr lang="en-US" b="1" dirty="0" smtClean="0"/>
              <a:t>relation: </a:t>
            </a:r>
            <a:r>
              <a:rPr lang="en-US" dirty="0" smtClean="0"/>
              <a:t>A </a:t>
            </a:r>
            <a:r>
              <a:rPr lang="en-US" dirty="0"/>
              <a:t>named relation corresponding to an entity in the conceptual schema, whose tuples are physically stored in the </a:t>
            </a:r>
            <a:r>
              <a:rPr lang="en-US" dirty="0" smtClean="0"/>
              <a:t>database</a:t>
            </a:r>
          </a:p>
          <a:p>
            <a:r>
              <a:rPr lang="en-US" b="1" dirty="0" smtClean="0"/>
              <a:t>View: </a:t>
            </a:r>
            <a:r>
              <a:rPr lang="en-US" dirty="0"/>
              <a:t>The dynamic result of one or more relational operations operating on the base relations to produce another relation. A view is a virtual relation that does not necessarily exist in the database but can be produced upon request by a particular user, at the time of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50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 of Views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Provide </a:t>
            </a:r>
            <a:r>
              <a:rPr lang="en-US" b="1" dirty="0"/>
              <a:t>security</a:t>
            </a:r>
            <a:r>
              <a:rPr lang="en-US" dirty="0"/>
              <a:t> by hiding sensitive attributes and tuples</a:t>
            </a:r>
          </a:p>
          <a:p>
            <a:r>
              <a:rPr lang="en-US" dirty="0"/>
              <a:t>Allow </a:t>
            </a:r>
            <a:r>
              <a:rPr lang="en-US" b="1" dirty="0"/>
              <a:t>customized data access</a:t>
            </a:r>
            <a:r>
              <a:rPr lang="en-US" dirty="0"/>
              <a:t> for different users</a:t>
            </a:r>
          </a:p>
          <a:p>
            <a:r>
              <a:rPr lang="en-US" b="1" dirty="0"/>
              <a:t>Simplify complex queries</a:t>
            </a:r>
            <a:r>
              <a:rPr lang="en-US" dirty="0"/>
              <a:t> (e.g., joins shown as single tables)</a:t>
            </a:r>
          </a:p>
          <a:p>
            <a:r>
              <a:rPr lang="en-US" dirty="0"/>
              <a:t>Support the user’s </a:t>
            </a:r>
            <a:r>
              <a:rPr lang="en-US" b="1" dirty="0"/>
              <a:t>external view</a:t>
            </a:r>
            <a:r>
              <a:rPr lang="en-US" dirty="0"/>
              <a:t> of the database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Show only </a:t>
            </a:r>
            <a:r>
              <a:rPr lang="en-US" b="1" dirty="0"/>
              <a:t>manager details</a:t>
            </a:r>
            <a:r>
              <a:rPr lang="en-US" dirty="0"/>
              <a:t> by joining Branch and Staff</a:t>
            </a:r>
          </a:p>
          <a:p>
            <a:r>
              <a:rPr lang="en-US" dirty="0"/>
              <a:t>Hide </a:t>
            </a:r>
            <a:r>
              <a:rPr lang="en-US" b="1" dirty="0"/>
              <a:t>salary</a:t>
            </a:r>
            <a:r>
              <a:rPr lang="en-US" dirty="0"/>
              <a:t> from some staff</a:t>
            </a:r>
          </a:p>
          <a:p>
            <a:r>
              <a:rPr lang="en-US" b="1" dirty="0"/>
              <a:t>Rename/reorder attributes</a:t>
            </a:r>
            <a:r>
              <a:rPr lang="en-US" dirty="0"/>
              <a:t> (e.g., Branch Number instead of </a:t>
            </a:r>
            <a:r>
              <a:rPr lang="en-US" dirty="0" err="1"/>
              <a:t>branchNo</a:t>
            </a:r>
            <a:r>
              <a:rPr lang="en-US" dirty="0"/>
              <a:t>)</a:t>
            </a:r>
          </a:p>
          <a:p>
            <a:r>
              <a:rPr lang="en-US" dirty="0"/>
              <a:t>Show only </a:t>
            </a:r>
            <a:r>
              <a:rPr lang="en-US" b="1" dirty="0"/>
              <a:t>properties managed by a specific staff member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93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 in </a:t>
            </a:r>
            <a:r>
              <a:rPr lang="en-US" b="1" dirty="0"/>
              <a:t>base tables</a:t>
            </a:r>
            <a:r>
              <a:rPr lang="en-US" dirty="0"/>
              <a:t> must appear in all related </a:t>
            </a:r>
            <a:r>
              <a:rPr lang="en-US" b="1" dirty="0"/>
              <a:t>views</a:t>
            </a:r>
            <a:endParaRPr lang="en-US" dirty="0"/>
          </a:p>
          <a:p>
            <a:r>
              <a:rPr lang="en-US" dirty="0"/>
              <a:t>Updates on a </a:t>
            </a:r>
            <a:r>
              <a:rPr lang="en-US" b="1" dirty="0"/>
              <a:t>view</a:t>
            </a:r>
            <a:r>
              <a:rPr lang="en-US" dirty="0"/>
              <a:t> should also affect the </a:t>
            </a:r>
            <a:r>
              <a:rPr lang="en-US" b="1" dirty="0"/>
              <a:t>base relation</a:t>
            </a:r>
            <a:endParaRPr lang="en-US" dirty="0"/>
          </a:p>
          <a:p>
            <a:r>
              <a:rPr lang="en-US" dirty="0"/>
              <a:t>But not all views are updatable</a:t>
            </a:r>
          </a:p>
          <a:p>
            <a:pPr marL="148590" indent="0">
              <a:buNone/>
            </a:pPr>
            <a:r>
              <a:rPr lang="en-US" b="1" dirty="0"/>
              <a:t>Rules:</a:t>
            </a:r>
            <a:endParaRPr lang="en-US" dirty="0"/>
          </a:p>
          <a:p>
            <a:r>
              <a:rPr lang="en-US" dirty="0"/>
              <a:t>Update allowed if view is based on </a:t>
            </a:r>
            <a:r>
              <a:rPr lang="en-US" b="1" dirty="0"/>
              <a:t>single table</a:t>
            </a:r>
            <a:r>
              <a:rPr lang="en-US" dirty="0"/>
              <a:t> and includes </a:t>
            </a:r>
            <a:r>
              <a:rPr lang="en-US" b="1" dirty="0"/>
              <a:t>primary/candidate key</a:t>
            </a:r>
            <a:endParaRPr lang="en-US" dirty="0"/>
          </a:p>
          <a:p>
            <a:r>
              <a:rPr lang="en-US" dirty="0"/>
              <a:t>Update not allowed if view uses </a:t>
            </a:r>
            <a:r>
              <a:rPr lang="en-US" b="1" dirty="0"/>
              <a:t>multiple tables (joins)</a:t>
            </a:r>
            <a:endParaRPr lang="en-US" dirty="0"/>
          </a:p>
          <a:p>
            <a:r>
              <a:rPr lang="en-US" dirty="0"/>
              <a:t>Update not allowed if view uses </a:t>
            </a:r>
            <a:r>
              <a:rPr lang="en-US" b="1" dirty="0"/>
              <a:t>aggregation or GROUP BY</a:t>
            </a:r>
            <a:endParaRPr lang="en-US" dirty="0"/>
          </a:p>
          <a:p>
            <a:pPr marL="148590" indent="0">
              <a:buNone/>
            </a:pPr>
            <a:r>
              <a:rPr lang="en-US" b="1" dirty="0"/>
              <a:t>Types of Views: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Not updatable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Partially updatable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Fully updatable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37066"/>
      </p:ext>
    </p:extLst>
  </p:cSld>
  <p:clrMapOvr>
    <a:masterClrMapping/>
  </p:clrMapOvr>
</p:sld>
</file>

<file path=ppt/theme/theme1.xml><?xml version="1.0" encoding="utf-8"?>
<a:theme xmlns:a="http://schemas.openxmlformats.org/drawingml/2006/main" name="2_Quadrant">
  <a:themeElements>
    <a:clrScheme name="2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Quadrant">
  <a:themeElements>
    <a:clrScheme name="1_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1235</Words>
  <Application>Microsoft Office PowerPoint</Application>
  <PresentationFormat>On-screen Show (4:3)</PresentationFormat>
  <Paragraphs>156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Noto Sans Symbols</vt:lpstr>
      <vt:lpstr>Times New Roman</vt:lpstr>
      <vt:lpstr>Wingdings</vt:lpstr>
      <vt:lpstr>2_Quadrant</vt:lpstr>
      <vt:lpstr>1_Quadrant</vt:lpstr>
      <vt:lpstr>LECTURE # 03</vt:lpstr>
      <vt:lpstr>Objectives</vt:lpstr>
      <vt:lpstr>Brief History of the Relational Model</vt:lpstr>
      <vt:lpstr>Relational Model Objectives</vt:lpstr>
      <vt:lpstr>Relational Data Structure</vt:lpstr>
      <vt:lpstr>Instances of the Branch and Staff relations.</vt:lpstr>
      <vt:lpstr>Domains for some attributes of the Branch and Staff relations</vt:lpstr>
      <vt:lpstr>Alternative terminology for relational model terms</vt:lpstr>
      <vt:lpstr>Mathematical Relations</vt:lpstr>
      <vt:lpstr>Database Relations</vt:lpstr>
      <vt:lpstr>PowerPoint Presentation</vt:lpstr>
      <vt:lpstr>Properties of Relations</vt:lpstr>
      <vt:lpstr>Relational Keys</vt:lpstr>
      <vt:lpstr>Relational Keys</vt:lpstr>
      <vt:lpstr>Representing Relational Database Schemas</vt:lpstr>
      <vt:lpstr>Integrity Constraints</vt:lpstr>
      <vt:lpstr>Views</vt:lpstr>
      <vt:lpstr>Purpose of Views</vt:lpstr>
      <vt:lpstr>Updating Views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03</dc:title>
  <dc:creator>User</dc:creator>
  <cp:lastModifiedBy>Admin</cp:lastModifiedBy>
  <cp:revision>8</cp:revision>
  <dcterms:created xsi:type="dcterms:W3CDTF">2009-02-05T11:22:17Z</dcterms:created>
  <dcterms:modified xsi:type="dcterms:W3CDTF">2026-01-16T09:08:32Z</dcterms:modified>
</cp:coreProperties>
</file>