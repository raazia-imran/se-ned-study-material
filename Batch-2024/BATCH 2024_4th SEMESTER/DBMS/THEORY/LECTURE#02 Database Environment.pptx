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coQexe87OfheExR33Z5WBS2R7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0" name="Google Shape;200;p4:notes"/>
          <p:cNvSpPr/>
          <p:nvPr>
            <p:ph idx="2" type="sldImg"/>
          </p:nvPr>
        </p:nvSpPr>
        <p:spPr>
          <a:xfrm>
            <a:off x="1258887" y="722312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1258887" y="722312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258887" y="722312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6b64a7b70_0_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6b64a7b70_0_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b6b64a7b70_0_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7ffb005e0_0_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7ffb005e0_0_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7ffb005e0_0_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7ffb005e0_0_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7ffb005e0_0_9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b7ffb005e0_0_9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7ffb005e0_0_1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7ffb005e0_0_17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7ffb005e0_0_17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7ffb005e0_0_25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7ffb005e0_0_25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b7ffb005e0_0_25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7ffb005e0_0_33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7ffb005e0_0_33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b7ffb005e0_0_33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7ffb005e0_0_41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7ffb005e0_0_41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7ffb005e0_0_41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7ffb005e0_0_49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7ffb005e0_0_49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b7ffb005e0_0_49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7ffb005e0_0_5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7ffb005e0_0_57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b7ffb005e0_0_57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7ffb005e0_0_67:notes"/>
          <p:cNvSpPr/>
          <p:nvPr>
            <p:ph idx="2" type="sldImg"/>
          </p:nvPr>
        </p:nvSpPr>
        <p:spPr>
          <a:xfrm>
            <a:off x="1257300" y="720725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7ffb005e0_0_67:notes"/>
          <p:cNvSpPr txBox="1"/>
          <p:nvPr>
            <p:ph idx="1" type="body"/>
          </p:nvPr>
        </p:nvSpPr>
        <p:spPr>
          <a:xfrm>
            <a:off x="731837" y="4560887"/>
            <a:ext cx="5851500" cy="43197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b7ffb005e0_0_67:notes"/>
          <p:cNvSpPr txBox="1"/>
          <p:nvPr>
            <p:ph idx="12" type="sldNum"/>
          </p:nvPr>
        </p:nvSpPr>
        <p:spPr>
          <a:xfrm>
            <a:off x="4143375" y="9120187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51" name="Google Shape;5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7" name="Google Shape;67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68" name="Google Shape;68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9" name="Google Shape;69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indent="-314325" lvl="1" marL="9144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26" name="Google Shape;126;p31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/>
        </p:txBody>
      </p:sp>
      <p:sp>
        <p:nvSpPr>
          <p:cNvPr id="132" name="Google Shape;132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133" name="Google Shape;133;p32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3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4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48" name="Google Shape;148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149" name="Google Shape;149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5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150" name="Google Shape;150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/>
        </p:txBody>
      </p:sp>
      <p:sp>
        <p:nvSpPr>
          <p:cNvPr id="151" name="Google Shape;151;p35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6"/>
          <p:cNvSpPr txBox="1"/>
          <p:nvPr>
            <p:ph idx="1" type="body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157" name="Google Shape;157;p36"/>
          <p:cNvSpPr txBox="1"/>
          <p:nvPr>
            <p:ph idx="2" type="body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/>
        </p:txBody>
      </p:sp>
      <p:sp>
        <p:nvSpPr>
          <p:cNvPr id="158" name="Google Shape;158;p36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6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164" name="Google Shape;164;p3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381000" y="990600"/>
            <a:ext cx="76200" cy="510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oogle Shape;11;p15"/>
          <p:cNvGrpSpPr/>
          <p:nvPr/>
        </p:nvGrpSpPr>
        <p:grpSpPr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12" name="Google Shape;12;p15"/>
            <p:cNvSpPr txBox="1"/>
            <p:nvPr/>
          </p:nvSpPr>
          <p:spPr>
            <a:xfrm flipH="1" rot="10800000">
              <a:off x="5236" y="192"/>
              <a:ext cx="288" cy="2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5"/>
            <p:cNvSpPr txBox="1"/>
            <p:nvPr/>
          </p:nvSpPr>
          <p:spPr>
            <a:xfrm flipH="1" rot="10800000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5"/>
            <p:cNvSpPr txBox="1"/>
            <p:nvPr/>
          </p:nvSpPr>
          <p:spPr>
            <a:xfrm flipH="1" rot="10800000">
              <a:off x="240" y="480"/>
              <a:ext cx="500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5"/>
            <p:cNvSpPr txBox="1"/>
            <p:nvPr/>
          </p:nvSpPr>
          <p:spPr>
            <a:xfrm flipH="1" rot="10800000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" name="Google Shape;16;p15"/>
            <p:cNvCxnSpPr/>
            <p:nvPr/>
          </p:nvCxnSpPr>
          <p:spPr>
            <a:xfrm rot="10800000">
              <a:off x="480" y="2256"/>
              <a:ext cx="484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7" name="Google Shape;17;p15"/>
            <p:cNvSpPr txBox="1"/>
            <p:nvPr/>
          </p:nvSpPr>
          <p:spPr>
            <a:xfrm>
              <a:off x="240" y="192"/>
              <a:ext cx="5286" cy="3648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766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98" name="Google Shape;98;p17"/>
          <p:cNvGrpSpPr/>
          <p:nvPr/>
        </p:nvGrpSpPr>
        <p:grpSpPr>
          <a:xfrm>
            <a:off x="279400" y="152400"/>
            <a:ext cx="8686800" cy="1600200"/>
            <a:chOff x="176" y="96"/>
            <a:chExt cx="5472" cy="1008"/>
          </a:xfrm>
        </p:grpSpPr>
        <p:cxnSp>
          <p:nvCxnSpPr>
            <p:cNvPr id="99" name="Google Shape;99;p17"/>
            <p:cNvCxnSpPr/>
            <p:nvPr/>
          </p:nvCxnSpPr>
          <p:spPr>
            <a:xfrm rot="10800000">
              <a:off x="288" y="1104"/>
              <a:ext cx="523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00" name="Google Shape;100;p17"/>
            <p:cNvSpPr txBox="1"/>
            <p:nvPr/>
          </p:nvSpPr>
          <p:spPr>
            <a:xfrm>
              <a:off x="5504" y="96"/>
              <a:ext cx="144" cy="144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176" y="240"/>
              <a:ext cx="5326" cy="88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"/>
          <p:cNvSpPr txBox="1"/>
          <p:nvPr>
            <p:ph type="ctrTitle"/>
          </p:nvPr>
        </p:nvSpPr>
        <p:spPr>
          <a:xfrm>
            <a:off x="685800" y="2133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# 02</a:t>
            </a:r>
            <a:endParaRPr/>
          </a:p>
        </p:txBody>
      </p:sp>
      <p:sp>
        <p:nvSpPr>
          <p:cNvPr id="179" name="Google Shape;179;p1"/>
          <p:cNvSpPr txBox="1"/>
          <p:nvPr>
            <p:ph idx="1" type="subTitle"/>
          </p:nvPr>
        </p:nvSpPr>
        <p:spPr>
          <a:xfrm>
            <a:off x="1371600" y="3886200"/>
            <a:ext cx="6872287" cy="220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4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Environment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Course Instructor: Engr. Ruqqiya Asad</a:t>
            </a:r>
            <a:endParaRPr/>
          </a:p>
        </p:txBody>
      </p:sp>
      <p:sp>
        <p:nvSpPr>
          <p:cNvPr id="180" name="Google Shape;180;p1"/>
          <p:cNvSpPr txBox="1"/>
          <p:nvPr/>
        </p:nvSpPr>
        <p:spPr>
          <a:xfrm>
            <a:off x="685800" y="1052512"/>
            <a:ext cx="68389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 SE-208</a:t>
            </a:r>
            <a:endParaRPr/>
          </a:p>
        </p:txBody>
      </p:sp>
      <p:sp>
        <p:nvSpPr>
          <p:cNvPr id="181" name="Google Shape;181;p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88" name="Google Shape;188;p2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Three-Level ANSI-SPARC Architecture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Languages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Models and Conceptual Modeling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a DBMS</a:t>
            </a:r>
            <a:endParaRPr/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"/>
          <p:cNvSpPr txBox="1"/>
          <p:nvPr>
            <p:ph type="title"/>
          </p:nvPr>
        </p:nvSpPr>
        <p:spPr>
          <a:xfrm>
            <a:off x="457200" y="869950"/>
            <a:ext cx="82296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Three-Level ANSI-SPARC Architecture</a:t>
            </a:r>
            <a:endParaRPr/>
          </a:p>
        </p:txBody>
      </p:sp>
      <p:sp>
        <p:nvSpPr>
          <p:cNvPr id="196" name="Google Shape;196;p3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ANSI SPARC Architecture is a conceptual framework for designing and organizing database management system (DBMS).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was proposed by the Standard Planning and Requirements Committee(SPARC) of the American National Standard Institute in the late 1070s.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ANSI-SPARC Architecture provides a clear and organized way to understand the complexities o</a:t>
            </a:r>
            <a:r>
              <a:rPr lang="en-US" sz="2800"/>
              <a:t>f 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system.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 txBox="1"/>
          <p:nvPr>
            <p:ph type="title"/>
          </p:nvPr>
        </p:nvSpPr>
        <p:spPr>
          <a:xfrm>
            <a:off x="428625" y="571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Three-level architecture</a:t>
            </a:r>
            <a:endParaRPr/>
          </a:p>
        </p:txBody>
      </p:sp>
      <p:sp>
        <p:nvSpPr>
          <p:cNvPr id="204" name="Google Shape;204;p4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Char char="□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Char char="□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Conceptual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Char char="□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</a:t>
            </a:r>
            <a:endParaRPr/>
          </a:p>
          <a:p>
            <a:pPr indent="-309880" lvl="0" marL="469900" rtl="0" algn="l">
              <a:spcBef>
                <a:spcPts val="72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07" name="Google Shape;2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4712" y="1828800"/>
            <a:ext cx="5621337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three-level architecture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14" name="Google Shape;214;p5"/>
          <p:cNvSpPr txBox="1"/>
          <p:nvPr>
            <p:ph idx="1" type="body"/>
          </p:nvPr>
        </p:nvSpPr>
        <p:spPr>
          <a:xfrm>
            <a:off x="23812" y="16764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user can access the same data but with a personalized view.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user can change their view without affecting other users.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are independent of physical storage details (like indexing or hashing).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DBA can modify physical storage structures without affecting user views.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in storage devices do not affect the internal database structure.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DBA can change the conceptual database structure without impacting all users.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Level</a:t>
            </a:r>
            <a:endParaRPr/>
          </a:p>
        </p:txBody>
      </p:sp>
      <p:sp>
        <p:nvSpPr>
          <p:cNvPr id="223" name="Google Shape;223;p6"/>
          <p:cNvSpPr txBox="1"/>
          <p:nvPr>
            <p:ph idx="1" type="body"/>
          </p:nvPr>
        </p:nvSpPr>
        <p:spPr>
          <a:xfrm>
            <a:off x="468312" y="1773237"/>
            <a:ext cx="8280400" cy="446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external level represents the user view of the database.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defines how individual users of user groups perceive data.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schema provides a customized view of the data, hiding unnecessary details and complexities.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□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in the schema do not affect other users or the overall database structure. 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based Systems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Conceptual Level</a:t>
            </a:r>
            <a:endParaRPr/>
          </a:p>
        </p:txBody>
      </p:sp>
      <p:sp>
        <p:nvSpPr>
          <p:cNvPr id="232" name="Google Shape;232;p7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community view of the database. This level describes what data is stored in the database and the relationships among the data.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to the conceptual schema impact the entire database and all external schemas.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complete view of the data requirements of the organization that is independent of any storage considerations. 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conceptual level represents: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all entities, their attributes, and their relationships;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constraints on the data;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semantic information about the data;</a:t>
            </a:r>
            <a:endParaRPr/>
          </a:p>
          <a:p>
            <a:pPr indent="-469900" lvl="0" marL="469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security and integrity information.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Level</a:t>
            </a:r>
            <a:endParaRPr/>
          </a:p>
        </p:txBody>
      </p:sp>
      <p:sp>
        <p:nvSpPr>
          <p:cNvPr id="239" name="Google Shape;239;p8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internal level deals with the physical storage and organization of data.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covers the data structures and file organizations used to store data on storage devices.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internal level is concerned with: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space allocation for data and indexes,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descriptions for storage (with stored sizes for data items),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placement,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⮚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compression and data encryption techniques.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to the internal schema do not affect external views but may impact performance. </a:t>
            </a:r>
            <a:endParaRPr/>
          </a:p>
          <a:p>
            <a:pPr indent="-36322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Schemas, Mappings, and Instances</a:t>
            </a:r>
            <a:endParaRPr/>
          </a:p>
        </p:txBody>
      </p:sp>
      <p:sp>
        <p:nvSpPr>
          <p:cNvPr id="246" name="Google Shape;246;p9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overall description of the database is called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schema.</a:t>
            </a:r>
            <a:endParaRPr/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descr="Database schema: SQL schema examples ..." id="248" name="Google Shape;248;p9"/>
          <p:cNvSpPr txBox="1"/>
          <p:nvPr/>
        </p:nvSpPr>
        <p:spPr>
          <a:xfrm>
            <a:off x="14922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12" y="2852737"/>
            <a:ext cx="6213475" cy="3278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1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sub-schema</a:t>
            </a:r>
            <a:endParaRPr/>
          </a:p>
        </p:txBody>
      </p:sp>
      <p:sp>
        <p:nvSpPr>
          <p:cNvPr id="255" name="Google Shape;255;p10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sub-schema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to create different and personalized view of the same data.</a:t>
            </a:r>
            <a:endParaRPr/>
          </a:p>
          <a:p>
            <a:pPr indent="-36322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6780212" y="62801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750" y="2740025"/>
            <a:ext cx="5372100" cy="39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instance </a:t>
            </a:r>
            <a:endParaRPr/>
          </a:p>
        </p:txBody>
      </p:sp>
      <p:sp>
        <p:nvSpPr>
          <p:cNvPr id="263" name="Google Shape;263;p11"/>
          <p:cNvSpPr txBox="1"/>
          <p:nvPr>
            <p:ph idx="1" type="body"/>
          </p:nvPr>
        </p:nvSpPr>
        <p:spPr>
          <a:xfrm>
            <a:off x="381000" y="1844675"/>
            <a:ext cx="8439150" cy="2341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in the database at any particular point in time is called a database instance. </a:t>
            </a:r>
            <a:endParaRPr/>
          </a:p>
          <a:p>
            <a:pPr indent="-469900" lvl="0" marL="469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schema is sometimes called the intension of the database; an instance is called an extension (or state) of the database.</a:t>
            </a:r>
            <a:endParaRPr/>
          </a:p>
          <a:p>
            <a:pPr indent="-363220" lvl="0" marL="469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Understanding Database Schema and Instance: Structure, Integrity, and  Functionality | Benjamin Majidadi posted on the topic | LinkedIn" id="265" name="Google Shape;2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3429000"/>
            <a:ext cx="72421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SCHEMAS</a:t>
            </a:r>
            <a:endParaRPr/>
          </a:p>
        </p:txBody>
      </p:sp>
      <p:sp>
        <p:nvSpPr>
          <p:cNvPr id="272" name="Google Shape;272;p12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highest level, we have multiple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schemas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(also called subschemas) that correspond to different views of the data.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the conceptual level, we have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conceptual schema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describes all the entities, attributes, and relationships together with integrity constraints. 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lowest level of abstraction we have the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schema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is a complete description of the internal model, containing the definitions of stored records, the methods of representation, the data fields, and the indexes and storage structures used. 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only one conceptual schema and one internal schema per database.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Independence</a:t>
            </a:r>
            <a:endParaRPr/>
          </a:p>
        </p:txBody>
      </p:sp>
      <p:sp>
        <p:nvSpPr>
          <p:cNvPr id="279" name="Google Shape;279;p13"/>
          <p:cNvSpPr txBox="1"/>
          <p:nvPr>
            <p:ph idx="1" type="body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major objective for the three-level architecture is to provide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independence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means that upper levels are unaffected by changes to lower levels. There are two kinds of data independence: logical and physical.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data independence: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immunity of the external schemas to changes in the conceptual schema.</a:t>
            </a:r>
            <a:endParaRPr/>
          </a:p>
          <a:p>
            <a:pPr indent="-469900" lvl="0" marL="469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data Independence: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immunity of the conceptual schema to changes in the internal schema.</a:t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01600" y="0"/>
            <a:ext cx="9366250" cy="1844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independence and the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ANSI-SPARC three-level architecture.</a:t>
            </a:r>
            <a:endParaRPr/>
          </a:p>
        </p:txBody>
      </p:sp>
      <p:sp>
        <p:nvSpPr>
          <p:cNvPr id="286" name="Google Shape;286;p1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87" name="Google Shape;2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00" y="2071550"/>
            <a:ext cx="8586926" cy="42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6b64a7b70_0_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6b64a7b70_0_1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8610" lvl="0" marL="457200" rtl="0" algn="just">
              <a:spcBef>
                <a:spcPts val="360"/>
              </a:spcBef>
              <a:spcAft>
                <a:spcPts val="0"/>
              </a:spcAft>
              <a:buSzPts val="1260"/>
              <a:buChar char="□"/>
            </a:pPr>
            <a:r>
              <a:t/>
            </a:r>
            <a:endParaRPr/>
          </a:p>
        </p:txBody>
      </p:sp>
      <p:sp>
        <p:nvSpPr>
          <p:cNvPr id="295" name="Google Shape;295;g3b6b64a7b70_0_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6" name="Google Shape;296;g3b6b64a7b7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25" y="600400"/>
            <a:ext cx="8364501" cy="54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7ffb005e0_0_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3" name="Google Shape;303;g3b7ffb005e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975" y="670025"/>
            <a:ext cx="8321825" cy="5590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7ffb005e0_0_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b7ffb005e0_0_9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b7ffb005e0_0_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2" name="Google Shape;312;g3b7ffb005e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579800"/>
            <a:ext cx="8229600" cy="612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7ffb005e0_0_1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b7ffb005e0_0_17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b7ffb005e0_0_1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1" name="Google Shape;321;g3b7ffb005e0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533400"/>
            <a:ext cx="8323700" cy="54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7ffb005e0_0_25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b7ffb005e0_0_25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b7ffb005e0_0_25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0" name="Google Shape;330;g3b7ffb005e0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125" y="626750"/>
            <a:ext cx="8136675" cy="54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7ffb005e0_0_33"/>
          <p:cNvSpPr txBox="1"/>
          <p:nvPr>
            <p:ph type="title"/>
          </p:nvPr>
        </p:nvSpPr>
        <p:spPr>
          <a:xfrm>
            <a:off x="522950" y="465075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7ffb005e0_0_33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b7ffb005e0_0_33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9" name="Google Shape;339;g3b7ffb005e0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50" y="465075"/>
            <a:ext cx="8229601" cy="566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7ffb005e0_0_41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b7ffb005e0_0_41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b7ffb005e0_0_41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8" name="Google Shape;348;g3b7ffb005e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150" y="628100"/>
            <a:ext cx="8326375" cy="59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7ffb005e0_0_49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Physical Data Model</a:t>
            </a:r>
            <a:endParaRPr/>
          </a:p>
        </p:txBody>
      </p:sp>
      <p:sp>
        <p:nvSpPr>
          <p:cNvPr id="355" name="Google Shape;355;g3b7ffb005e0_0_49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200"/>
              <a:t>Physical data models describe how data is stored in the computer, representing information such as record structures, record orderings, and access paths. </a:t>
            </a:r>
            <a:endParaRPr sz="32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200"/>
              <a:t>There are not as many physical data models as logical data models; the most common ones are the unifying model and the frame memory.</a:t>
            </a:r>
            <a:endParaRPr sz="32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b7ffb005e0_0_49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7ffb005e0_0_5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Conceptual Modeling</a:t>
            </a:r>
            <a:endParaRPr/>
          </a:p>
        </p:txBody>
      </p:sp>
      <p:sp>
        <p:nvSpPr>
          <p:cNvPr id="363" name="Google Shape;363;g3b7ffb005e0_0_57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conceptual schema is the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core (heart)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of the database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supports all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external views (user views)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Process of designing a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high-level model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of organizational data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Independent of: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DBMS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Programming languages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Application programs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Physical storage details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Focuses on: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What data is needed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Relationships between data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Business rules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b7ffb005e0_0_5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7ffb005e0_0_67"/>
          <p:cNvSpPr txBox="1"/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Functions of a DBMS</a:t>
            </a:r>
            <a:endParaRPr/>
          </a:p>
        </p:txBody>
      </p:sp>
      <p:sp>
        <p:nvSpPr>
          <p:cNvPr id="371" name="Google Shape;371;g3b7ffb005e0_0_67"/>
          <p:cNvSpPr txBox="1"/>
          <p:nvPr>
            <p:ph idx="1" type="body"/>
          </p:nvPr>
        </p:nvSpPr>
        <p:spPr>
          <a:xfrm>
            <a:off x="457200" y="1828800"/>
            <a:ext cx="8229600" cy="430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8610" lvl="0" marL="457200" rtl="0" algn="l">
              <a:spcBef>
                <a:spcPts val="36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Data storage, retrieval, and update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A user-accessible catalog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Transaction support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Concurrency control services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Recovery services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Authorization services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Support for data communication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Integrity services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Services to promote data independence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rPr lang="en-US"/>
              <a:t>Utility services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□"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b7ffb005e0_0_67"/>
          <p:cNvSpPr txBox="1"/>
          <p:nvPr>
            <p:ph idx="12" type="sldNum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Quadrant">
  <a:themeElements>
    <a:clrScheme name="2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Quadrant">
  <a:themeElements>
    <a:clrScheme name="1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2009-02-05T11:22:17Z</dcterms:created>
  <dc:creator>User</dc:creator>
</cp:coreProperties>
</file>