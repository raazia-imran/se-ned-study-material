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Diamagnetism, Paramagnetism &amp; Ferromagnetism</a:t>
            </a:r>
          </a:p>
        </p:txBody>
      </p:sp>
      <p:sp>
        <p:nvSpPr>
          <p:cNvPr id="3" name="Subtitle 2"/>
          <p:cNvSpPr>
            <a:spLocks noGrp="1"/>
          </p:cNvSpPr>
          <p:nvPr>
            <p:ph type="subTitle" idx="1"/>
          </p:nvPr>
        </p:nvSpPr>
        <p:spPr/>
        <p:txBody>
          <a:bodyPr/>
          <a:lstStyle/>
          <a:p>
            <a:r>
              <a:t>Magnetic Properties of Materials and Effect of Temperature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Introduction</a:t>
            </a:r>
          </a:p>
        </p:txBody>
      </p:sp>
      <p:sp>
        <p:nvSpPr>
          <p:cNvPr id="3" name="Content Placeholder 2"/>
          <p:cNvSpPr>
            <a:spLocks noGrp="1"/>
          </p:cNvSpPr>
          <p:nvPr>
            <p:ph idx="1"/>
          </p:nvPr>
        </p:nvSpPr>
        <p:spPr/>
        <p:txBody>
          <a:bodyPr/>
          <a:lstStyle/>
          <a:p>
            <a:r>
              <a:t>Magnetism in materials arises due to the magnetic moments of electrons. These moments are caused by the orbital motion and spin of electrons. Based on their magnetic behavior in the presence of an external magnetic field, materials are classified into diamagnetic, paramagnetic, and ferromagnetic.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Diamagnetism</a:t>
            </a:r>
          </a:p>
        </p:txBody>
      </p:sp>
      <p:sp>
        <p:nvSpPr>
          <p:cNvPr id="3" name="Content Placeholder 2"/>
          <p:cNvSpPr>
            <a:spLocks noGrp="1"/>
          </p:cNvSpPr>
          <p:nvPr>
            <p:ph idx="1"/>
          </p:nvPr>
        </p:nvSpPr>
        <p:spPr/>
        <p:txBody>
          <a:bodyPr/>
          <a:lstStyle/>
          <a:p>
            <a:r>
              <a:t>Definition: Diamagnetic materials develop a weak negative magnetization in the presence of an external magnetic field.</a:t>
            </a:r>
          </a:p>
          <a:p>
            <a:r>
              <a:t>Cause: Paired electrons produce no net magnetic moment.</a:t>
            </a:r>
          </a:p>
          <a:p>
            <a:r>
              <a:t>Behavior: Weakly repelled by magnetic field.</a:t>
            </a:r>
          </a:p>
          <a:p>
            <a:r>
              <a:t>Examples: Bismuth, Copper, Lead.</a:t>
            </a:r>
          </a:p>
          <a:p>
            <a:r>
              <a:t>Susceptibility (χ): Negative and very small.</a:t>
            </a:r>
          </a:p>
          <a:p>
            <a:r>
              <a:t>Equation: M = χH (χ &lt; 0)</a:t>
            </a:r>
          </a:p>
          <a:p>
            <a:r>
              <a:t>Effect of Temperature: Very little effect.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Paramagnetism</a:t>
            </a:r>
          </a:p>
        </p:txBody>
      </p:sp>
      <p:sp>
        <p:nvSpPr>
          <p:cNvPr id="3" name="Content Placeholder 2"/>
          <p:cNvSpPr>
            <a:spLocks noGrp="1"/>
          </p:cNvSpPr>
          <p:nvPr>
            <p:ph idx="1"/>
          </p:nvPr>
        </p:nvSpPr>
        <p:spPr/>
        <p:txBody>
          <a:bodyPr/>
          <a:lstStyle/>
          <a:p>
            <a:r>
              <a:t>Definition: Paramagnetic materials have unpaired electrons, which align with external magnetic fields.</a:t>
            </a:r>
          </a:p>
          <a:p>
            <a:r>
              <a:t>Cause: Randomly oriented magnetic moments become aligned under a magnetic field.</a:t>
            </a:r>
          </a:p>
          <a:p>
            <a:r>
              <a:t>Behavior: Weakly attracted to magnetic field.</a:t>
            </a:r>
          </a:p>
          <a:p>
            <a:r>
              <a:t>Examples: Aluminum, Platinum, Chromium.</a:t>
            </a:r>
          </a:p>
          <a:p>
            <a:r>
              <a:t>Susceptibility (χ): Positive and small.</a:t>
            </a:r>
          </a:p>
          <a:p>
            <a:r>
              <a:t>Equation: M = χH; χ = C / T (Curie’s Law)</a:t>
            </a:r>
          </a:p>
          <a:p>
            <a:r>
              <a:t>Effect of Temperature: Magnetization decreases with temperature.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Ferromagnetism</a:t>
            </a:r>
          </a:p>
        </p:txBody>
      </p:sp>
      <p:sp>
        <p:nvSpPr>
          <p:cNvPr id="3" name="Content Placeholder 2"/>
          <p:cNvSpPr>
            <a:spLocks noGrp="1"/>
          </p:cNvSpPr>
          <p:nvPr>
            <p:ph idx="1"/>
          </p:nvPr>
        </p:nvSpPr>
        <p:spPr/>
        <p:txBody>
          <a:bodyPr/>
          <a:lstStyle/>
          <a:p>
            <a:r>
              <a:t>Definition: Ferromagnetic materials exhibit strong magnetization even without an external magnetic field.</a:t>
            </a:r>
          </a:p>
          <a:p>
            <a:r>
              <a:t>Cause: Magnetic moments spontaneously align in the same direction in domains.</a:t>
            </a:r>
          </a:p>
          <a:p>
            <a:r>
              <a:t>Behavior: Strongly attracted to magnetic field.</a:t>
            </a:r>
          </a:p>
          <a:p>
            <a:r>
              <a:t>Examples: Iron, Nickel, Cobalt.</a:t>
            </a:r>
          </a:p>
          <a:p>
            <a:r>
              <a:t>Susceptibility (χ): Very high and positive.</a:t>
            </a:r>
          </a:p>
          <a:p>
            <a:r>
              <a:t>Equation: M = χH; χ = C / (T - Tc) (Curie–Weiss Law)</a:t>
            </a:r>
          </a:p>
          <a:p>
            <a:r>
              <a:t>Effect of Temperature: Loses ferromagnetic properties above Curie temperature.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Table</a:t>
            </a:r>
          </a:p>
        </p:txBody>
      </p:sp>
      <p:graphicFrame>
        <p:nvGraphicFramePr>
          <p:cNvPr id="3" name="Table 2"/>
          <p:cNvGraphicFramePr>
            <a:graphicFrameLocks noGrp="1"/>
          </p:cNvGraphicFramePr>
          <p:nvPr/>
        </p:nvGraphicFramePr>
        <p:xfrm>
          <a:off x="457200" y="1371600"/>
          <a:ext cx="8229600" cy="731520"/>
        </p:xfrm>
        <a:graphic>
          <a:graphicData uri="http://schemas.openxmlformats.org/drawingml/2006/table">
            <a:tbl>
              <a:tblPr firstRow="1" bandRow="1">
                <a:tableStyleId>{5C22544A-7EE6-4342-B048-85BDC9FD1C3A}</a:tableStyleId>
              </a:tblPr>
              <a:tblGrid>
                <a:gridCol w="2286000"/>
                <a:gridCol w="1828800"/>
                <a:gridCol w="1828800"/>
                <a:gridCol w="2286000"/>
              </a:tblGrid>
              <a:tr h="104502">
                <a:tc>
                  <a:txBody>
                    <a:bodyPr/>
                    <a:lstStyle/>
                    <a:p>
                      <a:r>
                        <a:t>Property</a:t>
                      </a:r>
                    </a:p>
                  </a:txBody>
                  <a:tcPr/>
                </a:tc>
                <a:tc>
                  <a:txBody>
                    <a:bodyPr/>
                    <a:lstStyle/>
                    <a:p>
                      <a:r>
                        <a:t>Diamagnetism</a:t>
                      </a:r>
                    </a:p>
                  </a:txBody>
                  <a:tcPr/>
                </a:tc>
                <a:tc>
                  <a:txBody>
                    <a:bodyPr/>
                    <a:lstStyle/>
                    <a:p>
                      <a:r>
                        <a:t>Paramagnetism</a:t>
                      </a:r>
                    </a:p>
                  </a:txBody>
                  <a:tcPr/>
                </a:tc>
                <a:tc>
                  <a:txBody>
                    <a:bodyPr/>
                    <a:lstStyle/>
                    <a:p>
                      <a:r>
                        <a:t>Ferromagnetism</a:t>
                      </a:r>
                    </a:p>
                  </a:txBody>
                  <a:tcPr/>
                </a:tc>
              </a:tr>
              <a:tr h="104502">
                <a:tc>
                  <a:txBody>
                    <a:bodyPr/>
                    <a:lstStyle/>
                    <a:p>
                      <a:r>
                        <a:t>Cause</a:t>
                      </a:r>
                    </a:p>
                  </a:txBody>
                  <a:tcPr/>
                </a:tc>
                <a:tc>
                  <a:txBody>
                    <a:bodyPr/>
                    <a:lstStyle/>
                    <a:p>
                      <a:r>
                        <a:t>Paired electrons</a:t>
                      </a:r>
                    </a:p>
                  </a:txBody>
                  <a:tcPr/>
                </a:tc>
                <a:tc>
                  <a:txBody>
                    <a:bodyPr/>
                    <a:lstStyle/>
                    <a:p>
                      <a:r>
                        <a:t>Unpaired electrons</a:t>
                      </a:r>
                    </a:p>
                  </a:txBody>
                  <a:tcPr/>
                </a:tc>
                <a:tc>
                  <a:txBody>
                    <a:bodyPr/>
                    <a:lstStyle/>
                    <a:p>
                      <a:r>
                        <a:t>Domain alignment</a:t>
                      </a:r>
                    </a:p>
                  </a:txBody>
                  <a:tcPr/>
                </a:tc>
              </a:tr>
              <a:tr h="104502">
                <a:tc>
                  <a:txBody>
                    <a:bodyPr/>
                    <a:lstStyle/>
                    <a:p>
                      <a:r>
                        <a:t>Magnetic Moment</a:t>
                      </a:r>
                    </a:p>
                  </a:txBody>
                  <a:tcPr/>
                </a:tc>
                <a:tc>
                  <a:txBody>
                    <a:bodyPr/>
                    <a:lstStyle/>
                    <a:p>
                      <a:r>
                        <a:t>Zero</a:t>
                      </a:r>
                    </a:p>
                  </a:txBody>
                  <a:tcPr/>
                </a:tc>
                <a:tc>
                  <a:txBody>
                    <a:bodyPr/>
                    <a:lstStyle/>
                    <a:p>
                      <a:r>
                        <a:t>Small</a:t>
                      </a:r>
                    </a:p>
                  </a:txBody>
                  <a:tcPr/>
                </a:tc>
                <a:tc>
                  <a:txBody>
                    <a:bodyPr/>
                    <a:lstStyle/>
                    <a:p>
                      <a:r>
                        <a:t>Large</a:t>
                      </a:r>
                    </a:p>
                  </a:txBody>
                  <a:tcPr/>
                </a:tc>
              </a:tr>
              <a:tr h="104502">
                <a:tc>
                  <a:txBody>
                    <a:bodyPr/>
                    <a:lstStyle/>
                    <a:p>
                      <a:r>
                        <a:t>Behavior</a:t>
                      </a:r>
                    </a:p>
                  </a:txBody>
                  <a:tcPr/>
                </a:tc>
                <a:tc>
                  <a:txBody>
                    <a:bodyPr/>
                    <a:lstStyle/>
                    <a:p>
                      <a:r>
                        <a:t>Repelled</a:t>
                      </a:r>
                    </a:p>
                  </a:txBody>
                  <a:tcPr/>
                </a:tc>
                <a:tc>
                  <a:txBody>
                    <a:bodyPr/>
                    <a:lstStyle/>
                    <a:p>
                      <a:r>
                        <a:t>Weakly attracted</a:t>
                      </a:r>
                    </a:p>
                  </a:txBody>
                  <a:tcPr/>
                </a:tc>
                <a:tc>
                  <a:txBody>
                    <a:bodyPr/>
                    <a:lstStyle/>
                    <a:p>
                      <a:r>
                        <a:t>Strongly attracted</a:t>
                      </a:r>
                    </a:p>
                  </a:txBody>
                  <a:tcPr/>
                </a:tc>
              </a:tr>
              <a:tr h="104502">
                <a:tc>
                  <a:txBody>
                    <a:bodyPr/>
                    <a:lstStyle/>
                    <a:p>
                      <a:r>
                        <a:t>Susceptibility</a:t>
                      </a:r>
                    </a:p>
                  </a:txBody>
                  <a:tcPr/>
                </a:tc>
                <a:tc>
                  <a:txBody>
                    <a:bodyPr/>
                    <a:lstStyle/>
                    <a:p>
                      <a:r>
                        <a:t>Negative</a:t>
                      </a:r>
                    </a:p>
                  </a:txBody>
                  <a:tcPr/>
                </a:tc>
                <a:tc>
                  <a:txBody>
                    <a:bodyPr/>
                    <a:lstStyle/>
                    <a:p>
                      <a:r>
                        <a:t>Small positive</a:t>
                      </a:r>
                    </a:p>
                  </a:txBody>
                  <a:tcPr/>
                </a:tc>
                <a:tc>
                  <a:txBody>
                    <a:bodyPr/>
                    <a:lstStyle/>
                    <a:p>
                      <a:r>
                        <a:t>Very large positive</a:t>
                      </a:r>
                    </a:p>
                  </a:txBody>
                  <a:tcPr/>
                </a:tc>
              </a:tr>
              <a:tr h="104502">
                <a:tc>
                  <a:txBody>
                    <a:bodyPr/>
                    <a:lstStyle/>
                    <a:p>
                      <a:r>
                        <a:t>Effect of Field</a:t>
                      </a:r>
                    </a:p>
                  </a:txBody>
                  <a:tcPr/>
                </a:tc>
                <a:tc>
                  <a:txBody>
                    <a:bodyPr/>
                    <a:lstStyle/>
                    <a:p>
                      <a:r>
                        <a:t>Induces weak opposite field</a:t>
                      </a:r>
                    </a:p>
                  </a:txBody>
                  <a:tcPr/>
                </a:tc>
                <a:tc>
                  <a:txBody>
                    <a:bodyPr/>
                    <a:lstStyle/>
                    <a:p>
                      <a:r>
                        <a:t>Aligns magnetic moments</a:t>
                      </a:r>
                    </a:p>
                  </a:txBody>
                  <a:tcPr/>
                </a:tc>
                <a:tc>
                  <a:txBody>
                    <a:bodyPr/>
                    <a:lstStyle/>
                    <a:p>
                      <a:r>
                        <a:t>Strong alignment</a:t>
                      </a:r>
                    </a:p>
                  </a:txBody>
                  <a:tcPr/>
                </a:tc>
              </a:tr>
              <a:tr h="104508">
                <a:tc>
                  <a:txBody>
                    <a:bodyPr/>
                    <a:lstStyle/>
                    <a:p>
                      <a:r>
                        <a:t>Effect of Temperature</a:t>
                      </a:r>
                    </a:p>
                  </a:txBody>
                  <a:tcPr/>
                </a:tc>
                <a:tc>
                  <a:txBody>
                    <a:bodyPr/>
                    <a:lstStyle/>
                    <a:p>
                      <a:r>
                        <a:t>Negligible</a:t>
                      </a:r>
                    </a:p>
                  </a:txBody>
                  <a:tcPr/>
                </a:tc>
                <a:tc>
                  <a:txBody>
                    <a:bodyPr/>
                    <a:lstStyle/>
                    <a:p>
                      <a:r>
                        <a:t>Decreases M</a:t>
                      </a:r>
                    </a:p>
                  </a:txBody>
                  <a:tcPr/>
                </a:tc>
                <a:tc>
                  <a:txBody>
                    <a:bodyPr/>
                    <a:lstStyle/>
                    <a:p>
                      <a:r>
                        <a:t>Destroys order above Tc</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