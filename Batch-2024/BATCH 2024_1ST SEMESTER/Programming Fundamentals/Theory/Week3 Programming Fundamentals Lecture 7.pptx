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72" r:id="rId1"/>
  </p:sldMasterIdLst>
  <p:notesMasterIdLst>
    <p:notesMasterId r:id="rId20"/>
  </p:notesMasterIdLst>
  <p:sldIdLst>
    <p:sldId id="256" r:id="rId2"/>
    <p:sldId id="260" r:id="rId3"/>
    <p:sldId id="296" r:id="rId4"/>
    <p:sldId id="297" r:id="rId5"/>
    <p:sldId id="262" r:id="rId6"/>
    <p:sldId id="300" r:id="rId7"/>
    <p:sldId id="270" r:id="rId8"/>
    <p:sldId id="271" r:id="rId9"/>
    <p:sldId id="268" r:id="rId10"/>
    <p:sldId id="269" r:id="rId11"/>
    <p:sldId id="266" r:id="rId12"/>
    <p:sldId id="267" r:id="rId13"/>
    <p:sldId id="264" r:id="rId14"/>
    <p:sldId id="265" r:id="rId15"/>
    <p:sldId id="263" r:id="rId16"/>
    <p:sldId id="272" r:id="rId17"/>
    <p:sldId id="299" r:id="rId18"/>
    <p:sldId id="298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CC"/>
    <a:srgbClr val="CC0000"/>
    <a:srgbClr val="FF3399"/>
    <a:srgbClr val="FFFF00"/>
    <a:srgbClr val="FF3300"/>
    <a:srgbClr val="FF99FF"/>
    <a:srgbClr val="33CCCC"/>
    <a:srgbClr val="FF0066"/>
    <a:srgbClr val="FF7C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ar-S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fld id="{5031F4BC-5999-44B6-96A3-13631CBC9E9E}" type="datetimeFigureOut">
              <a:rPr lang="ar-SA" smtClean="0"/>
              <a:t>16/04/1442</a:t>
            </a:fld>
            <a:endParaRPr lang="ar-S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ar-S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endParaRPr lang="ar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fld id="{29D6FAE4-AA02-42BA-80F7-CC7182BBBE9B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478272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smtClean="0"/>
              <a:t>10/22/2018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smtClean="0"/>
              <a:t>Copy Right - Asst. Prof. Syed Faisal Ali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8579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10/22/2018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 Right - Asst. Prof. Syed Faisal Ali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24012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smtClean="0"/>
              <a:t>10/22/2018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smtClean="0"/>
              <a:t>Copy Right - Asst. Prof. Syed Faisal Ali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04101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10/22/2018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 Right - Asst. Prof. Syed Faisal Ali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62010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10/22/2018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 Right - Asst. Prof. Syed Faisal Ali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69563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10/22/2018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 Right - Asst. Prof. Syed Faisal Ali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81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10/22/2018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 Right - Asst. Prof. Syed Faisal Ali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93564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smtClean="0"/>
              <a:t>10/22/2018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smtClean="0"/>
              <a:t>Copy Right - Asst. Prof. Syed Faisal Ali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68176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10/22/2018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 Right - Asst. Prof. Syed Faisal Ali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570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10/22/2018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 Right - Asst. Prof. Syed Faisal Ali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09146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smtClean="0"/>
              <a:t>10/22/2018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r>
              <a:rPr lang="en-US" smtClean="0"/>
              <a:t>Copy Right - Asst. Prof. Syed Faisal Ali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36158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r>
              <a:rPr lang="en-US" smtClean="0"/>
              <a:t>10/22/2018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r>
              <a:rPr lang="en-US" smtClean="0"/>
              <a:t>Copy Right - Asst. Prof. Syed Faisal Ali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7702693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Programming fundamentals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Week 03 – Python data types, classes and objects &amp;  valid values </a:t>
            </a:r>
            <a:r>
              <a:rPr lang="en-US" smtClean="0"/>
              <a:t>for numbers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435634" y="4737462"/>
            <a:ext cx="52425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Course Instructor :</a:t>
            </a:r>
          </a:p>
          <a:p>
            <a:r>
              <a:rPr lang="en-US" dirty="0" err="1" smtClean="0">
                <a:solidFill>
                  <a:schemeClr val="bg1"/>
                </a:solidFill>
              </a:rPr>
              <a:t>Engr.Asma</a:t>
            </a:r>
            <a:r>
              <a:rPr lang="en-US" dirty="0" smtClean="0">
                <a:solidFill>
                  <a:schemeClr val="bg1"/>
                </a:solidFill>
              </a:rPr>
              <a:t> Khan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Assistant </a:t>
            </a:r>
            <a:r>
              <a:rPr lang="en-US" dirty="0" err="1" smtClean="0">
                <a:solidFill>
                  <a:schemeClr val="bg1"/>
                </a:solidFill>
              </a:rPr>
              <a:t>Professor,SE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dirty="0" err="1" smtClean="0">
                <a:solidFill>
                  <a:schemeClr val="bg1"/>
                </a:solidFill>
              </a:rPr>
              <a:t>dept</a:t>
            </a:r>
            <a:endParaRPr lang="en-US" dirty="0" smtClean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 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7835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classes and objects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>
            <a:noAutofit/>
          </a:bodyPr>
          <a:lstStyle/>
          <a:p>
            <a:r>
              <a:rPr lang="en-US" sz="2400" dirty="0" smtClean="0"/>
              <a:t>So </a:t>
            </a:r>
            <a:r>
              <a:rPr lang="en-US" sz="2400" dirty="0"/>
              <a:t>far seen how to use several types of values that Python supports: </a:t>
            </a:r>
            <a:r>
              <a:rPr lang="en-US" sz="2400" dirty="0" err="1">
                <a:solidFill>
                  <a:srgbClr val="CC0000"/>
                </a:solidFill>
              </a:rPr>
              <a:t>int</a:t>
            </a:r>
            <a:r>
              <a:rPr lang="en-US" sz="2400" dirty="0"/>
              <a:t>, </a:t>
            </a:r>
            <a:r>
              <a:rPr lang="en-US" sz="2400" dirty="0" smtClean="0">
                <a:solidFill>
                  <a:srgbClr val="00B0F0"/>
                </a:solidFill>
              </a:rPr>
              <a:t>float</a:t>
            </a:r>
            <a:r>
              <a:rPr lang="en-US" sz="2400" dirty="0" smtClean="0"/>
              <a:t>, </a:t>
            </a:r>
            <a:r>
              <a:rPr lang="en-US" sz="2400" dirty="0" smtClean="0">
                <a:solidFill>
                  <a:srgbClr val="00B050"/>
                </a:solidFill>
              </a:rPr>
              <a:t>bool</a:t>
            </a:r>
            <a:r>
              <a:rPr lang="en-US" sz="2400" dirty="0"/>
              <a:t>, </a:t>
            </a:r>
            <a:r>
              <a:rPr lang="en-US" sz="2400" dirty="0" err="1">
                <a:solidFill>
                  <a:srgbClr val="0070C0"/>
                </a:solidFill>
              </a:rPr>
              <a:t>str</a:t>
            </a:r>
            <a:r>
              <a:rPr lang="en-US" sz="2400" dirty="0"/>
              <a:t>, </a:t>
            </a:r>
            <a:r>
              <a:rPr lang="en-US" sz="2400" dirty="0">
                <a:solidFill>
                  <a:srgbClr val="FF66CC"/>
                </a:solidFill>
              </a:rPr>
              <a:t>list</a:t>
            </a:r>
            <a:r>
              <a:rPr lang="en-US" sz="2400" dirty="0"/>
              <a:t>, and </a:t>
            </a:r>
            <a:r>
              <a:rPr lang="en-US" sz="2400" dirty="0">
                <a:solidFill>
                  <a:srgbClr val="C00000"/>
                </a:solidFill>
              </a:rPr>
              <a:t>tuple</a:t>
            </a:r>
            <a:r>
              <a:rPr lang="en-US" sz="2400" dirty="0"/>
              <a:t>. </a:t>
            </a:r>
            <a:endParaRPr lang="en-US" sz="2400" dirty="0" smtClean="0"/>
          </a:p>
          <a:p>
            <a:r>
              <a:rPr lang="en-US" sz="2400" dirty="0"/>
              <a:t>At this point, we step back for a moment to understand more formally what we mean by </a:t>
            </a:r>
            <a:r>
              <a:rPr lang="en-US" sz="2400" dirty="0" smtClean="0"/>
              <a:t>a type</a:t>
            </a:r>
            <a:r>
              <a:rPr lang="en-US" sz="2400" dirty="0"/>
              <a:t>, and by </a:t>
            </a:r>
            <a:r>
              <a:rPr lang="en-US" sz="2400" i="1" dirty="0"/>
              <a:t>operators </a:t>
            </a:r>
            <a:r>
              <a:rPr lang="en-US" sz="2400" dirty="0"/>
              <a:t>and </a:t>
            </a:r>
            <a:r>
              <a:rPr lang="en-US" sz="2400" i="1" dirty="0"/>
              <a:t>methods </a:t>
            </a:r>
            <a:r>
              <a:rPr lang="en-US" sz="2400" dirty="0"/>
              <a:t>supported by the type. </a:t>
            </a:r>
            <a:endParaRPr lang="en-US" sz="2400" dirty="0" smtClean="0"/>
          </a:p>
          <a:p>
            <a:r>
              <a:rPr lang="en-US" sz="2400" dirty="0"/>
              <a:t>In Python, every value, whether a simple integer value (such as 3) or a more </a:t>
            </a:r>
            <a:r>
              <a:rPr lang="en-US" sz="2400" dirty="0" smtClean="0"/>
              <a:t>complex value </a:t>
            </a:r>
            <a:r>
              <a:rPr lang="en-US" sz="2400" dirty="0"/>
              <a:t>(such as the string 'Hello, World!' or the list ['hello', 4, 5]) is stored </a:t>
            </a:r>
            <a:r>
              <a:rPr lang="en-US" sz="2400" dirty="0" smtClean="0"/>
              <a:t>in memory </a:t>
            </a:r>
            <a:r>
              <a:rPr lang="en-US" sz="2400" dirty="0"/>
              <a:t>as an </a:t>
            </a:r>
            <a:r>
              <a:rPr lang="en-US" sz="2400" i="1" dirty="0"/>
              <a:t>object</a:t>
            </a:r>
            <a:r>
              <a:rPr lang="en-US" sz="2400" dirty="0"/>
              <a:t>. </a:t>
            </a:r>
            <a:endParaRPr lang="en-US" sz="2400" dirty="0" smtClean="0"/>
          </a:p>
          <a:p>
            <a:r>
              <a:rPr lang="en-US" sz="2400" dirty="0"/>
              <a:t>It is useful to think of an object as a container for the value that </a:t>
            </a:r>
            <a:r>
              <a:rPr lang="en-US" sz="2400" dirty="0" smtClean="0"/>
              <a:t>sits inside </a:t>
            </a:r>
            <a:r>
              <a:rPr lang="en-US" sz="2400" dirty="0"/>
              <a:t>your computer’s memory. </a:t>
            </a:r>
            <a:endParaRPr lang="en-US" sz="2400" dirty="0" smtClean="0"/>
          </a:p>
          <a:p>
            <a:r>
              <a:rPr lang="en-US" sz="2400" dirty="0"/>
              <a:t>The container idea captures the motivation behind objects. </a:t>
            </a:r>
            <a:endParaRPr lang="en-US" sz="2400" dirty="0" smtClean="0"/>
          </a:p>
          <a:p>
            <a:r>
              <a:rPr lang="en-US" sz="2400" dirty="0"/>
              <a:t>Objects are containers </a:t>
            </a:r>
            <a:r>
              <a:rPr lang="en-US" sz="2400" dirty="0" smtClean="0"/>
              <a:t>for values</a:t>
            </a:r>
            <a:r>
              <a:rPr lang="en-US" sz="2400" dirty="0"/>
              <a:t>, integer or other, that hide the complexity of integer storage and processing and provide the programmer with only the information </a:t>
            </a:r>
            <a:r>
              <a:rPr lang="en-US" sz="2400" dirty="0" smtClean="0"/>
              <a:t>they need. </a:t>
            </a:r>
            <a:endParaRPr lang="en-US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10/22/2018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7660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Type object</a:t>
            </a:r>
            <a:endParaRPr lang="ar-SA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581192" y="1859654"/>
            <a:ext cx="11029615" cy="3678303"/>
          </a:xfrm>
        </p:spPr>
        <p:txBody>
          <a:bodyPr anchor="t">
            <a:noAutofit/>
          </a:bodyPr>
          <a:lstStyle/>
          <a:p>
            <a:r>
              <a:rPr lang="en-US" sz="2000" dirty="0"/>
              <a:t>Every object has associated with it a </a:t>
            </a:r>
            <a:r>
              <a:rPr lang="en-US" sz="2000" i="1" dirty="0">
                <a:solidFill>
                  <a:srgbClr val="002060"/>
                </a:solidFill>
              </a:rPr>
              <a:t>type</a:t>
            </a:r>
            <a:r>
              <a:rPr lang="en-US" sz="2000" i="1" dirty="0"/>
              <a:t> and a </a:t>
            </a:r>
            <a:r>
              <a:rPr lang="en-US" sz="2000" i="1" dirty="0">
                <a:solidFill>
                  <a:srgbClr val="00B050"/>
                </a:solidFill>
              </a:rPr>
              <a:t>value</a:t>
            </a:r>
            <a:r>
              <a:rPr lang="en-US" sz="2000" i="1" dirty="0"/>
              <a:t>. </a:t>
            </a:r>
            <a:r>
              <a:rPr lang="en-US" sz="2000" i="1" dirty="0" smtClean="0"/>
              <a:t> </a:t>
            </a:r>
            <a:r>
              <a:rPr lang="en-US" sz="2000" dirty="0" smtClean="0"/>
              <a:t>Four </a:t>
            </a:r>
            <a:r>
              <a:rPr lang="en-US" sz="2000" dirty="0"/>
              <a:t>objects: an </a:t>
            </a:r>
            <a:r>
              <a:rPr lang="en-US" sz="2000" dirty="0">
                <a:solidFill>
                  <a:srgbClr val="00B0F0"/>
                </a:solidFill>
              </a:rPr>
              <a:t>integer</a:t>
            </a:r>
            <a:r>
              <a:rPr lang="en-US" sz="2000" dirty="0"/>
              <a:t> object with value 3, a </a:t>
            </a:r>
            <a:r>
              <a:rPr lang="en-US" sz="2000" dirty="0">
                <a:solidFill>
                  <a:srgbClr val="0070C0"/>
                </a:solidFill>
              </a:rPr>
              <a:t>ﬂoating point </a:t>
            </a:r>
            <a:r>
              <a:rPr lang="en-US" sz="2000" dirty="0"/>
              <a:t>object with value 3.0, a </a:t>
            </a:r>
            <a:r>
              <a:rPr lang="en-US" sz="2000" dirty="0" smtClean="0">
                <a:solidFill>
                  <a:schemeClr val="accent6">
                    <a:lumMod val="50000"/>
                  </a:schemeClr>
                </a:solidFill>
              </a:rPr>
              <a:t>string </a:t>
            </a:r>
            <a:r>
              <a:rPr lang="en-US" sz="2000" dirty="0" smtClean="0"/>
              <a:t>object </a:t>
            </a:r>
            <a:r>
              <a:rPr lang="en-US" sz="2000" dirty="0"/>
              <a:t>with value 'Hello World', and a </a:t>
            </a:r>
            <a:r>
              <a:rPr lang="en-US" sz="2000" dirty="0">
                <a:solidFill>
                  <a:srgbClr val="C00000"/>
                </a:solidFill>
              </a:rPr>
              <a:t>list</a:t>
            </a:r>
            <a:r>
              <a:rPr lang="en-US" sz="2000" dirty="0"/>
              <a:t> object with value [1, 1, 2, 3, 5, 8</a:t>
            </a:r>
            <a:r>
              <a:rPr lang="en-US" sz="2000" dirty="0" smtClean="0"/>
              <a:t>].</a:t>
            </a:r>
          </a:p>
          <a:p>
            <a:endParaRPr lang="en-US" sz="2000" dirty="0"/>
          </a:p>
          <a:p>
            <a:endParaRPr lang="en-US" sz="2000" dirty="0" smtClean="0"/>
          </a:p>
          <a:p>
            <a:endParaRPr lang="en-US" sz="2000" dirty="0"/>
          </a:p>
          <a:p>
            <a:endParaRPr lang="en-US" sz="2000" dirty="0" smtClean="0"/>
          </a:p>
          <a:p>
            <a:endParaRPr lang="en-US" sz="2000" dirty="0"/>
          </a:p>
          <a:p>
            <a:r>
              <a:rPr lang="en-US" sz="2000" dirty="0"/>
              <a:t>An </a:t>
            </a:r>
            <a:r>
              <a:rPr lang="en-US" sz="2000" i="1" dirty="0"/>
              <a:t>object’s type indicates what kind of values the object can hold and what kind </a:t>
            </a:r>
            <a:r>
              <a:rPr lang="en-US" sz="2000" i="1" dirty="0" smtClean="0"/>
              <a:t>of </a:t>
            </a:r>
            <a:r>
              <a:rPr lang="en-US" sz="2000" dirty="0" smtClean="0"/>
              <a:t>operations </a:t>
            </a:r>
            <a:r>
              <a:rPr lang="en-US" sz="2000" dirty="0"/>
              <a:t>can be performed on the object. The types we have seen so far include the </a:t>
            </a:r>
            <a:r>
              <a:rPr lang="en-US" sz="2000" dirty="0" smtClean="0"/>
              <a:t>integer (</a:t>
            </a:r>
            <a:r>
              <a:rPr lang="en-US" sz="2000" dirty="0" err="1" smtClean="0"/>
              <a:t>int</a:t>
            </a:r>
            <a:r>
              <a:rPr lang="en-US" sz="2000" dirty="0"/>
              <a:t>), ﬂoating point (float), Boolean (bool), string (</a:t>
            </a:r>
            <a:r>
              <a:rPr lang="en-US" sz="2000" dirty="0" err="1"/>
              <a:t>str</a:t>
            </a:r>
            <a:r>
              <a:rPr lang="en-US" sz="2000" dirty="0"/>
              <a:t>), and list (list) types. </a:t>
            </a:r>
            <a:endParaRPr lang="ar-SA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10/22/2018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6260" y="3426591"/>
            <a:ext cx="10444547" cy="1369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355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6096001" y="3731347"/>
            <a:ext cx="1764632" cy="1353999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11" name="Rectangle 10"/>
          <p:cNvSpPr/>
          <p:nvPr/>
        </p:nvSpPr>
        <p:spPr>
          <a:xfrm>
            <a:off x="6096000" y="2144866"/>
            <a:ext cx="2614863" cy="83896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10" name="Rectangle 9"/>
          <p:cNvSpPr/>
          <p:nvPr/>
        </p:nvSpPr>
        <p:spPr>
          <a:xfrm>
            <a:off x="581192" y="2775791"/>
            <a:ext cx="2835776" cy="2854987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Type()</a:t>
            </a:r>
            <a:endParaRPr lang="ar-SA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581192" y="2180496"/>
            <a:ext cx="4744787" cy="3678303"/>
          </a:xfrm>
        </p:spPr>
        <p:txBody>
          <a:bodyPr anchor="t">
            <a:normAutofit/>
          </a:bodyPr>
          <a:lstStyle/>
          <a:p>
            <a:r>
              <a:rPr lang="en-US" dirty="0"/>
              <a:t>Python type() function can be used to determine an object’s type:</a:t>
            </a:r>
          </a:p>
          <a:p>
            <a:pPr marL="0" indent="0">
              <a:buNone/>
            </a:pPr>
            <a:r>
              <a:rPr lang="en-US" dirty="0"/>
              <a:t>&gt;&gt;&gt;type(3)</a:t>
            </a:r>
          </a:p>
          <a:p>
            <a:pPr marL="0" indent="0">
              <a:buNone/>
            </a:pPr>
            <a:r>
              <a:rPr lang="en-US" dirty="0"/>
              <a:t>&lt;class '</a:t>
            </a:r>
            <a:r>
              <a:rPr lang="en-US" dirty="0" err="1"/>
              <a:t>int</a:t>
            </a:r>
            <a:r>
              <a:rPr lang="en-US" dirty="0"/>
              <a:t>'&gt;</a:t>
            </a:r>
          </a:p>
          <a:p>
            <a:pPr marL="0" indent="0">
              <a:buNone/>
            </a:pPr>
            <a:r>
              <a:rPr lang="en-US" dirty="0"/>
              <a:t>&gt;&gt;&gt;type(3.0)</a:t>
            </a:r>
          </a:p>
          <a:p>
            <a:pPr marL="0" indent="0">
              <a:buNone/>
            </a:pPr>
            <a:r>
              <a:rPr lang="en-US" dirty="0"/>
              <a:t>&lt;class 'float'&gt;</a:t>
            </a:r>
          </a:p>
          <a:p>
            <a:pPr marL="0" indent="0">
              <a:buNone/>
            </a:pPr>
            <a:r>
              <a:rPr lang="en-US" dirty="0"/>
              <a:t>&gt;&gt;&gt;type( 'HelloWorld ')</a:t>
            </a:r>
          </a:p>
          <a:p>
            <a:pPr marL="0" indent="0">
              <a:buNone/>
            </a:pPr>
            <a:r>
              <a:rPr lang="en-US" dirty="0"/>
              <a:t>&lt;class '</a:t>
            </a:r>
            <a:r>
              <a:rPr lang="en-US" dirty="0" err="1"/>
              <a:t>str</a:t>
            </a:r>
            <a:r>
              <a:rPr lang="en-US" dirty="0" smtClean="0"/>
              <a:t>'&gt;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10/22/2018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9" name="Content Placeholder 7"/>
          <p:cNvSpPr txBox="1">
            <a:spLocks/>
          </p:cNvSpPr>
          <p:nvPr/>
        </p:nvSpPr>
        <p:spPr>
          <a:xfrm>
            <a:off x="6096000" y="2211350"/>
            <a:ext cx="5229726" cy="367830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r>
              <a:rPr lang="en-US" dirty="0" smtClean="0"/>
              <a:t>&gt;&gt;&gt;type([1, 1, 2, 3, 5, 8])</a:t>
            </a:r>
          </a:p>
          <a:p>
            <a:pPr marL="0" indent="0">
              <a:buFont typeface="Wingdings 2" panose="05020102010507070707" pitchFamily="18" charset="2"/>
              <a:buNone/>
            </a:pPr>
            <a:r>
              <a:rPr lang="en-US" dirty="0" smtClean="0"/>
              <a:t>&lt;class 'list'&gt;</a:t>
            </a:r>
          </a:p>
          <a:p>
            <a:r>
              <a:rPr lang="en-US" dirty="0" smtClean="0"/>
              <a:t>When used on a variable, the type() function will return the type of the object the variable refers to:</a:t>
            </a:r>
          </a:p>
          <a:p>
            <a:pPr marL="0" indent="0">
              <a:buFont typeface="Wingdings 2" panose="05020102010507070707" pitchFamily="18" charset="2"/>
              <a:buNone/>
            </a:pPr>
            <a:r>
              <a:rPr lang="en-US" dirty="0" smtClean="0"/>
              <a:t>&gt;&gt;&gt; a = 3</a:t>
            </a:r>
          </a:p>
          <a:p>
            <a:pPr marL="0" indent="0">
              <a:buFont typeface="Wingdings 2" panose="05020102010507070707" pitchFamily="18" charset="2"/>
              <a:buNone/>
            </a:pPr>
            <a:r>
              <a:rPr lang="en-US" dirty="0" smtClean="0"/>
              <a:t>&gt;&gt;&gt;type(a)</a:t>
            </a:r>
          </a:p>
          <a:p>
            <a:pPr marL="0" indent="0">
              <a:buFont typeface="Wingdings 2" panose="05020102010507070707" pitchFamily="18" charset="2"/>
              <a:buNone/>
            </a:pPr>
            <a:r>
              <a:rPr lang="en-US" dirty="0" smtClean="0"/>
              <a:t>&lt;class '</a:t>
            </a:r>
            <a:r>
              <a:rPr lang="en-US" dirty="0" err="1" smtClean="0"/>
              <a:t>int</a:t>
            </a:r>
            <a:r>
              <a:rPr lang="en-US" dirty="0" smtClean="0"/>
              <a:t>'&gt;</a:t>
            </a:r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1226039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Concept of class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10/22/2018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9240" y="2665507"/>
            <a:ext cx="5810250" cy="208597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62066" y="2131454"/>
            <a:ext cx="5024334" cy="32593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06000" indent="-306000" algn="just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dirty="0">
                <a:solidFill>
                  <a:schemeClr val="tx2"/>
                </a:solidFill>
              </a:rPr>
              <a:t>The Python programming language is said to be </a:t>
            </a:r>
            <a:r>
              <a:rPr lang="en-US" dirty="0">
                <a:solidFill>
                  <a:srgbClr val="0070C0"/>
                </a:solidFill>
              </a:rPr>
              <a:t>object-oriented</a:t>
            </a:r>
            <a:r>
              <a:rPr lang="en-US" dirty="0">
                <a:solidFill>
                  <a:schemeClr val="tx2"/>
                </a:solidFill>
              </a:rPr>
              <a:t> because values are always stored in </a:t>
            </a:r>
            <a:r>
              <a:rPr lang="en-US" dirty="0">
                <a:solidFill>
                  <a:srgbClr val="00B050"/>
                </a:solidFill>
              </a:rPr>
              <a:t>objects</a:t>
            </a:r>
            <a:r>
              <a:rPr lang="en-US" dirty="0">
                <a:solidFill>
                  <a:schemeClr val="tx2"/>
                </a:solidFill>
              </a:rPr>
              <a:t>. </a:t>
            </a:r>
          </a:p>
          <a:p>
            <a:pPr marL="306000" indent="-306000" algn="just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dirty="0">
                <a:solidFill>
                  <a:schemeClr val="tx2"/>
                </a:solidFill>
              </a:rPr>
              <a:t>In programming languages other than Python, values of certain types are not stored </a:t>
            </a:r>
            <a:r>
              <a:rPr lang="en-US" dirty="0">
                <a:solidFill>
                  <a:srgbClr val="0070C0"/>
                </a:solidFill>
              </a:rPr>
              <a:t>in abstract entities</a:t>
            </a:r>
            <a:r>
              <a:rPr lang="en-US" dirty="0">
                <a:solidFill>
                  <a:schemeClr val="tx2"/>
                </a:solidFill>
              </a:rPr>
              <a:t> such as objects but </a:t>
            </a:r>
            <a:r>
              <a:rPr lang="en-US" dirty="0">
                <a:solidFill>
                  <a:srgbClr val="FF0000"/>
                </a:solidFill>
              </a:rPr>
              <a:t>explicitly in memory</a:t>
            </a:r>
            <a:r>
              <a:rPr lang="en-US" dirty="0">
                <a:solidFill>
                  <a:schemeClr val="tx2"/>
                </a:solidFill>
              </a:rPr>
              <a:t>. </a:t>
            </a:r>
          </a:p>
          <a:p>
            <a:pPr marL="306000" indent="-306000" algn="just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dirty="0">
                <a:solidFill>
                  <a:schemeClr val="tx2"/>
                </a:solidFill>
              </a:rPr>
              <a:t>The term</a:t>
            </a:r>
            <a:r>
              <a:rPr lang="en-US" dirty="0">
                <a:solidFill>
                  <a:srgbClr val="00B0F0"/>
                </a:solidFill>
              </a:rPr>
              <a:t> class </a:t>
            </a:r>
            <a:r>
              <a:rPr lang="en-US" dirty="0">
                <a:solidFill>
                  <a:schemeClr val="tx2"/>
                </a:solidFill>
              </a:rPr>
              <a:t>is used to refer to types whose </a:t>
            </a:r>
            <a:r>
              <a:rPr lang="en-US" dirty="0">
                <a:solidFill>
                  <a:srgbClr val="FF3399"/>
                </a:solidFill>
              </a:rPr>
              <a:t>values are stored in objects</a:t>
            </a:r>
            <a:r>
              <a:rPr lang="en-US" dirty="0">
                <a:solidFill>
                  <a:schemeClr val="tx2"/>
                </a:solidFill>
              </a:rPr>
              <a:t>. </a:t>
            </a:r>
          </a:p>
          <a:p>
            <a:pPr marL="306000" indent="-306000" algn="just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dirty="0">
                <a:solidFill>
                  <a:schemeClr val="tx2"/>
                </a:solidFill>
              </a:rPr>
              <a:t>Because </a:t>
            </a:r>
            <a:r>
              <a:rPr lang="en-US" dirty="0">
                <a:solidFill>
                  <a:srgbClr val="00B0F0"/>
                </a:solidFill>
              </a:rPr>
              <a:t>every value </a:t>
            </a:r>
            <a:r>
              <a:rPr lang="en-US" dirty="0">
                <a:solidFill>
                  <a:schemeClr val="tx2"/>
                </a:solidFill>
              </a:rPr>
              <a:t>in Python is stored in an </a:t>
            </a:r>
            <a:r>
              <a:rPr lang="en-US" dirty="0">
                <a:solidFill>
                  <a:srgbClr val="00B050"/>
                </a:solidFill>
              </a:rPr>
              <a:t>object,</a:t>
            </a:r>
            <a:r>
              <a:rPr lang="en-US" dirty="0">
                <a:solidFill>
                  <a:schemeClr val="tx2"/>
                </a:solidFill>
              </a:rPr>
              <a:t> every Python type is </a:t>
            </a:r>
            <a:r>
              <a:rPr lang="en-US" dirty="0">
                <a:solidFill>
                  <a:srgbClr val="7030A0"/>
                </a:solidFill>
              </a:rPr>
              <a:t>a class</a:t>
            </a:r>
            <a:r>
              <a:rPr lang="en-US" dirty="0">
                <a:solidFill>
                  <a:schemeClr val="tx2"/>
                </a:solidFill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469753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Class person</a:t>
            </a:r>
            <a:endParaRPr lang="ar-SA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10/22/2018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794" y="2064615"/>
            <a:ext cx="9531506" cy="3421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774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Relations between objects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10/22/2018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 Right - Asst. Prof. Syed Faisal Ali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615"/>
          <a:stretch/>
        </p:blipFill>
        <p:spPr>
          <a:xfrm>
            <a:off x="5898933" y="4254789"/>
            <a:ext cx="5185621" cy="164389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646" b="34152"/>
          <a:stretch/>
        </p:blipFill>
        <p:spPr>
          <a:xfrm>
            <a:off x="581192" y="4254789"/>
            <a:ext cx="5135872" cy="161862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0693" y="1894115"/>
            <a:ext cx="5348610" cy="1920239"/>
          </a:xfrm>
          <a:prstGeom prst="rect">
            <a:avLst/>
          </a:prstGeom>
        </p:spPr>
      </p:pic>
      <p:sp>
        <p:nvSpPr>
          <p:cNvPr id="3" name="Down Arrow 2"/>
          <p:cNvSpPr/>
          <p:nvPr/>
        </p:nvSpPr>
        <p:spPr>
          <a:xfrm>
            <a:off x="5381489" y="3827417"/>
            <a:ext cx="313509" cy="427372"/>
          </a:xfrm>
          <a:prstGeom prst="down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10" name="Right Arrow 9"/>
          <p:cNvSpPr/>
          <p:nvPr/>
        </p:nvSpPr>
        <p:spPr>
          <a:xfrm>
            <a:off x="8369303" y="2854234"/>
            <a:ext cx="2616560" cy="385355"/>
          </a:xfrm>
          <a:prstGeom prst="right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11" name="Down Arrow 10"/>
          <p:cNvSpPr/>
          <p:nvPr/>
        </p:nvSpPr>
        <p:spPr>
          <a:xfrm>
            <a:off x="10750731" y="3239589"/>
            <a:ext cx="333823" cy="1015200"/>
          </a:xfrm>
          <a:prstGeom prst="down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12" name="Rectangle 11"/>
          <p:cNvSpPr/>
          <p:nvPr/>
        </p:nvSpPr>
        <p:spPr>
          <a:xfrm>
            <a:off x="8897015" y="2854234"/>
            <a:ext cx="13260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instantiation</a:t>
            </a:r>
            <a:endParaRPr lang="ar-SA" dirty="0"/>
          </a:p>
        </p:txBody>
      </p:sp>
      <p:sp>
        <p:nvSpPr>
          <p:cNvPr id="13" name="Rectangle 12"/>
          <p:cNvSpPr/>
          <p:nvPr/>
        </p:nvSpPr>
        <p:spPr>
          <a:xfrm>
            <a:off x="4875241" y="3751935"/>
            <a:ext cx="13260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instantiation</a:t>
            </a:r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9225120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Car class and car objects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10/22/2018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 Right - Asst. Prof. Syed Faisal Ali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0914" y="1845332"/>
            <a:ext cx="6558673" cy="4585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29180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Shape class and shape objects</a:t>
            </a: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4389" y="1837826"/>
            <a:ext cx="7123222" cy="4296547"/>
          </a:xfr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10/22/2018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43297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Animal class and animal objects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10/22/2018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 Right - Asst. Prof. Syed Faisal Ali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3162" y="2197825"/>
            <a:ext cx="6006166" cy="3471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4500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Attributes inside dog class and dog objects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10/22/2018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3634" y="1932214"/>
            <a:ext cx="7340754" cy="4129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1745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657497" y="3987491"/>
            <a:ext cx="10953310" cy="97639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879566" y="3317966"/>
            <a:ext cx="1358537" cy="60089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Valid values for number types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>
            <a:normAutofit fontScale="92500" lnSpcReduction="20000"/>
          </a:bodyPr>
          <a:lstStyle/>
          <a:p>
            <a:r>
              <a:rPr lang="en-US" dirty="0"/>
              <a:t>Every object has a </a:t>
            </a:r>
            <a:r>
              <a:rPr lang="en-US" i="1" dirty="0"/>
              <a:t>value </a:t>
            </a:r>
            <a:r>
              <a:rPr lang="en-US" dirty="0"/>
              <a:t>that must be legal for the object’s type.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		For </a:t>
            </a:r>
            <a:r>
              <a:rPr lang="en-US" dirty="0"/>
              <a:t>example, an </a:t>
            </a:r>
            <a:r>
              <a:rPr lang="en-US" dirty="0" smtClean="0"/>
              <a:t>integer object </a:t>
            </a:r>
            <a:r>
              <a:rPr lang="en-US" dirty="0"/>
              <a:t>can have value 3 but not 3</a:t>
            </a:r>
            <a:r>
              <a:rPr lang="en-US" i="1" dirty="0"/>
              <a:t>:</a:t>
            </a:r>
            <a:r>
              <a:rPr lang="en-US" dirty="0"/>
              <a:t>0 or 'three'.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integer values can be arbitrarily large.</a:t>
            </a:r>
            <a:br>
              <a:rPr lang="en-US" dirty="0"/>
            </a:br>
            <a:r>
              <a:rPr lang="en-US" dirty="0" smtClean="0"/>
              <a:t>		For </a:t>
            </a:r>
            <a:r>
              <a:rPr lang="en-US" dirty="0"/>
              <a:t>example, we can create an integer object whose value is 21024:</a:t>
            </a:r>
            <a:br>
              <a:rPr lang="en-US" dirty="0"/>
            </a:br>
            <a:r>
              <a:rPr lang="en-US" dirty="0" smtClean="0"/>
              <a:t>x </a:t>
            </a:r>
            <a:r>
              <a:rPr lang="en-US" dirty="0"/>
              <a:t>= 2**1024</a:t>
            </a:r>
            <a:br>
              <a:rPr lang="en-US" dirty="0"/>
            </a:br>
            <a:r>
              <a:rPr lang="en-US" dirty="0" smtClean="0"/>
              <a:t>print(x)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179769313486231590772930519078902473361797697894230657273430081157732675805500963132708477322407536021120113879871393357658789768814416622492847430639474124377767893424865485276302219601246094119453082952085005768838150682342462881473913110540827237163350510684586298239947245938479716304835356329624224137216</a:t>
            </a:r>
          </a:p>
          <a:p>
            <a:r>
              <a:rPr lang="en-US" dirty="0"/>
              <a:t>Actually, there is a limit to how large the value stored in an integer object can be: </a:t>
            </a:r>
            <a:endParaRPr lang="en-US" dirty="0" smtClean="0"/>
          </a:p>
          <a:p>
            <a:r>
              <a:rPr lang="en-US" dirty="0" smtClean="0"/>
              <a:t>The value is </a:t>
            </a:r>
            <a:r>
              <a:rPr lang="en-US" dirty="0"/>
              <a:t>limited by the available computer memory.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10/22/2018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 Right - Asst. Prof. Syed Faisal Ali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1674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581192" y="4465675"/>
            <a:ext cx="2458099" cy="121231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581192" y="3235155"/>
            <a:ext cx="2458099" cy="91883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Python floating point - Float type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r>
              <a:rPr lang="en-US" dirty="0"/>
              <a:t>The Python floating point (float) type is used to represent real numbers as </a:t>
            </a:r>
            <a:r>
              <a:rPr lang="en-US" dirty="0" smtClean="0"/>
              <a:t>fractions with </a:t>
            </a:r>
            <a:r>
              <a:rPr lang="en-US" dirty="0"/>
              <a:t>finite decimal representations</a:t>
            </a:r>
            <a:r>
              <a:rPr lang="en-US" dirty="0" smtClean="0"/>
              <a:t>:</a:t>
            </a:r>
          </a:p>
          <a:p>
            <a:pPr marL="0" indent="0">
              <a:buNone/>
            </a:pP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pi </a:t>
            </a:r>
            <a:r>
              <a:rPr lang="en-US" dirty="0"/>
              <a:t>= 3.141592653589793</a:t>
            </a:r>
            <a:br>
              <a:rPr lang="en-US" dirty="0"/>
            </a:br>
            <a:r>
              <a:rPr lang="en-US" dirty="0" smtClean="0"/>
              <a:t>2.0</a:t>
            </a:r>
            <a:r>
              <a:rPr lang="en-US" dirty="0"/>
              <a:t>**30 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1073741824.0</a:t>
            </a:r>
            <a:br>
              <a:rPr lang="en-US" dirty="0"/>
            </a:br>
            <a:endParaRPr lang="en-US" dirty="0" smtClean="0"/>
          </a:p>
          <a:p>
            <a:pPr marL="0" indent="0">
              <a:buNone/>
            </a:pPr>
            <a:r>
              <a:rPr lang="en-US" dirty="0"/>
              <a:t>from math import pi</a:t>
            </a:r>
          </a:p>
          <a:p>
            <a:pPr marL="0" indent="0">
              <a:buNone/>
            </a:pPr>
            <a:r>
              <a:rPr lang="en-US" dirty="0"/>
              <a:t>print(pi</a:t>
            </a:r>
            <a:r>
              <a:rPr lang="en-US" dirty="0" smtClean="0"/>
              <a:t>)</a:t>
            </a:r>
          </a:p>
          <a:p>
            <a:pPr marL="0" indent="0">
              <a:buNone/>
            </a:pPr>
            <a:r>
              <a:rPr lang="en-US" dirty="0"/>
              <a:t>3.141592653589793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10/22/2018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0012" y="2661289"/>
            <a:ext cx="8076780" cy="180438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60"/>
          <a:stretch/>
        </p:blipFill>
        <p:spPr>
          <a:xfrm>
            <a:off x="3460012" y="4465676"/>
            <a:ext cx="3849511" cy="831438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0012" y="5390126"/>
            <a:ext cx="3445885" cy="812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71405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Number type operations</a:t>
            </a:r>
            <a:endParaRPr lang="en-US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67976504"/>
              </p:ext>
            </p:extLst>
          </p:nvPr>
        </p:nvGraphicFramePr>
        <p:xfrm>
          <a:off x="581025" y="2181225"/>
          <a:ext cx="11029950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6650">
                  <a:extLst>
                    <a:ext uri="{9D8B030D-6E8A-4147-A177-3AD203B41FA5}">
                      <a16:colId xmlns:a16="http://schemas.microsoft.com/office/drawing/2014/main" val="3050859652"/>
                    </a:ext>
                  </a:extLst>
                </a:gridCol>
                <a:gridCol w="3676650">
                  <a:extLst>
                    <a:ext uri="{9D8B030D-6E8A-4147-A177-3AD203B41FA5}">
                      <a16:colId xmlns:a16="http://schemas.microsoft.com/office/drawing/2014/main" val="3732692306"/>
                    </a:ext>
                  </a:extLst>
                </a:gridCol>
                <a:gridCol w="3676650">
                  <a:extLst>
                    <a:ext uri="{9D8B030D-6E8A-4147-A177-3AD203B41FA5}">
                      <a16:colId xmlns:a16="http://schemas.microsoft.com/office/drawing/2014/main" val="34521746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Operation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Description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Type (if x and y are integers)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88246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x+y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Sum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Integer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08152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x-y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Difference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Integer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46700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x*y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Product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Integer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71924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x/y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Division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Float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77711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x//y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Integer division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Integer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2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x%y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Reminder of x//y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Integer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63525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-x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Negative</a:t>
                      </a:r>
                      <a:r>
                        <a:rPr lang="en-US" baseline="0" dirty="0" smtClean="0"/>
                        <a:t> 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Integer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47688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abs(x)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Absolute value of 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Integer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38396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x**y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x to power 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integer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2447016"/>
                  </a:ext>
                </a:extLst>
              </a:tr>
            </a:tbl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10/22/2018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67475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Order in which operators are evaluated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7"/>
            <a:ext cx="11029615" cy="1638468"/>
          </a:xfrm>
        </p:spPr>
        <p:txBody>
          <a:bodyPr anchor="t">
            <a:normAutofit/>
          </a:bodyPr>
          <a:lstStyle/>
          <a:p>
            <a:r>
              <a:rPr lang="en-US" dirty="0"/>
              <a:t>The </a:t>
            </a:r>
            <a:r>
              <a:rPr lang="en-US" i="1" dirty="0"/>
              <a:t>order </a:t>
            </a:r>
            <a:r>
              <a:rPr lang="en-US" dirty="0"/>
              <a:t>in which operators are evaluated is defined either </a:t>
            </a:r>
            <a:r>
              <a:rPr lang="en-US" i="1" dirty="0">
                <a:solidFill>
                  <a:srgbClr val="7030A0"/>
                </a:solidFill>
              </a:rPr>
              <a:t>explicitly </a:t>
            </a:r>
            <a:r>
              <a:rPr lang="en-US" dirty="0">
                <a:solidFill>
                  <a:srgbClr val="7030A0"/>
                </a:solidFill>
              </a:rPr>
              <a:t>using parentheses </a:t>
            </a:r>
            <a:r>
              <a:rPr lang="en-US" dirty="0" smtClean="0"/>
              <a:t>or</a:t>
            </a:r>
            <a:r>
              <a:rPr lang="en-US" dirty="0" smtClean="0">
                <a:solidFill>
                  <a:srgbClr val="FF3399"/>
                </a:solidFill>
              </a:rPr>
              <a:t> </a:t>
            </a:r>
            <a:r>
              <a:rPr lang="en-US" i="1" dirty="0" smtClean="0">
                <a:solidFill>
                  <a:srgbClr val="FF3399"/>
                </a:solidFill>
              </a:rPr>
              <a:t>implicitly </a:t>
            </a:r>
            <a:r>
              <a:rPr lang="en-US" dirty="0"/>
              <a:t>using either the </a:t>
            </a:r>
            <a:r>
              <a:rPr lang="en-US" i="1" dirty="0">
                <a:solidFill>
                  <a:srgbClr val="0070C0"/>
                </a:solidFill>
              </a:rPr>
              <a:t>operator precedence </a:t>
            </a:r>
            <a:r>
              <a:rPr lang="en-US" dirty="0"/>
              <a:t>rules or </a:t>
            </a:r>
            <a:r>
              <a:rPr lang="en-US" dirty="0">
                <a:solidFill>
                  <a:srgbClr val="CC0000"/>
                </a:solidFill>
              </a:rPr>
              <a:t>the </a:t>
            </a:r>
            <a:r>
              <a:rPr lang="en-US" i="1" dirty="0">
                <a:solidFill>
                  <a:srgbClr val="CC0000"/>
                </a:solidFill>
              </a:rPr>
              <a:t>left-to-right evaluation </a:t>
            </a:r>
            <a:r>
              <a:rPr lang="en-US" dirty="0"/>
              <a:t>rule </a:t>
            </a:r>
            <a:r>
              <a:rPr lang="en-US" dirty="0" smtClean="0"/>
              <a:t>if the </a:t>
            </a:r>
            <a:r>
              <a:rPr lang="en-US" dirty="0"/>
              <a:t>operators have the same precedence.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operator precedence rules in Python follow </a:t>
            </a:r>
            <a:br>
              <a:rPr lang="en-US" dirty="0"/>
            </a:b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10/22/2018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 Right - Asst. Prof. Syed Faisal Ali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0899" y="3332436"/>
            <a:ext cx="5410200" cy="2619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38498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Operator precedence</a:t>
            </a: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26839" y="2181225"/>
            <a:ext cx="7538321" cy="3678238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10/22/2018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30706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Assignment # 2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To be submitted by solving it on </a:t>
            </a:r>
            <a:r>
              <a:rPr lang="en-US" dirty="0" err="1" smtClean="0"/>
              <a:t>jupyter</a:t>
            </a:r>
            <a:r>
              <a:rPr lang="en-US" dirty="0" smtClean="0"/>
              <a:t> notebook &amp; email it to me.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ar-SA" smtClean="0"/>
              <a:t>10/16/2018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31911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Practice problem 2.8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r>
              <a:rPr lang="en-US" dirty="0" smtClean="0"/>
              <a:t>Evaluate the results of logical operations by explicitly and by implicitly.</a:t>
            </a:r>
          </a:p>
          <a:p>
            <a:r>
              <a:rPr lang="en-US" dirty="0" smtClean="0"/>
              <a:t>Evaluate the results of operator orders by explicitly and by implicitly. </a:t>
            </a:r>
          </a:p>
          <a:p>
            <a:r>
              <a:rPr lang="en-US" dirty="0"/>
              <a:t>In what order are the operators in the following expressions evaluated?</a:t>
            </a:r>
            <a:br>
              <a:rPr lang="en-US" dirty="0"/>
            </a:br>
            <a:r>
              <a:rPr lang="en-US" dirty="0"/>
              <a:t>(a) 2 + 3 == 4 or a &gt;= 5</a:t>
            </a:r>
            <a:br>
              <a:rPr lang="en-US" dirty="0"/>
            </a:br>
            <a:r>
              <a:rPr lang="en-US" dirty="0"/>
              <a:t>(b) </a:t>
            </a:r>
            <a:r>
              <a:rPr lang="en-US" dirty="0" err="1"/>
              <a:t>lst</a:t>
            </a:r>
            <a:r>
              <a:rPr lang="en-US" dirty="0"/>
              <a:t>[1] * -3 &lt; -10 == 0</a:t>
            </a:r>
            <a:br>
              <a:rPr lang="en-US" dirty="0"/>
            </a:br>
            <a:r>
              <a:rPr lang="en-US" dirty="0"/>
              <a:t>(c) (</a:t>
            </a:r>
            <a:r>
              <a:rPr lang="en-US" dirty="0" err="1"/>
              <a:t>lst</a:t>
            </a:r>
            <a:r>
              <a:rPr lang="en-US" dirty="0"/>
              <a:t>[1] * -3 &lt; -10) in [0, True]</a:t>
            </a:r>
            <a:br>
              <a:rPr lang="en-US" dirty="0"/>
            </a:br>
            <a:r>
              <a:rPr lang="en-US" dirty="0"/>
              <a:t>(d) 2 * 3**2</a:t>
            </a:r>
            <a:br>
              <a:rPr lang="en-US" dirty="0"/>
            </a:br>
            <a:r>
              <a:rPr lang="en-US" dirty="0"/>
              <a:t>(e) 4 / 2 in [1, 2, 3] </a:t>
            </a:r>
            <a:br>
              <a:rPr lang="en-US" dirty="0"/>
            </a:b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10/22/2018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 Right - Asst. Prof. Syed Faisal Ali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2556886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TM03457464[[fn=Dividend]]</Template>
  <TotalTime>2276</TotalTime>
  <Words>814</Words>
  <Application>Microsoft Office PowerPoint</Application>
  <PresentationFormat>Widescreen</PresentationFormat>
  <Paragraphs>143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Gill Sans MT</vt:lpstr>
      <vt:lpstr>Majalla UI</vt:lpstr>
      <vt:lpstr>Wingdings 2</vt:lpstr>
      <vt:lpstr>Dividend</vt:lpstr>
      <vt:lpstr>Programming fundamentals</vt:lpstr>
      <vt:lpstr>classes and objects</vt:lpstr>
      <vt:lpstr>Type object</vt:lpstr>
      <vt:lpstr>Type()</vt:lpstr>
      <vt:lpstr>Concept of class</vt:lpstr>
      <vt:lpstr>Class person</vt:lpstr>
      <vt:lpstr>Relations between objects</vt:lpstr>
      <vt:lpstr>Car class and car objects</vt:lpstr>
      <vt:lpstr>Shape class and shape objects</vt:lpstr>
      <vt:lpstr>Animal class and animal objects</vt:lpstr>
      <vt:lpstr>Attributes inside dog class and dog objects</vt:lpstr>
      <vt:lpstr>Valid values for number types</vt:lpstr>
      <vt:lpstr>Python floating point - Float type</vt:lpstr>
      <vt:lpstr>Number type operations</vt:lpstr>
      <vt:lpstr>Order in which operators are evaluated</vt:lpstr>
      <vt:lpstr>Operator precedence</vt:lpstr>
      <vt:lpstr>Assignment # 2</vt:lpstr>
      <vt:lpstr>Practice problem 2.8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Ms. Asma</cp:lastModifiedBy>
  <cp:revision>466</cp:revision>
  <dcterms:created xsi:type="dcterms:W3CDTF">2018-10-04T03:10:47Z</dcterms:created>
  <dcterms:modified xsi:type="dcterms:W3CDTF">2020-12-01T08:13:27Z</dcterms:modified>
</cp:coreProperties>
</file>