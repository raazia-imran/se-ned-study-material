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72" r:id="rId1"/>
  </p:sldMasterIdLst>
  <p:notesMasterIdLst>
    <p:notesMasterId r:id="rId49"/>
  </p:notesMasterIdLst>
  <p:sldIdLst>
    <p:sldId id="256" r:id="rId2"/>
    <p:sldId id="379" r:id="rId3"/>
    <p:sldId id="380" r:id="rId4"/>
    <p:sldId id="381" r:id="rId5"/>
    <p:sldId id="382" r:id="rId6"/>
    <p:sldId id="396" r:id="rId7"/>
    <p:sldId id="383" r:id="rId8"/>
    <p:sldId id="384" r:id="rId9"/>
    <p:sldId id="385" r:id="rId10"/>
    <p:sldId id="397" r:id="rId11"/>
    <p:sldId id="399" r:id="rId12"/>
    <p:sldId id="400" r:id="rId13"/>
    <p:sldId id="401" r:id="rId14"/>
    <p:sldId id="402" r:id="rId15"/>
    <p:sldId id="403" r:id="rId16"/>
    <p:sldId id="404" r:id="rId17"/>
    <p:sldId id="405" r:id="rId18"/>
    <p:sldId id="406" r:id="rId19"/>
    <p:sldId id="407" r:id="rId20"/>
    <p:sldId id="408" r:id="rId21"/>
    <p:sldId id="409" r:id="rId22"/>
    <p:sldId id="410" r:id="rId23"/>
    <p:sldId id="411" r:id="rId24"/>
    <p:sldId id="440" r:id="rId25"/>
    <p:sldId id="412" r:id="rId26"/>
    <p:sldId id="441" r:id="rId27"/>
    <p:sldId id="442" r:id="rId28"/>
    <p:sldId id="413" r:id="rId29"/>
    <p:sldId id="414" r:id="rId30"/>
    <p:sldId id="415" r:id="rId31"/>
    <p:sldId id="416" r:id="rId32"/>
    <p:sldId id="417" r:id="rId33"/>
    <p:sldId id="418" r:id="rId34"/>
    <p:sldId id="424" r:id="rId35"/>
    <p:sldId id="425" r:id="rId36"/>
    <p:sldId id="426" r:id="rId37"/>
    <p:sldId id="427" r:id="rId38"/>
    <p:sldId id="428" r:id="rId39"/>
    <p:sldId id="429" r:id="rId40"/>
    <p:sldId id="430" r:id="rId41"/>
    <p:sldId id="431" r:id="rId42"/>
    <p:sldId id="432" r:id="rId43"/>
    <p:sldId id="433" r:id="rId44"/>
    <p:sldId id="434" r:id="rId45"/>
    <p:sldId id="435" r:id="rId46"/>
    <p:sldId id="439" r:id="rId47"/>
    <p:sldId id="436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99FF"/>
    <a:srgbClr val="FF3300"/>
    <a:srgbClr val="FF66CC"/>
    <a:srgbClr val="CC0000"/>
    <a:srgbClr val="FF3399"/>
    <a:srgbClr val="33CCCC"/>
    <a:srgbClr val="FF0066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72" autoAdjust="0"/>
    <p:restoredTop sz="94660"/>
  </p:normalViewPr>
  <p:slideViewPr>
    <p:cSldViewPr snapToGrid="0">
      <p:cViewPr varScale="1">
        <p:scale>
          <a:sx n="73" d="100"/>
          <a:sy n="73" d="100"/>
        </p:scale>
        <p:origin x="6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5031F4BC-5999-44B6-96A3-13631CBC9E9E}" type="datetimeFigureOut">
              <a:rPr lang="ar-SA" smtClean="0"/>
              <a:t>24/04/1442</a:t>
            </a:fld>
            <a:endParaRPr lang="ar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29D6FAE4-AA02-42BA-80F7-CC7182BBBE9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78272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E53D0AC-E29F-4D04-96B8-E31C0DC710C1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579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401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A1DB8EC-C680-4080-9C31-8FFC2916EF2F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410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27C41-22EE-4FF7-A245-D79B8C78C87A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201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742B-5FB9-442A-B7DA-C77196BB14F3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956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6CA0A-BA4E-4FAE-A8EF-6A25D306D73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81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9A357-DF2B-4DFB-8879-342FAA8E194D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356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7719E4F-A6C1-45DA-A9D1-D04689C4035F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817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1999D-DB92-4BD0-ABA4-CE7217496B40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70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F0350-60D9-41FF-8E3F-9DB297E76848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914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C06028E-867A-4B3F-BB28-36EA96C320E3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615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C1A4D74-7A41-4561-8C37-56A7A93F6CF2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70269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 04 – Imperative programming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435634" y="4737462"/>
            <a:ext cx="5242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Course Instructor: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Engr.Asma</a:t>
            </a:r>
            <a:r>
              <a:rPr lang="en-US" dirty="0" smtClean="0">
                <a:solidFill>
                  <a:schemeClr val="bg1"/>
                </a:solidFill>
              </a:rPr>
              <a:t> Khan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Assistant Professor</a:t>
            </a:r>
          </a:p>
          <a:p>
            <a:r>
              <a:rPr lang="en-US" smtClean="0">
                <a:solidFill>
                  <a:schemeClr val="bg1"/>
                </a:solidFill>
              </a:rPr>
              <a:t>SE,Dept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83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Strategy for nesting loop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This program will consist of several components.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need an input() statement </a:t>
            </a:r>
            <a:r>
              <a:rPr lang="en-US" dirty="0" smtClean="0"/>
              <a:t>to read </a:t>
            </a:r>
            <a:r>
              <a:rPr lang="en-US" dirty="0"/>
              <a:t>in the phrase, a for loop to iterate over the characters of the input string, and, in </a:t>
            </a:r>
            <a:r>
              <a:rPr lang="en-US" dirty="0" smtClean="0"/>
              <a:t>every iteration </a:t>
            </a:r>
            <a:r>
              <a:rPr lang="en-US" dirty="0"/>
              <a:t>of the for loop, an if statement to check whether the current character is a vowel.</a:t>
            </a:r>
          </a:p>
          <a:p>
            <a:r>
              <a:rPr lang="en-US" dirty="0"/>
              <a:t>If so, it gets printed. </a:t>
            </a:r>
            <a:endParaRPr lang="en-US" dirty="0" smtClean="0"/>
          </a:p>
          <a:p>
            <a:r>
              <a:rPr lang="en-US" dirty="0" smtClean="0"/>
              <a:t>Next </a:t>
            </a:r>
            <a:r>
              <a:rPr lang="en-US" dirty="0"/>
              <a:t>is the complete program.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854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loop with condition statement code and execution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63333" b="83333"/>
          <a:stretch/>
        </p:blipFill>
        <p:spPr>
          <a:xfrm>
            <a:off x="581191" y="1910529"/>
            <a:ext cx="8093211" cy="20692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54938" r="58889" b="33210"/>
          <a:stretch/>
        </p:blipFill>
        <p:spPr>
          <a:xfrm>
            <a:off x="581191" y="4174389"/>
            <a:ext cx="8896280" cy="1442640"/>
          </a:xfrm>
          <a:prstGeom prst="rect">
            <a:avLst/>
          </a:prstGeom>
        </p:spPr>
      </p:pic>
      <p:sp>
        <p:nvSpPr>
          <p:cNvPr id="9" name="Left Arrow 8"/>
          <p:cNvSpPr/>
          <p:nvPr/>
        </p:nvSpPr>
        <p:spPr>
          <a:xfrm>
            <a:off x="6475445" y="3229646"/>
            <a:ext cx="4329404" cy="77518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Code with for loop and if condition</a:t>
            </a:r>
            <a:endParaRPr lang="en-US" dirty="0"/>
          </a:p>
        </p:txBody>
      </p:sp>
      <p:sp>
        <p:nvSpPr>
          <p:cNvPr id="10" name="Left Arrow 9"/>
          <p:cNvSpPr/>
          <p:nvPr/>
        </p:nvSpPr>
        <p:spPr>
          <a:xfrm>
            <a:off x="6475445" y="4769786"/>
            <a:ext cx="4329404" cy="775189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Executing the code using nesting loop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619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sentence for finding the vowels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65033" r="58921" b="8823"/>
          <a:stretch/>
        </p:blipFill>
        <p:spPr>
          <a:xfrm>
            <a:off x="581191" y="2151529"/>
            <a:ext cx="9376217" cy="335664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54749" y="3251538"/>
            <a:ext cx="711879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eXGyreTermes-Regular"/>
              </a:rPr>
              <a:t>Note</a:t>
            </a:r>
            <a:r>
              <a:rPr lang="en-US" dirty="0">
                <a:solidFill>
                  <a:srgbClr val="000000"/>
                </a:solidFill>
                <a:latin typeface="TeXGyreTermes-Regular"/>
              </a:rPr>
              <a:t> </a:t>
            </a:r>
            <a:r>
              <a:rPr lang="en-US" dirty="0">
                <a:solidFill>
                  <a:schemeClr val="accent2"/>
                </a:solidFill>
                <a:latin typeface="TeXGyreTermes-Regular"/>
              </a:rPr>
              <a:t>that we combined a </a:t>
            </a:r>
            <a:r>
              <a:rPr lang="en-US" dirty="0">
                <a:solidFill>
                  <a:schemeClr val="accent2"/>
                </a:solidFill>
                <a:latin typeface="SFTT1000"/>
              </a:rPr>
              <a:t>for </a:t>
            </a:r>
            <a:r>
              <a:rPr lang="en-US" dirty="0">
                <a:solidFill>
                  <a:schemeClr val="accent2"/>
                </a:solidFill>
                <a:latin typeface="TeXGyreTermes-Regular"/>
              </a:rPr>
              <a:t>loop and an </a:t>
            </a:r>
            <a:r>
              <a:rPr lang="en-US" dirty="0">
                <a:solidFill>
                  <a:schemeClr val="accent2"/>
                </a:solidFill>
                <a:latin typeface="SFTT1000"/>
              </a:rPr>
              <a:t>if </a:t>
            </a:r>
            <a:r>
              <a:rPr lang="en-US" dirty="0">
                <a:solidFill>
                  <a:schemeClr val="accent2"/>
                </a:solidFill>
                <a:latin typeface="TeXGyreTermes-Regular"/>
              </a:rPr>
              <a:t>statement and that indentation is </a:t>
            </a:r>
            <a:r>
              <a:rPr lang="en-US" dirty="0" smtClean="0">
                <a:solidFill>
                  <a:schemeClr val="accent2"/>
                </a:solidFill>
                <a:latin typeface="TeXGyreTermes-Regular"/>
              </a:rPr>
              <a:t>used to </a:t>
            </a:r>
            <a:r>
              <a:rPr lang="en-US" dirty="0">
                <a:solidFill>
                  <a:schemeClr val="accent2"/>
                </a:solidFill>
                <a:latin typeface="TeXGyreTermes-Regular"/>
              </a:rPr>
              <a:t>specify the body of each</a:t>
            </a:r>
            <a:r>
              <a:rPr lang="en-US" dirty="0" smtClean="0">
                <a:solidFill>
                  <a:schemeClr val="accent2"/>
                </a:solidFill>
                <a:latin typeface="TeXGyreTermes-Regular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2"/>
                </a:solidFill>
                <a:latin typeface="TeXGyreTermes-Regular"/>
              </a:rPr>
              <a:t> </a:t>
            </a:r>
            <a:r>
              <a:rPr lang="en-US" dirty="0">
                <a:solidFill>
                  <a:schemeClr val="accent2"/>
                </a:solidFill>
                <a:latin typeface="TeXGyreTermes-Regular"/>
              </a:rPr>
              <a:t>The </a:t>
            </a:r>
            <a:r>
              <a:rPr lang="en-US" dirty="0">
                <a:solidFill>
                  <a:schemeClr val="accent2"/>
                </a:solidFill>
                <a:latin typeface="SFTT1000"/>
              </a:rPr>
              <a:t>if </a:t>
            </a:r>
            <a:r>
              <a:rPr lang="en-US" dirty="0">
                <a:solidFill>
                  <a:schemeClr val="accent2"/>
                </a:solidFill>
                <a:latin typeface="TeXGyreTermes-Regular"/>
              </a:rPr>
              <a:t>statement body is just </a:t>
            </a:r>
            <a:r>
              <a:rPr lang="en-US" dirty="0">
                <a:solidFill>
                  <a:schemeClr val="accent2"/>
                </a:solidFill>
                <a:latin typeface="SFTT1000"/>
              </a:rPr>
              <a:t>print(c) </a:t>
            </a:r>
            <a:r>
              <a:rPr lang="en-US" dirty="0">
                <a:solidFill>
                  <a:schemeClr val="accent2"/>
                </a:solidFill>
                <a:latin typeface="TeXGyreTermes-Regular"/>
              </a:rPr>
              <a:t>while the </a:t>
            </a:r>
            <a:r>
              <a:rPr lang="en-US" dirty="0">
                <a:solidFill>
                  <a:schemeClr val="accent2"/>
                </a:solidFill>
                <a:latin typeface="SFTT1000"/>
              </a:rPr>
              <a:t>for </a:t>
            </a:r>
            <a:r>
              <a:rPr lang="en-US" dirty="0" smtClean="0">
                <a:solidFill>
                  <a:schemeClr val="accent2"/>
                </a:solidFill>
                <a:latin typeface="TeXGyreTermes-Regular"/>
              </a:rPr>
              <a:t>loop statement </a:t>
            </a:r>
            <a:r>
              <a:rPr lang="en-US" dirty="0">
                <a:solidFill>
                  <a:schemeClr val="accent2"/>
                </a:solidFill>
                <a:latin typeface="TeXGyreTermes-Regular"/>
              </a:rPr>
              <a:t>body is:</a:t>
            </a:r>
          </a:p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SFTT1000"/>
              </a:rPr>
              <a:t>if c in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SFTT0900"/>
              </a:rPr>
              <a:t>'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SFTT0900"/>
              </a:rPr>
              <a:t>aeiouAEIOU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SFTT0900"/>
              </a:rPr>
              <a:t>'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SFTT1000"/>
              </a:rPr>
              <a:t>:</a:t>
            </a:r>
          </a:p>
          <a:p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  <a:latin typeface="SFTT1000"/>
              </a:rPr>
              <a:t>	print(c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SFTT1000"/>
              </a:rPr>
              <a:t>)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337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range()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algn="just"/>
            <a:r>
              <a:rPr lang="en-US" dirty="0"/>
              <a:t>We just saw how the for loop is used to iterate over the items of a list or the characters </a:t>
            </a:r>
            <a:r>
              <a:rPr lang="en-US" dirty="0" smtClean="0"/>
              <a:t>of a </a:t>
            </a:r>
            <a:r>
              <a:rPr lang="en-US" dirty="0"/>
              <a:t>string. It is often necessary to iterate over a sequence of numbers in a given range, even </a:t>
            </a:r>
            <a:r>
              <a:rPr lang="en-US" dirty="0" smtClean="0"/>
              <a:t>if the </a:t>
            </a:r>
            <a:r>
              <a:rPr lang="en-US" dirty="0"/>
              <a:t>list of numbers is not explicitly given. For example, we may be searching for a </a:t>
            </a:r>
            <a:r>
              <a:rPr lang="en-US" dirty="0" smtClean="0"/>
              <a:t>divisor of </a:t>
            </a:r>
            <a:r>
              <a:rPr lang="en-US" dirty="0"/>
              <a:t>a number. </a:t>
            </a:r>
            <a:endParaRPr lang="en-US" dirty="0" smtClean="0"/>
          </a:p>
          <a:p>
            <a:pPr algn="just"/>
            <a:r>
              <a:rPr lang="en-US" dirty="0" smtClean="0"/>
              <a:t>Or </a:t>
            </a:r>
            <a:r>
              <a:rPr lang="en-US" dirty="0"/>
              <a:t>we could be iterating over the indexes 0, 1, 2, . . . of a sequence object. </a:t>
            </a:r>
            <a:r>
              <a:rPr lang="en-US" dirty="0" smtClean="0"/>
              <a:t>The built-in </a:t>
            </a:r>
            <a:r>
              <a:rPr lang="en-US" dirty="0"/>
              <a:t>function range() can be used together with the for loop to iterate over a </a:t>
            </a:r>
            <a:r>
              <a:rPr lang="en-US" dirty="0" smtClean="0"/>
              <a:t>sequence of </a:t>
            </a:r>
            <a:r>
              <a:rPr lang="en-US" dirty="0"/>
              <a:t>numbers in a given range. Here is how we can iterate over the integers 0, 1, 2, 3, 4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63788" b="89192"/>
          <a:stretch/>
        </p:blipFill>
        <p:spPr>
          <a:xfrm>
            <a:off x="875929" y="4019647"/>
            <a:ext cx="9726829" cy="163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520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range()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r="63788" b="89192"/>
          <a:stretch/>
        </p:blipFill>
        <p:spPr>
          <a:xfrm>
            <a:off x="581192" y="2198713"/>
            <a:ext cx="9726829" cy="16330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t="80101" r="72879" b="8990"/>
          <a:stretch/>
        </p:blipFill>
        <p:spPr>
          <a:xfrm>
            <a:off x="581192" y="4010890"/>
            <a:ext cx="6521385" cy="147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336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range() 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Function range(n) is typically used to iterate over the integer sequence 0, 1, 2, . . . , </a:t>
            </a:r>
            <a:r>
              <a:rPr lang="en-US" dirty="0" smtClean="0"/>
              <a:t>(</a:t>
            </a:r>
            <a:r>
              <a:rPr lang="en-US" i="1" dirty="0" smtClean="0"/>
              <a:t>n -1)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In the last example, variable </a:t>
            </a:r>
            <a:r>
              <a:rPr lang="en-US" dirty="0" err="1"/>
              <a:t>i</a:t>
            </a:r>
            <a:r>
              <a:rPr lang="en-US" dirty="0"/>
              <a:t> is set to 0 in the first iteration; in the following iterations, </a:t>
            </a:r>
            <a:r>
              <a:rPr lang="en-US" dirty="0" err="1" smtClean="0"/>
              <a:t>i</a:t>
            </a:r>
            <a:r>
              <a:rPr lang="en-US" dirty="0" smtClean="0"/>
              <a:t> gets </a:t>
            </a:r>
            <a:r>
              <a:rPr lang="en-US" dirty="0"/>
              <a:t>assigned values 1, 2, 3, and finally 4 (as n = 5). </a:t>
            </a:r>
            <a:endParaRPr lang="en-US" dirty="0" smtClean="0"/>
          </a:p>
          <a:p>
            <a:r>
              <a:rPr lang="en-US" dirty="0" smtClean="0"/>
              <a:t>As </a:t>
            </a:r>
            <a:r>
              <a:rPr lang="en-US" dirty="0"/>
              <a:t>in previous for loop examples, </a:t>
            </a:r>
            <a:r>
              <a:rPr lang="en-US" dirty="0" smtClean="0"/>
              <a:t>the indented </a:t>
            </a:r>
            <a:r>
              <a:rPr lang="en-US" dirty="0"/>
              <a:t>code section of the for loop is executed in every iteration, for every value of </a:t>
            </a:r>
            <a:r>
              <a:rPr lang="en-US" dirty="0" err="1"/>
              <a:t>i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264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range(start, end)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The range() function can also be used to iterate over more complex sequences of numbers.</a:t>
            </a:r>
          </a:p>
          <a:p>
            <a:r>
              <a:rPr lang="en-US" dirty="0"/>
              <a:t>If we would like the sequence to start at a nonzero number start and end </a:t>
            </a:r>
            <a:r>
              <a:rPr lang="en-US" i="1" dirty="0" smtClean="0"/>
              <a:t>before </a:t>
            </a:r>
            <a:r>
              <a:rPr lang="en-US" dirty="0" smtClean="0"/>
              <a:t>number </a:t>
            </a:r>
            <a:r>
              <a:rPr lang="en-US" dirty="0"/>
              <a:t>end, we make the function call range(start</a:t>
            </a:r>
            <a:r>
              <a:rPr lang="en-US" dirty="0" smtClean="0"/>
              <a:t>, end</a:t>
            </a:r>
            <a:r>
              <a:rPr lang="en-US" dirty="0"/>
              <a:t>). For example, this for </a:t>
            </a:r>
            <a:r>
              <a:rPr lang="en-US" dirty="0" smtClean="0"/>
              <a:t>loop iterates </a:t>
            </a:r>
            <a:r>
              <a:rPr lang="en-US" dirty="0"/>
              <a:t>over the sequence 2, 3, 4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60151" b="88788"/>
          <a:stretch/>
        </p:blipFill>
        <p:spPr>
          <a:xfrm>
            <a:off x="705184" y="3259351"/>
            <a:ext cx="8950264" cy="141655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83980" r="66288" b="8788"/>
          <a:stretch/>
        </p:blipFill>
        <p:spPr>
          <a:xfrm>
            <a:off x="705185" y="4826000"/>
            <a:ext cx="8565815" cy="103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991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range(start, end, step)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581193" y="2180495"/>
            <a:ext cx="11029615" cy="3678303"/>
          </a:xfrm>
        </p:spPr>
        <p:txBody>
          <a:bodyPr anchor="t">
            <a:normAutofit lnSpcReduction="10000"/>
          </a:bodyPr>
          <a:lstStyle/>
          <a:p>
            <a:r>
              <a:rPr lang="en-US" dirty="0"/>
              <a:t>In order to generate sequences that use a step size other than 1, a third argument can be used.</a:t>
            </a:r>
          </a:p>
          <a:p>
            <a:r>
              <a:rPr lang="en-US" dirty="0"/>
              <a:t>The function call range(start, end, step) can be used to iterate over the sequence </a:t>
            </a:r>
            <a:r>
              <a:rPr lang="en-US" dirty="0" smtClean="0"/>
              <a:t>of integers </a:t>
            </a:r>
            <a:r>
              <a:rPr lang="en-US" dirty="0"/>
              <a:t>starting at start, using a step size of step and ending before end. For </a:t>
            </a:r>
            <a:r>
              <a:rPr lang="en-US" dirty="0" smtClean="0"/>
              <a:t>example, the </a:t>
            </a:r>
            <a:r>
              <a:rPr lang="en-US" dirty="0"/>
              <a:t>next loop will iterate over the sequence 1, 4, 7, 10, 13: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sequence printed by the for loop starts at 1, uses a step size of 3, and ends before 14.</a:t>
            </a:r>
          </a:p>
          <a:p>
            <a:r>
              <a:rPr lang="en-US" dirty="0"/>
              <a:t>Therefore it will print 1, 4, 7, 10, and 13.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51389" b="89506"/>
          <a:stretch/>
        </p:blipFill>
        <p:spPr>
          <a:xfrm>
            <a:off x="800099" y="3479896"/>
            <a:ext cx="10667201" cy="129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990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range(start, end, step</a:t>
            </a:r>
            <a:r>
              <a:rPr lang="en-US" dirty="0" smtClean="0"/>
              <a:t>) program execution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r="51389" b="89506"/>
          <a:stretch/>
        </p:blipFill>
        <p:spPr>
          <a:xfrm>
            <a:off x="762399" y="1971604"/>
            <a:ext cx="10667201" cy="12953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t="80123" r="55834" b="8765"/>
          <a:stretch/>
        </p:blipFill>
        <p:spPr>
          <a:xfrm>
            <a:off x="762399" y="3841876"/>
            <a:ext cx="10454589" cy="147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079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81192" y="4865615"/>
            <a:ext cx="2170397" cy="7466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81192" y="2885813"/>
            <a:ext cx="3160298" cy="153518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User-defined functions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We have already seen and used several built-in Python functions. The function </a:t>
            </a:r>
            <a:r>
              <a:rPr lang="en-US" dirty="0" err="1"/>
              <a:t>len</a:t>
            </a:r>
            <a:r>
              <a:rPr lang="en-US" dirty="0"/>
              <a:t>(), </a:t>
            </a:r>
            <a:r>
              <a:rPr lang="en-US" dirty="0" smtClean="0"/>
              <a:t>for example</a:t>
            </a:r>
            <a:r>
              <a:rPr lang="en-US" dirty="0"/>
              <a:t>, takes a sequence (a string or a list, say) and returns the number of items in </a:t>
            </a:r>
            <a:r>
              <a:rPr lang="en-US" dirty="0" smtClean="0"/>
              <a:t>the sequence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len</a:t>
            </a:r>
            <a:r>
              <a:rPr lang="en-US" dirty="0"/>
              <a:t>('goldfish')</a:t>
            </a:r>
          </a:p>
          <a:p>
            <a:pPr marL="0" indent="0">
              <a:buNone/>
            </a:pPr>
            <a:r>
              <a:rPr lang="en-US" dirty="0"/>
              <a:t>8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len</a:t>
            </a:r>
            <a:r>
              <a:rPr lang="en-US" dirty="0"/>
              <a:t>(['goldfish', 'cat', 'dog'])</a:t>
            </a:r>
          </a:p>
          <a:p>
            <a:pPr marL="0" indent="0">
              <a:buNone/>
            </a:pPr>
            <a:r>
              <a:rPr lang="en-US" dirty="0"/>
              <a:t>3</a:t>
            </a:r>
          </a:p>
          <a:p>
            <a:r>
              <a:rPr lang="en-US" dirty="0"/>
              <a:t>Function max() can take two numbers as input and returns the maximum of the two:</a:t>
            </a:r>
          </a:p>
          <a:p>
            <a:pPr marL="0" indent="0">
              <a:buNone/>
            </a:pPr>
            <a:r>
              <a:rPr lang="en-US" dirty="0"/>
              <a:t>&gt;&gt;&gt; max(4, 7)</a:t>
            </a:r>
          </a:p>
          <a:p>
            <a:pPr marL="0" indent="0">
              <a:buNone/>
            </a:pPr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DB8EC-C680-4080-9C31-8FFC2916EF2F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t="50362" r="81938" b="40750"/>
          <a:stretch/>
        </p:blipFill>
        <p:spPr>
          <a:xfrm>
            <a:off x="5564372" y="2885813"/>
            <a:ext cx="4938913" cy="136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129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81192" y="3789575"/>
            <a:ext cx="2133728" cy="41478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1192" y="2620652"/>
            <a:ext cx="2133728" cy="73529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User-defined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Function sum() can take a list of numbers as input and returns the sum of the numbers:</a:t>
            </a:r>
          </a:p>
          <a:p>
            <a:pPr marL="0" indent="0">
              <a:buNone/>
            </a:pPr>
            <a:r>
              <a:rPr lang="en-US" dirty="0"/>
              <a:t>&gt;&gt;&gt; sum([4, 5, 6, 7])</a:t>
            </a:r>
          </a:p>
          <a:p>
            <a:pPr marL="0" indent="0">
              <a:buNone/>
            </a:pPr>
            <a:r>
              <a:rPr lang="en-US" dirty="0"/>
              <a:t>22</a:t>
            </a:r>
          </a:p>
          <a:p>
            <a:r>
              <a:rPr lang="en-US" dirty="0"/>
              <a:t>Some functions can even be called without arguments:</a:t>
            </a:r>
          </a:p>
          <a:p>
            <a:pPr marL="0" indent="0">
              <a:buNone/>
            </a:pPr>
            <a:r>
              <a:rPr lang="en-US" dirty="0"/>
              <a:t>&gt;&gt;&gt; print</a:t>
            </a:r>
            <a:r>
              <a:rPr lang="en-US" dirty="0" smtClean="0"/>
              <a:t>()</a:t>
            </a:r>
          </a:p>
          <a:p>
            <a:r>
              <a:rPr lang="en-US" dirty="0"/>
              <a:t>In general, a function takes 0 or more input arguments and returns a result. </a:t>
            </a:r>
            <a:endParaRPr lang="en-US" dirty="0" smtClean="0"/>
          </a:p>
          <a:p>
            <a:r>
              <a:rPr lang="en-US" dirty="0" smtClean="0"/>
              <a:t>One </a:t>
            </a:r>
            <a:r>
              <a:rPr lang="en-US" dirty="0"/>
              <a:t>of </a:t>
            </a:r>
            <a:r>
              <a:rPr lang="en-US" dirty="0" smtClean="0"/>
              <a:t>the useful </a:t>
            </a:r>
            <a:r>
              <a:rPr lang="en-US" dirty="0"/>
              <a:t>things about functions is that they can be called, using a single-line statement, </a:t>
            </a:r>
            <a:r>
              <a:rPr lang="en-US" dirty="0" smtClean="0"/>
              <a:t>to complete </a:t>
            </a:r>
            <a:r>
              <a:rPr lang="en-US" dirty="0"/>
              <a:t>a task that really requires multiple Python statements.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107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581192" y="2912882"/>
            <a:ext cx="1850923" cy="1621411"/>
          </a:xfrm>
          <a:prstGeom prst="rect">
            <a:avLst/>
          </a:prstGeom>
          <a:solidFill>
            <a:srgbClr val="FF99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first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We illustrate how functions are defined in Python by developing a Python function </a:t>
            </a:r>
            <a:r>
              <a:rPr lang="en-US" dirty="0" smtClean="0"/>
              <a:t>named f </a:t>
            </a:r>
            <a:r>
              <a:rPr lang="en-US" dirty="0"/>
              <a:t>that takes a number x as input and computes and returns the value x2 +1.We expect </a:t>
            </a:r>
            <a:r>
              <a:rPr lang="en-US" dirty="0" smtClean="0"/>
              <a:t>this function </a:t>
            </a:r>
            <a:r>
              <a:rPr lang="en-US" dirty="0"/>
              <a:t>to behave like this:</a:t>
            </a:r>
          </a:p>
          <a:p>
            <a:pPr marL="0" indent="0">
              <a:buNone/>
            </a:pPr>
            <a:r>
              <a:rPr lang="en-US" dirty="0"/>
              <a:t>&gt;&gt;&gt; f(9)</a:t>
            </a:r>
          </a:p>
          <a:p>
            <a:pPr marL="0" indent="0">
              <a:buNone/>
            </a:pPr>
            <a:r>
              <a:rPr lang="en-US" dirty="0"/>
              <a:t>82</a:t>
            </a:r>
          </a:p>
          <a:p>
            <a:pPr marL="0" indent="0">
              <a:buNone/>
            </a:pPr>
            <a:r>
              <a:rPr lang="en-US" dirty="0"/>
              <a:t>&gt;&gt;&gt; 3 * f(3) + 4</a:t>
            </a:r>
          </a:p>
          <a:p>
            <a:pPr marL="0" indent="0">
              <a:buNone/>
            </a:pPr>
            <a:r>
              <a:rPr lang="en-US" dirty="0"/>
              <a:t>34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930537" y="3396343"/>
            <a:ext cx="1846217" cy="78377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f(argument)</a:t>
            </a:r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>
            <a:off x="4868091" y="3701142"/>
            <a:ext cx="1062446" cy="1741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267199" y="3367822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Argument for f</a:t>
            </a:r>
            <a:endParaRPr lang="en-US" dirty="0"/>
          </a:p>
        </p:txBody>
      </p:sp>
      <p:sp>
        <p:nvSpPr>
          <p:cNvPr id="10" name="Right Arrow 9"/>
          <p:cNvSpPr/>
          <p:nvPr/>
        </p:nvSpPr>
        <p:spPr>
          <a:xfrm>
            <a:off x="7790957" y="3730758"/>
            <a:ext cx="1062446" cy="1741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759337" y="3456673"/>
            <a:ext cx="2551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Return from function f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913120" y="4391830"/>
            <a:ext cx="1846217" cy="783771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f(argument)</a:t>
            </a:r>
          </a:p>
          <a:p>
            <a:pPr algn="ctr"/>
            <a:r>
              <a:rPr lang="en-US" dirty="0" smtClean="0"/>
              <a:t>{code to be executed}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>
            <a:off x="4850674" y="4696629"/>
            <a:ext cx="1062446" cy="1741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249782" y="4363309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Argument for f</a:t>
            </a:r>
            <a:endParaRPr lang="en-US" dirty="0"/>
          </a:p>
        </p:txBody>
      </p:sp>
      <p:sp>
        <p:nvSpPr>
          <p:cNvPr id="15" name="Right Arrow 14"/>
          <p:cNvSpPr/>
          <p:nvPr/>
        </p:nvSpPr>
        <p:spPr>
          <a:xfrm>
            <a:off x="7773540" y="4726245"/>
            <a:ext cx="1062446" cy="1741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741920" y="4452160"/>
            <a:ext cx="2551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Return from function 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48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Coding for the user-defined function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Function f() can be defined in a Python module as: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088485" y="2718896"/>
            <a:ext cx="1846217" cy="78377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f(argument)</a:t>
            </a:r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>
            <a:off x="6026039" y="3023695"/>
            <a:ext cx="1062446" cy="1741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425147" y="2690375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Argument for f</a:t>
            </a:r>
            <a:endParaRPr lang="en-US" dirty="0"/>
          </a:p>
        </p:txBody>
      </p:sp>
      <p:sp>
        <p:nvSpPr>
          <p:cNvPr id="10" name="Right Arrow 9"/>
          <p:cNvSpPr/>
          <p:nvPr/>
        </p:nvSpPr>
        <p:spPr>
          <a:xfrm>
            <a:off x="8948905" y="3053311"/>
            <a:ext cx="1062446" cy="1741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917285" y="2779226"/>
            <a:ext cx="2551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Return from function f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t="-531" r="76268" b="88164"/>
          <a:stretch/>
        </p:blipFill>
        <p:spPr>
          <a:xfrm>
            <a:off x="741660" y="2563838"/>
            <a:ext cx="4735724" cy="138818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169128" y="3776752"/>
            <a:ext cx="1846217" cy="1177497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def</a:t>
            </a:r>
            <a:r>
              <a:rPr lang="en-US" dirty="0" smtClean="0"/>
              <a:t> f(4):</a:t>
            </a:r>
            <a:endParaRPr lang="en-US" dirty="0"/>
          </a:p>
          <a:p>
            <a:pPr algn="ctr"/>
            <a:r>
              <a:rPr lang="en-US" dirty="0"/>
              <a:t>    res = </a:t>
            </a:r>
            <a:r>
              <a:rPr lang="en-US" dirty="0" smtClean="0"/>
              <a:t>4**</a:t>
            </a:r>
            <a:r>
              <a:rPr lang="en-US" dirty="0"/>
              <a:t>2 + 1</a:t>
            </a:r>
          </a:p>
          <a:p>
            <a:pPr algn="ctr"/>
            <a:r>
              <a:rPr lang="en-US" dirty="0"/>
              <a:t>    return </a:t>
            </a:r>
            <a:r>
              <a:rPr lang="en-US" dirty="0" smtClean="0"/>
              <a:t>res</a:t>
            </a:r>
            <a:endParaRPr lang="en-US" dirty="0"/>
          </a:p>
        </p:txBody>
      </p:sp>
      <p:sp>
        <p:nvSpPr>
          <p:cNvPr id="14" name="Right Arrow 13"/>
          <p:cNvSpPr/>
          <p:nvPr/>
        </p:nvSpPr>
        <p:spPr>
          <a:xfrm>
            <a:off x="6092479" y="4285339"/>
            <a:ext cx="1062446" cy="1741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222449" y="3952019"/>
            <a:ext cx="2097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Argument for f (4)</a:t>
            </a:r>
            <a:endParaRPr lang="en-US" dirty="0"/>
          </a:p>
        </p:txBody>
      </p:sp>
      <p:sp>
        <p:nvSpPr>
          <p:cNvPr id="16" name="Right Arrow 15"/>
          <p:cNvSpPr/>
          <p:nvPr/>
        </p:nvSpPr>
        <p:spPr>
          <a:xfrm>
            <a:off x="9029548" y="4285339"/>
            <a:ext cx="1062446" cy="1741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8997928" y="4011254"/>
            <a:ext cx="2551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res from function f -&gt; 17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3"/>
          <a:srcRect t="15994" r="94242" b="75252"/>
          <a:stretch/>
        </p:blipFill>
        <p:spPr>
          <a:xfrm>
            <a:off x="833126" y="4195920"/>
            <a:ext cx="1245056" cy="106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214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4703807" y="3879273"/>
            <a:ext cx="3273932" cy="187036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User-defined function execution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14108" r="58636" b="76330"/>
          <a:stretch/>
        </p:blipFill>
        <p:spPr>
          <a:xfrm>
            <a:off x="581192" y="1939636"/>
            <a:ext cx="10441266" cy="135774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t="23536" r="92955" b="72424"/>
          <a:stretch/>
        </p:blipFill>
        <p:spPr>
          <a:xfrm>
            <a:off x="581193" y="3726873"/>
            <a:ext cx="1760225" cy="56781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32199" y="4446090"/>
            <a:ext cx="1785528" cy="117749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FF0000"/>
                </a:solidFill>
              </a:rPr>
              <a:t>def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f(x):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    res = x**2 + 1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    return </a:t>
            </a:r>
            <a:r>
              <a:rPr lang="en-US" dirty="0" smtClean="0">
                <a:solidFill>
                  <a:srgbClr val="FF0000"/>
                </a:solidFill>
              </a:rPr>
              <a:t>res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3641361" y="4628931"/>
            <a:ext cx="1062446" cy="1741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719100" y="4295611"/>
            <a:ext cx="3150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Expression using function f(x)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>
            <a:off x="7977739" y="4615862"/>
            <a:ext cx="1027521" cy="1741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946119" y="4341777"/>
            <a:ext cx="4245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res from function f(3) used in Expression 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704848" y="3842180"/>
            <a:ext cx="2916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3*f(3)+4</a:t>
            </a:r>
            <a:endParaRPr lang="en-US" sz="2400" dirty="0"/>
          </a:p>
        </p:txBody>
      </p:sp>
      <p:cxnSp>
        <p:nvCxnSpPr>
          <p:cNvPr id="18" name="Curved Connector 17"/>
          <p:cNvCxnSpPr/>
          <p:nvPr/>
        </p:nvCxnSpPr>
        <p:spPr>
          <a:xfrm rot="10800000" flipV="1">
            <a:off x="5382124" y="4294685"/>
            <a:ext cx="713881" cy="643615"/>
          </a:xfrm>
          <a:prstGeom prst="curvedConnector3">
            <a:avLst>
              <a:gd name="adj1" fmla="val 160622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stCxn id="10" idx="3"/>
          </p:cNvCxnSpPr>
          <p:nvPr/>
        </p:nvCxnSpPr>
        <p:spPr>
          <a:xfrm flipH="1" flipV="1">
            <a:off x="6525491" y="4320041"/>
            <a:ext cx="692236" cy="714798"/>
          </a:xfrm>
          <a:prstGeom prst="curvedConnector4">
            <a:avLst>
              <a:gd name="adj1" fmla="val -33023"/>
              <a:gd name="adj2" fmla="val 91183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053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1192" y="2784764"/>
            <a:ext cx="4558844" cy="706581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User-defined function general 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 lnSpcReduction="10000"/>
          </a:bodyPr>
          <a:lstStyle/>
          <a:p>
            <a:r>
              <a:rPr lang="en-US" dirty="0"/>
              <a:t>After you have defined function f(), you can use it just like any other built-in </a:t>
            </a:r>
            <a:r>
              <a:rPr lang="en-US" dirty="0" smtClean="0"/>
              <a:t>function. The </a:t>
            </a:r>
            <a:r>
              <a:rPr lang="en-US" dirty="0"/>
              <a:t>Python function definition statement has this general format:</a:t>
            </a:r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&lt;function name&gt; (&lt;0 or more variables&gt;):</a:t>
            </a:r>
          </a:p>
          <a:p>
            <a:pPr marL="0" indent="0">
              <a:buNone/>
            </a:pPr>
            <a:r>
              <a:rPr lang="en-US" dirty="0"/>
              <a:t>&lt;indented function body&gt;</a:t>
            </a:r>
          </a:p>
          <a:p>
            <a:r>
              <a:rPr lang="en-US" dirty="0"/>
              <a:t>A function definition statement starts with the </a:t>
            </a:r>
            <a:r>
              <a:rPr lang="en-US" dirty="0" err="1"/>
              <a:t>def</a:t>
            </a:r>
            <a:r>
              <a:rPr lang="en-US" dirty="0"/>
              <a:t> keyword. Following it is the name </a:t>
            </a:r>
            <a:r>
              <a:rPr lang="en-US" dirty="0" smtClean="0"/>
              <a:t>of the </a:t>
            </a:r>
            <a:r>
              <a:rPr lang="en-US" dirty="0"/>
              <a:t>function; in our example, the name is f. </a:t>
            </a:r>
            <a:endParaRPr lang="en-US" dirty="0" smtClean="0"/>
          </a:p>
          <a:p>
            <a:r>
              <a:rPr lang="en-US" dirty="0" smtClean="0"/>
              <a:t>Following </a:t>
            </a:r>
            <a:r>
              <a:rPr lang="en-US" dirty="0"/>
              <a:t>the name and in parentheses are </a:t>
            </a:r>
            <a:r>
              <a:rPr lang="en-US" dirty="0" smtClean="0"/>
              <a:t>the variable </a:t>
            </a:r>
            <a:r>
              <a:rPr lang="en-US" dirty="0"/>
              <a:t>names that stand in for the input arguments, if any.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function f(), the x in</a:t>
            </a:r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f(x):</a:t>
            </a:r>
          </a:p>
          <a:p>
            <a:r>
              <a:rPr lang="en-US" dirty="0"/>
              <a:t>has the same role as x in the math function f(x): to serve as the name for the input value.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977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User-defined function with two parameters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 anchor="t"/>
              <a:lstStyle/>
              <a:p>
                <a:r>
                  <a:rPr lang="en-US" dirty="0" smtClean="0"/>
                  <a:t>To define a function with more than one argument, we </a:t>
                </a:r>
                <a:r>
                  <a:rPr lang="en-US" dirty="0"/>
                  <a:t>need to have a distinct variable name for every input argument.</a:t>
                </a:r>
              </a:p>
              <a:p>
                <a:r>
                  <a:rPr lang="en-US" dirty="0"/>
                  <a:t>For example, </a:t>
                </a:r>
                <a:r>
                  <a:rPr lang="en-US" dirty="0" smtClean="0"/>
                  <a:t>if we want </a:t>
                </a:r>
                <a:r>
                  <a:rPr lang="en-US" dirty="0"/>
                  <a:t>to define a function called </a:t>
                </a:r>
                <a:r>
                  <a:rPr lang="en-US" dirty="0" err="1"/>
                  <a:t>squareSum</a:t>
                </a:r>
                <a:r>
                  <a:rPr lang="en-US" dirty="0"/>
                  <a:t>() that takes two </a:t>
                </a:r>
                <a:r>
                  <a:rPr lang="en-US" dirty="0" smtClean="0"/>
                  <a:t>numbers x </a:t>
                </a:r>
                <a:r>
                  <a:rPr lang="en-US" dirty="0"/>
                  <a:t>and y as input and returns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𝑆𝑢𝑚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𝑡h𝑒𝑖𝑟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𝑠𝑞𝑢𝑎𝑟𝑒𝑠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, </a:t>
                </a:r>
                <a:r>
                  <a:rPr lang="en-US" dirty="0"/>
                  <a:t>we need to define </a:t>
                </a:r>
                <a:r>
                  <a:rPr lang="en-US" dirty="0" smtClean="0"/>
                  <a:t>function </a:t>
                </a:r>
                <a:r>
                  <a:rPr lang="en-US" dirty="0" err="1" smtClean="0"/>
                  <a:t>squareSum</a:t>
                </a:r>
                <a:r>
                  <a:rPr lang="en-US" dirty="0"/>
                  <a:t>() so there is a variable name for input argument x, say x, and another </a:t>
                </a:r>
                <a:r>
                  <a:rPr lang="en-US" dirty="0" smtClean="0"/>
                  <a:t>variable name </a:t>
                </a:r>
                <a:r>
                  <a:rPr lang="en-US" dirty="0"/>
                  <a:t>for input argument y, say y: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21" t="-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447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605951" y="1889760"/>
            <a:ext cx="3802278" cy="86214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 err="1" smtClean="0">
                <a:solidFill>
                  <a:srgbClr val="FF0000"/>
                </a:solidFill>
              </a:rPr>
              <a:t>SquareSum</a:t>
            </a:r>
            <a:r>
              <a:rPr lang="en-US" dirty="0" smtClean="0"/>
              <a:t>                         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User-defined function with two parameters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29326" r="59697" b="64479"/>
          <a:stretch/>
        </p:blipFill>
        <p:spPr>
          <a:xfrm>
            <a:off x="581192" y="3318627"/>
            <a:ext cx="8972933" cy="7758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76" t="102" r="69545" b="91144"/>
          <a:stretch/>
        </p:blipFill>
        <p:spPr>
          <a:xfrm>
            <a:off x="581192" y="1978753"/>
            <a:ext cx="6767372" cy="109695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t="29058" r="58788" b="65286"/>
          <a:stretch/>
        </p:blipFill>
        <p:spPr>
          <a:xfrm>
            <a:off x="581192" y="4209287"/>
            <a:ext cx="9374303" cy="7237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9430427" y="2041357"/>
                <a:ext cx="637309" cy="55418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0427" y="2041357"/>
                <a:ext cx="637309" cy="5541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0558300" y="2041357"/>
                <a:ext cx="637309" cy="554181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8300" y="2041357"/>
                <a:ext cx="637309" cy="55418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0067736" y="2041357"/>
            <a:ext cx="490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+</a:t>
            </a:r>
            <a:endParaRPr lang="en-US" sz="32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7"/>
          <a:srcRect t="44142" r="86818" b="52086"/>
          <a:stretch/>
        </p:blipFill>
        <p:spPr>
          <a:xfrm>
            <a:off x="581193" y="5054495"/>
            <a:ext cx="3187244" cy="51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801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581192" y="4223208"/>
            <a:ext cx="3227237" cy="80127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81192" y="2997724"/>
            <a:ext cx="1992326" cy="36764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Print( ) verses return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As another example of a user-defined function, we develop a personalized hello() function.</a:t>
            </a:r>
          </a:p>
          <a:p>
            <a:r>
              <a:rPr lang="en-US" dirty="0"/>
              <a:t>It takes as input a name (a string) and </a:t>
            </a:r>
            <a:r>
              <a:rPr lang="en-US" i="1" dirty="0"/>
              <a:t>prints </a:t>
            </a:r>
            <a:r>
              <a:rPr lang="en-US" dirty="0"/>
              <a:t>a greeting:</a:t>
            </a:r>
          </a:p>
          <a:p>
            <a:pPr marL="0" indent="0">
              <a:buNone/>
            </a:pPr>
            <a:r>
              <a:rPr lang="en-US" dirty="0"/>
              <a:t>&gt;&gt;&gt; hello</a:t>
            </a:r>
            <a:r>
              <a:rPr lang="en-US" dirty="0" smtClean="0"/>
              <a:t>(‘Faisal')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Hello, </a:t>
            </a:r>
            <a:r>
              <a:rPr lang="en-US" dirty="0" smtClean="0"/>
              <a:t>Faisal!</a:t>
            </a:r>
            <a:endParaRPr lang="en-US" dirty="0"/>
          </a:p>
          <a:p>
            <a:r>
              <a:rPr lang="en-US" dirty="0"/>
              <a:t>We </a:t>
            </a:r>
            <a:r>
              <a:rPr lang="en-US" dirty="0" smtClean="0"/>
              <a:t>implement </a:t>
            </a:r>
            <a:r>
              <a:rPr lang="en-US" dirty="0"/>
              <a:t>this function in the same module as </a:t>
            </a:r>
            <a:r>
              <a:rPr lang="en-US" dirty="0" smtClean="0"/>
              <a:t>function </a:t>
            </a:r>
            <a:r>
              <a:rPr lang="en-US" dirty="0"/>
              <a:t>f</a:t>
            </a:r>
            <a:r>
              <a:rPr lang="en-US" dirty="0" smtClean="0"/>
              <a:t>():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/>
              <a:t>def</a:t>
            </a:r>
            <a:r>
              <a:rPr lang="en-US" dirty="0"/>
              <a:t> hello(name):</a:t>
            </a:r>
          </a:p>
          <a:p>
            <a:pPr marL="0" indent="0">
              <a:buNone/>
            </a:pPr>
            <a:r>
              <a:rPr lang="en-US" dirty="0" smtClean="0"/>
              <a:t>	print</a:t>
            </a:r>
            <a:r>
              <a:rPr lang="en-US" dirty="0"/>
              <a:t>('Hello, '+ name + '!')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81192" y="2997724"/>
            <a:ext cx="2067740" cy="36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231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Print( ) verses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When function hello() is called, it will print the concatenation of string 'Hello, ', </a:t>
            </a:r>
            <a:r>
              <a:rPr lang="en-US" dirty="0" smtClean="0"/>
              <a:t>the input </a:t>
            </a:r>
            <a:r>
              <a:rPr lang="en-US" dirty="0"/>
              <a:t>string, and string '!'.</a:t>
            </a:r>
          </a:p>
          <a:p>
            <a:r>
              <a:rPr lang="en-US" dirty="0"/>
              <a:t>Note that function hello() </a:t>
            </a:r>
            <a:r>
              <a:rPr lang="en-US" i="1" dirty="0"/>
              <a:t>prints </a:t>
            </a:r>
            <a:r>
              <a:rPr lang="en-US" dirty="0"/>
              <a:t>output on the screen; it does not </a:t>
            </a:r>
            <a:r>
              <a:rPr lang="en-US" i="1" dirty="0"/>
              <a:t>return </a:t>
            </a:r>
            <a:r>
              <a:rPr lang="en-US" dirty="0"/>
              <a:t>anything.</a:t>
            </a:r>
          </a:p>
          <a:p>
            <a:r>
              <a:rPr lang="en-US" dirty="0"/>
              <a:t>What is the difference between a function calling print() or returning a value?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546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6188417" y="2228003"/>
            <a:ext cx="4465986" cy="15238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81192" y="4128940"/>
            <a:ext cx="1558693" cy="537328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81192" y="2950590"/>
            <a:ext cx="1888631" cy="6693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Statement return versus Function print</a:t>
            </a:r>
            <a:r>
              <a:rPr lang="en-US" dirty="0" smtClean="0"/>
              <a:t>( 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anchor="t">
            <a:normAutofit fontScale="85000" lnSpcReduction="20000"/>
          </a:bodyPr>
          <a:lstStyle/>
          <a:p>
            <a:r>
              <a:rPr lang="en-US" dirty="0"/>
              <a:t>A common mistake is to use the print() function instead of the return </a:t>
            </a:r>
            <a:r>
              <a:rPr lang="en-US" dirty="0" smtClean="0"/>
              <a:t>statement inside </a:t>
            </a:r>
            <a:r>
              <a:rPr lang="en-US" dirty="0"/>
              <a:t>a function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Suppose we had defined our first function f() in this way:</a:t>
            </a:r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f(x):</a:t>
            </a:r>
          </a:p>
          <a:p>
            <a:pPr marL="0" indent="0">
              <a:buNone/>
            </a:pPr>
            <a:r>
              <a:rPr lang="en-US" dirty="0"/>
              <a:t>print(x**2 + 1)</a:t>
            </a:r>
          </a:p>
          <a:p>
            <a:r>
              <a:rPr lang="en-US" dirty="0"/>
              <a:t>It would seem that such an implementation of function f() works fine:</a:t>
            </a:r>
          </a:p>
          <a:p>
            <a:pPr marL="0" indent="0">
              <a:buNone/>
            </a:pPr>
            <a:r>
              <a:rPr lang="en-US" dirty="0"/>
              <a:t>&gt;&gt;&gt; f(2)</a:t>
            </a:r>
          </a:p>
          <a:p>
            <a:pPr marL="0" indent="0">
              <a:buNone/>
            </a:pPr>
            <a:r>
              <a:rPr lang="en-US" dirty="0"/>
              <a:t>5</a:t>
            </a:r>
          </a:p>
          <a:p>
            <a:r>
              <a:rPr lang="en-US" dirty="0"/>
              <a:t>However, when used in an expression, function f() will not work as expected:</a:t>
            </a:r>
          </a:p>
          <a:p>
            <a:pPr marL="0" indent="0">
              <a:buNone/>
            </a:pPr>
            <a:r>
              <a:rPr lang="en-US" dirty="0"/>
              <a:t>&gt;&gt;&gt; 3 * f(2) + 1</a:t>
            </a:r>
          </a:p>
          <a:p>
            <a:pPr marL="0" indent="0">
              <a:buNone/>
            </a:pPr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/>
        <p:txBody>
          <a:bodyPr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Traceback</a:t>
            </a:r>
            <a:r>
              <a:rPr lang="en-US" dirty="0"/>
              <a:t> (most recent call last):</a:t>
            </a:r>
          </a:p>
          <a:p>
            <a:pPr marL="0" indent="0">
              <a:buNone/>
            </a:pPr>
            <a:r>
              <a:rPr lang="en-US" dirty="0"/>
              <a:t>File '&lt;pyshell#103&gt;', line 1, in &lt;module&gt;</a:t>
            </a:r>
          </a:p>
          <a:p>
            <a:pPr marL="0" indent="0">
              <a:buNone/>
            </a:pPr>
            <a:r>
              <a:rPr lang="en-US" dirty="0"/>
              <a:t>3 * f(2) + 1</a:t>
            </a:r>
          </a:p>
          <a:p>
            <a:pPr marL="0" indent="0">
              <a:buNone/>
            </a:pPr>
            <a:r>
              <a:rPr lang="en-US" dirty="0" err="1"/>
              <a:t>TypeError</a:t>
            </a:r>
            <a:r>
              <a:rPr lang="en-US" dirty="0"/>
              <a:t>: unsupported operand type(s) for *:</a:t>
            </a:r>
          </a:p>
          <a:p>
            <a:pPr marL="0" indent="0">
              <a:buNone/>
            </a:pPr>
            <a:r>
              <a:rPr lang="en-US" dirty="0"/>
              <a:t>'</a:t>
            </a:r>
            <a:r>
              <a:rPr lang="en-US" dirty="0" err="1"/>
              <a:t>int</a:t>
            </a:r>
            <a:r>
              <a:rPr lang="en-US" dirty="0"/>
              <a:t>' and </a:t>
            </a:r>
            <a:r>
              <a:rPr lang="en-US" dirty="0" smtClean="0"/>
              <a:t>'</a:t>
            </a:r>
            <a:r>
              <a:rPr lang="en-US" dirty="0" err="1" smtClean="0"/>
              <a:t>NoneType</a:t>
            </a:r>
            <a:r>
              <a:rPr lang="en-US" dirty="0" smtClean="0"/>
              <a:t>‘</a:t>
            </a:r>
          </a:p>
          <a:p>
            <a:r>
              <a:rPr lang="en-US" dirty="0"/>
              <a:t>Actually, Python </a:t>
            </a:r>
            <a:r>
              <a:rPr lang="en-US" dirty="0" smtClean="0"/>
              <a:t>has a </a:t>
            </a:r>
            <a:r>
              <a:rPr lang="en-US" dirty="0"/>
              <a:t>name for the “nothing” type: It is the '</a:t>
            </a:r>
            <a:r>
              <a:rPr lang="en-US" dirty="0" err="1"/>
              <a:t>NoneType</a:t>
            </a:r>
            <a:r>
              <a:rPr lang="en-US" dirty="0"/>
              <a:t>' referred to in the error </a:t>
            </a:r>
            <a:r>
              <a:rPr lang="en-US" dirty="0" smtClean="0"/>
              <a:t>message shown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error itself is caused by the attempt to multiply an integer value </a:t>
            </a:r>
            <a:r>
              <a:rPr lang="en-US" dirty="0" smtClean="0"/>
              <a:t>with “nothing</a:t>
            </a:r>
            <a:r>
              <a:rPr lang="en-US" dirty="0"/>
              <a:t>.”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10333158" y="702156"/>
            <a:ext cx="1021977" cy="1102858"/>
            <a:chOff x="8310282" y="3738282"/>
            <a:chExt cx="1021977" cy="1102858"/>
          </a:xfrm>
        </p:grpSpPr>
        <p:sp>
          <p:nvSpPr>
            <p:cNvPr id="8" name="Isosceles Triangle 7"/>
            <p:cNvSpPr/>
            <p:nvPr/>
          </p:nvSpPr>
          <p:spPr>
            <a:xfrm>
              <a:off x="8310282" y="3738282"/>
              <a:ext cx="1021977" cy="1008530"/>
            </a:xfrm>
            <a:prstGeom prst="triangle">
              <a:avLst/>
            </a:prstGeom>
            <a:noFill/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631527" y="3917810"/>
              <a:ext cx="27191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1" dirty="0" smtClean="0">
                  <a:solidFill>
                    <a:srgbClr val="FFFF00"/>
                  </a:solidFill>
                </a:rPr>
                <a:t>!</a:t>
              </a:r>
              <a:endParaRPr lang="en-US" sz="5400" b="1" dirty="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7040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definitions are “assignment” statements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10654" r="58480" b="70523"/>
          <a:stretch/>
        </p:blipFill>
        <p:spPr>
          <a:xfrm>
            <a:off x="581192" y="3922422"/>
            <a:ext cx="7593106" cy="193637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r="67778" b="81852"/>
          <a:stretch/>
        </p:blipFill>
        <p:spPr>
          <a:xfrm>
            <a:off x="581192" y="2009016"/>
            <a:ext cx="58928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583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581192" y="3308808"/>
            <a:ext cx="1718948" cy="112179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Define the Function, Then Use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Python does not allow calling a function before it is defined, just as a variable </a:t>
            </a:r>
            <a:r>
              <a:rPr lang="en-US" dirty="0" smtClean="0"/>
              <a:t>cannot be </a:t>
            </a:r>
            <a:r>
              <a:rPr lang="en-US" dirty="0"/>
              <a:t>used in an expression before it is assigned.</a:t>
            </a:r>
          </a:p>
          <a:p>
            <a:r>
              <a:rPr lang="en-US" dirty="0"/>
              <a:t>Knowing this, try to figure out why running this module would result in an error:</a:t>
            </a:r>
          </a:p>
          <a:p>
            <a:pPr marL="0" indent="0">
              <a:buNone/>
            </a:pPr>
            <a:r>
              <a:rPr lang="en-US" dirty="0"/>
              <a:t>print(f(3))</a:t>
            </a:r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f(x):</a:t>
            </a:r>
          </a:p>
          <a:p>
            <a:pPr marL="0" indent="0">
              <a:buNone/>
            </a:pPr>
            <a:r>
              <a:rPr lang="en-US" dirty="0"/>
              <a:t>return x**2 + 1</a:t>
            </a:r>
          </a:p>
          <a:p>
            <a:endParaRPr lang="en-US" dirty="0" smtClean="0"/>
          </a:p>
          <a:p>
            <a:r>
              <a:rPr lang="en-US" dirty="0" smtClean="0"/>
              <a:t>Answer</a:t>
            </a:r>
            <a:r>
              <a:rPr lang="en-US" dirty="0"/>
              <a:t>: When a module is executed, the Python statements are executed top </a:t>
            </a:r>
            <a:r>
              <a:rPr lang="en-US" dirty="0" smtClean="0"/>
              <a:t>to bottom</a:t>
            </a:r>
            <a:r>
              <a:rPr lang="en-US" dirty="0"/>
              <a:t>. </a:t>
            </a:r>
            <a:r>
              <a:rPr lang="en-US" dirty="0" smtClean="0"/>
              <a:t>The </a:t>
            </a:r>
            <a:r>
              <a:rPr lang="en-US" dirty="0"/>
              <a:t>print(f(3)) statement will fail because the name f is not </a:t>
            </a:r>
            <a:r>
              <a:rPr lang="en-US" dirty="0" smtClean="0"/>
              <a:t>defined yet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10333158" y="702156"/>
            <a:ext cx="1021977" cy="1102858"/>
            <a:chOff x="8310282" y="3738282"/>
            <a:chExt cx="1021977" cy="1102858"/>
          </a:xfrm>
        </p:grpSpPr>
        <p:sp>
          <p:nvSpPr>
            <p:cNvPr id="8" name="Isosceles Triangle 7"/>
            <p:cNvSpPr/>
            <p:nvPr/>
          </p:nvSpPr>
          <p:spPr>
            <a:xfrm>
              <a:off x="8310282" y="3738282"/>
              <a:ext cx="1021977" cy="1008530"/>
            </a:xfrm>
            <a:prstGeom prst="triangle">
              <a:avLst/>
            </a:prstGeom>
            <a:noFill/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631527" y="3917810"/>
              <a:ext cx="27191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1" dirty="0" smtClean="0">
                  <a:solidFill>
                    <a:srgbClr val="FFFF00"/>
                  </a:solidFill>
                </a:rPr>
                <a:t>!</a:t>
              </a:r>
              <a:endParaRPr lang="en-US" sz="5400" b="1" dirty="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155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Calling function before initialization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-139" t="194" r="47876" b="62521"/>
          <a:stretch/>
        </p:blipFill>
        <p:spPr>
          <a:xfrm>
            <a:off x="581192" y="1914021"/>
            <a:ext cx="9557871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1192" y="2554664"/>
            <a:ext cx="2190288" cy="16968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Analyzing the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Will we get an error when running this module?</a:t>
            </a:r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g(x):</a:t>
            </a:r>
          </a:p>
          <a:p>
            <a:pPr marL="0" indent="0">
              <a:buNone/>
            </a:pPr>
            <a:r>
              <a:rPr lang="en-US" dirty="0" smtClean="0"/>
              <a:t>	return </a:t>
            </a:r>
            <a:r>
              <a:rPr lang="en-US" dirty="0"/>
              <a:t>f(x)</a:t>
            </a:r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f(x):</a:t>
            </a:r>
          </a:p>
          <a:p>
            <a:pPr marL="0" indent="0">
              <a:buNone/>
            </a:pPr>
            <a:r>
              <a:rPr lang="en-US" dirty="0" smtClean="0"/>
              <a:t>	return </a:t>
            </a:r>
            <a:r>
              <a:rPr lang="en-US" dirty="0"/>
              <a:t>x**2 + </a:t>
            </a:r>
            <a:r>
              <a:rPr lang="en-US" dirty="0" smtClean="0"/>
              <a:t>1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Answer: No, because functions f() and g() are not </a:t>
            </a:r>
            <a:r>
              <a:rPr lang="en-US" i="1" dirty="0"/>
              <a:t>executed </a:t>
            </a:r>
            <a:r>
              <a:rPr lang="en-US" dirty="0"/>
              <a:t>when the module </a:t>
            </a:r>
            <a:r>
              <a:rPr lang="en-US" dirty="0" smtClean="0"/>
              <a:t>is run</a:t>
            </a:r>
            <a:r>
              <a:rPr lang="en-US" dirty="0"/>
              <a:t>, they are just defined. After they are defined, they can both be executed </a:t>
            </a:r>
            <a:r>
              <a:rPr lang="en-US" dirty="0" smtClean="0"/>
              <a:t>without problems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899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returning other function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6020" r="51511" b="66203"/>
          <a:stretch/>
        </p:blipFill>
        <p:spPr>
          <a:xfrm>
            <a:off x="581192" y="2080260"/>
            <a:ext cx="10712151" cy="345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2084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using different variable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6223" r="50958" b="66444"/>
          <a:stretch/>
        </p:blipFill>
        <p:spPr>
          <a:xfrm>
            <a:off x="581192" y="2057400"/>
            <a:ext cx="11156238" cy="349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3971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1192" y="3827282"/>
            <a:ext cx="6224961" cy="1291473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Comments – Single line comment by #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Python programs should be well documented for two reasons:</a:t>
            </a:r>
          </a:p>
          <a:p>
            <a:pPr marL="0" indent="0">
              <a:buNone/>
            </a:pPr>
            <a:r>
              <a:rPr lang="en-US" b="1" dirty="0"/>
              <a:t>1. </a:t>
            </a:r>
            <a:r>
              <a:rPr lang="en-US" dirty="0"/>
              <a:t>The user of the program should understand what the program does.</a:t>
            </a:r>
          </a:p>
          <a:p>
            <a:pPr marL="0" indent="0">
              <a:buNone/>
            </a:pPr>
            <a:r>
              <a:rPr lang="en-US" b="1" dirty="0"/>
              <a:t>2. </a:t>
            </a:r>
            <a:r>
              <a:rPr lang="en-US" dirty="0"/>
              <a:t>The developer who develops and/or maintains the code should </a:t>
            </a:r>
            <a:r>
              <a:rPr lang="en-US" dirty="0" smtClean="0"/>
              <a:t>understand </a:t>
            </a:r>
            <a:r>
              <a:rPr lang="en-US" dirty="0"/>
              <a:t>how </a:t>
            </a:r>
            <a:r>
              <a:rPr lang="en-US" dirty="0" smtClean="0"/>
              <a:t>the program </a:t>
            </a:r>
            <a:r>
              <a:rPr lang="en-US" dirty="0"/>
              <a:t>works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def</a:t>
            </a:r>
            <a:r>
              <a:rPr lang="en-US" dirty="0" smtClean="0"/>
              <a:t> </a:t>
            </a:r>
            <a:r>
              <a:rPr lang="en-US" dirty="0"/>
              <a:t>f(x):</a:t>
            </a:r>
          </a:p>
          <a:p>
            <a:pPr marL="0" indent="0">
              <a:buNone/>
            </a:pPr>
            <a:r>
              <a:rPr lang="en-US" dirty="0" smtClean="0"/>
              <a:t>	res </a:t>
            </a:r>
            <a:r>
              <a:rPr lang="en-US" dirty="0"/>
              <a:t>= x**2 + 1 # compute x**2 + 1 and store value in res</a:t>
            </a:r>
          </a:p>
          <a:p>
            <a:pPr marL="0" indent="0">
              <a:buNone/>
            </a:pPr>
            <a:r>
              <a:rPr lang="en-US" dirty="0" smtClean="0"/>
              <a:t>	return </a:t>
            </a:r>
            <a:r>
              <a:rPr lang="en-US" dirty="0"/>
              <a:t>res # return value of 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529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 – </a:t>
            </a:r>
            <a:r>
              <a:rPr lang="en-US" dirty="0" smtClean="0"/>
              <a:t>multiline </a:t>
            </a:r>
            <a:r>
              <a:rPr lang="en-US" dirty="0"/>
              <a:t>comment by </a:t>
            </a:r>
            <a:r>
              <a:rPr lang="en-US" dirty="0" smtClean="0"/>
              <a:t>“””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 smtClean="0"/>
              <a:t>In Python multiline comments are also used during the time of debugging and restricting a single block of code.</a:t>
            </a:r>
          </a:p>
          <a:p>
            <a:r>
              <a:rPr lang="en-US" dirty="0" smtClean="0"/>
              <a:t>For multiline comments we use “”” , 3 time double quotes.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r="67500" b="79444"/>
          <a:stretch/>
        </p:blipFill>
        <p:spPr>
          <a:xfrm>
            <a:off x="581191" y="2962372"/>
            <a:ext cx="6826835" cy="242877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r="78256" b="80113"/>
          <a:stretch/>
        </p:blipFill>
        <p:spPr>
          <a:xfrm>
            <a:off x="7605951" y="3138536"/>
            <a:ext cx="3976449" cy="204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3620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Execution of function g( ) blocked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r="67871" b="78560"/>
          <a:stretch/>
        </p:blipFill>
        <p:spPr>
          <a:xfrm>
            <a:off x="423333" y="2027767"/>
            <a:ext cx="6552548" cy="245956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r="76481" b="74280"/>
          <a:stretch/>
        </p:blipFill>
        <p:spPr>
          <a:xfrm>
            <a:off x="7246814" y="1909233"/>
            <a:ext cx="4617994" cy="28407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192" y="4750026"/>
            <a:ext cx="10831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 smtClean="0">
                <a:solidFill>
                  <a:srgbClr val="0070C0"/>
                </a:solidFill>
              </a:rPr>
              <a:t>As we have used multiline comment on function g( ), It will not interpreted and when calling the function it will generate the error.</a:t>
            </a:r>
            <a:endParaRPr lang="en-US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1099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Docstrings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Functions should also be documented for the function users. The built-in functions we </a:t>
            </a:r>
            <a:r>
              <a:rPr lang="en-US" dirty="0" smtClean="0"/>
              <a:t>have seen </a:t>
            </a:r>
            <a:r>
              <a:rPr lang="en-US" dirty="0"/>
              <a:t>so far all have documentation that can be viewed using function help(). For example:</a:t>
            </a:r>
          </a:p>
          <a:p>
            <a:pPr marL="0" indent="0">
              <a:buNone/>
            </a:pPr>
            <a:r>
              <a:rPr lang="en-US" dirty="0"/>
              <a:t>&gt;&gt;&gt; help(</a:t>
            </a:r>
            <a:r>
              <a:rPr lang="en-US" dirty="0" err="1"/>
              <a:t>len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smtClean="0"/>
              <a:t>	Help </a:t>
            </a:r>
            <a:r>
              <a:rPr lang="en-US" dirty="0"/>
              <a:t>on built-in function </a:t>
            </a:r>
            <a:r>
              <a:rPr lang="en-US" dirty="0" err="1"/>
              <a:t>len</a:t>
            </a:r>
            <a:r>
              <a:rPr lang="en-US" dirty="0"/>
              <a:t> in module </a:t>
            </a:r>
            <a:r>
              <a:rPr lang="en-US" dirty="0" err="1"/>
              <a:t>builtins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err="1"/>
              <a:t>len</a:t>
            </a:r>
            <a:r>
              <a:rPr lang="en-US" dirty="0"/>
              <a:t>(...)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len</a:t>
            </a:r>
            <a:r>
              <a:rPr lang="en-US" dirty="0" smtClean="0"/>
              <a:t>(object</a:t>
            </a:r>
            <a:r>
              <a:rPr lang="en-US" dirty="0"/>
              <a:t>) -&gt; integer</a:t>
            </a:r>
          </a:p>
          <a:p>
            <a:pPr marL="0" indent="0">
              <a:buNone/>
            </a:pPr>
            <a:r>
              <a:rPr lang="en-US" dirty="0" smtClean="0"/>
              <a:t>	Return </a:t>
            </a:r>
            <a:r>
              <a:rPr lang="en-US" dirty="0"/>
              <a:t>the number of items of a sequence or mapping.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r="73333" b="81687"/>
          <a:stretch/>
        </p:blipFill>
        <p:spPr>
          <a:xfrm>
            <a:off x="6451600" y="2889804"/>
            <a:ext cx="5363048" cy="207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1064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docstrings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5633341" cy="3678303"/>
          </a:xfrm>
        </p:spPr>
        <p:txBody>
          <a:bodyPr anchor="t"/>
          <a:lstStyle/>
          <a:p>
            <a:r>
              <a:rPr lang="en-US" dirty="0"/>
              <a:t>If we use help on our first function </a:t>
            </a:r>
            <a:r>
              <a:rPr lang="en-US" dirty="0" smtClean="0"/>
              <a:t>g(), </a:t>
            </a:r>
            <a:r>
              <a:rPr lang="en-US" dirty="0"/>
              <a:t>surprisingly we get some documentation as well.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smtClean="0"/>
              <a:t>help(g)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Help on function f in module __main__:</a:t>
            </a:r>
          </a:p>
          <a:p>
            <a:pPr marL="0" indent="0">
              <a:buNone/>
            </a:pPr>
            <a:r>
              <a:rPr lang="en-US" dirty="0"/>
              <a:t>f(x)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r="74167" b="75597"/>
          <a:stretch/>
        </p:blipFill>
        <p:spPr>
          <a:xfrm>
            <a:off x="6312237" y="1987355"/>
            <a:ext cx="4246063" cy="225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995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docstrings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27037" r="58796" b="49095"/>
          <a:stretch/>
        </p:blipFill>
        <p:spPr>
          <a:xfrm>
            <a:off x="4365735" y="3910298"/>
            <a:ext cx="6265334" cy="204151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r="59352" b="75267"/>
          <a:stretch/>
        </p:blipFill>
        <p:spPr>
          <a:xfrm>
            <a:off x="485479" y="1824978"/>
            <a:ext cx="5801033" cy="208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7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 # 3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 be submitted by solving it on python idle &amp; email it to me. Remember to read chapter 3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034E-A790-4DA9-B7CE-7F0E9C5B79B3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0729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problem 3.1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Translate these conditional statements into Python if statements:</a:t>
            </a:r>
          </a:p>
          <a:p>
            <a:pPr marL="0" indent="0">
              <a:buNone/>
            </a:pPr>
            <a:r>
              <a:rPr lang="en-US" dirty="0" smtClean="0"/>
              <a:t>(</a:t>
            </a:r>
            <a:r>
              <a:rPr lang="en-US" dirty="0"/>
              <a:t>a) If age is greater 62, print 'You can get your pension benefits'.</a:t>
            </a:r>
          </a:p>
          <a:p>
            <a:pPr marL="0" indent="0">
              <a:buNone/>
            </a:pPr>
            <a:r>
              <a:rPr lang="en-US" dirty="0"/>
              <a:t>(b) If name is in list ['Musial', '</a:t>
            </a:r>
            <a:r>
              <a:rPr lang="en-US" dirty="0" err="1"/>
              <a:t>Aaraon</a:t>
            </a:r>
            <a:r>
              <a:rPr lang="en-US" dirty="0"/>
              <a:t>', 'Williams', 'Gehrig', 'Ruth'],</a:t>
            </a:r>
          </a:p>
          <a:p>
            <a:pPr marL="0" indent="0">
              <a:buNone/>
            </a:pPr>
            <a:r>
              <a:rPr lang="en-US" dirty="0"/>
              <a:t>print 'One of the top 5 baseball players, ever!'.</a:t>
            </a:r>
          </a:p>
          <a:p>
            <a:pPr marL="0" indent="0">
              <a:buNone/>
            </a:pPr>
            <a:r>
              <a:rPr lang="en-US" dirty="0"/>
              <a:t>(c) If hits is greater than 10 and shield is 0, print 'You are dead...'.</a:t>
            </a:r>
          </a:p>
          <a:p>
            <a:pPr marL="0" indent="0">
              <a:buNone/>
            </a:pPr>
            <a:r>
              <a:rPr lang="en-US" dirty="0"/>
              <a:t>(d) If at least one of the Boolean variables north, south, east, and west is True, print</a:t>
            </a:r>
          </a:p>
          <a:p>
            <a:pPr marL="0" indent="0">
              <a:buNone/>
            </a:pPr>
            <a:r>
              <a:rPr lang="en-US" dirty="0"/>
              <a:t>'I can escape.'.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D2D0-4F5C-4C9A-AC6B-566154262EF1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0962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problem 3.3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Translate these into Python if/else statements:</a:t>
            </a:r>
          </a:p>
          <a:p>
            <a:pPr marL="0" indent="0">
              <a:buNone/>
            </a:pPr>
            <a:r>
              <a:rPr lang="en-US" dirty="0"/>
              <a:t>(a) If year is divisible by 4, print 'Could be a leap year.'; otherwise print 'Definitely not</a:t>
            </a:r>
          </a:p>
          <a:p>
            <a:pPr marL="0" indent="0">
              <a:buNone/>
            </a:pPr>
            <a:r>
              <a:rPr lang="en-US" dirty="0"/>
              <a:t>a leap year.'</a:t>
            </a:r>
          </a:p>
          <a:p>
            <a:pPr marL="0" indent="0">
              <a:buNone/>
            </a:pPr>
            <a:r>
              <a:rPr lang="en-US" dirty="0"/>
              <a:t>(b) If list ticket is equal to list lottery, print 'You won!'; else print 'Better luck next</a:t>
            </a:r>
          </a:p>
          <a:p>
            <a:pPr marL="0" indent="0">
              <a:buNone/>
            </a:pPr>
            <a:r>
              <a:rPr lang="en-US" dirty="0"/>
              <a:t>time...'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067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problem 3.4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>
            <a:normAutofit fontScale="92500" lnSpcReduction="20000"/>
          </a:bodyPr>
          <a:lstStyle/>
          <a:p>
            <a:pPr algn="just"/>
            <a:r>
              <a:rPr lang="en-US" dirty="0"/>
              <a:t>Implement a program that starts by asking the user to enter a login id (i.e., a string). </a:t>
            </a:r>
            <a:r>
              <a:rPr lang="en-US" dirty="0" smtClean="0"/>
              <a:t>The program </a:t>
            </a:r>
            <a:r>
              <a:rPr lang="en-US" dirty="0"/>
              <a:t>then checks whether the id entered by the user is in the list ['joe', 'sue</a:t>
            </a:r>
            <a:r>
              <a:rPr lang="en-US" dirty="0" smtClean="0"/>
              <a:t>', '</a:t>
            </a:r>
            <a:r>
              <a:rPr lang="en-US" dirty="0" err="1" smtClean="0"/>
              <a:t>hani</a:t>
            </a:r>
            <a:r>
              <a:rPr lang="en-US" dirty="0"/>
              <a:t>', '</a:t>
            </a:r>
            <a:r>
              <a:rPr lang="en-US" dirty="0" err="1"/>
              <a:t>sophie</a:t>
            </a:r>
            <a:r>
              <a:rPr lang="en-US" dirty="0"/>
              <a:t>'] of valid users. Depending on the outcome, an appropriate </a:t>
            </a:r>
            <a:r>
              <a:rPr lang="en-US" dirty="0" smtClean="0"/>
              <a:t>message should </a:t>
            </a:r>
            <a:r>
              <a:rPr lang="en-US" dirty="0"/>
              <a:t>be printed. Regardless of the outcome, your function should print 'Done.' </a:t>
            </a:r>
            <a:r>
              <a:rPr lang="en-US" dirty="0" smtClean="0"/>
              <a:t>before terminating</a:t>
            </a:r>
            <a:r>
              <a:rPr lang="en-US" dirty="0"/>
              <a:t>. Here is an example of a successful login:</a:t>
            </a:r>
          </a:p>
          <a:p>
            <a:pPr marL="0" indent="0">
              <a:buNone/>
            </a:pPr>
            <a:r>
              <a:rPr lang="en-US" dirty="0" smtClean="0"/>
              <a:t>Login</a:t>
            </a:r>
            <a:r>
              <a:rPr lang="en-US" dirty="0"/>
              <a:t>: joe</a:t>
            </a:r>
          </a:p>
          <a:p>
            <a:pPr marL="0" indent="0">
              <a:buNone/>
            </a:pPr>
            <a:r>
              <a:rPr lang="en-US" dirty="0"/>
              <a:t>You are in!</a:t>
            </a:r>
          </a:p>
          <a:p>
            <a:pPr marL="0" indent="0">
              <a:buNone/>
            </a:pPr>
            <a:r>
              <a:rPr lang="en-US" dirty="0"/>
              <a:t>Done.</a:t>
            </a:r>
          </a:p>
          <a:p>
            <a:r>
              <a:rPr lang="en-US" dirty="0"/>
              <a:t>And here is one that is not:</a:t>
            </a:r>
          </a:p>
          <a:p>
            <a:pPr marL="0" indent="0">
              <a:buNone/>
            </a:pPr>
            <a:r>
              <a:rPr lang="en-US" dirty="0"/>
              <a:t>&gt;&gt;&gt;</a:t>
            </a:r>
          </a:p>
          <a:p>
            <a:pPr marL="0" indent="0">
              <a:buNone/>
            </a:pPr>
            <a:r>
              <a:rPr lang="en-US" dirty="0"/>
              <a:t>Login: john</a:t>
            </a:r>
          </a:p>
          <a:p>
            <a:pPr marL="0" indent="0">
              <a:buNone/>
            </a:pPr>
            <a:r>
              <a:rPr lang="en-US" dirty="0"/>
              <a:t>User unknown.</a:t>
            </a:r>
          </a:p>
          <a:p>
            <a:pPr marL="0" indent="0">
              <a:buNone/>
            </a:pPr>
            <a:r>
              <a:rPr lang="en-US" dirty="0"/>
              <a:t>Done.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1459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 </a:t>
            </a:r>
            <a:r>
              <a:rPr lang="en-US" dirty="0" smtClean="0"/>
              <a:t>3.5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Implement a program that requests from the user a list of words (i.e., strings) and then </a:t>
            </a:r>
            <a:r>
              <a:rPr lang="en-US" dirty="0" smtClean="0"/>
              <a:t>prints on </a:t>
            </a:r>
            <a:r>
              <a:rPr lang="en-US" dirty="0"/>
              <a:t>the screen, one per line, all four-letter strings in the list.</a:t>
            </a:r>
          </a:p>
          <a:p>
            <a:pPr marL="0" indent="0">
              <a:buNone/>
            </a:pPr>
            <a:r>
              <a:rPr lang="en-US" dirty="0"/>
              <a:t>&gt;&gt;&gt;</a:t>
            </a:r>
          </a:p>
          <a:p>
            <a:pPr marL="0" indent="0">
              <a:buNone/>
            </a:pPr>
            <a:r>
              <a:rPr lang="en-US" dirty="0"/>
              <a:t>Enter word list: ['stop', 'desktop', 'top', 'post']</a:t>
            </a:r>
          </a:p>
          <a:p>
            <a:pPr marL="0" indent="0">
              <a:buNone/>
            </a:pPr>
            <a:r>
              <a:rPr lang="en-US" dirty="0"/>
              <a:t>stop</a:t>
            </a:r>
          </a:p>
          <a:p>
            <a:pPr marL="0" indent="0">
              <a:buNone/>
            </a:pPr>
            <a:r>
              <a:rPr lang="en-US" dirty="0"/>
              <a:t>post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6470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 </a:t>
            </a:r>
            <a:r>
              <a:rPr lang="en-US" dirty="0" smtClean="0"/>
              <a:t>3.6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Write the for loop that will print these sequences of numbers, one per line, in the </a:t>
            </a:r>
            <a:r>
              <a:rPr lang="en-US" dirty="0" smtClean="0"/>
              <a:t>interactive shell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(a) Integers from 0 to 9 (i.e., 0, 1, 2, 3, 4, 5, 6, 7, 8, 9)</a:t>
            </a:r>
          </a:p>
          <a:p>
            <a:pPr marL="0" indent="0">
              <a:buNone/>
            </a:pPr>
            <a:r>
              <a:rPr lang="en-US" dirty="0"/>
              <a:t>(b) Integers from 0 to 1 (i.e., 0, 1)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3550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 </a:t>
            </a:r>
            <a:r>
              <a:rPr lang="en-US" dirty="0" smtClean="0"/>
              <a:t>3.7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Write the for loop that will print the following sequences of numbers, one per line.</a:t>
            </a:r>
          </a:p>
          <a:p>
            <a:pPr marL="0" indent="0">
              <a:buNone/>
            </a:pPr>
            <a:r>
              <a:rPr lang="en-US" dirty="0"/>
              <a:t>(a) Integers from 3 up to and including 12</a:t>
            </a:r>
          </a:p>
          <a:p>
            <a:pPr marL="0" indent="0">
              <a:buNone/>
            </a:pPr>
            <a:r>
              <a:rPr lang="en-US" dirty="0"/>
              <a:t>(b) Integers from 0 up to but not including 9, but with a step of 2 instead of the default</a:t>
            </a:r>
          </a:p>
          <a:p>
            <a:pPr marL="0" indent="0">
              <a:buNone/>
            </a:pPr>
            <a:r>
              <a:rPr lang="en-US" dirty="0"/>
              <a:t>of 1 (i.e., 0, 2, 4, 6, 8)</a:t>
            </a:r>
          </a:p>
          <a:p>
            <a:pPr marL="0" indent="0">
              <a:buNone/>
            </a:pPr>
            <a:r>
              <a:rPr lang="en-US" dirty="0"/>
              <a:t>(c) Integers from 0 up to but not including 24 with a step of 3</a:t>
            </a:r>
          </a:p>
          <a:p>
            <a:pPr marL="0" indent="0">
              <a:buNone/>
            </a:pPr>
            <a:r>
              <a:rPr lang="en-US" dirty="0"/>
              <a:t>(d) Integers from 3 up to but not including 12 with a step of 5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999C3-2A04-43CF-858A-053F3CFABE9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0529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 </a:t>
            </a:r>
            <a:r>
              <a:rPr lang="en-US" dirty="0" smtClean="0"/>
              <a:t>3.8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Define, directly in the interactive shell, function perimeter() that takes, as input, the </a:t>
            </a:r>
            <a:r>
              <a:rPr lang="en-US" dirty="0" smtClean="0"/>
              <a:t>radius of </a:t>
            </a:r>
            <a:r>
              <a:rPr lang="en-US" dirty="0"/>
              <a:t>a circle (a nonnegative number) and returns the perimeter of the circle. A </a:t>
            </a:r>
            <a:r>
              <a:rPr lang="en-US" dirty="0" smtClean="0"/>
              <a:t>sample usage </a:t>
            </a:r>
            <a:r>
              <a:rPr lang="en-US" dirty="0"/>
              <a:t>is:</a:t>
            </a:r>
          </a:p>
          <a:p>
            <a:pPr marL="0" indent="0">
              <a:buNone/>
            </a:pPr>
            <a:r>
              <a:rPr lang="en-US" dirty="0"/>
              <a:t>&gt;&gt;&gt; perimeter(1)</a:t>
            </a:r>
          </a:p>
          <a:p>
            <a:pPr marL="0" indent="0">
              <a:buNone/>
            </a:pPr>
            <a:r>
              <a:rPr lang="en-US" dirty="0"/>
              <a:t>6.283185307179586</a:t>
            </a:r>
          </a:p>
          <a:p>
            <a:pPr marL="0" indent="0">
              <a:buNone/>
            </a:pPr>
            <a:r>
              <a:rPr lang="en-US" dirty="0"/>
              <a:t>&gt;&gt;&gt; perimeter (2)</a:t>
            </a:r>
          </a:p>
          <a:p>
            <a:pPr marL="0" indent="0">
              <a:buNone/>
            </a:pPr>
            <a:r>
              <a:rPr lang="en-US" dirty="0"/>
              <a:t>12.566370614359172</a:t>
            </a:r>
          </a:p>
          <a:p>
            <a:r>
              <a:rPr lang="en-US" dirty="0"/>
              <a:t>Remember that you will need the value of  (defined in module math) to compute </a:t>
            </a:r>
            <a:r>
              <a:rPr lang="en-US" dirty="0" err="1" smtClean="0"/>
              <a:t>theperimeter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3779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 </a:t>
            </a:r>
            <a:r>
              <a:rPr lang="en-US" dirty="0" smtClean="0"/>
              <a:t>3.9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Implement function average() that takes two numbers as input and returns the average </a:t>
            </a:r>
            <a:r>
              <a:rPr lang="en-US" dirty="0" smtClean="0"/>
              <a:t>of the </a:t>
            </a:r>
            <a:r>
              <a:rPr lang="en-US" dirty="0"/>
              <a:t>numbers</a:t>
            </a:r>
            <a:r>
              <a:rPr lang="en-US" dirty="0" smtClean="0"/>
              <a:t>. You </a:t>
            </a:r>
            <a:r>
              <a:rPr lang="en-US" dirty="0"/>
              <a:t>should write your implementation in a module you will name average.py.</a:t>
            </a:r>
          </a:p>
          <a:p>
            <a:r>
              <a:rPr lang="en-US" dirty="0"/>
              <a:t>A sample usage is:</a:t>
            </a:r>
          </a:p>
          <a:p>
            <a:pPr marL="0" indent="0">
              <a:buNone/>
            </a:pPr>
            <a:r>
              <a:rPr lang="en-US" dirty="0"/>
              <a:t>&gt;&gt;&gt; average(1,3)</a:t>
            </a:r>
          </a:p>
          <a:p>
            <a:pPr marL="0" indent="0">
              <a:buNone/>
            </a:pPr>
            <a:r>
              <a:rPr lang="en-US" dirty="0"/>
              <a:t>2.0</a:t>
            </a:r>
          </a:p>
          <a:p>
            <a:pPr marL="0" indent="0">
              <a:buNone/>
            </a:pPr>
            <a:r>
              <a:rPr lang="en-US" dirty="0"/>
              <a:t>&gt;&gt;&gt; average(2, 3.5)</a:t>
            </a:r>
          </a:p>
          <a:p>
            <a:pPr marL="0" indent="0">
              <a:buNone/>
            </a:pPr>
            <a:r>
              <a:rPr lang="en-US" dirty="0"/>
              <a:t>2.75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9900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Problem 3.10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Implement function </a:t>
            </a:r>
            <a:r>
              <a:rPr lang="en-US" dirty="0" err="1"/>
              <a:t>noVowel</a:t>
            </a:r>
            <a:r>
              <a:rPr lang="en-US" dirty="0"/>
              <a:t>() that takes a string s as input and returns True if no </a:t>
            </a:r>
            <a:r>
              <a:rPr lang="en-US" dirty="0" smtClean="0"/>
              <a:t>character in </a:t>
            </a:r>
            <a:r>
              <a:rPr lang="en-US" dirty="0"/>
              <a:t>s is a vowel, and False otherwise (i.e., some character in s is a vowel).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noVowel</a:t>
            </a:r>
            <a:r>
              <a:rPr lang="en-US" dirty="0"/>
              <a:t>('crypt')</a:t>
            </a:r>
          </a:p>
          <a:p>
            <a:pPr marL="0" indent="0">
              <a:buNone/>
            </a:pPr>
            <a:r>
              <a:rPr lang="en-US" dirty="0"/>
              <a:t>True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noVowel</a:t>
            </a:r>
            <a:r>
              <a:rPr lang="en-US" dirty="0"/>
              <a:t>('cwm')</a:t>
            </a:r>
          </a:p>
          <a:p>
            <a:pPr marL="0" indent="0">
              <a:buNone/>
            </a:pPr>
            <a:r>
              <a:rPr lang="en-US" dirty="0"/>
              <a:t>True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noVowel</a:t>
            </a:r>
            <a:r>
              <a:rPr lang="en-US" dirty="0"/>
              <a:t>('car')</a:t>
            </a:r>
          </a:p>
          <a:p>
            <a:pPr marL="0" indent="0">
              <a:buNone/>
            </a:pPr>
            <a:r>
              <a:rPr lang="en-US" dirty="0"/>
              <a:t>False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463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problem 3.11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Implement function </a:t>
            </a:r>
            <a:r>
              <a:rPr lang="en-US" dirty="0" err="1"/>
              <a:t>allEven</a:t>
            </a:r>
            <a:r>
              <a:rPr lang="en-US" dirty="0"/>
              <a:t>() that takes a list of integers and returns True if all </a:t>
            </a:r>
            <a:r>
              <a:rPr lang="en-US" dirty="0" smtClean="0"/>
              <a:t>integers in </a:t>
            </a:r>
            <a:r>
              <a:rPr lang="en-US" dirty="0"/>
              <a:t>the list are even, and False otherwise.</a:t>
            </a:r>
          </a:p>
          <a:p>
            <a:pPr marL="0" indent="0">
              <a:buNone/>
            </a:pPr>
            <a:r>
              <a:rPr lang="nb-NO" dirty="0"/>
              <a:t>&gt;&gt;&gt; allEven([8, 0, -2, 4, -6, 10])</a:t>
            </a:r>
          </a:p>
          <a:p>
            <a:pPr marL="0" indent="0">
              <a:buNone/>
            </a:pPr>
            <a:r>
              <a:rPr lang="en-US" dirty="0"/>
              <a:t>True</a:t>
            </a:r>
          </a:p>
          <a:p>
            <a:pPr marL="0" indent="0">
              <a:buNone/>
            </a:pPr>
            <a:r>
              <a:rPr lang="nb-NO" dirty="0"/>
              <a:t>&gt;&gt;&gt; allEven([8, 0, -1, 4, -6, 10])</a:t>
            </a:r>
          </a:p>
          <a:p>
            <a:pPr marL="0" indent="0">
              <a:buNone/>
            </a:pPr>
            <a:r>
              <a:rPr lang="en-US" dirty="0"/>
              <a:t>False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3772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problem 3.12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Write function negatives() that takes a list as input and </a:t>
            </a:r>
            <a:r>
              <a:rPr lang="en-US" i="1" dirty="0"/>
              <a:t>prints</a:t>
            </a:r>
            <a:r>
              <a:rPr lang="en-US" dirty="0"/>
              <a:t>, one per line, the </a:t>
            </a:r>
            <a:r>
              <a:rPr lang="en-US" i="1" dirty="0" smtClean="0"/>
              <a:t>negative </a:t>
            </a:r>
            <a:r>
              <a:rPr lang="en-US" dirty="0" smtClean="0"/>
              <a:t>values </a:t>
            </a:r>
            <a:r>
              <a:rPr lang="en-US" dirty="0"/>
              <a:t>in the list.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function should not return anything.</a:t>
            </a:r>
          </a:p>
          <a:p>
            <a:pPr marL="0" indent="0">
              <a:buNone/>
            </a:pPr>
            <a:r>
              <a:rPr lang="en-US" dirty="0"/>
              <a:t>&gt;&gt;&gt; negatives([4, 0, -1, -3, 6, -9])</a:t>
            </a:r>
          </a:p>
          <a:p>
            <a:pPr marL="0" indent="0">
              <a:buNone/>
            </a:pPr>
            <a:r>
              <a:rPr lang="en-US" dirty="0"/>
              <a:t>-1</a:t>
            </a:r>
          </a:p>
          <a:p>
            <a:pPr marL="0" indent="0">
              <a:buNone/>
            </a:pPr>
            <a:r>
              <a:rPr lang="en-US" dirty="0"/>
              <a:t>-3</a:t>
            </a:r>
          </a:p>
          <a:p>
            <a:pPr marL="0" indent="0">
              <a:buNone/>
            </a:pPr>
            <a:r>
              <a:rPr lang="en-US" dirty="0"/>
              <a:t>-9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1615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problem 3.13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Add appropriate </a:t>
            </a:r>
            <a:r>
              <a:rPr lang="en-US" dirty="0" err="1"/>
              <a:t>docstrings</a:t>
            </a:r>
            <a:r>
              <a:rPr lang="en-US" dirty="0"/>
              <a:t> to functions average() and negatives() from Practice </a:t>
            </a:r>
            <a:r>
              <a:rPr lang="en-US" dirty="0" smtClean="0"/>
              <a:t>Problems 3.9 </a:t>
            </a:r>
            <a:r>
              <a:rPr lang="en-US" dirty="0"/>
              <a:t>and 3.12. Check your work using the help() documentation tool. You should </a:t>
            </a:r>
            <a:r>
              <a:rPr lang="en-US" dirty="0" smtClean="0"/>
              <a:t>get, for </a:t>
            </a: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&gt;&gt;&gt; help(average)</a:t>
            </a:r>
          </a:p>
          <a:p>
            <a:pPr marL="0" indent="0">
              <a:buNone/>
            </a:pPr>
            <a:r>
              <a:rPr lang="en-US" dirty="0"/>
              <a:t>Help on function average in module __main__:</a:t>
            </a:r>
          </a:p>
          <a:p>
            <a:pPr marL="0" indent="0">
              <a:buNone/>
            </a:pPr>
            <a:r>
              <a:rPr lang="en-US" dirty="0"/>
              <a:t>average(x, y)</a:t>
            </a:r>
          </a:p>
          <a:p>
            <a:pPr marL="0" indent="0">
              <a:buNone/>
            </a:pPr>
            <a:r>
              <a:rPr lang="en-US" dirty="0"/>
              <a:t>returns average of x and 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795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Detailed assignment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 be solved and get printout , properly submitted in a file. (Before 5:00 PM,16 Nov 2018)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C60-3A8D-44AA-8D25-08FA18420EFB}" type="datetime1">
              <a:rPr lang="en-US" smtClean="0"/>
              <a:t>12/9/2020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19945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3792</TotalTime>
  <Words>2741</Words>
  <Application>Microsoft Office PowerPoint</Application>
  <PresentationFormat>Widescreen</PresentationFormat>
  <Paragraphs>360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Arial</vt:lpstr>
      <vt:lpstr>Calibri</vt:lpstr>
      <vt:lpstr>Cambria Math</vt:lpstr>
      <vt:lpstr>Gill Sans MT</vt:lpstr>
      <vt:lpstr>SFTT0900</vt:lpstr>
      <vt:lpstr>SFTT1000</vt:lpstr>
      <vt:lpstr>TeXGyreTermes-Regular</vt:lpstr>
      <vt:lpstr>Wingdings 2</vt:lpstr>
      <vt:lpstr>Dividend</vt:lpstr>
      <vt:lpstr>Programming fundamentals</vt:lpstr>
      <vt:lpstr>Strategy for nesting loop</vt:lpstr>
      <vt:lpstr>For loop with condition statement code and execution</vt:lpstr>
      <vt:lpstr>Another sentence for finding the vowels</vt:lpstr>
      <vt:lpstr>Function range()</vt:lpstr>
      <vt:lpstr>Function range()</vt:lpstr>
      <vt:lpstr>Function range() </vt:lpstr>
      <vt:lpstr>Function range(start, end)</vt:lpstr>
      <vt:lpstr>Function range(start, end, step)</vt:lpstr>
      <vt:lpstr>Function range(start, end, step) program execution</vt:lpstr>
      <vt:lpstr>User-defined functions</vt:lpstr>
      <vt:lpstr>User-defined functions</vt:lpstr>
      <vt:lpstr>Our first function</vt:lpstr>
      <vt:lpstr>Coding for the user-defined function </vt:lpstr>
      <vt:lpstr>User-defined function execution</vt:lpstr>
      <vt:lpstr>User-defined function general format</vt:lpstr>
      <vt:lpstr>User-defined function with two parameters</vt:lpstr>
      <vt:lpstr>User-defined function with two parameters</vt:lpstr>
      <vt:lpstr>Print( ) verses return</vt:lpstr>
      <vt:lpstr>Print( ) verses return</vt:lpstr>
      <vt:lpstr>Statement return versus Function print( )</vt:lpstr>
      <vt:lpstr>Function definitions are “assignment” statements</vt:lpstr>
      <vt:lpstr>First Define the Function, Then Use It</vt:lpstr>
      <vt:lpstr>Calling function before initialization</vt:lpstr>
      <vt:lpstr>Analyzing the code</vt:lpstr>
      <vt:lpstr>Function returning other function</vt:lpstr>
      <vt:lpstr>Function using different variable</vt:lpstr>
      <vt:lpstr>Comments – Single line comment by #</vt:lpstr>
      <vt:lpstr>Comments – multiline comment by “””</vt:lpstr>
      <vt:lpstr>Execution of function g( ) blocked</vt:lpstr>
      <vt:lpstr>Docstrings</vt:lpstr>
      <vt:lpstr>docstrings</vt:lpstr>
      <vt:lpstr>docstrings</vt:lpstr>
      <vt:lpstr>Assignment # 3</vt:lpstr>
      <vt:lpstr>Practice problem 3.1</vt:lpstr>
      <vt:lpstr>Practice problem 3.3</vt:lpstr>
      <vt:lpstr>Practice problem 3.4</vt:lpstr>
      <vt:lpstr>Practice problem 3.5</vt:lpstr>
      <vt:lpstr>Practice problem 3.6</vt:lpstr>
      <vt:lpstr>Practice problem 3.7</vt:lpstr>
      <vt:lpstr>Practice problem 3.8</vt:lpstr>
      <vt:lpstr>Practice problem 3.9</vt:lpstr>
      <vt:lpstr>Practice Problem 3.10</vt:lpstr>
      <vt:lpstr>Practice problem 3.11</vt:lpstr>
      <vt:lpstr>Practice problem 3.12</vt:lpstr>
      <vt:lpstr>Practice problem 3.13</vt:lpstr>
      <vt:lpstr>1st Detailed 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Ms. Asma</cp:lastModifiedBy>
  <cp:revision>699</cp:revision>
  <dcterms:created xsi:type="dcterms:W3CDTF">2018-10-04T03:10:47Z</dcterms:created>
  <dcterms:modified xsi:type="dcterms:W3CDTF">2020-12-09T04:36:09Z</dcterms:modified>
</cp:coreProperties>
</file>