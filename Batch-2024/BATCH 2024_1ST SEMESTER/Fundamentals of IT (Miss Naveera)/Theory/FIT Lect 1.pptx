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8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/>
          <p:cNvSpPr>
            <a:spLocks/>
          </p:cNvSpPr>
          <p:nvPr/>
        </p:nvSpPr>
        <p:spPr bwMode="auto">
          <a:xfrm>
            <a:off x="-31750" y="4321175"/>
            <a:ext cx="1395413" cy="781050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105298818 h 10000"/>
              <a:gd name="T12" fmla="*/ 2147483646 w 8042"/>
              <a:gd name="T13" fmla="*/ 76236572 h 10000"/>
              <a:gd name="T14" fmla="*/ 2147483646 w 8042"/>
              <a:gd name="T15" fmla="*/ 19533436 h 10000"/>
              <a:gd name="T16" fmla="*/ 94026232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863" y="4529138"/>
            <a:ext cx="584200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4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0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0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2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2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7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98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03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7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26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3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08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4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/>
          <p:cNvGrpSpPr>
            <a:grpSpLocks/>
          </p:cNvGrpSpPr>
          <p:nvPr/>
        </p:nvGrpSpPr>
        <p:grpSpPr bwMode="auto"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/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/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/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/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/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/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/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/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/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/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/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48"/>
          <p:cNvGrpSpPr>
            <a:grpSpLocks/>
          </p:cNvGrpSpPr>
          <p:nvPr/>
        </p:nvGrpSpPr>
        <p:grpSpPr bwMode="auto">
          <a:xfrm>
            <a:off x="20638" y="0"/>
            <a:ext cx="1952625" cy="6853238"/>
            <a:chOff x="6627813" y="195717"/>
            <a:chExt cx="1952625" cy="5678034"/>
          </a:xfrm>
        </p:grpSpPr>
        <p:sp>
          <p:nvSpPr>
            <p:cNvPr id="1034" name="Freeform 27"/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/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/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/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/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/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/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/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/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/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/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/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944688" y="623888"/>
            <a:ext cx="658971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solidFill>
                  <a:schemeClr val="tx1">
                    <a:tint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fld id="{C285EE09-FF4C-4AE7-905E-3F746D9C7BCE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fld id="{86FC7D2C-7450-43CF-812F-3DE2408F43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FIT</a:t>
            </a:r>
            <a:br>
              <a:rPr lang="en-US" dirty="0" smtClean="0"/>
            </a:br>
            <a:r>
              <a:rPr lang="en-US" dirty="0" smtClean="0"/>
              <a:t>Lecture #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Engr. </a:t>
            </a:r>
            <a:r>
              <a:rPr lang="en-US" dirty="0" err="1" smtClean="0"/>
              <a:t>Naveera</a:t>
            </a:r>
            <a:r>
              <a:rPr lang="en-US" dirty="0" smtClean="0"/>
              <a:t> Sami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76672"/>
            <a:ext cx="2016224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4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ext Book: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FUNDAMENTALS OF COMPUTERS BY E </a:t>
            </a:r>
            <a:r>
              <a:rPr lang="en-US" sz="3600" dirty="0" err="1"/>
              <a:t>Balagurusamy</a:t>
            </a:r>
            <a:endParaRPr lang="en-US" sz="3600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Attendance: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75% attendance is mandatory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55515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56792"/>
            <a:ext cx="6591985" cy="4354430"/>
          </a:xfrm>
        </p:spPr>
        <p:txBody>
          <a:bodyPr/>
          <a:lstStyle/>
          <a:p>
            <a:r>
              <a:rPr lang="en-US" sz="2800" dirty="0"/>
              <a:t>Introduction to </a:t>
            </a:r>
            <a:r>
              <a:rPr lang="en-US" sz="2800" dirty="0" smtClean="0"/>
              <a:t>IT</a:t>
            </a:r>
          </a:p>
          <a:p>
            <a:r>
              <a:rPr lang="en-US" sz="2800" dirty="0"/>
              <a:t>R</a:t>
            </a:r>
            <a:r>
              <a:rPr lang="en-US" sz="2800" dirty="0" smtClean="0"/>
              <a:t>ecent </a:t>
            </a:r>
            <a:r>
              <a:rPr lang="en-US" sz="2800" dirty="0"/>
              <a:t>advances in </a:t>
            </a:r>
            <a:r>
              <a:rPr lang="en-US" sz="2800" dirty="0" smtClean="0"/>
              <a:t>IT</a:t>
            </a:r>
          </a:p>
          <a:p>
            <a:r>
              <a:rPr lang="en-US" sz="2800" dirty="0" smtClean="0"/>
              <a:t>IT systems</a:t>
            </a:r>
          </a:p>
          <a:p>
            <a:r>
              <a:rPr lang="en-US" sz="2800" dirty="0" smtClean="0"/>
              <a:t>Development </a:t>
            </a:r>
            <a:r>
              <a:rPr lang="en-US" sz="2800" dirty="0"/>
              <a:t>of the modern </a:t>
            </a:r>
            <a:r>
              <a:rPr lang="en-US" sz="2800" dirty="0" smtClean="0"/>
              <a:t>Computer</a:t>
            </a:r>
          </a:p>
          <a:p>
            <a:r>
              <a:rPr lang="en-US" sz="2800" dirty="0" smtClean="0"/>
              <a:t>Introduction </a:t>
            </a:r>
            <a:r>
              <a:rPr lang="en-US" sz="2800" dirty="0"/>
              <a:t>to </a:t>
            </a:r>
            <a:r>
              <a:rPr lang="en-US" sz="2800" dirty="0" smtClean="0"/>
              <a:t>Software</a:t>
            </a:r>
          </a:p>
          <a:p>
            <a:r>
              <a:rPr lang="en-US" sz="2800" dirty="0" smtClean="0"/>
              <a:t>data structures</a:t>
            </a:r>
          </a:p>
          <a:p>
            <a:r>
              <a:rPr lang="en-US" sz="2800" dirty="0" smtClean="0"/>
              <a:t>coding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5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88666"/>
          </a:xfrm>
        </p:spPr>
        <p:txBody>
          <a:bodyPr/>
          <a:lstStyle/>
          <a:p>
            <a:r>
              <a:rPr lang="en-US" dirty="0"/>
              <a:t>Course 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556792"/>
            <a:ext cx="8064895" cy="4896544"/>
          </a:xfrm>
        </p:spPr>
        <p:txBody>
          <a:bodyPr/>
          <a:lstStyle/>
          <a:p>
            <a:r>
              <a:rPr lang="en-US" sz="2800" dirty="0" smtClean="0"/>
              <a:t>Programming </a:t>
            </a:r>
            <a:r>
              <a:rPr lang="en-US" sz="2800" dirty="0"/>
              <a:t>and problem solving algorithms</a:t>
            </a:r>
          </a:p>
          <a:p>
            <a:r>
              <a:rPr lang="en-US" sz="2800" dirty="0"/>
              <a:t>Data types and representation</a:t>
            </a:r>
          </a:p>
          <a:p>
            <a:r>
              <a:rPr lang="en-US" sz="2800" dirty="0"/>
              <a:t>Basic organization of Computer</a:t>
            </a:r>
          </a:p>
          <a:p>
            <a:r>
              <a:rPr lang="en-US" sz="2800" dirty="0"/>
              <a:t>Number systems</a:t>
            </a:r>
          </a:p>
          <a:p>
            <a:r>
              <a:rPr lang="en-US" sz="2800" dirty="0"/>
              <a:t>Introduction to Data </a:t>
            </a:r>
            <a:r>
              <a:rPr lang="en-US" sz="2800" dirty="0" smtClean="0"/>
              <a:t>Communication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Database, </a:t>
            </a:r>
            <a:endParaRPr lang="en-US" sz="2800" dirty="0" smtClean="0"/>
          </a:p>
          <a:p>
            <a:r>
              <a:rPr lang="en-US" sz="2800" dirty="0" smtClean="0"/>
              <a:t>I.S </a:t>
            </a:r>
            <a:r>
              <a:rPr lang="en-US" sz="2800" dirty="0"/>
              <a:t>&amp; </a:t>
            </a:r>
            <a:r>
              <a:rPr lang="en-US" sz="2800" dirty="0" smtClean="0"/>
              <a:t>MIS</a:t>
            </a:r>
          </a:p>
          <a:p>
            <a:r>
              <a:rPr lang="en-US" sz="2800" dirty="0" smtClean="0"/>
              <a:t>Networks </a:t>
            </a:r>
            <a:r>
              <a:rPr lang="en-US" sz="2800" dirty="0"/>
              <a:t>and Internet concepts.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50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188882"/>
              </p:ext>
            </p:extLst>
          </p:nvPr>
        </p:nvGraphicFramePr>
        <p:xfrm>
          <a:off x="1835696" y="1844824"/>
          <a:ext cx="6591301" cy="3086072"/>
        </p:xfrm>
        <a:graphic>
          <a:graphicData uri="http://schemas.openxmlformats.org/drawingml/2006/table">
            <a:tbl>
              <a:tblPr/>
              <a:tblGrid>
                <a:gridCol w="2458197"/>
                <a:gridCol w="2458197"/>
                <a:gridCol w="1674907"/>
              </a:tblGrid>
              <a:tr h="666630">
                <a:tc>
                  <a:txBody>
                    <a:bodyPr/>
                    <a:lstStyle/>
                    <a:p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 Apply 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knowledge of fundamental concepts and terminologies in IT including development, coding, programming, data communications and organization</a:t>
                      </a:r>
                      <a:endParaRPr lang="en-US" sz="1600" dirty="0">
                        <a:effectLst/>
                      </a:endParaRPr>
                    </a:p>
                  </a:txBody>
                  <a:tcPr marL="79996" marR="79996" marT="39998" marB="3999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C2 (Comprehension)</a:t>
                      </a:r>
                      <a:endParaRPr lang="en-US" sz="1600">
                        <a:effectLst/>
                      </a:endParaRPr>
                    </a:p>
                  </a:txBody>
                  <a:tcPr marL="79996" marR="79996" marT="39998" marB="3999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PLO1</a:t>
                      </a:r>
                    </a:p>
                    <a:p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Engineering 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Knowledge</a:t>
                      </a:r>
                      <a:endParaRPr lang="en-US" sz="1600" dirty="0">
                        <a:effectLst/>
                      </a:endParaRPr>
                    </a:p>
                  </a:txBody>
                  <a:tcPr marL="79996" marR="79996" marT="39998" marB="3999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13">
                <a:tc>
                  <a:txBody>
                    <a:bodyPr/>
                    <a:lstStyle/>
                    <a:p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</a:t>
                      </a:r>
                      <a:r>
                        <a:rPr lang="en-US" sz="1600" b="0" i="0" baseline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Discuss the comprehensive understanding of the basic organization of the computer</a:t>
                      </a:r>
                      <a:endParaRPr lang="en-US" sz="1600" b="0" dirty="0">
                        <a:effectLst/>
                      </a:endParaRPr>
                    </a:p>
                  </a:txBody>
                  <a:tcPr marL="79996" marR="79996" marT="39998" marB="3999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C3 (Application)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PLO2</a:t>
                      </a:r>
                    </a:p>
                    <a:p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Problem 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Analysis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43100" y="3486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7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Marks Distribution: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sz="2800" dirty="0" smtClean="0"/>
              <a:t>Quiz: 10 Marks</a:t>
            </a:r>
          </a:p>
          <a:p>
            <a:r>
              <a:rPr lang="en-US" sz="2800" dirty="0" smtClean="0"/>
              <a:t>Assignment: 10 Marks</a:t>
            </a:r>
            <a:endParaRPr lang="en-US" sz="2800" dirty="0"/>
          </a:p>
          <a:p>
            <a:r>
              <a:rPr lang="en-US" sz="2800" dirty="0" smtClean="0"/>
              <a:t>Mid Term Exam: 20 Marks</a:t>
            </a:r>
          </a:p>
          <a:p>
            <a:r>
              <a:rPr lang="en-US" sz="2800" dirty="0" smtClean="0"/>
              <a:t>Final Exam: 60 Marks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64087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156</TotalTime>
  <Words>152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Theme1</vt:lpstr>
      <vt:lpstr>FIT Lecture # 1</vt:lpstr>
      <vt:lpstr>Text Book:</vt:lpstr>
      <vt:lpstr>Attendance:</vt:lpstr>
      <vt:lpstr>Course Contents: </vt:lpstr>
      <vt:lpstr>Course Contents:</vt:lpstr>
      <vt:lpstr>Course Learning Outcomes:</vt:lpstr>
      <vt:lpstr>Marks Distribution:</vt:lpstr>
    </vt:vector>
  </TitlesOfParts>
  <Company>NED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Lecture # 1</dc:title>
  <dc:creator>Admin</dc:creator>
  <cp:lastModifiedBy>Admin</cp:lastModifiedBy>
  <cp:revision>9</cp:revision>
  <dcterms:created xsi:type="dcterms:W3CDTF">2024-08-21T05:28:50Z</dcterms:created>
  <dcterms:modified xsi:type="dcterms:W3CDTF">2024-08-30T09:59:24Z</dcterms:modified>
</cp:coreProperties>
</file>